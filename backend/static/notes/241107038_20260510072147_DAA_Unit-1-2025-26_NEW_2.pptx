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09"/>
  </p:notesMasterIdLst>
  <p:sldIdLst>
    <p:sldId id="256" r:id="rId2"/>
    <p:sldId id="300" r:id="rId3"/>
    <p:sldId id="302" r:id="rId4"/>
    <p:sldId id="263" r:id="rId5"/>
    <p:sldId id="431" r:id="rId6"/>
    <p:sldId id="264" r:id="rId7"/>
    <p:sldId id="265" r:id="rId8"/>
    <p:sldId id="284" r:id="rId9"/>
    <p:sldId id="285" r:id="rId10"/>
    <p:sldId id="267" r:id="rId11"/>
    <p:sldId id="290" r:id="rId12"/>
    <p:sldId id="291" r:id="rId13"/>
    <p:sldId id="292" r:id="rId14"/>
    <p:sldId id="293" r:id="rId15"/>
    <p:sldId id="294" r:id="rId16"/>
    <p:sldId id="295" r:id="rId17"/>
    <p:sldId id="296" r:id="rId18"/>
    <p:sldId id="271" r:id="rId19"/>
    <p:sldId id="313" r:id="rId20"/>
    <p:sldId id="434" r:id="rId21"/>
    <p:sldId id="314" r:id="rId22"/>
    <p:sldId id="435" r:id="rId23"/>
    <p:sldId id="315" r:id="rId24"/>
    <p:sldId id="270" r:id="rId25"/>
    <p:sldId id="297" r:id="rId26"/>
    <p:sldId id="298" r:id="rId27"/>
    <p:sldId id="299" r:id="rId28"/>
    <p:sldId id="303" r:id="rId29"/>
    <p:sldId id="304" r:id="rId30"/>
    <p:sldId id="306" r:id="rId31"/>
    <p:sldId id="308" r:id="rId32"/>
    <p:sldId id="309" r:id="rId33"/>
    <p:sldId id="310" r:id="rId34"/>
    <p:sldId id="311"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 id="328" r:id="rId48"/>
    <p:sldId id="329" r:id="rId49"/>
    <p:sldId id="330" r:id="rId50"/>
    <p:sldId id="331" r:id="rId51"/>
    <p:sldId id="432" r:id="rId52"/>
    <p:sldId id="332" r:id="rId53"/>
    <p:sldId id="333" r:id="rId54"/>
    <p:sldId id="269" r:id="rId55"/>
    <p:sldId id="274" r:id="rId56"/>
    <p:sldId id="275" r:id="rId57"/>
    <p:sldId id="334" r:id="rId58"/>
    <p:sldId id="335" r:id="rId59"/>
    <p:sldId id="336" r:id="rId60"/>
    <p:sldId id="337" r:id="rId61"/>
    <p:sldId id="338" r:id="rId62"/>
    <p:sldId id="339" r:id="rId63"/>
    <p:sldId id="341" r:id="rId64"/>
    <p:sldId id="436" r:id="rId65"/>
    <p:sldId id="439" r:id="rId66"/>
    <p:sldId id="437" r:id="rId67"/>
    <p:sldId id="343" r:id="rId68"/>
    <p:sldId id="348" r:id="rId69"/>
    <p:sldId id="440" r:id="rId70"/>
    <p:sldId id="441" r:id="rId71"/>
    <p:sldId id="355" r:id="rId72"/>
    <p:sldId id="356" r:id="rId73"/>
    <p:sldId id="357" r:id="rId74"/>
    <p:sldId id="358" r:id="rId75"/>
    <p:sldId id="359" r:id="rId76"/>
    <p:sldId id="360" r:id="rId77"/>
    <p:sldId id="361" r:id="rId78"/>
    <p:sldId id="362" r:id="rId79"/>
    <p:sldId id="364" r:id="rId80"/>
    <p:sldId id="365" r:id="rId81"/>
    <p:sldId id="366" r:id="rId82"/>
    <p:sldId id="374" r:id="rId83"/>
    <p:sldId id="375" r:id="rId84"/>
    <p:sldId id="376" r:id="rId85"/>
    <p:sldId id="415" r:id="rId86"/>
    <p:sldId id="378" r:id="rId87"/>
    <p:sldId id="379" r:id="rId88"/>
    <p:sldId id="380" r:id="rId89"/>
    <p:sldId id="382" r:id="rId90"/>
    <p:sldId id="383" r:id="rId91"/>
    <p:sldId id="381" r:id="rId92"/>
    <p:sldId id="389" r:id="rId93"/>
    <p:sldId id="393" r:id="rId94"/>
    <p:sldId id="394" r:id="rId95"/>
    <p:sldId id="395" r:id="rId96"/>
    <p:sldId id="396" r:id="rId97"/>
    <p:sldId id="397" r:id="rId98"/>
    <p:sldId id="423" r:id="rId99"/>
    <p:sldId id="400" r:id="rId100"/>
    <p:sldId id="401" r:id="rId101"/>
    <p:sldId id="402" r:id="rId102"/>
    <p:sldId id="442" r:id="rId103"/>
    <p:sldId id="443" r:id="rId104"/>
    <p:sldId id="444" r:id="rId105"/>
    <p:sldId id="445" r:id="rId106"/>
    <p:sldId id="447" r:id="rId107"/>
    <p:sldId id="446"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66" autoAdjust="0"/>
    <p:restoredTop sz="91922" autoAdjust="0"/>
  </p:normalViewPr>
  <p:slideViewPr>
    <p:cSldViewPr snapToGrid="0">
      <p:cViewPr varScale="1">
        <p:scale>
          <a:sx n="89" d="100"/>
          <a:sy n="89" d="100"/>
        </p:scale>
        <p:origin x="870" y="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2.wmf"/></Relationships>
</file>

<file path=ppt/ink/ink1.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6.86636" units="1/cm"/>
          <inkml:channelProperty channel="Y" name="resolution" value="37.97468" units="1/cm"/>
          <inkml:channelProperty channel="T" name="resolution" value="1" units="1/dev"/>
        </inkml:channelProperties>
      </inkml:inkSource>
      <inkml:timestamp xml:id="ts0" timeString="2023-02-17T07:56:00.29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7726 11938 0,'21'-42'16,"0"42"15,0-21-31,0 21 16,1 0-1,-1 0 1,21 0-1,-21 0 1,22 0 0,41 0-16,-41 0 15,41 0-15,22 0 16,21 0-16,-42 0 16,63 0-16,-42 0 15,-22 0-15,-41 0 16,-1 0-16,22 0 15,-1 0-15,1 0 16,-1 0-16,43 0 16,21 0-16,0 0 15,-21 0-15,21 0 16,-43 0-16,22 0 16,21 0-16,-63 0 15,-1 0-15,1 0 16,-22 0-16,0 0 15,1 0 1,-1 0-16,-21 0 16,43 0-16,-43 0 15,21 0-15,1 0 16,-1 0-16,-21 0 16,43 0-16,-43 0 15,21 0-15,-21 0 16,43-22-16,-22 22 15,0 0-15,1 0 16,-1 0-16,0 0 16,1 0-16,20 0 15,-20 0-15,20 0 16,1 0-16,-1 0 16,-21 0-16,1 0 15,-1 0-15,0 0 16,22 0-16,21 0 15,-43 0-15,0 0 16,22 0-16,-22 0 16,-21 0-16,0 0 15,22-21-15,-22 21 16,21-21 0,-21 21-1,1 0 1,-1 0-16,0 0 15,21 0-15,-21 0 16,22 0-16,-1 0 16,-21 0-16,0 0 15,1 0-15,-1 0 16,0 0 0,0 0-16,21 0 15,-20 0 1,20 0-16,-21 0 15,0 0-15,0 0 16,1 0-16,-1 0 16,0 0-16,0 0 15,0 0-15,0 0 16,1 0 0,-1 0-16,0 0 15,21 0-15,-21 0 16,1 0-16,-1 0 15,0 0 1,0 0-16,0 0 16,0 0-1,1 0-15,-1 0 16,21 0-16,-21 0 16,0 0-16,1 0 15,-1 0 1,0 0-1,0 0 1,0 0 0,0 0-16,1 0 15,-1 0-15,21 0 16,-21 0 0,22 0-1,-22 0 16,0 0-15,0 0 15,0 0 32,0 0-16,-21 21 93,0 0-124,-21 1 0,0-1-16,0-21 15,-21 21-15,-1-21 16,22 0-16,0 0 15,-21 0-15,-1 0 16,-20 0-16,42 0 16,-22 0-16,-20 0 15,20 0-15,1 0 16,0 0-16,-22 0 16,22 0-16,-22 0 15,22 0 1,-21 0-16,20 0 15,-20 0-15,-1 0 16,22 0-16,0 0 16,20 0-16,-41 0 15,21 0-15,-1 0 16,22 0-16,-21 0 16,-22 0-16,1 0 15,20 0-15,-20 0 16,-1 0-16,22 0 15,0 0-15,21 0 16,-43 0-16,1 0 16,20 0-16,-41-21 15,20 21-15,22 0 16,21-21-16,-22 21 16,1 0-16,0 0 15,-22-22-15,43 22 16,-21 0-16,-1 0 15,1 0-15,0 0 16,-1 0-16,-20 0 16,-1 0-16,22 0 15,-22 0 1,-20 0-16,41 0 16,-41 0-16,20 0 15,-42 0-15,22 0 16,-1 0-16,0 0 15,-42 0-15,43 0 16,-22 0-16,0 0 16,21 0-16,22 0 15,-22 0-15,1 0 16,-1 0-16,21 0 16,1-21-16,-1 21 15,1-21-15,21 21 16,-1 0-16,22 0 15,-21 0-15,21 0 16,-1 0-16,-20 0 16,21 0-16,0 0 15,-43 0-15,43 0 16,-42 0-16,20 0 16,-20 0-16,20 0 15,22 0-15,-42 0 16,42 0-16,-1 0 15,1 0 1,-21 0-16,21 0 16,-22 0-1,1 0 1,21 0 0,-21 0-1,20 0 1,1 0-1,0 0-15,0 0 16,0 0 0,0 0-16,-1 0 15,1 0-15,-21 21 16,0-21 0,-1 21-1,22-21-15,0 0 16,-21 0-16,20 0 15,1 22-15,0-22 16,0 21-16,0-21 16,0 0-1,-1 21 1,1-21 0,0 21-1,21 0 1,0 0 109,64-21-110,-1 0-15,1 22 16,-1-1-16,22-21 16,-43 21-16,22-21 15,-1 0-15,1 0 16,20 21-16,-20-21 16,63 0-16,-21 21 15,42 0-15,21 1 16,-105-22-16,105 21 15,-21 0-15,21 0 16,-20 0-16,-44 0 16,22 1-16,-21-1 15,21 0 1,-42 0-16,0-21 16,20 21-16,-41-21 15,-22 0-15,-21 0 16,22 21-16,-43 1 78,0-1-62,-21-21-16,-85 0 15,-21 21-15,21-21 16,-42 0-16,0 0 15,-22 0-15,1 0 16,21 0-16,-22 0 16,65 0-16,-44 0 15,44 0-15,-44 0 16,1 0-16,42 0 16,-21 0-16,43 0 15,-22 0-15,42 0 16,1 0-16,21 0 15,-1 0 1,1 0-16,-22 0 16,43 0-16,0 0 15,0 0-15,-21 0 16,20 0 0,65 0 62,-1 0-78,22-21 15,-1 21-15,22 0 16,-1 0-16,22 0 16,0 0-16,0 0 15,-21 0-15,42 0 16,0 0-16,21 0 15,0 0 1,-42 0-16,-22 0 0,-20 0 16,-22 0-16,1 0 15,-1 0 1,-21 0-16,0 0 62,-42 21-30,-42-21-32,-1 0 15,-21 0-15,1 0 16,-1 0-16,-21 0 16,-42 0-16,21 0 15,21 0-15,64 0 16,0 0-16,-22 0 15,43 0-15,0 21 16,0-21 15,21 21 16,0 0-47,21-21 16,106 22-16,63-1 15,22 21-15,42-42 16,42 42-16,-105-42 16,126 43-16,1-22 15,-43 0 1,0 43-16,-42-64 16,-21 42-16,-22-42 15,-21 0-15,1 0 16,-64 0-16,42 0 15,-64 0-15,1 0 16,42 0-16,-42 0 16,-22 0-16,1 0 15,-43 0-15,0 0 16,-106 0 78,-42-21-79,-42 21-15,-21-64 16,-107 1-16,43-1 16,0 22-16,21 21 15,64 0 1,21-1-16,63 1 15,-42 0-15,64 0 16,20 21-16,22 0 16,0 0-16,0 0 15,0 0-15,0 0 47,21-42-31,63 42-16,43 0 15,63 0-15,1-22 16,41 22-16,43 0 16,-21 0-16,63 0 15,1 0-15,-22 0 16,-42 0-16,-43 0 16,-84 0-16,-42 0 15,-22 0-15,-127 0 78,-42 0-62,0 0 0,-106 0-16,1-21 15,-22-21-15,42 21 16,-63-22-16,63 22 15,43 0-15,21 0 16,21 0-16,-22 0 16,44-1-16,-1 22 15,21 0-15,0-21 16,1 21-16,-22-21 16,42 21-16,22-21 15,-21 0-15,41 0 47,44 21-31,41 0-1,1 0-15,41 0 16,22 0-16,64 0 16,-1 0-16,43 0 15,42 0-15,-21 0 16,-21 0-16,0 0 15,-42 0-15,-22 0 16,-63 21-16,-43-21 16,22 0-16,-43 21 15,-21-21 1,1 0-16,-1 21 16,0-21 62,-63 21-63,-43-21 1,-42 0-16,42 0 16,1 0-16,-1 0 15,43 0-15,-22 0 16,22 0-16,21 0 15,-1 0-15,65 0 63,20 0-47,43 0-16,-21 21 15,63-21-15,0 22 16,0-22-1,-21 0-15,0 21 16,-63-21-16,-1 0 16,-20 0-16,-22 0 15,21 0-15,-21 0 16,0 0-16,1 0 16,-1 0-16,0 0 15,0 0 32,0 0-31,22 0-1,-22 0 1,0 0-16,0 0 16,0 0-1,0 0 1,1 0-1,-1 0-15,0 0 16,21 0-16,1 0 16,-22 0-16,0 0 15,0 0 126,-21-21-125,21 21 249,0 0-249,-21 21-1,0 0 1,0 0 0,0 0-16,0 0 15,22-21 1,-22 22-16,0-1 16,0 0-16,0 0 31,0 0 47,0 0 16,0 1-63,-22-22-15,1 0-16,0 0 15,0 21 1,0-21-1,0 0-15,-22 0 16,1 0-16,0 0 16,20 0-16,-20 0 15,0 0-15,21 0 16,-1 0-16,-20 0 16,0 0-16,21 0 15,-43 0 1,43 0-1,-21 0-15,20 0 16,1 0-16,-21 0 16,0 0-1,-1 0-15,1 0 16,0 0-16,-1 0 16,1 0-1,0 0 1,20 0-1,1 0 1,0 0 0,0 0-1,0 0-15,0 0 16,-1 0 15,1 0-31,0 0 16,0 21-1,0 0 1,0-21 0,84 0 93,22 0-109,21 0 16,-22 0-16,-20 0 15,20 21 1,-20-21-16,-43 21 16,43-21-16,-1 0 15,-42 0-15,43 0 16,-43 0-16,0 0 15,0 0-15,0 0 16,1 0 0,-1 0-16,0 0 31,0 0 0,0 0-15,0 0-16,1 0 125,-22 22-110,-22-1-15,1-21 16,-21 0-16,21 21 16,-22 0-16,-20-21 15,42 0-15,-85 21 16,64-21-16,-22 0 16,-21 21-16,22 1 15,-1-22-15,-20 0 16,20 0-16,1 0 15,42 0-15,-22 0 16,1 0-16,0 0 16,20 0-16,1 0 15,0 0-15,-21 0 16,42-22 62,21 1-62,42 0-16,1 21 15,21-21 1,63 0-16,21 21 16,-63 0-16,-21 0 0,-22-21 15,64-1-15,-106 22 16,22-21-1,-22 21-15,0-21 16,0 21-16,21-21 16,-20 21-1,-1-21 1,0 21-16,0 0 31,-21-21-31,21 21 16,0 0-1,1-22 1,20 1 0,0 21-1,-21-21-15,22 0 16,-22 21 46,0-21-30,-21 0 30,0-22-31,0 22-15,0-21 0,-21 21-1,0-22 1,21 22 0,0 0-16,0 0 15,-21 0 1,21-1-16,0-20 15,0 21 1,0 0 0,0 0-16,0-1 15,0-20 1,0 21 15,21 21-15,-21-21 93,-43 21-78,22-21-31,0 21 16,-21 0-16,-22-22 16,22 1-16,0 21 15,-1 0-15,22 0 16,-42 0-16,41 0 16,1-21-16,-21 21 15,21 0 1,-22-21-16,1 21 15,21 0-15,0 0 16,-22 0-16,22 0 16,0 0-16,21-21 15,-21 21-15,0 0 16,-22-21 0,1 21-1,21 0-15,-21 0 16,20 0-16,-20 0 15,21 0-15,-21 0 16,-1-22-16,1 22 16,0-21-16,-1 21 15,1 0-15,-22 0 16,43 0-16,-21 0 16,0 0-16,20 0 15,-41 0-15,21 0 16,-1 0-16,1 0 15,-43 0-15,43 0 16,-43 0-16,22-21 16,-22 21-16,22-21 15,-1 21-15,-21 0 16,22 0-16,21 0 16,-22 0-16,1 0 15,-1 0-15,-42-21 16,64 21-16,0 0 15,-22-21-15,1 21 16,-1 0-16,43-22 16,-21 22-16,-1 0 15,22 0 1,0 0-16,-21 0 16,20 0-16,-20 0 15,0 0 1,21 0-16,-1 0 15,1 0-15,0 0 16,0 0-16,0 0 16,-22 0-1,22 0-15,0 0 16,0 0-16,-21 0 16,20 0-16,1 0 15,-21 0-15,0 0 16,-1 0-16,22 0 15,-21 0-15,-1 0 16,1 0-16,21 0 16,-21 0-16,20 0 15,1 0-15,0 0 16,0 0-16,0 0 16,0 0-16,-1 0 15,-41 0-15,21 0 16,20 0-1,-20 0-15,21 0 16,-21 0-16,-1 0 16,1 0-1,0 0-15,-1 0 16,1 0 0,-22 0-16,22 0 15,-21 0-15,-1 0 16,1 0-16,41 0 15,1 0-15,0 0 16,0 0-16,0 0 16,0 0-16,-1 0 15,1 0-15,0 0 16,-42 0-16,41 0 16,1 0-16,0 0 15,-42 0-15,20 0 16,1 0-16,0 0 15,20 0-15,-20 0 16,0 0-16,21 0 16,-1 0-16,-20 0 15,21 0 1,0 0 0,0 0-1,-1 0 1,1 0 15,0 0-15,0 0-1,0 0 17,0 0-32,21 22 15,-22-22 1,-20 0-1,21 0 1,0 21 0,0-21-1,-1 21 1,1-21 15,0 0-15,0 0-16,-21 21 15,-1-21-15,22 0 16,0 0-16,0 0 16,-22 21-1,22 0 1,0-21 0,0 0-16,0 22 31,0-22 0,-1 0 0,22 21-31,-21 0 32,0 0 30,21 0 1,0 0-48,0 1 1,0-1 31,0 0-32,0 0 1,0 0 0,0 0-1,0 1 16,0-1 1,0 0-32,0 0 15,0 0 1,0 0 0,0 1-16,0-1 15,0 0 1,21 0-1,-21 0 1,0 0 0,0 1-1,21-1 17,-21 0-17,0 0 1,0 0 15,0 0 0,0 1 16,0-1 0,22 0-47,-22 0 31,0 0 1,0 0-17,0 1-15,0-1 16,0 0-1,0 0 1,21 0 15,0 0-15,-21 1 0,21-22-1,0 21 1,0-21-16,1 0 15,20 0-15,43 21 16,-22-21-16,1 0 16,-1 0-16,-21 21 15,-20-21-15,-1 0 16,0 0-16,0 0 16,0 21-16,22-21 15,-22 0-15,21 0 16,22 0-16,-22 0 15,43 0-15,-22 0 16,1 0-16,-43 0 16,0 0-16,0 0 15,0 0 1,0 0 15,1 0-15,-1 0 31</inkml:trace>
</inkml:ink>
</file>

<file path=ppt/ink/ink2.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6.86636" units="1/cm"/>
          <inkml:channelProperty channel="Y" name="resolution" value="37.97468" units="1/cm"/>
          <inkml:channelProperty channel="T" name="resolution" value="1" units="1/dev"/>
        </inkml:channelProperties>
      </inkml:inkSource>
      <inkml:timestamp xml:id="ts0" timeString="2023-02-17T07:56:20.77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13293 5059 0,'21'0'31,"0"0"-15,0 0-16,0 0 16,43 0-16,-22 0 15,43 42-15,-43-42 16,0 21-16,22-21 15,-1 0-15,-20 22 16,-22-22 0,42 0-1,1 0-15,-1 0 16,1 0 0,21 0-16,-1 0 15,64 21-15,-42-21 16,106 42-16,-85-42 15,-21 21-15,-22-21 16,1 21-16,-21 1 16,-1-22-16,-42 0 15,22 0 1,-22 0-16,21 0 16,0 0-16,43 0 15,63 0-15,0 0 16,-21 21-16,0 0 15,0 0-15,-63-21 16,-22 0-16,-21 0 16,1 0-1,20 0 1,0 0-16,43 0 16,0 0-16,42 0 15,-22 0-15,-41 0 16,-1 0-16,22 0 15,-21 0-15,41 0 16,-41 0 0,-22 0-16,1 0 15,-1 0-15,21 0 16,-41 0-16,41 0 16,-42 0-16,0 0 15,43 0-15,-22 0 16,1 0-16,-22 0 15,0 0-15,21 0 16,1 0-16,-1 0 16,21 21-16,22-21 15,21 21-15,-43 1 16,-20-22-16,-1 0 16,22 0-16,-43 0 15,-21 21 48,-21-21-48,-64 21 1,-21-21-16,-42 0 16,-85 0-16,43 0 15,-64 0 1,84 0-16,-84 0 15,21 0-15,43 0 16,21 0-16,-1 0 16,22 0-16,42 0 15,22 0-15,20 0 16,-21 0-16,1 0 16,-1 0-16,-21 0 15,43 0-15,-1 0 16,22 0-16,0 0 15,20 0-15,1 0 16,0 0 0,-21 0-1,21 0-15,-22 0 16,1 0-16,-22 0 16,-20 0-16,20 0 15,1 0-15,-1 0 16,43 0-16,0 0 15,0 0 1,42-42 15,0 42-31,0-22 16,43 1-16,-22 21 16,0-21-1,1 0-15,-1 21 16,22-21-16,-22 21 15,0-21-15,-21-1 16,22 22-16,20-21 16,-42 21-16,43 0 15,-22-21-15,1 21 16,20 0-16,-21 0 16,22 0-16,-1 0 15,1 0-15,21 0 16,-22 0-16,-21 0 15,-20 0-15,-1 0 16,0-21 15,-42 21 1,-64 0-17,22-21-15,-22 21 16,21-21-16,-20-1 15,41 22-15,-20 0 16,-1 0 0,1-21-16,21 21 15,-1 0-15,22-21 16,-21 21-16,21 0 16,-1 0-16,1 0 15,21-21 1,-21 21 15,21-21 0,42 0-15,1 21-16,-1 0 16,0 0-16,1 0 15,-1 0-15,22 0 16,-43 0-16,0 0 15,0 0-15,0 0 32,0 0-17,-84-22 95,-1 22-95,1-21-15,-43 0 16,43 21-16,41 0 16,1 0-16,0 0 15,0 0 48,-21 0-48,20 0 1,1 0-16,-21 0 16,21 0-16,-22 0 15,43-21 1,-21 21-16,0 0 15,21-21 32,64 21-15,-1 0-32,-21 0 15,1 0-15,20 0 16,22 0-16,0 0 15,-1 0-15,1 0 16,-22 0-16,-20 0 16,-64 0 77,-43 0-77,1 0-16,-1 0 16,1 0-16,-1 0 15,22 0-15,-1 0 16,-20 0-16,-1 0 16,22 0-16,21 0 15,-21 0-15,20 0 16,-41 0-1,-1 0-15,22 0 16,0 0-16,-22 0 16,-20 0-16,20 0 15,22 0-15,-1 0 16,1 0-16,21 0 16,-43 0-16,43 0 15,-21 0 1,21 0-1,0 0 1,-1 0-16,1 0 47,0 0-16,0 0-15,0 21-1,0-21-15,-22 21 32,1-21-17,21 0-15,-22 0 16,22 21-16,0-21 16,0 0-16,21 21 15,-21-21 1,0 0-16,-1 0 31,-20 0-31,21 0 16,0 0-16,-22 0 15,22 22 1,0-22-16,0 0 16,0 0 15,21 21-16,-21 0 1,-1-21 0,1 21 15,0 0 16,21 0-16,0 1-31,-21-22 16,21 21-16,0 0 15,0 0 1,0 0 0,-21-21-16,21 21 15,0 1 16,0-1-15,0 0-16,-21 0 16,21 21-1,-22-20 63,44-22 32,41 0-95,22 0-15,63 0 16,-42 0 0,0 0-16,21 0 15,-43 0-15,1 0 16,-22 0-16,-20 0 16,-1 0-16,0 0 15,1 0-15,41 0 16,22 0-16,64 0 15,41 0-15,-41 21 16,-1 0-16,0 0 16,-42 0-16,-84 0 15,20-21-15,-21 22 16,-20-22-16,20 0 16,-21 0-16,21 0 15,-20 0-15,20 21 16,-21-21 31,-21 21-32,-21-21 1,-21 0-16,-1 0 16,-63 0-16,-63 0 15,21 0-15,-21 0 16,20 0-1,-41 0-15,-22 0 16,85 0-16,-21 0 16,106 0-16,-22 21 15,1 0-15,-43 0 16,64-21-16,20 0 16,1 0-16,0 0 15,0 0-15,-21 0 16,-1 22-16,1-22 15,21 0-15,0 21 16,-22-21-16,22 0 16,0 0-16,0 0 15,0 0 1,-1 0 0,22 21-1,-21-21 1,0 0-1,21 21 1,-21-21 0,0 0-16,0 21 15,-22-21 1,1 0-16,21 0 16,0 0 15,-1 0-31,1 0 31,-21 21 16,21-21-31,0 0-1,21 22 79,21-22 31,42 21-109,-20-21-16,20 0 15,-21 0-15,64 0 16,21 0-16,43 0 15,-65 0-15,44 0 16,-1 0-16,-42 0 16,-22 0-16,1 0 15,-22 0-15,1 0 16,-22 0-16,-21 0 16,22 0-16,41 0 15,-20 0-15,21 0 16,-1 0-16,43 0 15,-21 0-15,21 0 16,-42 0-16,-1 0 16,22 0-16,-21 0 15,-22 0-15,1 0 16,21 0-16,-22 0 16,1 0-16,-1 0 15,1 0-15,-22 0 16,21 0-1,-20 0-15,20 0 16,-20 0-16,20 21 16,22 0-16,21 0 15,-1 0-15,-20-21 16,63 0-16,-63 22 16,-43-22-16,1 0 15,-1 0 1,0 21-1,-21-21-15,1 0 16,20 0-16,-21 0 16,21 21-16,-63 0 62,-42 0-62,-43-21 16,-42 0-16,-43 0 15,-63 0-15,-63 0 16,-22 0-16,64 0 16,21-63-16,21 42 15,0 21 1,43 0-16,42 0 0,84 0 16,22 0-1,-1 0-15,-20 0 16,-22 0-16,1 0 15,20 0-15,22 0 16,-43 0-16,-42 0 16,0 0-16,0 0 15,21 0-15,22 0 16,20 0-16,22 0 16,-1 0-16,22 0 15,0 0 16,0 0-15,0 0 0,0 0-1,-1 0 1,65 0 109,20 0-109,1 0-16,20 0 15,43 0-15,-42 0 16,21 0-16,-43 0 15,64 0-15,22 0 16,-44 0-16,44 0 16,-1 0-16,-42 0 15,126 0-15,22 0 16,-42 0-16,42 0 16,-85 0-16,43 0 15,-85 0-15,42 0 16,-20 0-16,-65 0 15,-20 0-15,42 0 16,21 0-16,-22 0 16,22 0-16,-42 0 15,42 0-15,21 0 16,0 0-16,22 0 16,-22 0-16,-42-22 15,21 1 1,-64 21-16,-42-21 0,22 0 15,-22 21 1,0-21-16,0 21 16,0-21-16,1-1 15,-1 1-15,0 0 16,0 0 0,0 0-16,0 0 15,-21-1 1,22 1-16,-22 0 15,0-21 1,0 21 0,-22-22-1,1 1-15,-42 21 16,-43-22-16,21 1 16,-63 21-16,-42-21 15,-1-1-15,22 22 16,-22 0-16,22 0 15,-22 0-15,-20-1 16,41 1-16,1 21 16,0 0-16,21 0 15,63 0-15,-42 0 16,0 0 0,42 0-16,22 0 15,-1 0-15,22 0 16,21 0-16,-43 0 15,22 0-15,-22 0 16,22 0-16,21-21 16,0 21-16,0 0 15,21-21 1,42 0 31,43 21-47,-1 0 15,64 0-15,43 0 16,42 0-16,63 0 16,-21 0-16,43 0 15,-43 0-15,-42 0 16,-43 0-16,-84 21 16,-42-21-16,20 21 15,-41-21-15,-22 21 16,0-21-1,21 0-15,-21 0 16,-126 0 62,-44 0-62,-20 0-16,-85-21 15,-21-21-15,-85-1 16,43 22-16,126 0 16,1 0-16,-1 0 15,1-43-15,105 64 16,21 0-16,1 0 16,21 0-16,-22 0 15,22 0-15,-1 0 16,22 0-16,-42 0 15,42 0-15,-1 0 32,1-21 15,42 21-1,64-21-30,0 21-16,21 0 16,21 0-16,42 0 15,43 0-15,-1 0 16,43 0-16,-63 0 16,-1 0-16,22 0 15,-43 0-15,-42 0 16,-21 0-16,-21 0 15,-64 0-15,21 0 16,-21 0-16,43 0 16,-1 0-16,1 0 15,21 21-15,-22-21 16,22 0-16,-1 0 16,-20 0-16,-22 21 15,-21-21-15,22 0 16,-22 0-16,0 0 15,0 0 1,0 0-16,1 0 16,-1 0-1,0 0 1,0 0 0,0 0-1,0 0-15,1 0 16,-1 0-16,21 0 15,0 0-15,1 0 16,-1 21-16,0-21 16,-20 0 15,-1 22 0,0-22-31,21 0 16,-21 0-16,1 0 15,-1 0-15,21 0 16,-21 21-16,0-21 16,22 0-16,-22 21 15,0-21-15,0 0 16,0 0-16,1 0 16,20 0-1,-21 0 1,-21 21-16,21-21 31,0 0-31,1 21 16,-1-21-1,21 0 1,-42 21 78,0 1-47,0-1-32,0 0 1,0 0 15,0 0-15,-21 0-1,0 1 1,0-22 0,-43 0-1,22 0 1,-1 21-16,1 0 15,0-21-15,-1 0 16,-20 0-16,-1 0 16,1 0-16,-1 0 15,-20 0-15,-22 0 16,21 0-16,-63 0 16,0 0-16,42 0 15,-42 0-15,63 0 16,1 21-16,-22 0 15,0 0-15,0-21 16,43 22-16,41-1 16,1-21-16,0 0 15,0 21 1,21 0 15,63 0 32,64-21-48,-21 0-15,42 0 16,22 0 0,-64 0-16,21 0 15,0 0-15,21 0 16,0 0-16,-63 21 15,-1-21-15,1 0 16,-22 0-16,-20 0 16,20 0-16,-42 0 15,1 0 110,-1 0-109,0 0 0,-21 22 30,0-1-46,0 0 32,21 21-1,0-42-15,-21 21-1,21-21-15,1 0 16,-1 22-16,0-1 140,-42 0-46,0-21-63,-1 0-31,-20 0 16,21 0-16,0 21 16,0 0-1,-1-21-15,-41 0 16,21 0-16,-1 0 16,22 0-16,-21 21 15,-22-21-15,-42 0 16,1 0-16,41 0 15,-42 0-15,0 0 16,-42 0-16,21 0 16,-21 0-16,21 0 15,64 0-15,20 0 16,-20 0-16,20 0 16,22 0-16,0 0 15,0 0 1,0 0-1,-43 0-15,22 0 16,21 0-16,-22 0 16,22 0-1,21 22 63,21-22-78,43 21 16,21 0-16,-1-21 16,64 0-16,22 0 15,-1 0-15,0 0 16,1 21-16,-22-21 16,-42 0-16,-43 21 15,-20-21-15,20 0 16,-42 0-16,0 0 15,1 0-15,41 0 16,-21 0-16,1 0 16,-1 0-16,0 0 15,-20 0-15,20 0 16,-21 0-16,0 0 16,0 0-1,1 0 63,-1 0-31,-21 21 0,0 22 0,0-22-16,-21 0-15,21 0-16,-22 0 15,1 1-15,0-22 16,21 21 0,-21-21-1,0 0 1,0 0 46,-1 0-62,1 0 16,0 0-16,0 0 16,-43 0-16,22 0 15,-21 0-15,20 0 16,-41 0-16,-1 0 16,21 0-16,-20 0 15,20 0-15,22 0 16,21 0-16,-22 0 15,22 0-15,0 0 16,0 0-16,-21 21 16,20-21-16,1 0 15,0 0-15,0 21 16,0-21-16,0 0 16,-22 0-1,-41 0-15,41 0 16,-20 0-16,42 0 15,-22 0-15,1 0 16,21 0 0,21 21 15,-21-21-31,-43 21 16,43-21-1,-21 0-15,-1 0 16,1 0-16,-43 22 15,43-22-15,21 0 16,-64 21-16,43-21 16,21 0-16,-1 0 15,1 0-15,21 21 16,-42-21-16,21 0 16,-22 0-1,-41 0-15,20 0 16,-20 0-16,-22 0 15,63 0-15,-20 0 16,-22 21 0,22-21-16,20 0 15,1 0-15,0 0 16,-1 0-16,22 0 16,0 0-16,-21 0 15,-22 0-15,1 0 16,-22 0-16,-63 0 15,0 0 1,42 0-16,-42 0 16,-22 0-16,86 0 15,41 0-15,1 0 16,21 0 0,0 0-1,-64 0 1,-42 0-16,42 0 15,22 0-15,21 0 16,-1 0-16,1 0 16,-22 0-16,43 0 15,0 0 1,0 0-16,0 0 16,0 0-16,-1 0 15,1 0-15,-42 0 16,-1 0-16,1 0 15,-1 0-15,1-21 16,42 21-16,-1 0 16,-20 0-16,0-21 15,-1 21-15,1 0 16,0-21-16,-1 21 16,22-22-16,0 22 15,0 0 1,-21-21-1,20 21 17,1 0-17,0-21 1,0 21 0,0 0-1,21-21 1,-21 21 15,-1 0-15,1-42 15,0 20-15,21 1-1,-21-21-15,0 42 16,0-21-1,21 0 1,0-1 0,0 1-1,0 0 1,0 0 31,0 0-16,0 0-15,0-1-16,0 1 15,0 0 1,0 0 15,0 0-31,0 0 16,0-1-1,0 1 1,0 0-16,0 0 16,0 0-1,0 0 1,0-1-16,0 1 31,0 0-15,0 0-1,0 0 1,0 0 15,-22-1-15,22 1-16,0 0 16,0 0-1,0 0-15,0 0 16,0-1-16,0 1 15,0 0 1,0 0 0,0 0 31,0 0 15,-21 21-46,21-22-1,-21 1 17,0 21 14,0-21-30,21 0 31,0 0 15,21 0-15,0-1 31,0 22-31,0-21-31,1 21-16,-1 0 16,21 0-1,-63 0 188,0 0-203,-22 0 16,1 21-16,0-21 16,21 0-1,21 22-15,-22-22 203,22 21-187,0 0 0,0 0-1,0 0 1,0 0-16,-21-21 0,21 43 15,0-22 1,0 0 0,0 0-1,0 0 1,0 1-16,0 20 16,0-21-16,-21 21 15,21-20 1,0 20-1,0-21 1,-21 0-16,21 0 16,0 1 15,0-1 0,0 0-15,0 0-1,0 0 17,0 0-1,0 22-15,0-22-1,0 0 16,0 0-15,0 0 15,0 1-15,0-1 0,21 0-16,-21 21 31,0-21-16,21 1 1,-21-1 0,0 0-1,0 0 1,0 0 0,0 0-1,21 1 16,-21-1 1,22-21-17,-22 21 1,0 0 0,21 0 15,0 0 0,0 1 0,0-22-15,0 0 0,22 0-1,-1 0-15,0 0 16,1 0-16,-22 0 15,21 0 1,-21 21-16,1-21 31,-1 0-15,0 0 15,-21-21 125,-42-1-140,20-20-16,-20 21 16,42 0-16,-21 0 15,-43-64-15,43 43 16,0 20-16,0-20 16,21 0-16,-21-1 15,21 1-15,0 0 16,0-1-16,0-20 15,0-1-15,0 1 16,0 21-16,0-1 16,21 22-16,-21 0 15,21-43-15,-21 43 16,0 0-16,0-21 16,0 21-1,21-1 1,-21 1-1,21 0 17,1 21-32,-1 0 31,21 0-15,-21 0-16,0-21 15,1 21-15,-1 0 31,0 0 16,0 0-31,0 0 15,-63-21 47,0 21-62,20-21 0,1 21-1,0 0 63,21-22 0,21 1-62,0 21 0,-21-21-1,43 0 1,-22 21 0,21 0-16,-21 0 15,22 0 1,-1 0-16,0 0 15,22 0-15,-1 0 16,1 0-16,21 0 0,-22 0 16,1 0-16,-22 0 15,21 0-15,22 0 16,-43 0-16,1 0 16,-22 0-16,21 0 15,1 0 1,-22 0-16,21 0 15,-21 0-15,0 0 16,43 0-16,21 0 16,20 0-16,-41 0 15,21 0-15,-43 0 16,0 0-16,22 0 16,-22 0-16,0 0 15,-20 0-15,-1 0 16,0 0-16,0 0 15,43 0-15,-22 0 16,0 0-16,22 0 16,-22 0-16,0 0 15,-20 0-15,41 0 16,-42 0-16,0 0 16,1 0-16,-1 0 15,0 0-15,21 0 16,1 0-16,41 0 15,-20 0-15,-1 0 16,1 0-16,-1 0 16,1 0-1,-1 0-15,1 21 16,-1-21-16,22 21 16,-43 0-16,1-21 15,-1 0-15,21 0 16,1 22-16,42-22 15,-22 21-15,-20-21 16,21 0-16,-43 0 16,21 0-16,-20 0 15,-22 0-15,42 0 16,-20 21-16,-22-21 16,21 0-16,-21 0 15,22 0-15,-22 21 16,0-21-16,21 0 15,-20 0-15,20 21 16,0-21-16,1 21 16,-1-21-16,0 0 15,-21 0-15,43 0 16,-22 22-16,22-22 16,-43 21-1,0-21-15,0 0 16,0 0-16,1 0 15,-1 0 1,0 0 0,21 0-16,-21 0 15,1 0-15,-1 0 16,21 0-16,-21 21 16,0-21-16,22 0 15,-22 21-15,0-21 16,21 0-16,1 0 15,-22 0-15,0 0 16,21 21-16,1-21 16,-22 0-16,0 0 15,0 21-15,0-21 16,1 0 0,-1 0 15,0 0-16,0 0-15,21 0 16,-20 0-16,20 0 16,0 0-1,-21 0-15,1 0 32,-1 0-17,21 0 1,-21 0-1,0 0 1,-21 22 31,22-22-16,-1 0-15,0 0-1,0 21-15,0-21 32,-21 21-1,21 0-15,-21 0 30,22 0-46,-22 1 32,21-1-17,-21 0 17,0 0-17,0 0 16,0 0 1,0 1-17,0-1 1,0 0 15,0 0-15,-21 0-1,21 0 1,-22 1 0,22-1-1,-21 21 1,0-42 0,21 21-1,0 0 16,0 1-15,-21-22 0,21 21-16,0 0 15,-21 0 1,21 0 0,-21 0 15,-1 22-16,1-1 17,21-21-1,-21-21 0,0 21-15,0 1 15,21-1-15,-21-21 15,-1 21-15,1-21-1,21 21 1,-21 0-1,0-21-15,0 21 32,0 1 30,-1-22-46,1 21-1,0 0 1,0-21 0,0 21 15,0-21 16,-22 0-32,22 0 1,0 0-16,0 0 16,-22 0-16,1 0 15,0 0 1,-1 0-16,1 0 16,-43 0-16,1 0 15,-64 0-15,42 0 16,21 0-16,0 0 15,43 0-15,21 0 16,-21 0 0,20 0-16,-20 0 15,0 0-15,-1 0 16,-20 0-16,21 0 16,-1 0-16,22 0 15,0 0-15,-21 0 16,-1 0-16,22 0 15,0 0-15,-21 0 16,20 0-16,1 0 16,0 0-16,-21 0 15,21 0-15,-1 0 16,-41 0-16,42 0 16,-22 0-1,22 0-15,-21 0 16,21 0-16,-22 0 15,22 0 1,-21 0 0,0 0-16,-43 21 15,21-21-15,1 0 16,-1 0-16,1 0 16,21 0-16,-1 0 15,22 0-15,-21 0 16,-43 0-16,22 0 15,-1 0-15,22 0 16,21 0-16,-22 0 16,1 0-16,0 0 15,20 21 1,1-21-16,0 0 16,0 0-16,-64 22 15,43-22-15,0 0 16,-1 0-16,22 0 15,-21 0-15,21 0 16,-1 0-16,1 0 16,-21 0-16,0 0 15,20 0-15,-20 0 16,-21 0-16,20 0 16,1 0-16,0 0 15,20 0 1,1 0 15,0 0-31,0 0 16,0 0-16,0 0 15,-22 0-15,1 0 16,-22 0-16,43 0 16,-21 0-16,21 0 15,0 0-15,-1 0 16,1 0-1</inkml:trace>
</inkml:ink>
</file>

<file path=ppt/ink/ink3.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6.86636" units="1/cm"/>
          <inkml:channelProperty channel="Y" name="resolution" value="37.97468" units="1/cm"/>
          <inkml:channelProperty channel="T" name="resolution" value="1" units="1/dev"/>
        </inkml:channelProperties>
      </inkml:inkSource>
      <inkml:timestamp xml:id="ts0" timeString="2023-02-17T07:54:13.80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7937 4170 0,'22'0'141,"-1"0"-125,21 21-16,-21-21 15,22 0-15,-1 0 16,0 0-16,-21 0 16,22 0-1,-1 0-15,-21 0 16,22 0-16,41 0 15,-41 0-15,-1 0 16,21 0-16,22 0 16,42 0-16,-42 0 15,-1 0-15,-20 0 16,-1 0-16,1 21 16,-1-21-16,-20 0 15,20 0-15,-20 0 16,20 0-16,-21 0 15,1 0-15,20 0 16,1 0-16,-22 0 16,0 0-16,1 0 15,-1 0-15,0 0 16,1 0-16,-1 0 16,-21 0-16,43 0 15,-43 21-15,21-21 16,-21 0-16,43 22 15,-22-22-15,-21 0 16,43 0-16,-22 21 16,-21-21-1,22 0-15,20 21 16,-20-21-16,-1 0 16,0 21-16,-21-21 15,1 0-15,20 0 16,-21 0-16,0 0 15,22 0-15,-22 21 16,0-21-16,0 0 16,0 0-16,0 0 15,1 0 1,-1 0 0,0 0-16,0 0 15,0 0 1,0 0-16,1 0 15,-1 0-15,21 0 16,-21 0 0,0 0-1,1 0-15,-1 0 16,0 0 15,0 0-15,0 0-1,0 0 17,1 0-17,-1 0 17,0 21-32,0-21 31,0 0-16,0 0-15,1 0 16,-1 0-16,0 0 16,0 0-16,0 0 15,0 0-15,1 0 16,-1 0-16,0 0 16,0 0-16,0 0 15,0 0-15,1 0 16,20 0-1,-21 0 48,0 0-16,0 0-47,1 0 15,-1 0 1,0 0 0,-42 0 124,-43 0-124,-42 0-16,-21 0 16,22-21-16,-44 0 15,1 0-15,42 21 16,-84-21-16,63 21 15,0 0-15,-21 0 16,-22-21 0,1 21-16,0-22 0,-1 1 15,22 0 1,42 21-16,-21 0 16,64 0-16,-1 0 15,43 0-15,-21 0 16,21 0-16,-43 0 15,22 0-15,21 0 16,0-21-16,-22 21 16,22 0-16,0 0 15,0 0 1,0 0 0,-22-21-1,22 21 1,0 0-16,0 0 15,0-21-15,-22-1 16,1 1-16,21 21 16,0 0-16,21-21 15,-22 21-15,-20-21 16,21 0 0,0 21-1,0 0-15,-1-21 16,1 21-16,0 0 47,0-22-32,21 1 1,-21 21 0,0-21-1,-22 21 1,22 0-1,0-21 1,0 0 0,-22 21-1,22 0 1,0 0-16,0 0 16,0-21-1,0 21 16,-1 0-31,1 0 32,42 0 171,43 0-203,-1 0 15,43 0-15,0 0 16,0 0-16,42 0 16,-21 21-16,-42 0 15,-1-21-15,-20 21 16,42 0-16,-64-21 16,22 0-16,-22 0 15,43 0-15,-22 0 16,1 21-16,-1-21 15,22 0-15,-22 22 16,-20-22-16,-1 0 16,21 0-16,1 0 15,-1 0 1,1 0-16,-22 0 16,-21 0-16,1 0 15,-22 21 32,-22 0-16,-41-21-31,-1 0 16,1 0-16,-22 0 16,-21 0-16,-21 0 15,22 0-15,-44 0 16,22 0-16,-21 0 15,21 0-15,43 0 16,-22 0-16,21 0 16,0 0-16,1 0 15,-22 0-15,42 0 16,-20 0-16,20 0 16,-20 0-16,20 0 15,1 0-15,-1 0 16,1 0-16,20 0 15,1 0 1,0 21 0,42 0 93,21-21-93,42 21-16,43 1 15,42-1-15,-21 0 16,43 0-16,-22 0 16,-42 0-16,-1 1 15,-20-22-15,-43 0 16,1 21-16,-1-21 15,-21 0 48,-21 21-32,-21 0-31,21 0 16,-21-21-16,-43 0 15,1 21-15,-1-21 16,22 22-16,-43-22 16,43 0-16,-21 0 15,-1 0-15,1 0 16,-1 0-16,22 0 16,-43 0-16,43 0 15,-1 0-15,1 0 16,0 0-16,21 0 31,21 42 16,21-42-31,63 21-16,22 0 15,21 0-15,21 1 16,-42-1-16,0 0 15,-21-21-15,-22 21 16,-20-21-16,-22 0 16,0 0-16,0 0 31,-21 21 0,-21-21-15,0 21-1,0-21-15,-22 22 16,1-22-16,-22 0 16,1 0-16,-1 0 15,22 0-15,0 0 16,-1 0-16,1 0 16,-21 0-16,-1 0 15,1 0-15,20 0 16,22 0-16,0 0 15,0 0 17,105 21-1,-20-21-31,63 0 16,42 0-16,22 0 15,-1 0-15,22 0 16,42 0-16,0 0 15,-42 0 1,-64 0-16,-42 0 16,-22 0-16,-20 0 15,-22 0-15,-21 0 16,0-21 0,1 21-1,-1 0-15,-42 0 78,-43 0-62,-42 0-16,0-22 16,-42 1-1,21 21-15,-42 0 16,0-21-16,20 0 0,44 0 15,-1 0-15,85 21 16,-1 0-16,1 0 47,21-43-31,85 1-16,42 0 15,42-1 1,64-20-16,-21-1 15,63 43-15,-21-21 16,42-1-16,-21 22 16,-21 21-16,-84-21 15,-86 0-15,-41 21 16,-22-21-16,-106 21 78,1 0-62,-43 0-16,-22 0 15,22 0-15,0 0 16,22 0-16,-22 0 16,63 0-16,22 0 15,-43 0-15,22 0 16,-1 0-16,-21 0 15,-20 0-15,41 0 16,-21-21 0,22 21-16,21 0 0,20 0 31,1-22 16,42 1-32,64 21 1,0 0-16,84-21 16,64 21-16,-21 0 15,42 0-15,21 0 16,-42 0-16,-85 0 16,-106 0-16,-105 0 93,-64 0-77,-43-21 0,1 0-16,-43-22 15,22 22-15,-1-21 16,1 21-16,20 0 15,86 21-15,-1-22 16,22 22-16,41 0 16,22-21 31,43 0-16,63 21-31,63 0 15,43 0-15,42 0 16,-22 0-16,65 0 16,-22 0-16,-21 0 15,-42 0-15,20 0 16,-83 0-16,-44 0 16,-20 0-16,-21 0 15,-22 0-15,21 0 16,-41 0-1,-86 21 79,1-21-78,-1 21-16,1-21 15,-1 0-15,-21 22 16,22-22-16,-1 0 16,-20 21-16,20-21 15,22 0-15,0 21 16,20-21-16,86 0 62,42 0-46,42 0-16,0 0 16,0 0-16,43 0 15,-1 0-15,-42 0 16,-42 0-16,21 0 16,-42 0-16,-64 0 15,0 0 32,-21 21-31,0 0-16,-42-21 15,-22 0 1,22 0-16,-21 0 16,-22 0-16,-21 0 15,0 0-15,22 0 16,-22 0-16,42 0 15,-20 0-15,20 0 16,1 0-16,-1 0 16,43 0-16,42 0 62,64 0-46,-1 0-16,-20 0 15,42 0-15,21 0 16,-21 0-16,42 0 16,-42 0-16,21 0 15,-43 21-15,-41-21 16,20 22-16,-63-1 62,-21 0-46,-43 0 0,1-21-16,21 0 15,-22 0-15,-21 0 16,-42 21-16,64-21 16,-1 0-16,1 21 15,21-21-15,-22 22 16,22-22-16,-1 21 15,22-21-15,0 0 16,0 0 31,63 0-31,64 0-1,0 0-15,0 0 16,0 0-16,42 0 15,0 21-15,-63 0 16,-22-21-16,-42 21 16,-42-21 109,-21 0-125,-22 0 15,1 21-15,20-21 16,-20 22-16,21-22 16,-22 21-16,43-21 15,-21 21 1,20-21-1,44 21 48,83-21-47,22 0-16,-21 0 15,21 21-15,-63 0 16,20-21-16,-62 0 15,-1 0-15,0 22 63,-21-1-47,-42-21-16,-22 0 15,1 0-15,-1 0 16,-21 0-16,43 0 15,-21 0-15,20 21 16,1-21-16,0 21 16,-22 0-16,43-21 15,-21 0-15,20 21 16,1-21-16,21 22 62,21-22-62,64 0 16,-21 21-16,-1-21 16,22 21-16,-1 0 15,-20 0-15,-1 0 16,-41-21 0,-1 0 30,-21 22-30,-21-22 0,-22 21-16,-20-21 15,42 0-15,-22 0 16,1 21-16,0-21 16,20 0-16,1 21 15,0-21 1,21 42 78,21-20-94,43-22 15,-1 21-15,-20 0 16,-22-21-16,-42 0 140,-22 0-140,-20 0 16,-1 0-16,1 0 16,-1 0-16,1 0 15,-1 0-15,1 0 16,-1 0-16,-20 0 16,20 0-16,-21 0 15,22 0-15,-43 0 16,21 0-16,1 0 15,20 0-15,-20 0 16,20 0-16,1 0 16,-1 0-16,22 0 15,-22 0-15,1 0 16,-1 0-16,1 0 16,20 0-16,22 0 15,-42 0-15,20 0 16,22 0-16,0 0 15,-21 0-15,-1 0 16,1 0-16,21 0 16,0 0-1,-22 0-15,22 0 16,-21 0-16,0 0 16,-1 0-16,-20 0 15,-22 0-15,-42 0 16,42 0-16,-20 0 15,41 0-15,22 0 16,21 0 0,-22 0-16,22 0 15,0 0 1,0 0 0,0 0-16,-1 0 15,1 0 48,0 0-48,127 0 79,106 0-78,63 0-16,106 0 15,-43 0-15,86 0 16,-86 0-16,-62 0 16,-128 0-16,-85 0 15,1 0-15,-43 0 16,-21-21-16,21 21 15,0-21 17,0 21-17,-21-22-15,22 22 32,-22-21-1,0 0 0,0 0-15,0 0-1,0 0 1,-43-1 0,-20 1-16,-22-21 15,-63 21-15,-21 0 16,42-1-16,-85 1 15,85 0-15,0 21 16,42-21-16,1 21 16,20 0-16,22 0 15,-1 0-15,1 0 16,0 0-16,21 0 16,-1 0-1,44 0 32,41 0-31,22 0-16,42 0 15,84 0-15,65 0 16,-44 0-16,1 0 16,-63 0-16,-43 0 15,-22 0-15,-83-21 16,-1 21-16,-21-21 78,-21 21-62,-64 0-16,0-22 15,-21 1-15,-21 0 16,22 21-16,-44-21 15,1 0-15,0 0 16,63 21-16,-42-22 16,64 22-16,-1 0 15,43 0-15,0 0 16,0-21 0,21 0 46,21 0-62,43 21 16,20-21-16,-20 21 15,42-21-15,-22-1 16,-41 22-16,-65 0 94,-41 0-94,-43 0 15,0 0-15,0 0 16,22 0-16,20 0 16,22 0-16,0 0 15,20 0-15,1 0 31,21-21 32,43 0-47,-1 0-16,43 21 15,-1 0-15,1 0 16,0 0-16,-43 0 15,-21 0-15,-63 0 94,-22 0-94,22-21 16,-22 21-16,22-21 15,-21-1-15,20 22 16,1 0-16,21 0 16</inkml:trace>
</inkml:ink>
</file>

<file path=ppt/ink/ink4.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6.86636" units="1/cm"/>
          <inkml:channelProperty channel="Y" name="resolution" value="37.97468" units="1/cm"/>
          <inkml:channelProperty channel="T" name="resolution" value="1" units="1/dev"/>
        </inkml:channelProperties>
      </inkml:inkSource>
      <inkml:timestamp xml:id="ts0" timeString="2023-02-17T07:54:36.31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11811 9652 0,'42'0'109,"22"0"-93,20 0-16,65-21 16,-1 0-16,-21 21 15,63 0-15,-63 0 16,85 0-16,-43 0 16,-42 0-16,43 0 15,-1 0-15,-21 0 16,21 0-16,-20 0 15,20 0-15,-21 0 16,-42 0-16,42 0 16,-21 0-16,0 0 15,-21 0-15,-21 0 16,42 0-16,-22 0 16,-20 0-1,21 0-15,-21 0 16,-22 0-16,-21 0 15,-20 0-15,20 0 16,-21 0-16,43 0 16,-22 0-16,0 0 15,1 0-15,-1 0 16,0 0-16,1 0 16,20 0-16,-21 0 15,1 0-15,-1 0 16,0 0-16,1 0 15,-22 0-15,21 0 16,-21 0 0,1 0-16,-1 0 15,0 0 1,0-21-16,0 21 16,22 0-16,-22 0 15,0 0 1,0 0-16,0 0 15,0 0-15,1-22 16,-1 22 0,0 0-1,0 0 1,0 0-16,0 0 16,1 0-16,-1 0 15,0 0-15,0 0 16,0 0-1,0 0 1,-21-21 93,-42 21-93,-43 0-16,22-21 16,-1 0-16,1 21 15,21 0-15,-22-21 16,1 21-16,20 0 16,22 0-16,-42 0 15,20 0 1,1 0-16,0 0 15,-1 0-15,22 0 16,-42 0-16,20 0 16,1 0-16,0 0 15,-1 0-15,22 0 16,0 0-16,-21 0 16,20 0 15,1 0-16,0 0 1,0 0-16,0 0 16,-22 0-1,22 0 1,0 0 0,0 0-16,0 0 15,-22 0 1,1 0-16,21 0 15,0 0-15,-22 0 16,1 0-16,-21 0 16,20 0-16,1 0 15,0 0 1,-1 0-16,1 0 16,0 0-16,-22 0 15,43 0-15,-21 0 16,-22 0-16,22 0 15,-22 0-15,-20 0 16,20 0-16,-21 0 16,22 0-16,-1 0 15,1 0-15,-1 0 16,1 0-16,-1 0 16,-20-21-16,-22 21 15,42 0-15,1-22 16,21 22-16,-22 0 15,1-21-15,41 21 16,-41 0-16,42 0 16,-43 0-16,43 0 15,-42-21-15,41 21 16,-20 0-16,0 0 16,-22-21-16,43 21 15,-21 0 1,-1 0-16,22 0 15,-21-21-15,0 21 16,-1-21-16,1 21 16,21 0-1,-22 0-15,22 0 16,0 0-16,-21-22 16,21 22-16,-22 0 15,1-21-15,21 21 16,0 0-16,-1 0 15,-20 0-15,21 0 16,-21 0 0,20 0-1,-20 0-15,21 0 16,0 0 0,0 0-16,-1 0 15,-20 0 1,21 0-1,0 0-15,0 0 16,-1 0-16,1 0 16,0 0-1,0 0 1,0 0-16,0 0 16,-1 0-1,1 0-15,0 0 31,0 0-31,0 0 16,0 0 0,-1 0-1,1 0 1,0 0-16,0 0 16,0 0-1,0 0-15,-22 0 16,43 21-1,-21-21-15,0 22 16,0-22 0,0 0-1,-1 0 1,1 21 0,0-21 15,0 0 31,21 21-15,-21 0-16,21 0 1,0 0-17,0 1 17,0-1-1,0 0-31,21 0 15,42 21 1,-20-42 0,84 22-16,21 20 15,-42 0-15,21 22 16,63-22-16,-84 0 16,21-20-16,-63 20 15,-1-21-15,-21-21 16,-42 21 46,-42-21-30,0 0-32,-22 0 15,22 0-15,0 0 16,-22 0-16,22 0 15,-1 0-15,22 0 16,-21 0-16,21 0 16,0 0-16,-1 0 15,1 0-15,0 0 16,0 0-16,0 0 16,0 0-16,-22 0 15,22 0 1,0 0-16,0 0 15,-22 0 1,22 0 0,0 0-16,0 0 31,0 0-15,0 21-1,-1-21 1,1 22-16,0-1 31,0-21-15,0 0-1,0 21 1,-1-21 0,1 0 15,21 21-31,-21-21 31,0 0-15,0 21 31,21 0 124,21-21-171,0 0 16,43 22-16,-1-22 16,43 21-16,21 0 15,21 0-15,43 21 16,-1-20-16,22 20 16,-43 0-16,0-21 15,1 1-15,-1-1 16,-42 0-16,0 0 15,-21-21-15,-43 21 16,22 0-16,21-21 16,-43 0-16,22 22 15,0-22-15,21 21 16,-22 0-16,-41-21 16,20 21-16,-21-21 15,1 21-15,-22-21 16,0 0-16,0 0 15,-63 0 79,-43 0-78,-21 0-16,-42 0 15,-21 0-15,0 0 16,-64 0-16,42 0 16,-42-42-16,43 21 15,-85-22-15,148 43 16,0-21-16,63 0 16,43 21-16,0 0 46,42-42-30,106-1 0,-21 43-16,106-42 15,20 42-15,44 0 16,20 0-16,64 0 16,42 0-16,0 0 15,-63 0 1,-22 0-16,-63 0 0,-106 0 15,-63 0 1,-43 0-16,-20 0 16,-86 0 46,-21 0-62,-42 0 16,-42 0-16,-43-21 15,-63-43-15,0 22 16,-127 0-16,106 21 16,-1-43-16,43 22 15,64 21-15,-1-1 16,22 1-16,84 0 16,22 0-16,20 21 15,22 0-15,0 0 16,0 0-1,21-21 32,63 0-47,86-1 16,-1 22 0,42 0-16,43 0 15,42 0-15,-21 0 16,21 0-16,1 0 15,-65 0-15,-84 0 16,-63 0-16,-22 0 16,-63 0 31,-43 0-47,-20 0 15,-64 0-15,-43 0 16,-42 0-16,0 0 15,-126 0-15,62 0 16,-41 0-16,41 0 16,107 0-16,42 0 15,105 0-15,22 0 16,63 0 46,85 0-62,43-21 16,41 21-16,107 0 16,21 0-1,63 0-15,63 0 16,1 0-16,-64 0 16,0 0-16,-148 0 15,-21 0-15,-85 0 16,-42 0-16,-42 0 15,-22 0-15,-21 0 16,43 0-16,-43 0 16,0 0 31,-21 21-32,-21-21-15,-21 22 16,-1-1-16,-20 0 15,-43 0-15,21 0 16,1-21-16,-43 21 16,21-21-16,-42 0 15,42 0-15,-21 0 16,63 0-16,1 0 16,42 0-16,-1 0 15,1 0 1,85 0 62,20 0-78,-20 0 16,42 0-16,0 0 15,-1 0-15,-20 22 16,21-1-16,-85-21 15,-21 21 48,0 0-63,-42-21 16,-43 42-16,0-42 15,-20 0-15,-22 0 16,21 0-16,-21 0 15,21 0-15,21 0 16,22 0-16,20 0 16,22 0-16,42 0 78,64 0-78,0 0 15,21 0-15,42 0 16,-21 0-16,0 0 16,21 0-16,-42 0 15,21 0-15,-64 0 16,1 22-16,-1-22 16,-20 0-16,-22 0 15,0 0-15,0 21 203,-21 0-109,0 0 47,0 0-94,-21-21-32,21 21 1,-21 1-16,0-22 15,-1 0 1,1 0-16,-21 21 16,21-21-1,-22 0-15,1 21 16,-21-21-16,20 0 16,-20 0-16,20 0 15,-20 0-15,21 0 16,-22 0-16,22 0 15,-22 0-15,22 0 16,0 0-16,-1 0 16,22 0-16,-21 0 15,-22 0-15,1 0 16,42 0-16,-1 0 16,-20 0-16,0 0 15,21 0-15,-1 0 16,1 0-16,-21 0 15,21 0-15,0 0 16,-1 0-16,1 0 16,-21 0-16,21 0 15,0 0-15,-1 0 16,-20 0-16,21 0 16,0 0-1,0 0-15,-22 0 16,22 21-16,0-21 15,-21 0-15,20 0 16,-20 0 0,0 0-16,21 0 15,-22 0-15,1 0 16,0 0-16,20 0 16,-20 0-16,0 0 15,21 0-15,-43 0 16,22 0-16,21 0 15,-22 0 1,22 0-16,0 0 16,0 0-1,0 0-15,-1 0 16,1 0-16,0 0 16,0 0-16,0 0 15,0 0-15,-1 0 16,-20 0-16,21 0 15,0 0 1,0 0 0,-1 0-16,1 0 15,-21 0 1,21 0-16,0 0 16,-22 0-16,22 0 15,-21 0-15,21 0 16,-1 0-16,1 0 15,0 0-15,0 0 16,-21 0 0,20 0-16,1 0 15,0 0-15,0 0 16,0 0-16,0 0 16,-22 0-1,22 0-15,0 0 16,0 0-16,0 0 15,-1 0-15,-20 0 16,21 0-16,0 0 16,-22 0-16,1 0 15,21 0-15,0 0 16,0 0-16,-22 0 16,22 0-16,0 0 15,-21 0-15,20 0 16,1 0-16,0 0 15,-21 0 1,21 0 0,-1 0-16,1 0 15,0 0-15,0 0 16,0 0-16,0 0 16,-1 0-1,1 0 1,0 0-16,0 0 15,-21 0 1,20 0 0,1 0-1,0 0-15,0 0 16,0 0-16,0 0 16,-1 0-16,1 0 15,0 0 1,0 0-1,0 0 1,0 0 0,-22 0-1,22 0 1,0 0 15,0 0-15,0 0-16,-1 0 15,1 0-15,0 0 16,0 0 0,0 0-16,0 0 15,-1 0 1,1 0 0,0 0-1,0 0-15,0 0 16,0 0-1,-1 0 1,1 0 0,0 0-1,0 0 1,0 0 15,0 0-15,-1 0 15,1 0-15,0 0 15,0 0-31,0 0 16,0 0-16,-1 0 15,1 0 16,0 0-15,0 0 78,0 0-79,0 0 501,21-21-500,-22 0-1,22 0 17,0-1-17,0 1 1,0 0-16,0 0 15,0-21 1,0 20 0,0-20-16,0 21 15,0 0 1,0 0-16,0-1 16,0-20 15,0 21-16,0 0 1,0 0 0,0-1-1,0 1 1,0 0 0,0 0-16,0 0 15,0 0 1,0-1-1,0 1 1,0 0 0,0 0-1,0-21 1,0 20 0,0 1-1,0 0-15,22 21 16,-22-21-16,21 0 15,-21 0-15,21-1 32,0-20-17,0 42-15,0-21 32,1 0-17,-1 21 32,-21-21-31,21 21-1,0 0 1,21-22 31,-20 22-16,-1-21-15,0 21-1,0 0 1,0 0-16,0 0 16,22-21-16,-22 21 15,0 0-15,0 0 16,22 0-16,-1-21 15,0 21-15,1 0 16,20 0-16,-42 0 16,43 0-16,-22 0 15,0 0-15,-20 0 16,20 0 0,0 0-16,-21 0 15,1 0-15,20 0 16,-21 0-16,43 0 15,-1 0-15,1 0 16,-1 0-16,1 0 16,-1 0-16,-21 0 15,-20 0-15,-1 0 16,21 0-16,-21 0 16,0 0-16,1 0 15,20 0-15,-21 0 16,0 0-16,22 0 15,-22 0-15,21 0 16,-21 0 0,0 0-1,1 0 1,-1 0-16,0 0 16,0 0-16,0 0 15,0 0 1,43 0-16,-22 0 15,-21 0 1,22 0 0,-22 0-1,0 0-15,0 0 16,0 0-16,22 0 16,-22 0-1,0 0-15,0 0 16,22 0-16,-22 0 15,0 0-15,21 0 16,-21 0-16,1 0 16,-1 0-16,21 0 15,-21 0-15,22 0 16,-22 0 0,0 0-16,21 0 15,-21 0-15,1 0 16,-1 0-16,21 0 15,0 0-15,-20 0 16,20 0-16,0 0 16,1 0-16,-1 0 15,-21 0-15,21 0 16,1 0-16,-1 0 16,0 0-16,-20 0 15,20 0-15,0 0 16,1 0-16,-1 0 15,0 0 1,-21 0-16,22 0 16,-1 0-16,-21 0 15,22 0 1,-1 0-16,0 0 16,-21 21-16,22-21 15,20 0-15,-42 21 16,22-21-16,-1 0 15,0 0-15,-20 0 16,-1 0-16,21 21 16,-21-21-16,0 0 15,1 0-15,-1 22 16,0-22-16,0 0 16,21 0-16,-20 0 15,20 0 1,-21 21-16,0-21 15,22 0-15,-1 21 16,-21-21 0,21 0-16,-20 0 15,20 0 1,0 21-16,-21-21 16,22 0-1,-22 0-15,0 21 16,21-21-16,-20 0 15,20 0-15,-21 0 16,21 0-16,-20 21 16,-1-21-16,0 0 15,0 22-15,0-22 16,0 0 0,1 0-1,-1 0-15,0 0 16,0 0-1,0 0 1,0 0 0,1 21-1,-22 0 298,0 0-298,-22-21 1,22 21-16,-21 22 16,21-22 15,-21 0-15,21 0-1,0 0 1,0 0-1,0 1 17,0-1-17,0 0 17,0 0-17,0 0 1,0 0-1,0 1-15,0-1 32,21 0-32,-21 0 47,21 0-1,-21 0 158,0 1-173,0-1 0,0 0 0,0 21 16,0-21 0,0 1-16,0-1 1,-21 0-17,21 0 1,0 0 15,0 0 0,-21 1 110,0-1-94,0-21-16,0 21-15,-22-21-1,1 0 1,0 0-16,42 21 16,-43-21-16,22 0 15,-21 0-15,-22 0 16,43 0-16,-21 0 15,-1 0-15,22 0 16,-42 0-16,42 0 16,-1 0-16,1 0 15,-21 0-15,21 21 16,0-21-16,-1 0 16,1 0-16,0 0 15,0 0-15,-21 0 16,-1 0-1,22 0-15,0 0 16,0 0-16,0 0 16,-1 0-16,-20 0 15,21 0 1,0 0-16,0 0 0,-22 0 16,1 0-1,0 0-15,20 0 16,1 0-16,-42 0 15,42 0-15,-1 0 16,1 0-16,-21 0 16,21 0-16,0 0 15,-22 0-15,1 0 16,21 0 0,-22 0-16,1 0 15,21 21 1,0-21-1,0 0-15,-1 0 16,1 0 0,0 0-16,0 0 15,-21 0 1,20 0-16,1 0 16,0 0-16,-21 0 15,21 0-15,-1 0 16,1 0-16,0 0 15,0 0-15,-21 0 16,-1 0 0,22 0-1,-21 0-15,21 0 16,-1 0-16,1 0 16,-42 0-16,42 0 15,-1 0 1,-20 0-1,21 0-15,0 0 16,0 0-16,-22 0 16,1 0-16,21 0 15,-22 0-15,1 0 16,21 0-16,-21 0 16,20 0-16,1 0 15,0 0-15,0 0 16,-21 0-16,20 0 15,1 0-15,-21 0 16,21 0-16,0 0 16,-1 0-16,-20 0 15,0 0 1,21 0-16,-1 0 16,1 0-1,0 0-15,0 0 16,0 0-16,0 0 15,-1 0 1,1 0-16,0 0 16,0 0-16,0 0 15,0 0-15,-1 0 16,1 0-16,-21 0 16,21 0-16,0 0 15,-22 0-15,1 0 16,21 0-16,0 0 15,-22 0-15,22 0 16,0 0-16,-21 0 16,-1 0-16,-20 0 15,20 0-15,1 0 16,21 0-16,0 22 16,-22-22-16,1 0 15,21 0-15,-21 21 16,20-21-1,1 0 1,-21 21 0,21-21-1,-22 0 17,22 0 14,0 0-30,0 0 0,0 0-16,0 0 15,-1 0 17,1 0-32,0 0 15,0 0 1,0 0-16,0 0 15,-1 0 1,-20 0 0,21 0-16,0 0 31,0 0 16,-1 0-47,1 0 15,0 0-15,0 0 16,0 0 0,0 0 15,-1 0 16,1 0 15,0 0-30,0 0-32,0 0 31,0 0 16,-1 0-47,1 0 31,0 0-15,0 0-1,0 0 16,0 0-15,-1 0 15,1 0-15,0 0 0,0 0-1,0 0 48,0 0-16,-1 0-1,1 0-14,0 0 46,21-21-63,-21 21 1,0 0-16,0-21 16,-1 21-1,1 0 1,21-22 0,-21 1 30,21 0-14,-21 0-17,21 0 32,-21 21-31,21-21-1,0-1 1,0 1 0,0 0-1,-21 0 17,21 0-1,0 0 16,0-1-32,0 1 32,0 0 0,21 0-16,-21 0 1,0 0 14,0-1 1,0 1 0,0 0-31,0 0 46,21-21-30,-21 20 30,0 1-15,0 0-16,0 0-15,0 0 15,0 0 0,0-1 16,0 1-31,0 0 15,0 0 0,0 0 1,0 0-1,0-1 16,0 1 46,0 0 1</inkml:trace>
</inkml:ink>
</file>

<file path=ppt/ink/ink5.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6.86636" units="1/cm"/>
          <inkml:channelProperty channel="Y" name="resolution" value="37.97468" units="1/cm"/>
          <inkml:channelProperty channel="T" name="resolution" value="1" units="1/dev"/>
        </inkml:channelProperties>
      </inkml:inkSource>
      <inkml:timestamp xml:id="ts0" timeString="2023-02-17T07:54:48.31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9927 3704 0,'0'21'109,"-21"1"-93,0-1 0,0-21-16,-22 21 15,22 0 1,-21-21-16,-1 0 15,22 0 1,-21 21-16,0 0 16,20-21-16,-20 0 15,-21 0-15,20 0 16,1 22-16,0-22 16,20 21-1,1-21-15,-21 0 16,-22 0-16,43 0 15,-21 0-15,21 0 16,-22 0-16,22 0 31,0 0-15,0 0 0,0 0-1,0 0 1,-1 0-1,-20 0 1,21 0 0,0 0-1,0 0-15,-1 0 16,1 0-16,0 0 16,0 0-1,0 0-15,0 0 16,-1 0-1,-20 0-15,21 0 16,0 0-16,0 0 16,-43 0-16,43 0 15,0 0 1,0 0-16,-1 0 16,1 0-1,0 0-15,-21-21 16,21 21-1,-1 0 1,1 0-16,0-22 31,0 22 32,0 0-48,0 0 1,-1-21 0,1 21-1,0 0 1,0 0 0,0-21-1,0 21 1,-1 0-1,1 0-15,0 0 16,0 0 0,0 0 15,0 0 0,-1 0-15,1 0 109,0 0-94,0 0-31,0 0 16,0 0-1,-1 0 1,1 0 15,0 0-15,0 0-1,0 0 251,0 0-235,-1 21-31,22 0 32,0 1-17,0-1 1,-21 0-16,21 0 31,0 0 0,0 0 16,0 1-31,0-1 15,0 0 0,0 0 1,0 0-1,0 0 0,0 1 0,0-1-15,0 0-16,0 0 31,0 0-15,0 0 15,0 1-31,0-1 31,0 0 16,0 0-16,0 0-15,0 0 15,0 1 1,0-1-1,0 0-31,0 0 125,0 0-78,21-21 62,1 0-93,-1 0-16,0 21 15,0-21 1,0 0 15,0 0 0,1 22-15,-1-22 15,0 21-15,0-21-16,0 0 31,0 0-31,1 21 31,-1-21 1,0 0-32,0 0 31,0 0-15,22 0 15,-22 0-16,0 0-15,0 21 16,0-21 0,0 21 156,-21 0-141,-21-21-16,0 0 32,0 22-31,0-22 31,0 0-32,-22 21 17,22-21-1,0 21-15,0-21 15,0 0-16,-1 0 48,1 0-16,0 0-32,0 0 17,0 0 15,0 0-16,-1 0-16,1 0 1,0 0 78,0 0-63,0-21 235,0 21-251,21-21 17,0-1-17,0 1-15,0 0 16,0-21-16,0-1 15,21 22-15,-21-21 16,0 0-16,0 20 16,0 1-16,0 0 15,0 0 1,21 0-16,0-22 16,-21 22-16,0 0 15,0 0-15,21 21 16,0-42-16,-21 20 15,0 1 1,22 0-16,-22 0 31,0 0 1,21 0-32,0-1 31,-21 1 0,21-21 0,0 21-15,0 0 0,-21-1-1,0 1-15,22 21 16,-22-21-16,0 0 31,21 21-15,-21-21 359,0 0-360,0-1 1,21 1 0,-21 0-1,0 0-15,0 0 16,21 0 15,0-1 16,0 1-16,1 21-15,-1 0-1,0-21-15,0 0 16,0 21 0,0 0-1,1 0 1,-1 0-16,0 0 31,0 0-31,0 0 31,0 0-15,22 0 0,-43 21-1,63-21-15,-20 21 16,-1 0 0,-21-21-16,0 22 15,0-1 1,1-21-1,-1 0 1,21 21 15,-21-21-15,0 21-16,1-21 16,-1 0-16,-21 21 15,21-21-15,0 0 16,0 0-16,0 0 15,1 0 1,-1 0 0,42 21-16,-42-21 15,22 0-15,-1 22 16,0-22-16,22 0 16,-43 0-16,0 0 15,0 0-15,1 0 16,20 0-1,-21 0-15,0 0 16,0 21-16,1-21 16,-1 0-1,0 0 1,0 0 15,0 0-31,0 0 16,1 21-1,20-21-15,-21 0 16,0 0-16,22 21 16,-22-21-1,0 0 1,0 0 15,0 0-31,0 0 31,22 0-15,-22 0 0,0 0-1,0 0 1,0 0 0,1 0-1,-1 0-15,0 0 16,0 0-16,0 0 15,0 0-15,1 0 16,-1 0 0,0 0-1,21 0-15,-21 0 16,22 0 0,-1 0-16,0 21 15,1-21-15,-1 0 16,0 0-16,-20 0 15,-1 21-15,0-21 16,21 0-16,1 22 16,-22-22-1,21 0 1,-21 0 0,22 0-1,-22 0 1,21 21-1,-21-21-15,22 21 16,-22-21-16,0 0 16,21 0-16,-21 0 15,1 21-15,-1-21 16,21 0-16,-21 0 16,43 0-16,-1 0 15,1 21-15,42 0 16,-1 1-1,-20-22-15,0 21 16,-1 0-16,-20-21 16,-1 0-16,-20 0 15,-22 0 1,0 0-16,0 0 16,22 0-16,-22 0 15,42 0-15,-42 0 16,22 21-16,-22-21 15,0 0-15,0 0 16,0 0 0,1 0-16,-1 0 15,0 0-15,21 0 16,-21 0 0,1 0-16,-1 0 15,21 0-15,0 0 16,-20 0-16,-1 0 15,21 0-15,-21 0 16,22 0 0,-22 0-16,0 0 15,21 0-15,1 0 16,-1 0 0,-21 0-16,0 0 15,22 0-15,-22 0 16,0 0-16,0 0 15,21 0-15,1 0 16,-22 0-16,0 0 16,43 0-16,-22 0 15,-21 0 1,0 0 0,0 0-16,1 0 15,-1 0-15,21 0 16,-21 21-1,0-21 1,1 0-16,-1 0 16,0 0 15,0 0-15,0 0-16,0 0 31,1 0-16,-1 0 1,0 0-16,0 0 31,0 0 1,22 0 30,-22-21 1,0 0 15,0 21 62,0-42-62,0 20-15,1 1-1,-1 21 32,-21-21 31,0 0-125,-21 21 16,-1 0-1,1 0 110,0-21-109,0 0 47,0 21-17,0 0-14,-1-22-32,1 22 31,0 0 0,21-21 172,0 42 0,0 1-187,21 20 0,-21-21-1,21-21 1,-21 21 0,0 0-1,0 1 1,0-1 15,0 0 0,0 0-15,0 0 31,22 0-16,-22 1 16,0-1-16,0 0 0,0 0-15,0 0 31,21-21-16,-21 21 0,0 1 1,0-1 30,0 0-31,21 0 16,-21 0 0,21-21-31,-21 21 15,0 1-15,0-1 15,0 0 110,0 0-63,0 0-16,0 0-31,0 1 79,0-1-16,0 0-48,0 0-14,-21-21-17,21 21 32,-21-21-31,21 21 15,-21 1 16,-1-1 31,1-21-47,0 21 1,0-21-17,0 0-15,0 0 16,-1 0-1,1 0-15,-21 0 16,-22 0-16,1 0 16,-22 0-16,-42 0 15,0 0-15,0 0 16</inkml:trace>
</inkml:ink>
</file>

<file path=ppt/ink/ink6.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6.86636" units="1/cm"/>
          <inkml:channelProperty channel="Y" name="resolution" value="37.97468" units="1/cm"/>
          <inkml:channelProperty channel="T" name="resolution" value="1" units="1/dev"/>
        </inkml:channelProperties>
      </inkml:inkSource>
      <inkml:timestamp xml:id="ts0" timeString="2023-02-17T07:55:22.45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7302 4847 0,'22'0'94,"62"0"-79,107 0 1,-43 0-16,0 0 16,-42 0-16,0 0 15,-22 0-15,107 0 16,-64 0-16,0 0 16,0 0-16,0 0 15,21 0-15,-42 0 16,-43 0-16,-20 0 15,41 0-15,-41 0 16,20 0-16,1 0 16,42 0-16,21 0 15,42 21-15,-21 1 16,-63-1-16,63-21 16,21 42-16,1-21 15,20 0-15,-63 1 16,0-1-16,0 0 15,-42-21-15,-1 21 16,-20-21-16,-1 0 16,22 0-16,0 0 15,42 0-15,-21 0 16,42 0-16,0 0 16,21 21-1,-42 22-15,-21-43 16,0 0-16,0 0 15,-43 0-15,-42 0 16,22 0-16,-22 0 16,21 0-16,22 0 15,-22 0-15,43 0 16,21 0-16,21 0 16,-43 0-16,1 0 15,-43 0-15,22 0 16,-22 0-16,22 0 15,20 0-15,1 0 16,0 0-16,-22 0 16,1 0-16,20 0 15,1 0-15,0 0 16,-22 0-16,22 0 16,21 0-16,-22 0 15,-41 0-15,20 0 16,1 0-16,-1 0 15,22 0-15,-1 0 16,1 0-16,0 0 16,-22 0-16,1 0 15,-22 0 1,22 0-16,-22 0 16,21 0-16,-41 0 15,-1 0-15,21 0 16,0 0-16,-20 0 15,-1 0-15,21 0 16,0 0-16,-20 0 16,-22-22-1,21 22 1,0 0 0,0-21 15,0 0 0,0 21-15,22-21-1,-1 0 1,-21 21 0,0-21 15,22 21-31,-22-22 0,0 22 15,0-21 1,22 21 0,-43-21-1,0 0 32,21 21 0,-21-21 0,0 0 0,0-1-16,0 1-15,-21 21-1,-1 0-15,1 0 16,0-21 0,-21 21-1,21-21-15,-1 21 16,1 0-16,0-21 15,0 21-15,-21-21 16,-1 21 0,22-22-1,0 22-15,0 0 16,0 0-16,-1 0 16,1 0-1,0 0-15,-42-21 16,41 21-1,1 0-15,0-21 16,0 21 0,-21 0-1,20 0 1,-20 0-16,0 0 16,-1 0-16,1 0 15,0 0-15,-1 0 16,1 0-16,-21 0 15,20 0-15,1 0 16,-22 0-16,1 0 16,-1 0-1,22 0-15,-43 0 16,22 0-16,-1 0 16,22 0-16,0 0 15,-22 0-15,22 0 16,0 0-16,-22 0 15,43 0-15,-64 0 16,1 0-16,-1 0 16,0 0-16,-42 0 15,43 0-15,20 0 16,22 0-16,21 0 16,-1 0-1,1 0 1,0 0-16,-42 0 15,20 0-15,-20 0 16,20 0-16,-20 0 16,-1 0-16,22 0 15,21 0-15,-21 0 16,20 0-16,-41 0 16,21 0-16,-22 0 15,1 0-15,20 0 16,1 0-1,0 0-15,20 0 16,-20 0-16,21 0 16,0 0-1,0 0 1,-1 0-16,1 0 16,0 0-16,-21 0 15,-1 0-15,-20 0 16,21 0-16,-22 0 15,43 0-15,0 0 16,0 0-16,-22 0 16,22 0-1,-42 0-15,20 0 16,-20 0-16,-1 0 16,1 0-16,20 0 15,-20 0-15,21 0 16,-22 0-16,22 0 15,-1 0-15,22 0 16,-21 0-16,0 0 16,-22 0-16,43 0 15,0 0-15,0 0 16,-22 0-16,-20 0 16,20 0-1,-20 0-15,42 0 16,0 0-16,-1 0 15,1 0 1,-21 0-16,0 0 16,-1 0-16,-20 0 15,-1 0-15,22 0 16,0 0-16,-1 0 16,22 0-16,0 0 15,0 0-15,0 0 16,-1 0-1,1 0 1,-42 0 0,20 0-16,-20 0 15,-1 0-15,22 0 16,0 0-16,-1 0 16,1 0-16,21 0 15,-43 21-15,43-21 16,0 0-16,-21 0 15,-1 0-15,22 0 16,-21 0-16,21 0 16,-22 0-1,1 21-15,21-21 16,0 0-16,0 22 16,-1-22-16,1 0 15,0 0 1,-42 0-1,20 21-15,1-21 16,-22 0-16,22 0 16,21 0-16,0 0 15,0 21 1,-22-21-16,22 0 16,-21 0-1,-1 0-15,-20 0 16,21 0-16,-22 0 15,-42 0-15,-21 0 16,64 0-16,20 0 16,-41 0-16,-22 0 15,64 0-15,-1 0 16,22 0-16,0 0 16,0 0-1,-22 0 1,22 0 15,0 0-31,0 0 16,-21 0-16,-1 0 15,22 0-15,0 0 16,-21 0-16,-1 0 16,22 0-16,0 0 15,0 0-15,-43 0 16,1 0-16,42 0 15,-22 21 1,22-21-16,-42 0 16,41 0-16,-20 21 15,-21-21-15,41 0 16,1 0-16,-21 21 16,21-21-1,21 22 1,-21-22-1,-1 21 1,1-21 15,21 21 1,-21-21 14,21 21-30,-21 0 0,0 0-1,0 1 1,21-1 0,-22-21-1,1 21 1,0-21-16,21 21 31,-21-21-15,0 0 31,21 21 78,42 0-110,-21-21 1,22 0-16,-1 0 15,21 22-15,-41-22 16,41 0-16,22 21 16,42 0-16,0 0 15,-85-21-15,22 0 16,41 0-16,1 0 16,0 21-16,-64-21 15,43 0-15,0 0 16,-1 0-16,1 0 15,42 0-15,0 0 16,0 0-16,-21 0 16,-21 0-16,-22 0 15,-21 0-15,22 0 16,-22 0-16,-21 0 16,1 0-1,-1 0 79,-64 0-63,-62 0-15,-22 0-16,-85 0 15,0 0-15,-21 0 16,64 0-16,21 0 16,63 0-16,22 0 15,-1 0-15,-20 0 16,41 0-16,1 0 16,21 0-16,0 0 15,126 0 79,107 0-94,84 0 16,128 0-16,211 0 15,0 0-15,-64 0 16,22 0-16,0 43 15,-318-43-15,-64 0 16,-41 0-16,-1 0 16,-63 0-16,-64 0 15,-21 0-15,22 0 16,-22 0-16,21 0 16,1 0-16,-22 0 15,0 0-15,-63 21 63,-1-21-63,-41 0 15,-65 21-15,1-21 16,-21 0-16,0 0 16,-43 0-16,-84 0 15,20 0-15,-62 0 16,84 0-16,0 0 15,63 0-15,22 42 16,-64-42-16,85 21 16,0-21-16,42 0 15,-42 0 1,0 0-16,42 0 16,21 0-16,-63 0 15,42 0-15,21 0 16,22 0-16,-22 0 15,22 0-15,-1 0 16,22 0-16,21 0 16,0 0-16,-1 0 15,-20 0-15,21 0 16,0 0-16,-22 0 16,22 0-16,0 0 15,0 0-15,-43 0 16,22 0-16,21 0 15,0 0-15,0 0 16,-22 0 0,22 0 15,-21 0-31,21 22 16,-43-22-16,1 0 15,-1 0-15,1 0 16,41 0-16,1 0 15,0 0 32,0 0 0,0 0-31,0 0-16,-1 0 15,1 0-15,0 0 16,0 0-16,0 0 63,-22 0-48,22 0 1,0 0-1,0 0-15,0 0 16,0 0-16,-1 0 16,1 0 31,-21 0-47,21 0 46,63 0 95,0 0-125,1 0-16,-1 0 15,43 0-15,63 0 16,-42 0-16,63 0 16,64 0-16,-85 0 15,-42 0-15,84 0 16,-41 0-16,-22 0 15,-22 0-15,-20 0 16,0 0-16,42 0 16,-43 0-16,-20 0 15,-22 0 1,43 0-16,0 0 16,-1 0-16,64 0 15,1 0-15,-44 0 16,1 0-16,21 0 15,-42 0-15,-22 0 16,1 0-16,21 0 16,-1 0-16,1 0 15,0 0-15,-1 0 16,43 0-16,-63 0 16,42 0-16,-22 0 15,22 0-15,-42 0 16,-1 0-16,1 0 15,-1 0-15,22 0 16,-43 0-16,0 0 16,1 0-16,-22 0 15,21 0-15,1 0 16,-1 0-16,21 0 16,-41 0-16,20 0 15,0 0-15,1 0 16,-22 0-16,21 0 15,-21 0 1,22 0-16,20 0 16,-42 0-16,22 0 15,-22 0-15,42 0 16,-20 0-16,41 0 16,-20 0-16,20 0 15,-41 0-15,20 0 16,-20 0-16,-1 0 15,-21 0-15,0 0 16,0 0-16,1 0 16,20 0-16,21 0 15,-20 0-15,20 0 16,-20 0-16,-1 0 16,0 0-16,1 0 15,-1 0-15,0 0 16,1 0-16,-22 0 15,21 0-15,-21 0 16,43 0-16,-43 0 16,21 0-16,1 0 15,20 0-15,-21 0 16,1 0-16,20 0 16,1 0-1,-22 0-15,43 0 16,21 0-16,-43 0 15,22 0-15,-22 0 16,-20 0-16,-22 0 16,0 0-16,21 0 15,-21 0-15,1 0 16,-1 0-16,0 0 16,0 0-16,0 0 15,22 0-15,-22 0 16,0 0-16,21 0 15,1 0-15,-22 0 16,21 0 0,-21 0-16,0 0 15,22 0-15,-22 0 16,0 0-16,0 0 16,22 0-16,-22 0 15,21 0 1,-21 0-16,0 0 15,1 0-15,20 0 16,0 0 0,-21 0-16,1 0 15,-1 0 1,0 0-16,0 0 16,0 0-1,0 0 1,1 0-1,-1 0 1,0 0 0,0 0-1,0 0 1,0 0-16,1 0 16,-1 0 15,0 0-16,0 0 1,0 0 15,0 0 1,1 0-1,-1 0-16,0 0 1,0 0-16,21 0 16,-20 0 15,-1 0-31,0 0 16,0 0-1,0 0 16,0 0 110,-21-22-110,22-20 1,-22 21-17,0-21 1,0 20-1,-22-20 1,22 0 0,0-1-1,-21 22-15,0-21 16,21 21-16,0 0 16,-21-43-16,21 43 15,0 0 1,0-22-16,-21 22 31,21 0-15,0 0-1,-21 0 1,-1 21 0,22-21 30,0-1 64,-21 1-63,21 0 0,0 0-16,0 0 0,-42 21 188,0 0-219,20 0 15,-41 0 1,-1 0-16,1 0 0,-1 0 16,-20 0-16,-1 0 15,22 0-15,-1 0 16,43 0-16,-43 0 16,22 0-16,-43 0 15,-42 0-15,-21 0 16,-21 0-16,21 0 15,42 0-15,-21 0 16,42 0-16,22 0 16,20 0-16,-20 0 15,42 0-15,0 0 16,-22 0-16,22 0 16,-42 21-1,-1 0-15,1-21 16,-1 0-16,22 0 15,-1 21-15,1-21 16,0 0-16,21 0 16,-22 0-16,22 0 15,0 0 1,0 0-16,0 0 16,-1 0-1,-20 0-15,21 0 16,-21 0-16,-1 0 15,22 0-15,-21 0 16,-1 0-16,22 21 16,64-21 93,20 0-109,22 0 16,21 22-16,-1-1 15,44 0 1,-22-21-16,21 42 16,-64-42-16,22 21 15,-42-21-15,-1 0 16,-42 0-16,22 0 15,-22 0 1,21 0 0,-21 0-16,22 0 15,20 0-15,-20 0 16,-1 0-16,0 0 16,-21 0-16,1 0 15,-1 0-15,21 0 31,-21 0-15,22 0-16,-22 0 16,0 0-16,0 0 15,0 0 1,0 0-16,1 0 16,-1 0-1,0 0 1,0 0-16,0 0 15,22 0 1,-22 0 0,21 0 202,-21 0-202,0 0 0,1 0-16,-1 0 15,0 0-15,0 0 16,0 0 93,0 0-93,1 0 0,-1 0 30,0 0-46,0 0 16,0 0-16,43 22 16,-43-22-16,0 0 15,0 0-15,0 0 16,1 0-16,-1 0 16,0 0 15,0 0 0,0 0-15,0 0-16,1 0 125,-65 0-94,-41 0-31,-43 0 16,-22 0-16,22 0 15,64 0-15,-1 0 16,1 0-16,-22 0 15,-42 0-15,0 0 16,21 0-16,64 0 16,-21 0-16,41 0 15,-20 0-15,0 0 16,21 0-16,-22 0 16,22 0-16,-21 0 15,-43 0-15,22 0 16,-22 0-1,0 0-15,-63 0 16,0 0-16,42 0 16,0 0-16,0 0 15,43 0-15,42 0 16,0 0-16,-1 0 16,1 0-1,0 0 1,0 0-16,0 0 15,0 0-15,-1 0 16,-20 0-16,-21 0 16,-1 0-16,22 0 15,-1 0-15,-20 0 16,-22-22-16,22 1 16,20 21-16,22 0 15,-42 0-15,-1-21 16,43 21-16,-64 0 15,1 0-15,-1 0 16,22 0-16,-43-21 16,42 0-16,1 0 15,-1 21-15,22 0 16,0 0 0,20 0-16,-20 0 15,0 0-15,21 0 16,-22 0-16,22 0 15,-21 0-15,-22 0 16,22 0-16,0 0 16,20 0-16,1 0 15,0 0-15,0 0 16,0 0 0,-22 0-16,-20 0 15,-85 0-15,42-22 16,-21 1-16,42 21 15,-42-21-15,64 21 16,42 0-16,-1 0 16,1 0-16,0 0 15,0 0-15,0 0 16,0 0 0,-22 0-16,-20 0 15,-1-21-15,1 0 16,-1 21-16,22 0 15,-22 0-15,22 0 16,21-21 0,0 21-16,0 0 15,-1 0-15,1 0 16,0 0 0,-21 0-16,21 0 15,-1 0 1,1 0-16,0 0 15,0 0 1,0 0-16,0 0 16,-1 0-1,1 0 17,0 0-32,-21 0 15,21 0 1,-1 0-16,1 0 15,0 0 1,0 0-16,0 0 16,0 0-1,-1 0 1,1-22 0,0 22-16,0 0 15,-21 0-15,20 0 16,1 0-1,-21-21 1,0 21-16,20 0 16,1 0-16,0 0 15,0 0-15,0 0 16,-22 0-16,-20-21 16,42 21-16,-22-21 15,22 21-15,-21 0 16,21 0-1,0 0-15,-1 0 16,1 0 15,-21 0-15,21 0 0,-22 0-16,22 0 15,0 0 1,0 0-16,0 0 15,-22 0 1,43 21-16,-21-21 16,0 0-16,0 0 15,0 0 1,0 0-16,-1 0 16,1 0-1,-21 21-15,0-21 16,20 0-1,1 0-15,0 0 16,0 0-16,0 0 16,0 0-16,21 21 15,-22-21 1,1 0 15,-21 0 0,0 22 16,20-22-31,1 0 0,0 0-16,0 0 15,0 0-15,0 0 16,-1 21-1,1-21-15,0 0 16,0 0 0,-21 21-16,-22-21 15,43 0-15,-21 0 16,-1 0-16,22 0 16,0 0-16,0 0 15,0 0 48,21 21-48,-22-21 1</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372.98804" units="1/cm"/>
          <inkml:channelProperty channel="Y" name="resolution" value="650.78448" units="1/cm"/>
        </inkml:channelProperties>
      </inkml:inkSource>
      <inkml:timestamp xml:id="ts0" timeString="2025-02-03T06:16:04.163"/>
    </inkml:context>
    <inkml:brush xml:id="br0">
      <inkml:brushProperty name="width" value="0.05292" units="cm"/>
      <inkml:brushProperty name="height" value="0.05292" units="cm"/>
      <inkml:brushProperty name="color" value="#C00000"/>
    </inkml:brush>
  </inkml:definitions>
  <inkml:trace contextRef="#ctx0" brushRef="#br0">10955 18785,'-19'12,"-6"-1,-10-6,-4 5,1 2,-3-6,1-3,-2 1,14-19,2-6,-12 7,-7-1,-9 4,-11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3E2F59-EBDB-4484-A7D7-2A49E110E224}"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F9F156-E250-4311-A34D-B46424FC5722}" type="slidenum">
              <a:rPr lang="en-US" smtClean="0"/>
              <a:t>‹#›</a:t>
            </a:fld>
            <a:endParaRPr lang="en-US"/>
          </a:p>
        </p:txBody>
      </p:sp>
    </p:spTree>
    <p:extLst>
      <p:ext uri="{BB962C8B-B14F-4D97-AF65-F5344CB8AC3E}">
        <p14:creationId xmlns:p14="http://schemas.microsoft.com/office/powerpoint/2010/main" val="104476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1</a:t>
            </a:fld>
            <a:endParaRPr lang="en-US"/>
          </a:p>
        </p:txBody>
      </p:sp>
    </p:spTree>
    <p:extLst>
      <p:ext uri="{BB962C8B-B14F-4D97-AF65-F5344CB8AC3E}">
        <p14:creationId xmlns:p14="http://schemas.microsoft.com/office/powerpoint/2010/main" val="693756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4</a:t>
            </a:fld>
            <a:endParaRPr lang="en-US"/>
          </a:p>
        </p:txBody>
      </p:sp>
    </p:spTree>
    <p:extLst>
      <p:ext uri="{BB962C8B-B14F-4D97-AF65-F5344CB8AC3E}">
        <p14:creationId xmlns:p14="http://schemas.microsoft.com/office/powerpoint/2010/main" val="708161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5</a:t>
            </a:fld>
            <a:endParaRPr lang="en-US"/>
          </a:p>
        </p:txBody>
      </p:sp>
    </p:spTree>
    <p:extLst>
      <p:ext uri="{BB962C8B-B14F-4D97-AF65-F5344CB8AC3E}">
        <p14:creationId xmlns:p14="http://schemas.microsoft.com/office/powerpoint/2010/main" val="1462070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6</a:t>
            </a:fld>
            <a:endParaRPr lang="en-US"/>
          </a:p>
        </p:txBody>
      </p:sp>
    </p:spTree>
    <p:extLst>
      <p:ext uri="{BB962C8B-B14F-4D97-AF65-F5344CB8AC3E}">
        <p14:creationId xmlns:p14="http://schemas.microsoft.com/office/powerpoint/2010/main" val="1148756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7</a:t>
            </a:fld>
            <a:endParaRPr lang="en-US"/>
          </a:p>
        </p:txBody>
      </p:sp>
    </p:spTree>
    <p:extLst>
      <p:ext uri="{BB962C8B-B14F-4D97-AF65-F5344CB8AC3E}">
        <p14:creationId xmlns:p14="http://schemas.microsoft.com/office/powerpoint/2010/main" val="152829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241F153-95AF-41C6-A8ED-238204A922BE}" type="slidenum">
              <a:rPr lang="en-US" smtClean="0"/>
              <a:t>9</a:t>
            </a:fld>
            <a:endParaRPr lang="en-US"/>
          </a:p>
        </p:txBody>
      </p:sp>
    </p:spTree>
    <p:extLst>
      <p:ext uri="{BB962C8B-B14F-4D97-AF65-F5344CB8AC3E}">
        <p14:creationId xmlns:p14="http://schemas.microsoft.com/office/powerpoint/2010/main" val="3372846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10</a:t>
            </a:fld>
            <a:endParaRPr lang="en-US"/>
          </a:p>
        </p:txBody>
      </p:sp>
    </p:spTree>
    <p:extLst>
      <p:ext uri="{BB962C8B-B14F-4D97-AF65-F5344CB8AC3E}">
        <p14:creationId xmlns:p14="http://schemas.microsoft.com/office/powerpoint/2010/main" val="1357174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AD2AA87-5EE2-4846-9A9D-32451BFF352E}" type="slidenum">
              <a:rPr lang="en-US" smtClean="0"/>
              <a:pPr/>
              <a:t>15</a:t>
            </a:fld>
            <a:endParaRPr lang="en-US"/>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837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t>I.S BORSE, SSVPS BSD COE DHULE</a:t>
            </a:r>
          </a:p>
        </p:txBody>
      </p:sp>
    </p:spTree>
    <p:extLst>
      <p:ext uri="{BB962C8B-B14F-4D97-AF65-F5344CB8AC3E}">
        <p14:creationId xmlns:p14="http://schemas.microsoft.com/office/powerpoint/2010/main" val="3449675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97452096-B3F3-4A18-9A08-B0605C4061A9}" type="slidenum">
              <a:rPr lang="en-US" smtClean="0"/>
              <a:pPr/>
              <a:t>16</a:t>
            </a:fld>
            <a:endParaRPr lang="en-US"/>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3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9397"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t>I.S BORSE, SSVPS BSD COE DHULE</a:t>
            </a:r>
          </a:p>
        </p:txBody>
      </p:sp>
    </p:spTree>
    <p:extLst>
      <p:ext uri="{BB962C8B-B14F-4D97-AF65-F5344CB8AC3E}">
        <p14:creationId xmlns:p14="http://schemas.microsoft.com/office/powerpoint/2010/main" val="4068803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DDF5FB1-D1CA-43CD-8EDE-E4F0C0CFA46E}" type="slidenum">
              <a:rPr lang="en-US" smtClean="0"/>
              <a:pPr/>
              <a:t>17</a:t>
            </a:fld>
            <a:endParaRPr lang="en-US"/>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04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formalization of the notion of an algorithm led to great breakthroughs in the</a:t>
            </a:r>
          </a:p>
          <a:p>
            <a:pPr eaLnBrk="1" hangingPunct="1">
              <a:spcBef>
                <a:spcPct val="0"/>
              </a:spcBef>
            </a:pPr>
            <a:r>
              <a:rPr lang="en-US"/>
              <a:t>foundations of mathematics in the 1930s.</a:t>
            </a:r>
          </a:p>
          <a:p>
            <a:pPr eaLnBrk="1" hangingPunct="1">
              <a:spcBef>
                <a:spcPct val="0"/>
              </a:spcBef>
            </a:pPr>
            <a:endParaRPr lang="en-US"/>
          </a:p>
        </p:txBody>
      </p:sp>
      <p:sp>
        <p:nvSpPr>
          <p:cNvPr id="60421"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t>I.S BORSE, SSVPS BSD COE DHULE</a:t>
            </a:r>
          </a:p>
        </p:txBody>
      </p:sp>
    </p:spTree>
    <p:extLst>
      <p:ext uri="{BB962C8B-B14F-4D97-AF65-F5344CB8AC3E}">
        <p14:creationId xmlns:p14="http://schemas.microsoft.com/office/powerpoint/2010/main" val="2590313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18</a:t>
            </a:fld>
            <a:endParaRPr lang="en-US"/>
          </a:p>
        </p:txBody>
      </p:sp>
    </p:spTree>
    <p:extLst>
      <p:ext uri="{BB962C8B-B14F-4D97-AF65-F5344CB8AC3E}">
        <p14:creationId xmlns:p14="http://schemas.microsoft.com/office/powerpoint/2010/main" val="1231054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19</a:t>
            </a:fld>
            <a:endParaRPr lang="en-US"/>
          </a:p>
        </p:txBody>
      </p:sp>
    </p:spTree>
    <p:extLst>
      <p:ext uri="{BB962C8B-B14F-4D97-AF65-F5344CB8AC3E}">
        <p14:creationId xmlns:p14="http://schemas.microsoft.com/office/powerpoint/2010/main" val="3504383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20</a:t>
            </a:fld>
            <a:endParaRPr lang="en-US"/>
          </a:p>
        </p:txBody>
      </p:sp>
    </p:spTree>
    <p:extLst>
      <p:ext uri="{BB962C8B-B14F-4D97-AF65-F5344CB8AC3E}">
        <p14:creationId xmlns:p14="http://schemas.microsoft.com/office/powerpoint/2010/main" val="3504383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21</a:t>
            </a:fld>
            <a:endParaRPr lang="en-US"/>
          </a:p>
        </p:txBody>
      </p:sp>
    </p:spTree>
    <p:extLst>
      <p:ext uri="{BB962C8B-B14F-4D97-AF65-F5344CB8AC3E}">
        <p14:creationId xmlns:p14="http://schemas.microsoft.com/office/powerpoint/2010/main" val="1341304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22</a:t>
            </a:fld>
            <a:endParaRPr lang="en-US"/>
          </a:p>
        </p:txBody>
      </p:sp>
    </p:spTree>
    <p:extLst>
      <p:ext uri="{BB962C8B-B14F-4D97-AF65-F5344CB8AC3E}">
        <p14:creationId xmlns:p14="http://schemas.microsoft.com/office/powerpoint/2010/main" val="1341304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23</a:t>
            </a:fld>
            <a:endParaRPr lang="en-US"/>
          </a:p>
        </p:txBody>
      </p:sp>
    </p:spTree>
    <p:extLst>
      <p:ext uri="{BB962C8B-B14F-4D97-AF65-F5344CB8AC3E}">
        <p14:creationId xmlns:p14="http://schemas.microsoft.com/office/powerpoint/2010/main" val="2593968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24</a:t>
            </a:fld>
            <a:endParaRPr lang="en-US"/>
          </a:p>
        </p:txBody>
      </p:sp>
    </p:spTree>
    <p:extLst>
      <p:ext uri="{BB962C8B-B14F-4D97-AF65-F5344CB8AC3E}">
        <p14:creationId xmlns:p14="http://schemas.microsoft.com/office/powerpoint/2010/main" val="674085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D93C93-67DB-4D14-811A-6C924464E026}" type="slidenum">
              <a:rPr lang="en-US" smtClean="0"/>
              <a:pPr/>
              <a:t>27</a:t>
            </a:fld>
            <a:endParaRPr lang="en-US"/>
          </a:p>
        </p:txBody>
      </p:sp>
    </p:spTree>
    <p:extLst>
      <p:ext uri="{BB962C8B-B14F-4D97-AF65-F5344CB8AC3E}">
        <p14:creationId xmlns:p14="http://schemas.microsoft.com/office/powerpoint/2010/main" val="25090890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465C606-B957-4A7A-9667-FEC888A6C8DB}" type="slidenum">
              <a:rPr lang="zh-CN" altLang="en-US" smtClean="0"/>
              <a:pPr/>
              <a:t>31</a:t>
            </a:fld>
            <a:endParaRPr lang="en-US" altLang="zh-CN"/>
          </a:p>
        </p:txBody>
      </p:sp>
      <p:sp>
        <p:nvSpPr>
          <p:cNvPr id="39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9940"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650259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he-IL"/>
              <a:t>[] </a:t>
            </a:r>
            <a:r>
              <a:rPr lang="he-IL" b="1"/>
              <a:t>המהות של השיטה של </a:t>
            </a:r>
            <a:r>
              <a:rPr lang="en-US" b="1">
                <a:cs typeface="Arial" pitchFamily="34" charset="0"/>
              </a:rPr>
              <a:t>Srassen</a:t>
            </a:r>
            <a:r>
              <a:rPr lang="he-IL"/>
              <a:t>:</a:t>
            </a:r>
            <a:r>
              <a:rPr lang="he-IL" b="1"/>
              <a:t> </a:t>
            </a:r>
            <a:r>
              <a:rPr lang="he-IL"/>
              <a:t>הפחתה במכפלה אחת של מטריצות על חשבון מספר פעולות חיבור וחיסור נוספות.</a:t>
            </a:r>
          </a:p>
          <a:p>
            <a:pPr eaLnBrk="1" hangingPunct="1">
              <a:spcBef>
                <a:spcPct val="0"/>
              </a:spcBef>
            </a:pPr>
            <a:r>
              <a:rPr lang="he-IL"/>
              <a:t>[] מכפלת המטריצות הקטנות  יותר הנובעות מחלוקה המטריצות המקוריות לארבעה רבעים, מחושבת באופן רקורסיבי.</a:t>
            </a:r>
          </a:p>
          <a:p>
            <a:pPr eaLnBrk="1" hangingPunct="1">
              <a:spcBef>
                <a:spcPct val="0"/>
              </a:spcBef>
            </a:pPr>
            <a:r>
              <a:rPr lang="he-IL"/>
              <a:t>[] בסה"כ בכל שלב יש לנו 7 פעולות מכפלה </a:t>
            </a:r>
            <a:r>
              <a:rPr lang="he-IL" b="1"/>
              <a:t>והרבה</a:t>
            </a:r>
            <a:r>
              <a:rPr lang="he-IL"/>
              <a:t> פעולות חיבור וחיבור שדורשות זמן בסדר גודל של </a:t>
            </a:r>
            <a:r>
              <a:rPr lang="en-US">
                <a:cs typeface="Arial" pitchFamily="34" charset="0"/>
              </a:rPr>
              <a:t>O(n</a:t>
            </a:r>
            <a:r>
              <a:rPr lang="en-US" baseline="30000">
                <a:cs typeface="Arial" pitchFamily="34" charset="0"/>
              </a:rPr>
              <a:t>2</a:t>
            </a:r>
            <a:r>
              <a:rPr lang="en-US">
                <a:cs typeface="Arial" pitchFamily="34" charset="0"/>
              </a:rPr>
              <a:t>)</a:t>
            </a:r>
            <a:r>
              <a:rPr lang="he-IL"/>
              <a:t>.</a:t>
            </a:r>
            <a:endParaRPr lang="he-IL" b="1"/>
          </a:p>
          <a:p>
            <a:pPr eaLnBrk="1" hangingPunct="1">
              <a:spcBef>
                <a:spcPct val="0"/>
              </a:spcBef>
            </a:pPr>
            <a:endParaRPr lang="he-IL" b="1"/>
          </a:p>
          <a:p>
            <a:pPr eaLnBrk="1" hangingPunct="1">
              <a:spcBef>
                <a:spcPct val="0"/>
              </a:spcBef>
            </a:pPr>
            <a:r>
              <a:rPr lang="he-IL" b="1"/>
              <a:t>הערה:</a:t>
            </a:r>
            <a:r>
              <a:rPr lang="he-IL"/>
              <a:t> השיטה של </a:t>
            </a:r>
            <a:r>
              <a:rPr lang="en-US">
                <a:cs typeface="Arial" pitchFamily="34" charset="0"/>
              </a:rPr>
              <a:t>Strassen</a:t>
            </a:r>
            <a:r>
              <a:rPr lang="he-IL"/>
              <a:t> כוללת פעולות חיבור, כפל </a:t>
            </a:r>
            <a:r>
              <a:rPr lang="he-IL" b="1"/>
              <a:t>וחיסור</a:t>
            </a:r>
            <a:r>
              <a:rPr lang="he-IL"/>
              <a:t> של מטריצות. פעולות לוגיות המתאימות לחיבור ולכפל הן</a:t>
            </a:r>
          </a:p>
          <a:p>
            <a:pPr eaLnBrk="1" hangingPunct="1">
              <a:spcBef>
                <a:spcPct val="0"/>
              </a:spcBef>
            </a:pPr>
            <a:r>
              <a:rPr lang="en-US">
                <a:cs typeface="Arial" pitchFamily="34" charset="0"/>
              </a:rPr>
              <a:t>OR</a:t>
            </a:r>
            <a:r>
              <a:rPr lang="he-IL"/>
              <a:t> וְ-</a:t>
            </a:r>
            <a:r>
              <a:rPr lang="en-US">
                <a:cs typeface="Arial" pitchFamily="34" charset="0"/>
              </a:rPr>
              <a:t>AND</a:t>
            </a:r>
            <a:r>
              <a:rPr lang="he-IL"/>
              <a:t>, אבל חסרה פעולה לוגית מתאימה עבור חיסור. לכן, כדי להתאים את השיטה לכפל מטריצות בוליאניות, תוצאה </a:t>
            </a:r>
          </a:p>
          <a:p>
            <a:pPr eaLnBrk="1" hangingPunct="1">
              <a:spcBef>
                <a:spcPct val="0"/>
              </a:spcBef>
            </a:pPr>
            <a:r>
              <a:rPr lang="he-IL"/>
              <a:t>חיובית של מכפלת שורה בעמודה נמיר לערך 1 ותוצאה שהיא 0 נשאיר כמו שהיא. </a:t>
            </a:r>
            <a:r>
              <a:rPr lang="he-IL" b="1"/>
              <a:t>לדוגמא:</a:t>
            </a:r>
          </a:p>
          <a:p>
            <a:pPr eaLnBrk="1" hangingPunct="1">
              <a:spcBef>
                <a:spcPct val="0"/>
              </a:spcBef>
            </a:pPr>
            <a:r>
              <a:rPr lang="en-US">
                <a:cs typeface="Arial" pitchFamily="34" charset="0"/>
              </a:rPr>
              <a:t>[1 0 1] * [1 1 1] = 1*1 + 0*1 + 1*1 = 2  &gt;&gt; 1</a:t>
            </a:r>
            <a:endParaRPr lang="he-IL"/>
          </a:p>
        </p:txBody>
      </p:sp>
      <p:sp>
        <p:nvSpPr>
          <p:cNvPr id="40964" name="Slide Number Placeholder 3"/>
          <p:cNvSpPr txBox="1">
            <a:spLocks noGrp="1"/>
          </p:cNvSpPr>
          <p:nvPr/>
        </p:nvSpPr>
        <p:spPr bwMode="auto">
          <a:xfrm>
            <a:off x="1588" y="8685213"/>
            <a:ext cx="2971800" cy="457200"/>
          </a:xfrm>
          <a:prstGeom prst="rect">
            <a:avLst/>
          </a:prstGeom>
          <a:noFill/>
          <a:ln w="9525">
            <a:noFill/>
            <a:miter lim="800000"/>
            <a:headEnd/>
            <a:tailEnd/>
          </a:ln>
        </p:spPr>
        <p:txBody>
          <a:bodyPr anchor="b"/>
          <a:lstStyle/>
          <a:p>
            <a:fld id="{698A308F-E35F-4577-91FF-CA6417354472}" type="slidenum">
              <a:rPr lang="ar-SA" sz="1200"/>
              <a:pPr/>
              <a:t>32</a:t>
            </a:fld>
            <a:endParaRPr lang="he-IL" sz="1200"/>
          </a:p>
        </p:txBody>
      </p:sp>
    </p:spTree>
    <p:extLst>
      <p:ext uri="{BB962C8B-B14F-4D97-AF65-F5344CB8AC3E}">
        <p14:creationId xmlns:p14="http://schemas.microsoft.com/office/powerpoint/2010/main" val="3265562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E686C72-E444-4784-B952-4379CFA336F9}" type="slidenum">
              <a:rPr lang="zh-CN" altLang="en-US" smtClean="0"/>
              <a:pPr/>
              <a:t>33</a:t>
            </a:fld>
            <a:endParaRPr lang="en-US" altLang="zh-CN"/>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007242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38</a:t>
            </a:fld>
            <a:endParaRPr lang="en-US"/>
          </a:p>
        </p:txBody>
      </p:sp>
    </p:spTree>
    <p:extLst>
      <p:ext uri="{BB962C8B-B14F-4D97-AF65-F5344CB8AC3E}">
        <p14:creationId xmlns:p14="http://schemas.microsoft.com/office/powerpoint/2010/main" val="961905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54</a:t>
            </a:fld>
            <a:endParaRPr lang="en-US"/>
          </a:p>
        </p:txBody>
      </p:sp>
    </p:spTree>
    <p:extLst>
      <p:ext uri="{BB962C8B-B14F-4D97-AF65-F5344CB8AC3E}">
        <p14:creationId xmlns:p14="http://schemas.microsoft.com/office/powerpoint/2010/main" val="963454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59</a:t>
            </a:fld>
            <a:endParaRPr lang="en-US"/>
          </a:p>
        </p:txBody>
      </p:sp>
    </p:spTree>
    <p:extLst>
      <p:ext uri="{BB962C8B-B14F-4D97-AF65-F5344CB8AC3E}">
        <p14:creationId xmlns:p14="http://schemas.microsoft.com/office/powerpoint/2010/main" val="14378895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65</a:t>
            </a:fld>
            <a:endParaRPr lang="en-US"/>
          </a:p>
        </p:txBody>
      </p:sp>
    </p:spTree>
    <p:extLst>
      <p:ext uri="{BB962C8B-B14F-4D97-AF65-F5344CB8AC3E}">
        <p14:creationId xmlns:p14="http://schemas.microsoft.com/office/powerpoint/2010/main" val="3903618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F9F156-E250-4311-A34D-B46424FC5722}" type="slidenum">
              <a:rPr lang="en-US" smtClean="0"/>
              <a:t>67</a:t>
            </a:fld>
            <a:endParaRPr lang="en-US"/>
          </a:p>
        </p:txBody>
      </p:sp>
    </p:spTree>
    <p:extLst>
      <p:ext uri="{BB962C8B-B14F-4D97-AF65-F5344CB8AC3E}">
        <p14:creationId xmlns:p14="http://schemas.microsoft.com/office/powerpoint/2010/main" val="8200845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7F9F156-E250-4311-A34D-B46424FC5722}" type="slidenum">
              <a:rPr lang="en-US" smtClean="0"/>
              <a:t>78</a:t>
            </a:fld>
            <a:endParaRPr lang="en-US"/>
          </a:p>
        </p:txBody>
      </p:sp>
    </p:spTree>
    <p:extLst>
      <p:ext uri="{BB962C8B-B14F-4D97-AF65-F5344CB8AC3E}">
        <p14:creationId xmlns:p14="http://schemas.microsoft.com/office/powerpoint/2010/main" val="1435225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D4EC1CA-7A1A-415B-952F-C00A51815B93}"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4173499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EDFA47-CBB1-4F5F-AAC6-10720F2E12D7}"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350836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74757B-3F0A-4E6F-9E97-57CE2486CC7D}"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2109610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1E5F16-5320-4227-B02A-CD6B37245930}" type="datetime1">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1561152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3A7F4D6-9A22-41BC-BF20-3CFE5D04B12E}" type="datetime1">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3560253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5A9C0AE-D1CC-4A7D-AEAA-4EAF09C459B4}" type="datetime1">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3122039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BDBCB1-E4D1-4BE4-B5D7-B52CB07ED4CB}" type="datetime1">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2197417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4E75EA-F92E-41D9-A7E0-947934657C49}" type="datetime1">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4221704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4A52D0-ED4C-46A7-8822-3FED1D8E9C70}" type="datetime1">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2711247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DC129-EC5E-4229-BEE9-AC3C52620025}"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2043104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AABDF8-058C-4C61-B6BF-FF6686CF7CF9}"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C90F72-C14D-4CF0-B5AC-CA62D0555638}" type="slidenum">
              <a:rPr lang="en-US" smtClean="0"/>
              <a:t>‹#›</a:t>
            </a:fld>
            <a:endParaRPr lang="en-US"/>
          </a:p>
        </p:txBody>
      </p:sp>
    </p:spTree>
    <p:extLst>
      <p:ext uri="{BB962C8B-B14F-4D97-AF65-F5344CB8AC3E}">
        <p14:creationId xmlns:p14="http://schemas.microsoft.com/office/powerpoint/2010/main" val="2487907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5084" y="100013"/>
            <a:ext cx="10972800" cy="906462"/>
          </a:xfrm>
        </p:spPr>
        <p:txBody>
          <a:bodyPr/>
          <a:lstStyle/>
          <a:p>
            <a:r>
              <a:rPr lang="en-US"/>
              <a:t>Click to edit Master title style</a:t>
            </a:r>
          </a:p>
        </p:txBody>
      </p:sp>
      <p:sp>
        <p:nvSpPr>
          <p:cNvPr id="3" name="Text Placeholder 2"/>
          <p:cNvSpPr>
            <a:spLocks noGrp="1"/>
          </p:cNvSpPr>
          <p:nvPr>
            <p:ph type="body" sz="half" idx="1"/>
          </p:nvPr>
        </p:nvSpPr>
        <p:spPr>
          <a:xfrm>
            <a:off x="467784" y="1214439"/>
            <a:ext cx="5384800" cy="507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55784" y="1214439"/>
            <a:ext cx="5384800" cy="507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97625"/>
            <a:ext cx="2844800" cy="323850"/>
          </a:xfrm>
        </p:spPr>
        <p:txBody>
          <a:bodyPr/>
          <a:lstStyle>
            <a:lvl1pPr>
              <a:defRPr/>
            </a:lvl1pPr>
          </a:lstStyle>
          <a:p>
            <a:fld id="{B60866E7-3180-4920-93CD-391E14D07F65}" type="datetime1">
              <a:rPr lang="en-US" smtClean="0"/>
              <a:t>2/23/2026</a:t>
            </a:fld>
            <a:endParaRPr lang="en-US"/>
          </a:p>
        </p:txBody>
      </p:sp>
      <p:sp>
        <p:nvSpPr>
          <p:cNvPr id="6" name="Slide Number Placeholder 5"/>
          <p:cNvSpPr>
            <a:spLocks noGrp="1"/>
          </p:cNvSpPr>
          <p:nvPr>
            <p:ph type="sldNum" sz="quarter" idx="11"/>
          </p:nvPr>
        </p:nvSpPr>
        <p:spPr>
          <a:xfrm>
            <a:off x="8737600" y="6397625"/>
            <a:ext cx="2844800" cy="323850"/>
          </a:xfrm>
        </p:spPr>
        <p:txBody>
          <a:bodyPr/>
          <a:lstStyle>
            <a:lvl1pPr>
              <a:defRPr/>
            </a:lvl1pPr>
          </a:lstStyle>
          <a:p>
            <a:fld id="{9CCA35B8-5C08-4356-914F-F1CDA3BF988C}" type="slidenum">
              <a:rPr lang="en-US"/>
              <a:pPr/>
              <a:t>‹#›</a:t>
            </a:fld>
            <a:endParaRPr lang="en-US"/>
          </a:p>
        </p:txBody>
      </p:sp>
    </p:spTree>
    <p:extLst>
      <p:ext uri="{BB962C8B-B14F-4D97-AF65-F5344CB8AC3E}">
        <p14:creationId xmlns:p14="http://schemas.microsoft.com/office/powerpoint/2010/main" val="1130773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5084" y="100013"/>
            <a:ext cx="10972800" cy="906462"/>
          </a:xfrm>
        </p:spPr>
        <p:txBody>
          <a:bodyPr/>
          <a:lstStyle/>
          <a:p>
            <a:r>
              <a:rPr lang="en-US"/>
              <a:t>Click to edit Master title style</a:t>
            </a:r>
          </a:p>
        </p:txBody>
      </p:sp>
      <p:sp>
        <p:nvSpPr>
          <p:cNvPr id="3" name="Text Placeholder 2"/>
          <p:cNvSpPr>
            <a:spLocks noGrp="1"/>
          </p:cNvSpPr>
          <p:nvPr>
            <p:ph type="body" sz="half" idx="1"/>
          </p:nvPr>
        </p:nvSpPr>
        <p:spPr>
          <a:xfrm>
            <a:off x="467784" y="1214439"/>
            <a:ext cx="5384800" cy="507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55784" y="1214438"/>
            <a:ext cx="5384800" cy="2462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55784" y="3829051"/>
            <a:ext cx="5384800" cy="2462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397625"/>
            <a:ext cx="2844800" cy="323850"/>
          </a:xfrm>
        </p:spPr>
        <p:txBody>
          <a:bodyPr/>
          <a:lstStyle>
            <a:lvl1pPr>
              <a:defRPr/>
            </a:lvl1pPr>
          </a:lstStyle>
          <a:p>
            <a:fld id="{563790B0-9ACE-48AD-A95C-07E890781676}" type="datetime1">
              <a:rPr lang="en-US" smtClean="0"/>
              <a:t>2/23/2026</a:t>
            </a:fld>
            <a:endParaRPr lang="en-US"/>
          </a:p>
        </p:txBody>
      </p:sp>
      <p:sp>
        <p:nvSpPr>
          <p:cNvPr id="7" name="Slide Number Placeholder 6"/>
          <p:cNvSpPr>
            <a:spLocks noGrp="1"/>
          </p:cNvSpPr>
          <p:nvPr>
            <p:ph type="sldNum" sz="quarter" idx="11"/>
          </p:nvPr>
        </p:nvSpPr>
        <p:spPr>
          <a:xfrm>
            <a:off x="8737600" y="6397625"/>
            <a:ext cx="2844800" cy="323850"/>
          </a:xfrm>
        </p:spPr>
        <p:txBody>
          <a:bodyPr/>
          <a:lstStyle>
            <a:lvl1pPr>
              <a:defRPr/>
            </a:lvl1pPr>
          </a:lstStyle>
          <a:p>
            <a:fld id="{E8E449D2-C5FA-45A1-BCD1-A8911F36665F}" type="slidenum">
              <a:rPr lang="en-US"/>
              <a:pPr/>
              <a:t>‹#›</a:t>
            </a:fld>
            <a:endParaRPr lang="en-US"/>
          </a:p>
        </p:txBody>
      </p:sp>
    </p:spTree>
    <p:extLst>
      <p:ext uri="{BB962C8B-B14F-4D97-AF65-F5344CB8AC3E}">
        <p14:creationId xmlns:p14="http://schemas.microsoft.com/office/powerpoint/2010/main" val="2474250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B6C007-BA7C-4B57-A08E-2BD27288BB28}" type="datetime1">
              <a:rPr lang="en-US" smtClean="0"/>
              <a:t>2/23/2026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C90F72-C14D-4CF0-B5AC-CA62D0555638}" type="slidenum">
              <a:rPr lang="en-US" smtClean="0"/>
              <a:t>‹#›</a:t>
            </a:fld>
            <a:endParaRPr lang="en-US"/>
          </a:p>
        </p:txBody>
      </p:sp>
    </p:spTree>
    <p:extLst>
      <p:ext uri="{BB962C8B-B14F-4D97-AF65-F5344CB8AC3E}">
        <p14:creationId xmlns:p14="http://schemas.microsoft.com/office/powerpoint/2010/main" val="179107489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1.wmf"/><Relationship Id="rId3" Type="http://schemas.openxmlformats.org/officeDocument/2006/relationships/notesSlide" Target="../notesSlides/notesSlide20.xml"/><Relationship Id="rId7" Type="http://schemas.openxmlformats.org/officeDocument/2006/relationships/image" Target="../media/image8.wmf"/><Relationship Id="rId12"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0.wmf"/><Relationship Id="rId5" Type="http://schemas.openxmlformats.org/officeDocument/2006/relationships/image" Target="../media/image7.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9.w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2.wmf"/><Relationship Id="rId4"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customXml" Target="../ink/ink2.xml"/><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230.emf"/><Relationship Id="rId5" Type="http://schemas.openxmlformats.org/officeDocument/2006/relationships/customXml" Target="../ink/ink1.xml"/><Relationship Id="rId4" Type="http://schemas.openxmlformats.org/officeDocument/2006/relationships/image" Target="../media/image20.emf"/></Relationships>
</file>

<file path=ppt/slides/_rels/slide49.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2.emf"/><Relationship Id="rId7" Type="http://schemas.openxmlformats.org/officeDocument/2006/relationships/customXml" Target="../ink/ink4.xml"/><Relationship Id="rId2"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customXml" Target="../ink/ink3.xml"/><Relationship Id="rId10" Type="http://schemas.openxmlformats.org/officeDocument/2006/relationships/image" Target="../media/image30.emf"/><Relationship Id="rId4" Type="http://schemas.openxmlformats.org/officeDocument/2006/relationships/image" Target="../media/image23.emf"/><Relationship Id="rId9" Type="http://schemas.openxmlformats.org/officeDocument/2006/relationships/customXml" Target="../ink/ink5.xml"/></Relationships>
</file>

<file path=ppt/slides/_rels/slide5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customXml" Target="../ink/ink6.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2.emf"/><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5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2.emf"/><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7.wmf"/><Relationship Id="rId4" Type="http://schemas.openxmlformats.org/officeDocument/2006/relationships/oleObject" Target="../embeddings/oleObject8.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42.wmf"/><Relationship Id="rId4" Type="http://schemas.openxmlformats.org/officeDocument/2006/relationships/oleObject" Target="../embeddings/oleObject9.bin"/></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image" Target="../media/image42.wmf"/><Relationship Id="rId4" Type="http://schemas.openxmlformats.org/officeDocument/2006/relationships/oleObject" Target="../embeddings/oleObject10.bin"/></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50.png"/><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7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79.png"/><Relationship Id="rId1" Type="http://schemas.openxmlformats.org/officeDocument/2006/relationships/slideLayout" Target="../slideLayouts/slideLayout12.xml"/><Relationship Id="rId4" Type="http://schemas.openxmlformats.org/officeDocument/2006/relationships/image" Target="../media/image72.emf"/></Relationships>
</file>

<file path=ppt/slides/_rels/slide91.x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3915" y="1780468"/>
            <a:ext cx="8915399" cy="2681463"/>
          </a:xfrm>
        </p:spPr>
        <p:txBody>
          <a:bodyPr>
            <a:normAutofit lnSpcReduction="10000"/>
          </a:bodyPr>
          <a:lstStyle/>
          <a:p>
            <a:pPr algn="ctr"/>
            <a:r>
              <a:rPr lang="en-US" sz="4400" b="1" dirty="0">
                <a:solidFill>
                  <a:srgbClr val="FF0000"/>
                </a:solidFill>
              </a:rPr>
              <a:t>Design and Analysis of </a:t>
            </a:r>
            <a:r>
              <a:rPr lang="en-US" sz="4400" b="1" dirty="0" smtClean="0">
                <a:solidFill>
                  <a:srgbClr val="FF0000"/>
                </a:solidFill>
              </a:rPr>
              <a:t>Algorithms</a:t>
            </a:r>
          </a:p>
          <a:p>
            <a:pPr algn="ctr"/>
            <a:r>
              <a:rPr lang="en-US" sz="4400" b="1" dirty="0" smtClean="0"/>
              <a:t>SY AIML</a:t>
            </a:r>
          </a:p>
          <a:p>
            <a:pPr algn="ctr"/>
            <a:r>
              <a:rPr lang="en-US" sz="4400" b="1" dirty="0" smtClean="0"/>
              <a:t>2025-26</a:t>
            </a:r>
          </a:p>
          <a:p>
            <a:pPr algn="ctr"/>
            <a:r>
              <a:rPr lang="en-US" sz="4400" b="1" dirty="0" smtClean="0"/>
              <a:t>SEM - II</a:t>
            </a:r>
            <a:endParaRPr lang="en-US" sz="4400" b="1" dirty="0"/>
          </a:p>
        </p:txBody>
      </p:sp>
    </p:spTree>
    <p:extLst>
      <p:ext uri="{BB962C8B-B14F-4D97-AF65-F5344CB8AC3E}">
        <p14:creationId xmlns:p14="http://schemas.microsoft.com/office/powerpoint/2010/main" val="42418252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6828" y="582259"/>
            <a:ext cx="11778343" cy="5632311"/>
          </a:xfrm>
          <a:prstGeom prst="rect">
            <a:avLst/>
          </a:prstGeom>
        </p:spPr>
        <p:txBody>
          <a:bodyPr wrap="square">
            <a:spAutoFit/>
          </a:bodyPr>
          <a:lstStyle/>
          <a:p>
            <a:pPr algn="just">
              <a:lnSpc>
                <a:spcPct val="150000"/>
              </a:lnSpc>
            </a:pPr>
            <a:r>
              <a:rPr lang="en-IN" sz="2400" b="1" dirty="0" smtClean="0"/>
              <a:t>Unit-I				 </a:t>
            </a:r>
            <a:r>
              <a:rPr lang="en-IN" sz="2400" b="1" dirty="0"/>
              <a:t>05 Hrs.</a:t>
            </a:r>
          </a:p>
          <a:p>
            <a:pPr algn="just">
              <a:lnSpc>
                <a:spcPct val="150000"/>
              </a:lnSpc>
            </a:pPr>
            <a:r>
              <a:rPr lang="en-IN" sz="2400" b="1" dirty="0"/>
              <a:t> </a:t>
            </a:r>
            <a:r>
              <a:rPr lang="en-IN" sz="2400" dirty="0"/>
              <a:t>Introduction: Analysis of control statements and loops, solving recurrence relations using tree, </a:t>
            </a:r>
            <a:r>
              <a:rPr lang="en-IN" sz="2400" dirty="0" smtClean="0"/>
              <a:t>substitution</a:t>
            </a:r>
            <a:r>
              <a:rPr lang="en-IN" sz="2400" dirty="0"/>
              <a:t>, master method, analysis of quick sort and merge sort Problem Solving using divide </a:t>
            </a:r>
            <a:r>
              <a:rPr lang="en-IN" sz="2400" dirty="0" smtClean="0"/>
              <a:t>and </a:t>
            </a:r>
            <a:r>
              <a:rPr lang="en-IN" sz="2400" dirty="0"/>
              <a:t>conquer algorithm- Max-Min problem, </a:t>
            </a:r>
            <a:r>
              <a:rPr lang="en-IN" sz="2400" dirty="0" err="1"/>
              <a:t>Strassen’s</a:t>
            </a:r>
            <a:r>
              <a:rPr lang="en-IN" sz="2400" dirty="0"/>
              <a:t> Matrix </a:t>
            </a:r>
            <a:r>
              <a:rPr lang="en-IN" sz="2400" dirty="0" smtClean="0"/>
              <a:t>Multiplication</a:t>
            </a:r>
          </a:p>
          <a:p>
            <a:pPr algn="just">
              <a:lnSpc>
                <a:spcPct val="150000"/>
              </a:lnSpc>
            </a:pPr>
            <a:endParaRPr lang="en-IN" sz="2400" dirty="0"/>
          </a:p>
          <a:p>
            <a:pPr algn="just">
              <a:lnSpc>
                <a:spcPct val="150000"/>
              </a:lnSpc>
            </a:pPr>
            <a:r>
              <a:rPr lang="en-IN" sz="2400" b="1" dirty="0"/>
              <a:t> </a:t>
            </a:r>
            <a:r>
              <a:rPr lang="en-IN" sz="2400" b="1" dirty="0" smtClean="0"/>
              <a:t>Unit-II				 </a:t>
            </a:r>
            <a:r>
              <a:rPr lang="en-IN" sz="2400" b="1" dirty="0"/>
              <a:t>06 Hrs.</a:t>
            </a:r>
          </a:p>
          <a:p>
            <a:pPr algn="just">
              <a:lnSpc>
                <a:spcPct val="150000"/>
              </a:lnSpc>
            </a:pPr>
            <a:r>
              <a:rPr lang="en-IN" sz="2400" b="1" dirty="0"/>
              <a:t> </a:t>
            </a:r>
            <a:r>
              <a:rPr lang="en-IN" sz="2400" dirty="0"/>
              <a:t>Greedy Method: Introduction, Problem solving using- fractional knapsack problem, activity se</a:t>
            </a:r>
          </a:p>
          <a:p>
            <a:pPr algn="just">
              <a:lnSpc>
                <a:spcPct val="150000"/>
              </a:lnSpc>
            </a:pPr>
            <a:r>
              <a:rPr lang="en-IN" sz="2400" dirty="0"/>
              <a:t>lection problem, job sequencing with deadline, Graph: Minimum Spanning trees(</a:t>
            </a:r>
            <a:r>
              <a:rPr lang="en-IN" sz="2400" dirty="0" err="1"/>
              <a:t>Kruskal’s</a:t>
            </a:r>
            <a:r>
              <a:rPr lang="en-IN" sz="2400" dirty="0"/>
              <a:t> </a:t>
            </a:r>
            <a:r>
              <a:rPr lang="en-IN" sz="2400" dirty="0" smtClean="0"/>
              <a:t>algorithm </a:t>
            </a:r>
            <a:r>
              <a:rPr lang="en-IN" sz="2400" dirty="0"/>
              <a:t>(Use find and union concept, Prim’s algorithm), Single source shortest path (</a:t>
            </a:r>
            <a:r>
              <a:rPr lang="en-IN" sz="2400" dirty="0" err="1"/>
              <a:t>Dijkstra’s</a:t>
            </a:r>
            <a:r>
              <a:rPr lang="en-IN" sz="2400" dirty="0"/>
              <a:t> algorithm</a:t>
            </a:r>
            <a:r>
              <a:rPr lang="en-IN" sz="2400" dirty="0" smtClean="0"/>
              <a:t>), </a:t>
            </a:r>
            <a:r>
              <a:rPr lang="en-IN" sz="2400" dirty="0"/>
              <a:t>coin change problem.</a:t>
            </a:r>
            <a:endParaRPr lang="en-IN" sz="2000" dirty="0"/>
          </a:p>
        </p:txBody>
      </p:sp>
    </p:spTree>
    <p:extLst>
      <p:ext uri="{BB962C8B-B14F-4D97-AF65-F5344CB8AC3E}">
        <p14:creationId xmlns:p14="http://schemas.microsoft.com/office/powerpoint/2010/main" val="20081651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086" y="0"/>
            <a:ext cx="11887200" cy="6324808"/>
          </a:xfrm>
          <a:prstGeom prst="rect">
            <a:avLst/>
          </a:prstGeom>
        </p:spPr>
        <p:txBody>
          <a:bodyPr wrap="square">
            <a:spAutoFit/>
          </a:bodyPr>
          <a:lstStyle/>
          <a:p>
            <a:pPr algn="just">
              <a:lnSpc>
                <a:spcPct val="150000"/>
              </a:lnSpc>
            </a:pPr>
            <a:r>
              <a:rPr lang="en-IN" sz="2400" b="1" dirty="0" smtClean="0"/>
              <a:t>Unit-III								 </a:t>
            </a:r>
            <a:r>
              <a:rPr lang="en-IN" sz="2400" b="1" dirty="0"/>
              <a:t>08 Hrs.</a:t>
            </a:r>
          </a:p>
          <a:p>
            <a:pPr algn="just">
              <a:lnSpc>
                <a:spcPct val="150000"/>
              </a:lnSpc>
            </a:pPr>
            <a:r>
              <a:rPr lang="en-IN" sz="2200" dirty="0" smtClean="0"/>
              <a:t>Dynamic </a:t>
            </a:r>
            <a:r>
              <a:rPr lang="en-IN" sz="2200" dirty="0"/>
              <a:t>Programming: Introduction, principle of optimality, Components of dynamic </a:t>
            </a:r>
            <a:r>
              <a:rPr lang="en-IN" sz="2200" dirty="0" smtClean="0"/>
              <a:t>programming</a:t>
            </a:r>
            <a:r>
              <a:rPr lang="en-IN" sz="2200" dirty="0"/>
              <a:t>, characteristics of dynamic programming, Fibonacci problem, Coin Changing problem, </a:t>
            </a:r>
            <a:r>
              <a:rPr lang="en-IN" sz="2200" dirty="0" smtClean="0"/>
              <a:t>0/1 </a:t>
            </a:r>
            <a:r>
              <a:rPr lang="en-IN" sz="2200" dirty="0"/>
              <a:t>knapsack (table method), All pairs shortest paths (Floyd </a:t>
            </a:r>
            <a:r>
              <a:rPr lang="en-IN" sz="2200" dirty="0" err="1"/>
              <a:t>Warshall</a:t>
            </a:r>
            <a:r>
              <a:rPr lang="en-IN" sz="2200" dirty="0"/>
              <a:t> Algorithm), Single source </a:t>
            </a:r>
            <a:r>
              <a:rPr lang="en-IN" sz="2200" dirty="0" smtClean="0"/>
              <a:t>shortest </a:t>
            </a:r>
            <a:r>
              <a:rPr lang="en-IN" sz="2200" dirty="0"/>
              <a:t>path (Bellman-Ford Algorithm), Matrix Chain Multiplication, Travelling salesperson problem</a:t>
            </a:r>
            <a:r>
              <a:rPr lang="en-IN" sz="2200" dirty="0" smtClean="0"/>
              <a:t>, </a:t>
            </a:r>
            <a:r>
              <a:rPr lang="en-IN" sz="2200" dirty="0"/>
              <a:t>Longest Common Subsequence (LCS), Analysis of all Algorithms.</a:t>
            </a:r>
          </a:p>
          <a:p>
            <a:pPr algn="just">
              <a:lnSpc>
                <a:spcPct val="150000"/>
              </a:lnSpc>
            </a:pPr>
            <a:r>
              <a:rPr lang="en-IN" sz="2400" b="1" dirty="0"/>
              <a:t> </a:t>
            </a:r>
            <a:r>
              <a:rPr lang="en-IN" sz="2400" b="1" dirty="0" smtClean="0"/>
              <a:t>Unit-IV  </a:t>
            </a:r>
            <a:r>
              <a:rPr lang="en-IN" sz="2400" b="1" dirty="0"/>
              <a:t>Backtracking and Branch-and-Bound</a:t>
            </a:r>
            <a:r>
              <a:rPr lang="en-IN" sz="2400" b="1" dirty="0" smtClean="0"/>
              <a:t>:		 </a:t>
            </a:r>
            <a:r>
              <a:rPr lang="en-IN" sz="2400" b="1" dirty="0"/>
              <a:t>04 Hrs.</a:t>
            </a:r>
          </a:p>
          <a:p>
            <a:pPr algn="just">
              <a:lnSpc>
                <a:spcPct val="150000"/>
              </a:lnSpc>
            </a:pPr>
            <a:r>
              <a:rPr lang="en-IN" sz="2200" dirty="0" smtClean="0"/>
              <a:t>Basics </a:t>
            </a:r>
            <a:r>
              <a:rPr lang="en-IN" sz="2200" dirty="0"/>
              <a:t>of backtracking, N–queen problem, Sum of subsets, Graph </a:t>
            </a:r>
            <a:r>
              <a:rPr lang="en-IN" sz="2200" dirty="0" err="1"/>
              <a:t>coloring</a:t>
            </a:r>
            <a:r>
              <a:rPr lang="en-IN" sz="2200" dirty="0"/>
              <a:t>, Analysis of all Algorithms</a:t>
            </a:r>
            <a:r>
              <a:rPr lang="en-IN" sz="2200" dirty="0" smtClean="0"/>
              <a:t>. </a:t>
            </a:r>
            <a:r>
              <a:rPr lang="en-IN" sz="2200" dirty="0"/>
              <a:t>Branch-and-Bound: Introduction, Types of BB and its properties, Fifteen Puzzle problem</a:t>
            </a:r>
          </a:p>
          <a:p>
            <a:pPr algn="just">
              <a:lnSpc>
                <a:spcPct val="150000"/>
              </a:lnSpc>
            </a:pPr>
            <a:r>
              <a:rPr lang="en-IN" sz="2400" b="1" dirty="0"/>
              <a:t> </a:t>
            </a:r>
            <a:r>
              <a:rPr lang="en-IN" sz="2400" b="1" dirty="0" smtClean="0"/>
              <a:t>Unit-V								 </a:t>
            </a:r>
            <a:r>
              <a:rPr lang="en-IN" sz="2400" b="1" dirty="0"/>
              <a:t>03 Hrs.</a:t>
            </a:r>
          </a:p>
          <a:p>
            <a:pPr algn="just">
              <a:lnSpc>
                <a:spcPct val="150000"/>
              </a:lnSpc>
            </a:pPr>
            <a:r>
              <a:rPr lang="en-IN" sz="2200" dirty="0" smtClean="0"/>
              <a:t>String </a:t>
            </a:r>
            <a:r>
              <a:rPr lang="en-IN" sz="2200" dirty="0"/>
              <a:t>Matching Algorithms: The naive string-matching algorithm, The Rabin Karp algorithm</a:t>
            </a:r>
            <a:r>
              <a:rPr lang="en-IN" sz="2200" dirty="0" smtClean="0"/>
              <a:t>, </a:t>
            </a:r>
            <a:r>
              <a:rPr lang="en-IN" sz="2200" dirty="0"/>
              <a:t>String matching with finite automata, The Knuth Morris Pratt algorithm</a:t>
            </a:r>
          </a:p>
        </p:txBody>
      </p:sp>
    </p:spTree>
    <p:extLst>
      <p:ext uri="{BB962C8B-B14F-4D97-AF65-F5344CB8AC3E}">
        <p14:creationId xmlns:p14="http://schemas.microsoft.com/office/powerpoint/2010/main" val="6944440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Text Books:</a:t>
            </a:r>
            <a:r>
              <a:rPr lang="en-US" dirty="0">
                <a:latin typeface="+mn-lt"/>
              </a:rPr>
              <a:t/>
            </a:r>
            <a:br>
              <a:rPr lang="en-US" dirty="0">
                <a:latin typeface="+mn-lt"/>
              </a:rPr>
            </a:br>
            <a:endParaRPr lang="en-US" dirty="0">
              <a:latin typeface="+mn-lt"/>
            </a:endParaRPr>
          </a:p>
        </p:txBody>
      </p:sp>
      <p:sp>
        <p:nvSpPr>
          <p:cNvPr id="3" name="Content Placeholder 2"/>
          <p:cNvSpPr>
            <a:spLocks noGrp="1"/>
          </p:cNvSpPr>
          <p:nvPr>
            <p:ph idx="1"/>
          </p:nvPr>
        </p:nvSpPr>
        <p:spPr>
          <a:xfrm>
            <a:off x="705998" y="1329866"/>
            <a:ext cx="10515600" cy="4351338"/>
          </a:xfrm>
        </p:spPr>
        <p:txBody>
          <a:bodyPr>
            <a:normAutofit/>
          </a:bodyPr>
          <a:lstStyle/>
          <a:p>
            <a:pPr algn="just">
              <a:lnSpc>
                <a:spcPct val="150000"/>
              </a:lnSpc>
            </a:pPr>
            <a:r>
              <a:rPr lang="en-US" b="1" dirty="0"/>
              <a:t> </a:t>
            </a:r>
            <a:r>
              <a:rPr lang="en-US" dirty="0" smtClean="0"/>
              <a:t>S</a:t>
            </a:r>
            <a:r>
              <a:rPr lang="en-US" dirty="0"/>
              <a:t>. Sridhar, “Design and Analysis of Algorithms”, 1st Edition, Oxford Education, 2018.</a:t>
            </a:r>
          </a:p>
          <a:p>
            <a:pPr algn="just">
              <a:lnSpc>
                <a:spcPct val="150000"/>
              </a:lnSpc>
            </a:pPr>
            <a:r>
              <a:rPr lang="en-US" dirty="0"/>
              <a:t> </a:t>
            </a:r>
            <a:r>
              <a:rPr lang="en-US" dirty="0" smtClean="0"/>
              <a:t>Goodrich </a:t>
            </a:r>
            <a:r>
              <a:rPr lang="en-US" dirty="0"/>
              <a:t>M T, “Design and Analysis of Algorithms”, Wiley, New Delhi, 2021.</a:t>
            </a:r>
          </a:p>
          <a:p>
            <a:pPr algn="just">
              <a:lnSpc>
                <a:spcPct val="150000"/>
              </a:lnSpc>
            </a:pPr>
            <a:r>
              <a:rPr lang="en-US" dirty="0"/>
              <a:t> </a:t>
            </a:r>
            <a:r>
              <a:rPr lang="en-US" dirty="0" smtClean="0"/>
              <a:t>Ellis </a:t>
            </a:r>
            <a:r>
              <a:rPr lang="en-US" dirty="0"/>
              <a:t>Horowitz, </a:t>
            </a:r>
            <a:r>
              <a:rPr lang="en-US" dirty="0" err="1"/>
              <a:t>Sartaj</a:t>
            </a:r>
            <a:r>
              <a:rPr lang="en-US" dirty="0"/>
              <a:t> </a:t>
            </a:r>
            <a:r>
              <a:rPr lang="en-US" dirty="0" err="1"/>
              <a:t>Sahni</a:t>
            </a:r>
            <a:r>
              <a:rPr lang="en-US" dirty="0"/>
              <a:t>, S. </a:t>
            </a:r>
            <a:r>
              <a:rPr lang="en-US" dirty="0" err="1"/>
              <a:t>Rajsekaran</a:t>
            </a:r>
            <a:r>
              <a:rPr lang="en-US" dirty="0"/>
              <a:t>, “Fundamentals of computer algorithms”, </a:t>
            </a:r>
            <a:r>
              <a:rPr lang="en-US" dirty="0" smtClean="0"/>
              <a:t>University </a:t>
            </a:r>
            <a:r>
              <a:rPr lang="en-US" dirty="0"/>
              <a:t>Press.</a:t>
            </a:r>
          </a:p>
        </p:txBody>
      </p:sp>
    </p:spTree>
    <p:extLst>
      <p:ext uri="{BB962C8B-B14F-4D97-AF65-F5344CB8AC3E}">
        <p14:creationId xmlns:p14="http://schemas.microsoft.com/office/powerpoint/2010/main" val="2791932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Reference </a:t>
            </a:r>
            <a:r>
              <a:rPr lang="en-US" b="1" dirty="0">
                <a:latin typeface="+mn-lt"/>
              </a:rPr>
              <a:t>Books:</a:t>
            </a:r>
            <a:r>
              <a:rPr lang="en-US" dirty="0">
                <a:latin typeface="+mn-lt"/>
              </a:rPr>
              <a:t/>
            </a:r>
            <a:br>
              <a:rPr lang="en-US" dirty="0">
                <a:latin typeface="+mn-lt"/>
              </a:rPr>
            </a:br>
            <a:endParaRPr lang="en-US" dirty="0">
              <a:latin typeface="+mn-lt"/>
            </a:endParaRPr>
          </a:p>
        </p:txBody>
      </p:sp>
      <p:sp>
        <p:nvSpPr>
          <p:cNvPr id="3" name="Content Placeholder 2"/>
          <p:cNvSpPr>
            <a:spLocks noGrp="1"/>
          </p:cNvSpPr>
          <p:nvPr>
            <p:ph idx="1"/>
          </p:nvPr>
        </p:nvSpPr>
        <p:spPr>
          <a:xfrm>
            <a:off x="178420" y="1329866"/>
            <a:ext cx="11876048" cy="4351338"/>
          </a:xfrm>
        </p:spPr>
        <p:txBody>
          <a:bodyPr>
            <a:normAutofit fontScale="92500" lnSpcReduction="20000"/>
          </a:bodyPr>
          <a:lstStyle/>
          <a:p>
            <a:pPr algn="just">
              <a:lnSpc>
                <a:spcPct val="150000"/>
              </a:lnSpc>
            </a:pPr>
            <a:r>
              <a:rPr lang="en-US" b="1" dirty="0"/>
              <a:t>Thomas H. </a:t>
            </a:r>
            <a:r>
              <a:rPr lang="en-US" b="1" dirty="0" err="1"/>
              <a:t>Cormen</a:t>
            </a:r>
            <a:r>
              <a:rPr lang="en-US" b="1" dirty="0"/>
              <a:t>, Charles E. </a:t>
            </a:r>
            <a:r>
              <a:rPr lang="en-US" b="1" dirty="0" err="1"/>
              <a:t>Leiserson</a:t>
            </a:r>
            <a:r>
              <a:rPr lang="en-US" b="1" dirty="0"/>
              <a:t>, Ronald L. </a:t>
            </a:r>
            <a:r>
              <a:rPr lang="en-US" b="1" dirty="0" err="1"/>
              <a:t>Rivest</a:t>
            </a:r>
            <a:r>
              <a:rPr lang="en-US" b="1" dirty="0"/>
              <a:t>, “Introduction to Algorithms”, </a:t>
            </a:r>
            <a:r>
              <a:rPr lang="en-US" b="1" dirty="0" smtClean="0"/>
              <a:t>4</a:t>
            </a:r>
            <a:r>
              <a:rPr lang="en-US" b="1" baseline="30000" dirty="0" smtClean="0"/>
              <a:t>th</a:t>
            </a:r>
            <a:r>
              <a:rPr lang="en-US" b="1" dirty="0" smtClean="0"/>
              <a:t> Edition</a:t>
            </a:r>
            <a:r>
              <a:rPr lang="en-US" b="1" dirty="0"/>
              <a:t>, The MIT Press, 2022.</a:t>
            </a:r>
          </a:p>
          <a:p>
            <a:pPr algn="just">
              <a:lnSpc>
                <a:spcPct val="150000"/>
              </a:lnSpc>
            </a:pPr>
            <a:r>
              <a:rPr lang="en-US" dirty="0"/>
              <a:t> </a:t>
            </a:r>
            <a:r>
              <a:rPr lang="en-US" dirty="0" err="1" smtClean="0"/>
              <a:t>Sanjoy</a:t>
            </a:r>
            <a:r>
              <a:rPr lang="en-US" dirty="0" smtClean="0"/>
              <a:t> </a:t>
            </a:r>
            <a:r>
              <a:rPr lang="en-US" dirty="0" err="1"/>
              <a:t>Dasgupta</a:t>
            </a:r>
            <a:r>
              <a:rPr lang="en-US" dirty="0"/>
              <a:t>, Christos Papadimitriou, </a:t>
            </a:r>
            <a:r>
              <a:rPr lang="en-US" dirty="0" err="1"/>
              <a:t>Umesh</a:t>
            </a:r>
            <a:r>
              <a:rPr lang="en-US" dirty="0"/>
              <a:t> </a:t>
            </a:r>
            <a:r>
              <a:rPr lang="en-US" dirty="0" err="1"/>
              <a:t>Vazirani</a:t>
            </a:r>
            <a:r>
              <a:rPr lang="en-US" dirty="0"/>
              <a:t>, “Algorithms”, Tata </a:t>
            </a:r>
            <a:r>
              <a:rPr lang="en-US" dirty="0" smtClean="0"/>
              <a:t>McGraw-Hill Edition</a:t>
            </a:r>
            <a:r>
              <a:rPr lang="en-US" dirty="0"/>
              <a:t>.</a:t>
            </a:r>
          </a:p>
          <a:p>
            <a:pPr algn="just">
              <a:lnSpc>
                <a:spcPct val="150000"/>
              </a:lnSpc>
            </a:pPr>
            <a:r>
              <a:rPr lang="en-US" dirty="0"/>
              <a:t> </a:t>
            </a:r>
            <a:r>
              <a:rPr lang="en-US" dirty="0" smtClean="0"/>
              <a:t>S</a:t>
            </a:r>
            <a:r>
              <a:rPr lang="en-US" dirty="0"/>
              <a:t>. K. </a:t>
            </a:r>
            <a:r>
              <a:rPr lang="en-US" dirty="0" err="1"/>
              <a:t>Basu</a:t>
            </a:r>
            <a:r>
              <a:rPr lang="en-US" dirty="0"/>
              <a:t>, “Design Methods and Analysis of Algorithm”, PHI.</a:t>
            </a:r>
          </a:p>
          <a:p>
            <a:pPr algn="just">
              <a:lnSpc>
                <a:spcPct val="150000"/>
              </a:lnSpc>
            </a:pPr>
            <a:r>
              <a:rPr lang="en-US" dirty="0"/>
              <a:t> </a:t>
            </a:r>
            <a:r>
              <a:rPr lang="en-US" dirty="0" smtClean="0"/>
              <a:t>John </a:t>
            </a:r>
            <a:r>
              <a:rPr lang="en-US" dirty="0"/>
              <a:t>Kleinberg, Eva </a:t>
            </a:r>
            <a:r>
              <a:rPr lang="en-US" dirty="0" err="1"/>
              <a:t>Tardos</a:t>
            </a:r>
            <a:r>
              <a:rPr lang="en-US" dirty="0"/>
              <a:t>, “Algorithm Design”, Pearson.</a:t>
            </a:r>
          </a:p>
          <a:p>
            <a:pPr algn="just">
              <a:lnSpc>
                <a:spcPct val="150000"/>
              </a:lnSpc>
            </a:pPr>
            <a:r>
              <a:rPr lang="en-US" dirty="0"/>
              <a:t> </a:t>
            </a:r>
            <a:r>
              <a:rPr lang="en-US" dirty="0" smtClean="0"/>
              <a:t>Michael </a:t>
            </a:r>
            <a:r>
              <a:rPr lang="en-US" dirty="0"/>
              <a:t>T. Goodrich, Roberto </a:t>
            </a:r>
            <a:r>
              <a:rPr lang="en-US" dirty="0" err="1"/>
              <a:t>Tamassia</a:t>
            </a:r>
            <a:r>
              <a:rPr lang="en-US" dirty="0"/>
              <a:t>, “Algorithm Design”, Wiley Publication.</a:t>
            </a:r>
          </a:p>
        </p:txBody>
      </p:sp>
    </p:spTree>
    <p:extLst>
      <p:ext uri="{BB962C8B-B14F-4D97-AF65-F5344CB8AC3E}">
        <p14:creationId xmlns:p14="http://schemas.microsoft.com/office/powerpoint/2010/main" val="3136715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9738" y="192304"/>
            <a:ext cx="11589496" cy="6527985"/>
          </a:xfrm>
        </p:spPr>
        <p:txBody>
          <a:bodyPr>
            <a:normAutofit lnSpcReduction="10000"/>
          </a:bodyPr>
          <a:lstStyle/>
          <a:p>
            <a:pPr algn="just">
              <a:lnSpc>
                <a:spcPct val="150000"/>
              </a:lnSpc>
            </a:pPr>
            <a:r>
              <a:rPr lang="en-US" sz="2400" dirty="0"/>
              <a:t>Evaluation Scheme:</a:t>
            </a:r>
          </a:p>
          <a:p>
            <a:pPr algn="just">
              <a:lnSpc>
                <a:spcPct val="150000"/>
              </a:lnSpc>
            </a:pPr>
            <a:r>
              <a:rPr lang="en-US" sz="2400" dirty="0"/>
              <a:t> Theory :</a:t>
            </a:r>
          </a:p>
          <a:p>
            <a:pPr algn="just">
              <a:lnSpc>
                <a:spcPct val="150000"/>
              </a:lnSpc>
            </a:pPr>
            <a:r>
              <a:rPr lang="en-US" sz="2400" dirty="0"/>
              <a:t> Continuous Assessment (A):</a:t>
            </a:r>
          </a:p>
          <a:p>
            <a:pPr marL="0" indent="0" algn="just">
              <a:lnSpc>
                <a:spcPct val="150000"/>
              </a:lnSpc>
              <a:buNone/>
            </a:pPr>
            <a:r>
              <a:rPr lang="en-US" sz="2400" dirty="0" smtClean="0"/>
              <a:t>	Subject </a:t>
            </a:r>
            <a:r>
              <a:rPr lang="en-US" sz="2400" dirty="0"/>
              <a:t>teacher will declare Teacher Assessment criteria at the start of semester.</a:t>
            </a:r>
          </a:p>
          <a:p>
            <a:pPr algn="just">
              <a:lnSpc>
                <a:spcPct val="150000"/>
              </a:lnSpc>
            </a:pPr>
            <a:r>
              <a:rPr lang="en-US" sz="2400" dirty="0"/>
              <a:t> Continuous Assessment (B):</a:t>
            </a:r>
          </a:p>
          <a:p>
            <a:pPr marL="0" indent="0" algn="just">
              <a:lnSpc>
                <a:spcPct val="150000"/>
              </a:lnSpc>
              <a:buNone/>
            </a:pPr>
            <a:r>
              <a:rPr lang="en-US" sz="2400" dirty="0" smtClean="0"/>
              <a:t>	1</a:t>
            </a:r>
            <a:r>
              <a:rPr lang="en-US" sz="2400" dirty="0"/>
              <a:t>. Two term tests of 15 marks each will be conducted during the semester.</a:t>
            </a:r>
          </a:p>
          <a:p>
            <a:pPr marL="0" indent="0" algn="just">
              <a:lnSpc>
                <a:spcPct val="150000"/>
              </a:lnSpc>
              <a:buNone/>
            </a:pPr>
            <a:r>
              <a:rPr lang="en-US" sz="2400" dirty="0" smtClean="0"/>
              <a:t>	2</a:t>
            </a:r>
            <a:r>
              <a:rPr lang="en-US" sz="2400" dirty="0"/>
              <a:t>. Average of the marks scored in both the tests will be considered for final grading.</a:t>
            </a:r>
          </a:p>
          <a:p>
            <a:pPr algn="just">
              <a:lnSpc>
                <a:spcPct val="150000"/>
              </a:lnSpc>
            </a:pPr>
            <a:r>
              <a:rPr lang="en-US" sz="2400" dirty="0"/>
              <a:t> End Semester Examination (C):</a:t>
            </a:r>
          </a:p>
          <a:p>
            <a:pPr marL="0" indent="0" algn="just">
              <a:lnSpc>
                <a:spcPct val="150000"/>
              </a:lnSpc>
              <a:buNone/>
            </a:pPr>
            <a:r>
              <a:rPr lang="en-US" sz="2400" dirty="0" smtClean="0"/>
              <a:t>	1</a:t>
            </a:r>
            <a:r>
              <a:rPr lang="en-US" sz="2400" dirty="0"/>
              <a:t>. Question paper based on the entire syllabus, summing up to 60 marks.</a:t>
            </a:r>
          </a:p>
          <a:p>
            <a:pPr marL="0" indent="0" algn="just">
              <a:lnSpc>
                <a:spcPct val="150000"/>
              </a:lnSpc>
              <a:buNone/>
            </a:pPr>
            <a:r>
              <a:rPr lang="en-US" sz="2400" dirty="0" smtClean="0"/>
              <a:t>	2</a:t>
            </a:r>
            <a:r>
              <a:rPr lang="en-US" sz="2400" dirty="0"/>
              <a:t>. Total duration allotted for writing the paper is 2 </a:t>
            </a:r>
            <a:r>
              <a:rPr lang="en-US" sz="2400" dirty="0" err="1"/>
              <a:t>hrs</a:t>
            </a:r>
            <a:endParaRPr lang="en-US" sz="2400" dirty="0"/>
          </a:p>
        </p:txBody>
      </p:sp>
    </p:spTree>
    <p:extLst>
      <p:ext uri="{BB962C8B-B14F-4D97-AF65-F5344CB8AC3E}">
        <p14:creationId xmlns:p14="http://schemas.microsoft.com/office/powerpoint/2010/main" val="1159241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7534" y="193832"/>
            <a:ext cx="11699665" cy="6460356"/>
          </a:xfrm>
        </p:spPr>
        <p:txBody>
          <a:bodyPr>
            <a:noAutofit/>
          </a:bodyPr>
          <a:lstStyle/>
          <a:p>
            <a:pPr algn="just">
              <a:lnSpc>
                <a:spcPct val="120000"/>
              </a:lnSpc>
            </a:pPr>
            <a:r>
              <a:rPr lang="en-US" sz="2400" b="1" dirty="0">
                <a:solidFill>
                  <a:schemeClr val="accent1"/>
                </a:solidFill>
              </a:rPr>
              <a:t>Evaluation Scheme:        </a:t>
            </a:r>
            <a:r>
              <a:rPr lang="en-US" sz="2400" b="1" dirty="0"/>
              <a:t>Laboratory</a:t>
            </a:r>
          </a:p>
          <a:p>
            <a:pPr algn="just">
              <a:lnSpc>
                <a:spcPct val="120000"/>
              </a:lnSpc>
            </a:pPr>
            <a:r>
              <a:rPr lang="en-US" sz="2400" dirty="0">
                <a:solidFill>
                  <a:schemeClr val="accent1"/>
                </a:solidFill>
              </a:rPr>
              <a:t>Continuous Assessment (TA):</a:t>
            </a:r>
          </a:p>
          <a:p>
            <a:pPr algn="just">
              <a:lnSpc>
                <a:spcPct val="120000"/>
              </a:lnSpc>
            </a:pPr>
            <a:r>
              <a:rPr lang="en-US" sz="2000" dirty="0"/>
              <a:t>Laboratory work will be based on </a:t>
            </a:r>
            <a:r>
              <a:rPr lang="en-IN" sz="2000" dirty="0"/>
              <a:t>RCP23ACPC402</a:t>
            </a:r>
            <a:r>
              <a:rPr lang="en-US" sz="2000" dirty="0" smtClean="0"/>
              <a:t> </a:t>
            </a:r>
            <a:r>
              <a:rPr lang="en-US" sz="2000" dirty="0"/>
              <a:t>with </a:t>
            </a:r>
            <a:r>
              <a:rPr lang="en-US" sz="2000" b="1" dirty="0"/>
              <a:t>minimum </a:t>
            </a:r>
            <a:r>
              <a:rPr lang="en-US" sz="2000" b="1" dirty="0" smtClean="0"/>
              <a:t>08 </a:t>
            </a:r>
            <a:r>
              <a:rPr lang="en-US" sz="2000" dirty="0"/>
              <a:t>experiments to be incorporated.</a:t>
            </a:r>
          </a:p>
          <a:p>
            <a:pPr algn="just">
              <a:lnSpc>
                <a:spcPct val="120000"/>
              </a:lnSpc>
            </a:pPr>
            <a:r>
              <a:rPr lang="en-US" sz="2000" dirty="0"/>
              <a:t>The distribution of marks for term work shall be as follows:</a:t>
            </a:r>
          </a:p>
          <a:p>
            <a:pPr marL="457200" indent="-457200" algn="just">
              <a:lnSpc>
                <a:spcPct val="120000"/>
              </a:lnSpc>
              <a:buAutoNum type="arabicPeriod"/>
            </a:pPr>
            <a:r>
              <a:rPr lang="en-US" sz="2000" dirty="0"/>
              <a:t>Performance in Experiments: 05 Marks </a:t>
            </a:r>
          </a:p>
          <a:p>
            <a:pPr marL="457200" indent="-457200" algn="just">
              <a:lnSpc>
                <a:spcPct val="120000"/>
              </a:lnSpc>
              <a:buAutoNum type="arabicPeriod"/>
            </a:pPr>
            <a:r>
              <a:rPr lang="en-IN" sz="2000" dirty="0"/>
              <a:t>Journal Submission: 05 Marks </a:t>
            </a:r>
          </a:p>
          <a:p>
            <a:pPr marL="457200" indent="-457200" algn="just">
              <a:lnSpc>
                <a:spcPct val="120000"/>
              </a:lnSpc>
              <a:buAutoNum type="arabicPeriod"/>
            </a:pPr>
            <a:r>
              <a:rPr lang="en-IN" sz="2000" dirty="0"/>
              <a:t>Viva-voce: 05 Marks </a:t>
            </a:r>
          </a:p>
          <a:p>
            <a:pPr marL="457200" indent="-457200" algn="just">
              <a:lnSpc>
                <a:spcPct val="120000"/>
              </a:lnSpc>
              <a:buAutoNum type="arabicPeriod"/>
            </a:pPr>
            <a:r>
              <a:rPr lang="en-US" sz="2000" dirty="0"/>
              <a:t>Subject Specific Lab Assignment/Case Study: 10 Marks </a:t>
            </a:r>
          </a:p>
          <a:p>
            <a:pPr algn="just">
              <a:lnSpc>
                <a:spcPct val="120000"/>
              </a:lnSpc>
            </a:pPr>
            <a:r>
              <a:rPr lang="en-US" sz="2400" dirty="0">
                <a:solidFill>
                  <a:schemeClr val="accent1"/>
                </a:solidFill>
              </a:rPr>
              <a:t>End Semester Examination (ESE):</a:t>
            </a:r>
          </a:p>
          <a:p>
            <a:pPr marL="0" indent="0" algn="just">
              <a:lnSpc>
                <a:spcPct val="120000"/>
              </a:lnSpc>
              <a:buNone/>
            </a:pPr>
            <a:r>
              <a:rPr lang="en-US" sz="2000" dirty="0"/>
              <a:t>Oral &amp; Practical examination will be based on the entire syllabus including, the practical's performed during laboratory sessions.</a:t>
            </a:r>
          </a:p>
        </p:txBody>
      </p:sp>
    </p:spTree>
    <p:extLst>
      <p:ext uri="{BB962C8B-B14F-4D97-AF65-F5344CB8AC3E}">
        <p14:creationId xmlns:p14="http://schemas.microsoft.com/office/powerpoint/2010/main" val="3036492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loom's Taxonomy | Center for Teaching | Vanderbilt Univers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46" y="94235"/>
            <a:ext cx="11278440" cy="6350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789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r="45993"/>
          <a:stretch/>
        </p:blipFill>
        <p:spPr bwMode="auto">
          <a:xfrm>
            <a:off x="3431382" y="446852"/>
            <a:ext cx="5786436" cy="25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8386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0997" y="204633"/>
            <a:ext cx="11174776" cy="5909310"/>
          </a:xfrm>
          <a:prstGeom prst="rect">
            <a:avLst/>
          </a:prstGeom>
        </p:spPr>
        <p:txBody>
          <a:bodyPr wrap="square">
            <a:spAutoFit/>
          </a:bodyPr>
          <a:lstStyle/>
          <a:p>
            <a:pPr algn="just">
              <a:lnSpc>
                <a:spcPct val="150000"/>
              </a:lnSpc>
            </a:pPr>
            <a:r>
              <a:rPr lang="en-IN" sz="3600" b="1" dirty="0"/>
              <a:t>Unit-I Introduction                                   05 Hrs. </a:t>
            </a:r>
          </a:p>
          <a:p>
            <a:pPr marL="342900" indent="-342900" algn="just">
              <a:lnSpc>
                <a:spcPct val="150000"/>
              </a:lnSpc>
              <a:buFont typeface="Arial" panose="020B0604020202020204" pitchFamily="34" charset="0"/>
              <a:buChar char="•"/>
            </a:pPr>
            <a:r>
              <a:rPr lang="en-IN" sz="2400" dirty="0"/>
              <a:t>Introduction to Asymptotic Analysis</a:t>
            </a:r>
          </a:p>
          <a:p>
            <a:pPr marL="342900" indent="-342900" algn="just">
              <a:lnSpc>
                <a:spcPct val="150000"/>
              </a:lnSpc>
              <a:buFont typeface="Arial" panose="020B0604020202020204" pitchFamily="34" charset="0"/>
              <a:buChar char="•"/>
            </a:pPr>
            <a:r>
              <a:rPr lang="en-IN" sz="2400" dirty="0"/>
              <a:t>Analysis of control statements and loops</a:t>
            </a:r>
          </a:p>
          <a:p>
            <a:pPr marL="342900" indent="-342900" algn="just">
              <a:lnSpc>
                <a:spcPct val="150000"/>
              </a:lnSpc>
              <a:buFont typeface="Arial" panose="020B0604020202020204" pitchFamily="34" charset="0"/>
              <a:buChar char="•"/>
            </a:pPr>
            <a:r>
              <a:rPr lang="en-IN" sz="2400" dirty="0"/>
              <a:t>solving recurrence relations using tree method</a:t>
            </a:r>
          </a:p>
          <a:p>
            <a:pPr marL="342900" indent="-342900" algn="just">
              <a:lnSpc>
                <a:spcPct val="150000"/>
              </a:lnSpc>
              <a:buFont typeface="Arial" panose="020B0604020202020204" pitchFamily="34" charset="0"/>
              <a:buChar char="•"/>
            </a:pPr>
            <a:r>
              <a:rPr lang="en-IN" sz="2400" dirty="0"/>
              <a:t>solving recurrence relations using substitution method</a:t>
            </a:r>
          </a:p>
          <a:p>
            <a:pPr marL="342900" indent="-342900" algn="just">
              <a:lnSpc>
                <a:spcPct val="150000"/>
              </a:lnSpc>
              <a:buFont typeface="Arial" panose="020B0604020202020204" pitchFamily="34" charset="0"/>
              <a:buChar char="•"/>
            </a:pPr>
            <a:r>
              <a:rPr lang="en-IN" sz="2400" dirty="0"/>
              <a:t>solving recurrence relations using master method</a:t>
            </a:r>
          </a:p>
          <a:p>
            <a:pPr marL="342900" indent="-342900" algn="just">
              <a:lnSpc>
                <a:spcPct val="150000"/>
              </a:lnSpc>
              <a:buFont typeface="Arial" panose="020B0604020202020204" pitchFamily="34" charset="0"/>
              <a:buChar char="•"/>
            </a:pPr>
            <a:r>
              <a:rPr lang="en-IN" sz="2400" dirty="0"/>
              <a:t>analysis of quick sort</a:t>
            </a:r>
          </a:p>
          <a:p>
            <a:pPr marL="342900" indent="-342900" algn="just">
              <a:lnSpc>
                <a:spcPct val="150000"/>
              </a:lnSpc>
              <a:buFont typeface="Arial" panose="020B0604020202020204" pitchFamily="34" charset="0"/>
              <a:buChar char="•"/>
            </a:pPr>
            <a:r>
              <a:rPr lang="en-IN" sz="2400" dirty="0"/>
              <a:t>analysis of merge sort</a:t>
            </a:r>
          </a:p>
          <a:p>
            <a:pPr marL="342900" indent="-342900" algn="just">
              <a:lnSpc>
                <a:spcPct val="150000"/>
              </a:lnSpc>
              <a:buFont typeface="Arial" panose="020B0604020202020204" pitchFamily="34" charset="0"/>
              <a:buChar char="•"/>
            </a:pPr>
            <a:r>
              <a:rPr lang="en-IN" sz="2400" dirty="0"/>
              <a:t>Problem Solving using divide and conquer algorithm - Max-Min problem</a:t>
            </a:r>
          </a:p>
          <a:p>
            <a:pPr marL="342900" indent="-342900" algn="just">
              <a:lnSpc>
                <a:spcPct val="150000"/>
              </a:lnSpc>
              <a:buFont typeface="Arial" panose="020B0604020202020204" pitchFamily="34" charset="0"/>
              <a:buChar char="•"/>
            </a:pPr>
            <a:r>
              <a:rPr lang="en-IN" sz="2400" dirty="0" err="1"/>
              <a:t>Strassen’s</a:t>
            </a:r>
            <a:r>
              <a:rPr lang="en-IN" sz="2400" dirty="0"/>
              <a:t> Matrix Multiplication.</a:t>
            </a:r>
          </a:p>
        </p:txBody>
      </p:sp>
    </p:spTree>
    <p:extLst>
      <p:ext uri="{BB962C8B-B14F-4D97-AF65-F5344CB8AC3E}">
        <p14:creationId xmlns:p14="http://schemas.microsoft.com/office/powerpoint/2010/main" val="3699809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0884" y="-175285"/>
            <a:ext cx="2444827" cy="1325563"/>
          </a:xfrm>
        </p:spPr>
        <p:txBody>
          <a:bodyPr>
            <a:normAutofit/>
          </a:bodyPr>
          <a:lstStyle/>
          <a:p>
            <a:r>
              <a:rPr lang="en-US" b="1" dirty="0"/>
              <a:t>Algorithm</a:t>
            </a:r>
            <a:endParaRPr lang="en-US" dirty="0"/>
          </a:p>
        </p:txBody>
      </p:sp>
      <p:sp>
        <p:nvSpPr>
          <p:cNvPr id="3" name="Content Placeholder 2"/>
          <p:cNvSpPr>
            <a:spLocks noGrp="1"/>
          </p:cNvSpPr>
          <p:nvPr>
            <p:ph idx="1"/>
          </p:nvPr>
        </p:nvSpPr>
        <p:spPr>
          <a:xfrm>
            <a:off x="275422" y="976312"/>
            <a:ext cx="11732964" cy="5562600"/>
          </a:xfrm>
        </p:spPr>
        <p:txBody>
          <a:bodyPr>
            <a:noAutofit/>
          </a:bodyPr>
          <a:lstStyle/>
          <a:p>
            <a:r>
              <a:rPr lang="en-US" sz="2400" dirty="0"/>
              <a:t>An </a:t>
            </a:r>
            <a:r>
              <a:rPr lang="en-US" sz="2400" b="1" dirty="0"/>
              <a:t>algorithm</a:t>
            </a:r>
            <a:r>
              <a:rPr lang="en-US" sz="2400" dirty="0"/>
              <a:t> is a clear step-by-step method used to solve a problem, especially in mathematics or computing.</a:t>
            </a:r>
          </a:p>
          <a:p>
            <a:r>
              <a:rPr lang="en-US" sz="2400" dirty="0"/>
              <a:t>The word </a:t>
            </a:r>
            <a:r>
              <a:rPr lang="en-US" sz="2400" i="1" dirty="0"/>
              <a:t>algorithm</a:t>
            </a:r>
            <a:r>
              <a:rPr lang="en-US" sz="2400" dirty="0"/>
              <a:t> comes from the name of a Persian mathematician </a:t>
            </a:r>
            <a:r>
              <a:rPr lang="en-US" sz="2400" b="1" dirty="0"/>
              <a:t>Al-Khwarizmi</a:t>
            </a:r>
            <a:r>
              <a:rPr lang="en-US" sz="2400" dirty="0" smtClean="0"/>
              <a:t>.</a:t>
            </a:r>
          </a:p>
          <a:p>
            <a:endParaRPr lang="en-US" sz="2400" dirty="0"/>
          </a:p>
          <a:p>
            <a:r>
              <a:rPr lang="en-US" sz="2400" dirty="0"/>
              <a:t>Algorithms can be of different types, such as:</a:t>
            </a:r>
          </a:p>
          <a:p>
            <a:pPr lvl="1"/>
            <a:r>
              <a:rPr lang="en-US" sz="2000" b="1" dirty="0"/>
              <a:t>Recursive</a:t>
            </a:r>
            <a:r>
              <a:rPr lang="en-US" sz="2000" dirty="0"/>
              <a:t> (a function calls itself)</a:t>
            </a:r>
          </a:p>
          <a:p>
            <a:pPr lvl="1"/>
            <a:r>
              <a:rPr lang="en-US" sz="2000" b="1" dirty="0"/>
              <a:t>Serial</a:t>
            </a:r>
            <a:r>
              <a:rPr lang="en-US" sz="2000" dirty="0"/>
              <a:t> (steps done one after another)</a:t>
            </a:r>
          </a:p>
          <a:p>
            <a:pPr lvl="1"/>
            <a:r>
              <a:rPr lang="en-US" sz="2000" b="1" dirty="0"/>
              <a:t>Parallel or Distributed</a:t>
            </a:r>
            <a:r>
              <a:rPr lang="en-US" sz="2000" dirty="0"/>
              <a:t> (multiple steps done at the same time</a:t>
            </a:r>
            <a:r>
              <a:rPr lang="en-US" sz="2000" dirty="0" smtClean="0"/>
              <a:t>)</a:t>
            </a:r>
          </a:p>
          <a:p>
            <a:pPr lvl="1"/>
            <a:endParaRPr lang="en-US" sz="2000" dirty="0"/>
          </a:p>
          <a:p>
            <a:r>
              <a:rPr lang="en-US" sz="2400" dirty="0"/>
              <a:t>We can write an algorithm in many forms:</a:t>
            </a:r>
          </a:p>
          <a:p>
            <a:pPr lvl="1"/>
            <a:r>
              <a:rPr lang="en-US" sz="2000" dirty="0"/>
              <a:t>Normal (English) language</a:t>
            </a:r>
          </a:p>
          <a:p>
            <a:pPr lvl="1"/>
            <a:r>
              <a:rPr lang="en-US" sz="2000" dirty="0"/>
              <a:t>Programming language</a:t>
            </a:r>
          </a:p>
          <a:p>
            <a:pPr lvl="1"/>
            <a:r>
              <a:rPr lang="en-US" sz="2000" dirty="0" err="1"/>
              <a:t>Pseudocode</a:t>
            </a:r>
            <a:r>
              <a:rPr lang="en-US" sz="2000" dirty="0"/>
              <a:t> (code-like steps)</a:t>
            </a:r>
          </a:p>
          <a:p>
            <a:pPr lvl="1"/>
            <a:r>
              <a:rPr lang="en-US" sz="2000" dirty="0"/>
              <a:t>Flowchart diagrams</a:t>
            </a:r>
          </a:p>
        </p:txBody>
      </p:sp>
    </p:spTree>
    <p:extLst>
      <p:ext uri="{BB962C8B-B14F-4D97-AF65-F5344CB8AC3E}">
        <p14:creationId xmlns:p14="http://schemas.microsoft.com/office/powerpoint/2010/main" val="3923664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798285" y="153710"/>
            <a:ext cx="7370284" cy="1325563"/>
          </a:xfrm>
        </p:spPr>
        <p:txBody>
          <a:bodyPr/>
          <a:lstStyle/>
          <a:p>
            <a:r>
              <a:rPr lang="en-US" b="1" dirty="0" smtClean="0"/>
              <a:t>Concept </a:t>
            </a:r>
            <a:r>
              <a:rPr lang="en-US" b="1" dirty="0"/>
              <a:t>of Algorithm</a:t>
            </a:r>
          </a:p>
        </p:txBody>
      </p:sp>
      <p:sp>
        <p:nvSpPr>
          <p:cNvPr id="9221" name="Rectangle 12"/>
          <p:cNvSpPr>
            <a:spLocks noChangeArrowheads="1"/>
          </p:cNvSpPr>
          <p:nvPr/>
        </p:nvSpPr>
        <p:spPr bwMode="auto">
          <a:xfrm>
            <a:off x="4810125" y="3962400"/>
            <a:ext cx="2743200" cy="762000"/>
          </a:xfrm>
          <a:prstGeom prst="rect">
            <a:avLst/>
          </a:prstGeom>
          <a:solidFill>
            <a:schemeClr val="accent1"/>
          </a:solidFill>
          <a:ln w="12700">
            <a:solidFill>
              <a:srgbClr val="FF0000"/>
            </a:solidFill>
            <a:miter lim="800000"/>
            <a:headEnd type="none" w="sm" len="sm"/>
            <a:tailEnd type="none" w="sm" len="sm"/>
          </a:ln>
        </p:spPr>
        <p:txBody>
          <a:bodyPr wrap="none" anchor="ctr"/>
          <a:lstStyle/>
          <a:p>
            <a:pPr algn="ctr"/>
            <a:r>
              <a:rPr lang="en-US" dirty="0"/>
              <a:t>       “computer” </a:t>
            </a:r>
          </a:p>
        </p:txBody>
      </p:sp>
      <p:sp>
        <p:nvSpPr>
          <p:cNvPr id="9222" name="Text Box 14"/>
          <p:cNvSpPr txBox="1">
            <a:spLocks noChangeArrowheads="1"/>
          </p:cNvSpPr>
          <p:nvPr/>
        </p:nvSpPr>
        <p:spPr bwMode="auto">
          <a:xfrm>
            <a:off x="5065817" y="5339834"/>
            <a:ext cx="2122056" cy="369332"/>
          </a:xfrm>
          <a:prstGeom prst="rect">
            <a:avLst/>
          </a:prstGeom>
          <a:noFill/>
          <a:ln w="12700">
            <a:noFill/>
            <a:miter lim="800000"/>
            <a:headEnd type="none" w="sm" len="sm"/>
            <a:tailEnd type="none" w="sm" len="sm"/>
          </a:ln>
        </p:spPr>
        <p:txBody>
          <a:bodyPr wrap="none">
            <a:spAutoFit/>
          </a:bodyPr>
          <a:lstStyle/>
          <a:p>
            <a:r>
              <a:rPr lang="en-US" b="1" dirty="0"/>
              <a:t>Algorithmic solution</a:t>
            </a:r>
          </a:p>
        </p:txBody>
      </p:sp>
      <p:sp>
        <p:nvSpPr>
          <p:cNvPr id="9223" name="Line 16"/>
          <p:cNvSpPr>
            <a:spLocks noChangeShapeType="1"/>
          </p:cNvSpPr>
          <p:nvPr/>
        </p:nvSpPr>
        <p:spPr bwMode="auto">
          <a:xfrm>
            <a:off x="6105525" y="2286000"/>
            <a:ext cx="0" cy="609600"/>
          </a:xfrm>
          <a:prstGeom prst="line">
            <a:avLst/>
          </a:prstGeom>
          <a:noFill/>
          <a:ln w="28575">
            <a:solidFill>
              <a:srgbClr val="FF0000"/>
            </a:solidFill>
            <a:round/>
            <a:headEnd type="none" w="sm" len="sm"/>
            <a:tailEnd type="triangle" w="med" len="med"/>
          </a:ln>
        </p:spPr>
        <p:txBody>
          <a:bodyPr wrap="none" anchor="ctr"/>
          <a:lstStyle/>
          <a:p>
            <a:endParaRPr lang="en-US"/>
          </a:p>
        </p:txBody>
      </p:sp>
      <p:sp>
        <p:nvSpPr>
          <p:cNvPr id="9224" name="Line 17"/>
          <p:cNvSpPr>
            <a:spLocks noChangeShapeType="1"/>
          </p:cNvSpPr>
          <p:nvPr/>
        </p:nvSpPr>
        <p:spPr bwMode="auto">
          <a:xfrm>
            <a:off x="6105525" y="3505200"/>
            <a:ext cx="0" cy="457200"/>
          </a:xfrm>
          <a:prstGeom prst="line">
            <a:avLst/>
          </a:prstGeom>
          <a:noFill/>
          <a:ln w="28575">
            <a:solidFill>
              <a:srgbClr val="FF0000"/>
            </a:solidFill>
            <a:round/>
            <a:headEnd type="none" w="sm" len="sm"/>
            <a:tailEnd type="triangle" w="med" len="med"/>
          </a:ln>
        </p:spPr>
        <p:txBody>
          <a:bodyPr wrap="none" anchor="ctr"/>
          <a:lstStyle/>
          <a:p>
            <a:endParaRPr lang="en-US"/>
          </a:p>
        </p:txBody>
      </p:sp>
      <p:sp>
        <p:nvSpPr>
          <p:cNvPr id="9225" name="Text Box 20"/>
          <p:cNvSpPr txBox="1">
            <a:spLocks noChangeArrowheads="1"/>
          </p:cNvSpPr>
          <p:nvPr/>
        </p:nvSpPr>
        <p:spPr bwMode="auto">
          <a:xfrm>
            <a:off x="5495926" y="1752600"/>
            <a:ext cx="1198563" cy="369332"/>
          </a:xfrm>
          <a:prstGeom prst="rect">
            <a:avLst/>
          </a:prstGeom>
          <a:noFill/>
          <a:ln w="12700">
            <a:noFill/>
            <a:miter lim="800000"/>
            <a:headEnd type="none" w="sm" len="sm"/>
            <a:tailEnd type="none" w="sm" len="sm"/>
          </a:ln>
        </p:spPr>
        <p:txBody>
          <a:bodyPr>
            <a:spAutoFit/>
          </a:bodyPr>
          <a:lstStyle/>
          <a:p>
            <a:r>
              <a:rPr lang="en-US"/>
              <a:t>problem</a:t>
            </a:r>
          </a:p>
        </p:txBody>
      </p:sp>
      <p:sp>
        <p:nvSpPr>
          <p:cNvPr id="9226" name="Text Box 21"/>
          <p:cNvSpPr txBox="1">
            <a:spLocks noChangeArrowheads="1"/>
          </p:cNvSpPr>
          <p:nvPr/>
        </p:nvSpPr>
        <p:spPr bwMode="auto">
          <a:xfrm>
            <a:off x="5410200" y="2895600"/>
            <a:ext cx="1447800" cy="369332"/>
          </a:xfrm>
          <a:prstGeom prst="rect">
            <a:avLst/>
          </a:prstGeom>
          <a:noFill/>
          <a:ln w="12700">
            <a:noFill/>
            <a:miter lim="800000"/>
            <a:headEnd type="none" w="sm" len="sm"/>
            <a:tailEnd type="none" w="sm" len="sm"/>
          </a:ln>
        </p:spPr>
        <p:txBody>
          <a:bodyPr>
            <a:spAutoFit/>
          </a:bodyPr>
          <a:lstStyle/>
          <a:p>
            <a:r>
              <a:rPr lang="en-US"/>
              <a:t>algorithm</a:t>
            </a:r>
          </a:p>
        </p:txBody>
      </p:sp>
      <p:sp>
        <p:nvSpPr>
          <p:cNvPr id="9227" name="Text Box 22"/>
          <p:cNvSpPr txBox="1">
            <a:spLocks noChangeArrowheads="1"/>
          </p:cNvSpPr>
          <p:nvPr/>
        </p:nvSpPr>
        <p:spPr bwMode="auto">
          <a:xfrm>
            <a:off x="2590801" y="4114800"/>
            <a:ext cx="1046163" cy="369332"/>
          </a:xfrm>
          <a:prstGeom prst="rect">
            <a:avLst/>
          </a:prstGeom>
          <a:noFill/>
          <a:ln w="12700">
            <a:noFill/>
            <a:miter lim="800000"/>
            <a:headEnd type="none" w="sm" len="sm"/>
            <a:tailEnd type="none" w="sm" len="sm"/>
          </a:ln>
        </p:spPr>
        <p:txBody>
          <a:bodyPr>
            <a:spAutoFit/>
          </a:bodyPr>
          <a:lstStyle/>
          <a:p>
            <a:r>
              <a:rPr lang="en-US"/>
              <a:t>input</a:t>
            </a:r>
          </a:p>
        </p:txBody>
      </p:sp>
      <p:sp>
        <p:nvSpPr>
          <p:cNvPr id="9228" name="Text Box 23"/>
          <p:cNvSpPr txBox="1">
            <a:spLocks noChangeArrowheads="1"/>
          </p:cNvSpPr>
          <p:nvPr/>
        </p:nvSpPr>
        <p:spPr bwMode="auto">
          <a:xfrm>
            <a:off x="8763000" y="4114800"/>
            <a:ext cx="1066800" cy="369332"/>
          </a:xfrm>
          <a:prstGeom prst="rect">
            <a:avLst/>
          </a:prstGeom>
          <a:noFill/>
          <a:ln w="12700">
            <a:noFill/>
            <a:miter lim="800000"/>
            <a:headEnd type="none" w="sm" len="sm"/>
            <a:tailEnd type="none" w="sm" len="sm"/>
          </a:ln>
        </p:spPr>
        <p:txBody>
          <a:bodyPr>
            <a:spAutoFit/>
          </a:bodyPr>
          <a:lstStyle/>
          <a:p>
            <a:r>
              <a:rPr lang="en-US"/>
              <a:t>output</a:t>
            </a:r>
          </a:p>
        </p:txBody>
      </p:sp>
      <p:sp>
        <p:nvSpPr>
          <p:cNvPr id="9229" name="Line 25"/>
          <p:cNvSpPr>
            <a:spLocks noChangeShapeType="1"/>
          </p:cNvSpPr>
          <p:nvPr/>
        </p:nvSpPr>
        <p:spPr bwMode="auto">
          <a:xfrm>
            <a:off x="3581400" y="4419600"/>
            <a:ext cx="1219200" cy="0"/>
          </a:xfrm>
          <a:prstGeom prst="line">
            <a:avLst/>
          </a:prstGeom>
          <a:noFill/>
          <a:ln w="28575">
            <a:solidFill>
              <a:srgbClr val="FF0000"/>
            </a:solidFill>
            <a:round/>
            <a:headEnd type="none" w="sm" len="sm"/>
            <a:tailEnd type="triangle" w="med" len="med"/>
          </a:ln>
        </p:spPr>
        <p:txBody>
          <a:bodyPr wrap="none" anchor="ctr"/>
          <a:lstStyle/>
          <a:p>
            <a:endParaRPr lang="en-US"/>
          </a:p>
        </p:txBody>
      </p:sp>
      <p:sp>
        <p:nvSpPr>
          <p:cNvPr id="9230" name="Line 26"/>
          <p:cNvSpPr>
            <a:spLocks noChangeShapeType="1"/>
          </p:cNvSpPr>
          <p:nvPr/>
        </p:nvSpPr>
        <p:spPr bwMode="auto">
          <a:xfrm>
            <a:off x="7543800" y="4419600"/>
            <a:ext cx="1143000" cy="0"/>
          </a:xfrm>
          <a:prstGeom prst="line">
            <a:avLst/>
          </a:prstGeom>
          <a:noFill/>
          <a:ln w="28575">
            <a:solidFill>
              <a:srgbClr val="FF0000"/>
            </a:solidFill>
            <a:round/>
            <a:headEnd type="none" w="sm" len="sm"/>
            <a:tailEnd type="triangle" w="med" len="med"/>
          </a:ln>
        </p:spPr>
        <p:txBody>
          <a:bodyPr wrap="none" anchor="ctr"/>
          <a:lstStyle/>
          <a:p>
            <a:endParaRPr lang="en-US"/>
          </a:p>
        </p:txBody>
      </p:sp>
    </p:spTree>
    <p:extLst>
      <p:ext uri="{BB962C8B-B14F-4D97-AF65-F5344CB8AC3E}">
        <p14:creationId xmlns:p14="http://schemas.microsoft.com/office/powerpoint/2010/main" val="1419029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612833" y="0"/>
            <a:ext cx="7772400" cy="1143000"/>
          </a:xfrm>
        </p:spPr>
        <p:txBody>
          <a:bodyPr/>
          <a:lstStyle/>
          <a:p>
            <a:pPr eaLnBrk="1" hangingPunct="1"/>
            <a:r>
              <a:rPr lang="en-US" b="1" dirty="0"/>
              <a:t>Definitions of Algorithm</a:t>
            </a:r>
          </a:p>
        </p:txBody>
      </p:sp>
      <p:sp>
        <p:nvSpPr>
          <p:cNvPr id="13315" name="Rectangle 3"/>
          <p:cNvSpPr>
            <a:spLocks noGrp="1" noChangeArrowheads="1"/>
          </p:cNvSpPr>
          <p:nvPr>
            <p:ph type="body" idx="1"/>
          </p:nvPr>
        </p:nvSpPr>
        <p:spPr>
          <a:xfrm>
            <a:off x="319489" y="1295400"/>
            <a:ext cx="11644829" cy="5105400"/>
          </a:xfrm>
        </p:spPr>
        <p:txBody>
          <a:bodyPr/>
          <a:lstStyle/>
          <a:p>
            <a:pPr algn="just" eaLnBrk="1" hangingPunct="1">
              <a:lnSpc>
                <a:spcPct val="150000"/>
              </a:lnSpc>
            </a:pPr>
            <a:r>
              <a:rPr lang="en-US" sz="2400" dirty="0"/>
              <a:t>A mathematical relation between an observed quantity and a variable used in a step-by-step mathematical process to calculate a quantity.</a:t>
            </a:r>
          </a:p>
          <a:p>
            <a:pPr algn="just" eaLnBrk="1" hangingPunct="1">
              <a:lnSpc>
                <a:spcPct val="150000"/>
              </a:lnSpc>
            </a:pPr>
            <a:r>
              <a:rPr lang="en-US" sz="2400" b="1" dirty="0"/>
              <a:t>Algorithm is any well defined computational procedure that takes some value or set of values as input and produces some value or set of values as output.</a:t>
            </a:r>
          </a:p>
          <a:p>
            <a:pPr algn="just" eaLnBrk="1" hangingPunct="1">
              <a:lnSpc>
                <a:spcPct val="150000"/>
              </a:lnSpc>
            </a:pPr>
            <a:r>
              <a:rPr lang="en-US" sz="2400" dirty="0"/>
              <a:t>A procedure for solving a mathematical problem in a finite number of steps that frequently involves repetition of an operation; broadly : a step-by-step procedure for solving a problem or accomplishing some end (Webster’s Dictionary).</a:t>
            </a:r>
          </a:p>
        </p:txBody>
      </p:sp>
    </p:spTree>
    <p:extLst>
      <p:ext uri="{BB962C8B-B14F-4D97-AF65-F5344CB8AC3E}">
        <p14:creationId xmlns:p14="http://schemas.microsoft.com/office/powerpoint/2010/main" val="715471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p:cNvSpPr txBox="1">
            <a:spLocks noChangeArrowheads="1"/>
          </p:cNvSpPr>
          <p:nvPr/>
        </p:nvSpPr>
        <p:spPr bwMode="auto">
          <a:xfrm>
            <a:off x="2706478" y="144309"/>
            <a:ext cx="5904122" cy="523220"/>
          </a:xfrm>
          <a:prstGeom prst="rect">
            <a:avLst/>
          </a:prstGeom>
          <a:noFill/>
          <a:ln w="9525">
            <a:noFill/>
            <a:miter lim="800000"/>
            <a:headEnd/>
            <a:tailEnd/>
          </a:ln>
          <a:effectLst/>
        </p:spPr>
        <p:txBody>
          <a:bodyPr wrap="square">
            <a:spAutoFit/>
          </a:bodyPr>
          <a:lstStyle/>
          <a:p>
            <a:pPr>
              <a:spcBef>
                <a:spcPct val="50000"/>
              </a:spcBef>
            </a:pPr>
            <a:r>
              <a:rPr lang="en-US" sz="2800" b="1" u="sng" dirty="0">
                <a:ea typeface="SimHei" pitchFamily="2" charset="-122"/>
              </a:rPr>
              <a:t>Algorithmic Problem Solving</a:t>
            </a:r>
          </a:p>
        </p:txBody>
      </p:sp>
      <p:grpSp>
        <p:nvGrpSpPr>
          <p:cNvPr id="2" name="Group 14"/>
          <p:cNvGrpSpPr>
            <a:grpSpLocks/>
          </p:cNvGrpSpPr>
          <p:nvPr/>
        </p:nvGrpSpPr>
        <p:grpSpPr bwMode="auto">
          <a:xfrm>
            <a:off x="379124" y="1232924"/>
            <a:ext cx="5592019" cy="3549177"/>
            <a:chOff x="342" y="900"/>
            <a:chExt cx="3258" cy="1429"/>
          </a:xfrm>
        </p:grpSpPr>
        <p:sp>
          <p:nvSpPr>
            <p:cNvPr id="4101" name="Text Box 5"/>
            <p:cNvSpPr txBox="1">
              <a:spLocks noChangeArrowheads="1"/>
            </p:cNvSpPr>
            <p:nvPr/>
          </p:nvSpPr>
          <p:spPr bwMode="auto">
            <a:xfrm>
              <a:off x="616" y="900"/>
              <a:ext cx="1920" cy="149"/>
            </a:xfrm>
            <a:prstGeom prst="rect">
              <a:avLst/>
            </a:prstGeom>
            <a:noFill/>
            <a:ln w="9525">
              <a:solidFill>
                <a:schemeClr val="tx1"/>
              </a:solidFill>
              <a:miter lim="800000"/>
              <a:headEnd/>
              <a:tailEnd/>
            </a:ln>
            <a:effectLst/>
          </p:spPr>
          <p:txBody>
            <a:bodyPr>
              <a:spAutoFit/>
            </a:bodyPr>
            <a:lstStyle/>
            <a:p>
              <a:pPr>
                <a:spcBef>
                  <a:spcPct val="50000"/>
                </a:spcBef>
              </a:pPr>
              <a:r>
                <a:rPr lang="en-US" b="1" dirty="0">
                  <a:ea typeface="SimHei" pitchFamily="2" charset="-122"/>
                </a:rPr>
                <a:t>Understand the problem</a:t>
              </a:r>
            </a:p>
          </p:txBody>
        </p:sp>
        <p:sp>
          <p:nvSpPr>
            <p:cNvPr id="4102" name="Text Box 6"/>
            <p:cNvSpPr txBox="1">
              <a:spLocks noChangeArrowheads="1"/>
            </p:cNvSpPr>
            <p:nvPr/>
          </p:nvSpPr>
          <p:spPr bwMode="auto">
            <a:xfrm>
              <a:off x="342" y="1350"/>
              <a:ext cx="3216" cy="149"/>
            </a:xfrm>
            <a:prstGeom prst="rect">
              <a:avLst/>
            </a:prstGeom>
            <a:noFill/>
            <a:ln w="9525">
              <a:solidFill>
                <a:schemeClr val="tx1"/>
              </a:solidFill>
              <a:miter lim="800000"/>
              <a:headEnd/>
              <a:tailEnd/>
            </a:ln>
            <a:effectLst/>
          </p:spPr>
          <p:txBody>
            <a:bodyPr>
              <a:spAutoFit/>
            </a:bodyPr>
            <a:lstStyle/>
            <a:p>
              <a:pPr>
                <a:spcBef>
                  <a:spcPct val="50000"/>
                </a:spcBef>
              </a:pPr>
              <a:r>
                <a:rPr lang="en-US" b="1" dirty="0">
                  <a:ea typeface="SimHei" pitchFamily="2" charset="-122"/>
                </a:rPr>
                <a:t>Design an algorithm and  proper data structures</a:t>
              </a:r>
            </a:p>
          </p:txBody>
        </p:sp>
        <p:sp>
          <p:nvSpPr>
            <p:cNvPr id="4103" name="Text Box 7"/>
            <p:cNvSpPr txBox="1">
              <a:spLocks noChangeArrowheads="1"/>
            </p:cNvSpPr>
            <p:nvPr/>
          </p:nvSpPr>
          <p:spPr bwMode="auto">
            <a:xfrm>
              <a:off x="624" y="1743"/>
              <a:ext cx="1632" cy="149"/>
            </a:xfrm>
            <a:prstGeom prst="rect">
              <a:avLst/>
            </a:prstGeom>
            <a:noFill/>
            <a:ln w="9525">
              <a:solidFill>
                <a:schemeClr val="tx1"/>
              </a:solidFill>
              <a:miter lim="800000"/>
              <a:headEnd/>
              <a:tailEnd/>
            </a:ln>
            <a:effectLst/>
          </p:spPr>
          <p:txBody>
            <a:bodyPr>
              <a:spAutoFit/>
            </a:bodyPr>
            <a:lstStyle/>
            <a:p>
              <a:pPr>
                <a:spcBef>
                  <a:spcPct val="50000"/>
                </a:spcBef>
              </a:pPr>
              <a:r>
                <a:rPr lang="en-US" b="1" dirty="0">
                  <a:ea typeface="SimHei" pitchFamily="2" charset="-122"/>
                </a:rPr>
                <a:t>Analyze the algorithm</a:t>
              </a:r>
            </a:p>
          </p:txBody>
        </p:sp>
        <p:sp>
          <p:nvSpPr>
            <p:cNvPr id="4104" name="Text Box 8"/>
            <p:cNvSpPr txBox="1">
              <a:spLocks noChangeArrowheads="1"/>
            </p:cNvSpPr>
            <p:nvPr/>
          </p:nvSpPr>
          <p:spPr bwMode="auto">
            <a:xfrm>
              <a:off x="720" y="2180"/>
              <a:ext cx="1536" cy="149"/>
            </a:xfrm>
            <a:prstGeom prst="rect">
              <a:avLst/>
            </a:prstGeom>
            <a:noFill/>
            <a:ln w="9525">
              <a:solidFill>
                <a:schemeClr val="tx1"/>
              </a:solidFill>
              <a:miter lim="800000"/>
              <a:headEnd/>
              <a:tailEnd/>
            </a:ln>
            <a:effectLst/>
          </p:spPr>
          <p:txBody>
            <a:bodyPr>
              <a:spAutoFit/>
            </a:bodyPr>
            <a:lstStyle/>
            <a:p>
              <a:pPr>
                <a:spcBef>
                  <a:spcPct val="50000"/>
                </a:spcBef>
              </a:pPr>
              <a:r>
                <a:rPr lang="en-US" b="1" dirty="0">
                  <a:ea typeface="SimHei" pitchFamily="2" charset="-122"/>
                </a:rPr>
                <a:t>Code the algorithm</a:t>
              </a:r>
            </a:p>
          </p:txBody>
        </p:sp>
        <p:sp>
          <p:nvSpPr>
            <p:cNvPr id="4105" name="Line 9"/>
            <p:cNvSpPr>
              <a:spLocks noChangeShapeType="1"/>
            </p:cNvSpPr>
            <p:nvPr/>
          </p:nvSpPr>
          <p:spPr bwMode="auto">
            <a:xfrm>
              <a:off x="1440" y="1049"/>
              <a:ext cx="0" cy="295"/>
            </a:xfrm>
            <a:prstGeom prst="line">
              <a:avLst/>
            </a:prstGeom>
            <a:noFill/>
            <a:ln w="9525">
              <a:solidFill>
                <a:schemeClr val="tx1"/>
              </a:solidFill>
              <a:round/>
              <a:headEnd/>
              <a:tailEnd type="triangle" w="med" len="med"/>
            </a:ln>
            <a:effectLst/>
          </p:spPr>
          <p:txBody>
            <a:bodyPr/>
            <a:lstStyle/>
            <a:p>
              <a:endParaRPr lang="en-US"/>
            </a:p>
          </p:txBody>
        </p:sp>
        <p:sp>
          <p:nvSpPr>
            <p:cNvPr id="4106" name="Line 10"/>
            <p:cNvSpPr>
              <a:spLocks noChangeShapeType="1"/>
            </p:cNvSpPr>
            <p:nvPr/>
          </p:nvSpPr>
          <p:spPr bwMode="auto">
            <a:xfrm flipH="1">
              <a:off x="1440" y="1499"/>
              <a:ext cx="0" cy="243"/>
            </a:xfrm>
            <a:prstGeom prst="line">
              <a:avLst/>
            </a:prstGeom>
            <a:noFill/>
            <a:ln w="9525">
              <a:solidFill>
                <a:schemeClr val="tx1"/>
              </a:solidFill>
              <a:round/>
              <a:headEnd/>
              <a:tailEnd type="triangle" w="med" len="med"/>
            </a:ln>
            <a:effectLst/>
          </p:spPr>
          <p:txBody>
            <a:bodyPr/>
            <a:lstStyle/>
            <a:p>
              <a:endParaRPr lang="en-US"/>
            </a:p>
          </p:txBody>
        </p:sp>
        <p:sp>
          <p:nvSpPr>
            <p:cNvPr id="4107" name="Line 11"/>
            <p:cNvSpPr>
              <a:spLocks noChangeShapeType="1"/>
            </p:cNvSpPr>
            <p:nvPr/>
          </p:nvSpPr>
          <p:spPr bwMode="auto">
            <a:xfrm>
              <a:off x="1440" y="1892"/>
              <a:ext cx="0" cy="288"/>
            </a:xfrm>
            <a:prstGeom prst="line">
              <a:avLst/>
            </a:prstGeom>
            <a:noFill/>
            <a:ln w="9525">
              <a:solidFill>
                <a:schemeClr val="tx1"/>
              </a:solidFill>
              <a:round/>
              <a:headEnd/>
              <a:tailEnd type="triangle" w="med" len="med"/>
            </a:ln>
            <a:effectLst/>
          </p:spPr>
          <p:txBody>
            <a:bodyPr/>
            <a:lstStyle/>
            <a:p>
              <a:endParaRPr lang="en-US"/>
            </a:p>
          </p:txBody>
        </p:sp>
        <p:sp>
          <p:nvSpPr>
            <p:cNvPr id="4108" name="Freeform 13"/>
            <p:cNvSpPr>
              <a:spLocks/>
            </p:cNvSpPr>
            <p:nvPr/>
          </p:nvSpPr>
          <p:spPr bwMode="auto">
            <a:xfrm>
              <a:off x="1440" y="1125"/>
              <a:ext cx="2160" cy="720"/>
            </a:xfrm>
            <a:custGeom>
              <a:avLst/>
              <a:gdLst>
                <a:gd name="T0" fmla="*/ 816 w 2160"/>
                <a:gd name="T1" fmla="*/ 720 h 720"/>
                <a:gd name="T2" fmla="*/ 2160 w 2160"/>
                <a:gd name="T3" fmla="*/ 720 h 720"/>
                <a:gd name="T4" fmla="*/ 2160 w 2160"/>
                <a:gd name="T5" fmla="*/ 0 h 720"/>
                <a:gd name="T6" fmla="*/ 0 w 2160"/>
                <a:gd name="T7" fmla="*/ 0 h 7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 h="720">
                  <a:moveTo>
                    <a:pt x="816" y="720"/>
                  </a:moveTo>
                  <a:lnTo>
                    <a:pt x="2160" y="720"/>
                  </a:lnTo>
                  <a:lnTo>
                    <a:pt x="2160" y="0"/>
                  </a:lnTo>
                  <a:lnTo>
                    <a:pt x="0" y="0"/>
                  </a:lnTo>
                </a:path>
              </a:pathLst>
            </a:custGeom>
            <a:noFill/>
            <a:ln w="9525">
              <a:solidFill>
                <a:schemeClr val="tx1"/>
              </a:solidFill>
              <a:round/>
              <a:headEnd type="none" w="med" len="med"/>
              <a:tailEnd type="triangle" w="med" len="med"/>
            </a:ln>
            <a:effectLst/>
          </p:spPr>
          <p:txBody>
            <a:bodyPr/>
            <a:lstStyle/>
            <a:p>
              <a:endParaRPr lang="en-US"/>
            </a:p>
          </p:txBody>
        </p:sp>
      </p:grpSp>
      <p:sp>
        <p:nvSpPr>
          <p:cNvPr id="56335" name="Text Box 15"/>
          <p:cNvSpPr txBox="1">
            <a:spLocks noChangeArrowheads="1"/>
          </p:cNvSpPr>
          <p:nvPr/>
        </p:nvSpPr>
        <p:spPr bwMode="auto">
          <a:xfrm>
            <a:off x="6115050" y="667529"/>
            <a:ext cx="6000749" cy="6186309"/>
          </a:xfrm>
          <a:prstGeom prst="rect">
            <a:avLst/>
          </a:prstGeom>
          <a:noFill/>
          <a:ln w="9525">
            <a:noFill/>
            <a:miter lim="800000"/>
            <a:headEnd/>
            <a:tailEnd/>
          </a:ln>
          <a:effectLst/>
        </p:spPr>
        <p:txBody>
          <a:bodyPr wrap="square">
            <a:spAutoFit/>
          </a:bodyPr>
          <a:lstStyle/>
          <a:p>
            <a:r>
              <a:rPr lang="en-US" dirty="0"/>
              <a:t> </a:t>
            </a:r>
            <a:r>
              <a:rPr lang="en-US" b="1" dirty="0"/>
              <a:t>Steps in solving a problem using algorithms</a:t>
            </a:r>
            <a:r>
              <a:rPr lang="en-US" b="1" dirty="0" smtClean="0"/>
              <a:t>:</a:t>
            </a:r>
          </a:p>
          <a:p>
            <a:endParaRPr lang="en-US" b="1" dirty="0"/>
          </a:p>
          <a:p>
            <a:pPr marL="342900" indent="-342900">
              <a:buAutoNum type="arabicPeriod"/>
            </a:pPr>
            <a:r>
              <a:rPr lang="en-US" b="1" dirty="0" smtClean="0"/>
              <a:t>Understand </a:t>
            </a:r>
            <a:r>
              <a:rPr lang="en-US" b="1" dirty="0"/>
              <a:t>the computer’s ability</a:t>
            </a:r>
            <a:r>
              <a:rPr lang="en-US" dirty="0"/>
              <a:t/>
            </a:r>
            <a:br>
              <a:rPr lang="en-US" dirty="0"/>
            </a:br>
            <a:r>
              <a:rPr lang="en-US" dirty="0"/>
              <a:t>Know what the computer can do and its limits (memory, speed, etc</a:t>
            </a:r>
            <a:r>
              <a:rPr lang="en-US" dirty="0" smtClean="0"/>
              <a:t>.).</a:t>
            </a:r>
          </a:p>
          <a:p>
            <a:pPr marL="342900" indent="-342900">
              <a:buAutoNum type="arabicPeriod"/>
            </a:pPr>
            <a:endParaRPr lang="en-US" dirty="0"/>
          </a:p>
          <a:p>
            <a:r>
              <a:rPr lang="en-US" b="1" dirty="0" smtClean="0"/>
              <a:t>2. Choose </a:t>
            </a:r>
            <a:r>
              <a:rPr lang="en-US" b="1" dirty="0"/>
              <a:t>exact or approximate solution</a:t>
            </a:r>
            <a:r>
              <a:rPr lang="en-US" dirty="0"/>
              <a:t/>
            </a:r>
            <a:br>
              <a:rPr lang="en-US" dirty="0"/>
            </a:br>
            <a:r>
              <a:rPr lang="en-US" dirty="0"/>
              <a:t>Decide whether you need a perfectly accurate answer or a close enough answer</a:t>
            </a:r>
            <a:r>
              <a:rPr lang="en-US" dirty="0" smtClean="0"/>
              <a:t>.</a:t>
            </a:r>
          </a:p>
          <a:p>
            <a:endParaRPr lang="en-US" dirty="0"/>
          </a:p>
          <a:p>
            <a:r>
              <a:rPr lang="en-US" b="1" dirty="0" smtClean="0"/>
              <a:t>3. Select </a:t>
            </a:r>
            <a:r>
              <a:rPr lang="en-US" b="1" dirty="0"/>
              <a:t>proper data structure</a:t>
            </a:r>
            <a:r>
              <a:rPr lang="en-US" dirty="0"/>
              <a:t/>
            </a:r>
            <a:br>
              <a:rPr lang="en-US" dirty="0"/>
            </a:br>
            <a:r>
              <a:rPr lang="en-US" dirty="0"/>
              <a:t>Choose how to store data (array, list, stack, queue, tree, etc</a:t>
            </a:r>
            <a:r>
              <a:rPr lang="en-US" dirty="0" smtClean="0"/>
              <a:t>.).</a:t>
            </a:r>
          </a:p>
          <a:p>
            <a:endParaRPr lang="en-US" dirty="0"/>
          </a:p>
          <a:p>
            <a:r>
              <a:rPr lang="en-US" b="1" dirty="0" smtClean="0"/>
              <a:t>4. Design </a:t>
            </a:r>
            <a:r>
              <a:rPr lang="en-US" b="1" dirty="0"/>
              <a:t>the algorithm</a:t>
            </a:r>
            <a:r>
              <a:rPr lang="en-US" dirty="0"/>
              <a:t/>
            </a:r>
            <a:br>
              <a:rPr lang="en-US" dirty="0"/>
            </a:br>
            <a:r>
              <a:rPr lang="en-US" dirty="0"/>
              <a:t>Plan the step-by-step procedure to solve the problem</a:t>
            </a:r>
            <a:r>
              <a:rPr lang="en-US" dirty="0" smtClean="0"/>
              <a:t>.</a:t>
            </a:r>
          </a:p>
          <a:p>
            <a:endParaRPr lang="en-US" dirty="0"/>
          </a:p>
          <a:p>
            <a:r>
              <a:rPr lang="en-US" b="1" dirty="0" smtClean="0"/>
              <a:t>5. Analyze </a:t>
            </a:r>
            <a:r>
              <a:rPr lang="en-US" b="1" dirty="0"/>
              <a:t>the algorithm</a:t>
            </a:r>
            <a:r>
              <a:rPr lang="en-US" dirty="0"/>
              <a:t/>
            </a:r>
            <a:br>
              <a:rPr lang="en-US" dirty="0"/>
            </a:br>
            <a:r>
              <a:rPr lang="en-US" dirty="0"/>
              <a:t>Check how fast it works and how much memory it uses</a:t>
            </a:r>
            <a:r>
              <a:rPr lang="en-US" dirty="0" smtClean="0"/>
              <a:t>.</a:t>
            </a:r>
          </a:p>
          <a:p>
            <a:endParaRPr lang="en-US" dirty="0"/>
          </a:p>
          <a:p>
            <a:r>
              <a:rPr lang="en-US" b="1" dirty="0" smtClean="0"/>
              <a:t>6. Coding </a:t>
            </a:r>
            <a:r>
              <a:rPr lang="en-US" b="1" dirty="0"/>
              <a:t>(Implementation)</a:t>
            </a:r>
            <a:r>
              <a:rPr lang="en-US" dirty="0"/>
              <a:t/>
            </a:r>
            <a:br>
              <a:rPr lang="en-US" dirty="0"/>
            </a:br>
            <a:r>
              <a:rPr lang="en-US" dirty="0"/>
              <a:t>Convert the algorithm into a program using a programming language.</a:t>
            </a:r>
          </a:p>
        </p:txBody>
      </p:sp>
    </p:spTree>
    <p:extLst>
      <p:ext uri="{BB962C8B-B14F-4D97-AF65-F5344CB8AC3E}">
        <p14:creationId xmlns:p14="http://schemas.microsoft.com/office/powerpoint/2010/main" val="24983993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6335"/>
                                        </p:tgtEl>
                                        <p:attrNameLst>
                                          <p:attrName>style.visibility</p:attrName>
                                        </p:attrNameLst>
                                      </p:cBhvr>
                                      <p:to>
                                        <p:strVal val="visible"/>
                                      </p:to>
                                    </p:set>
                                    <p:animEffect transition="in" filter="diamond(in)">
                                      <p:cBhvr>
                                        <p:cTn id="12" dur="2000"/>
                                        <p:tgtEl>
                                          <p:spTgt spid="56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2074985" y="196850"/>
            <a:ext cx="8534400" cy="1143000"/>
          </a:xfrm>
        </p:spPr>
        <p:txBody>
          <a:bodyPr>
            <a:normAutofit/>
          </a:bodyPr>
          <a:lstStyle/>
          <a:p>
            <a:r>
              <a:rPr lang="en-US" sz="3600" b="1" dirty="0">
                <a:solidFill>
                  <a:srgbClr val="FF0000"/>
                </a:solidFill>
                <a:latin typeface="+mn-lt"/>
              </a:rPr>
              <a:t>Basic Issues Related to Algorithms</a:t>
            </a:r>
          </a:p>
        </p:txBody>
      </p:sp>
      <p:sp>
        <p:nvSpPr>
          <p:cNvPr id="14341" name="Rectangle 3"/>
          <p:cNvSpPr>
            <a:spLocks noGrp="1" noChangeArrowheads="1"/>
          </p:cNvSpPr>
          <p:nvPr>
            <p:ph type="body" idx="1"/>
          </p:nvPr>
        </p:nvSpPr>
        <p:spPr>
          <a:xfrm>
            <a:off x="495759" y="1184031"/>
            <a:ext cx="9486441" cy="5439507"/>
          </a:xfrm>
        </p:spPr>
        <p:txBody>
          <a:bodyPr>
            <a:normAutofit fontScale="47500" lnSpcReduction="20000"/>
          </a:bodyPr>
          <a:lstStyle/>
          <a:p>
            <a:pPr>
              <a:lnSpc>
                <a:spcPct val="150000"/>
              </a:lnSpc>
            </a:pPr>
            <a:r>
              <a:rPr lang="en-US" sz="3300" b="1" dirty="0"/>
              <a:t>How to design </a:t>
            </a:r>
            <a:r>
              <a:rPr lang="en-US" sz="3300" b="1" dirty="0" smtClean="0"/>
              <a:t>algorithms</a:t>
            </a:r>
          </a:p>
          <a:p>
            <a:pPr marL="0" indent="0">
              <a:lnSpc>
                <a:spcPct val="150000"/>
              </a:lnSpc>
              <a:buNone/>
            </a:pPr>
            <a:r>
              <a:rPr lang="en-US" sz="3300" dirty="0" smtClean="0"/>
              <a:t>               How </a:t>
            </a:r>
            <a:r>
              <a:rPr lang="en-US" sz="3300" dirty="0"/>
              <a:t>to </a:t>
            </a:r>
            <a:r>
              <a:rPr lang="en-US" sz="3300" b="1" dirty="0"/>
              <a:t>create step-by-step methods</a:t>
            </a:r>
            <a:r>
              <a:rPr lang="en-US" sz="3300" dirty="0"/>
              <a:t> to solve a problem.</a:t>
            </a:r>
          </a:p>
          <a:p>
            <a:pPr>
              <a:lnSpc>
                <a:spcPct val="150000"/>
              </a:lnSpc>
            </a:pPr>
            <a:r>
              <a:rPr lang="en-US" sz="3300" b="1" dirty="0"/>
              <a:t>How to express </a:t>
            </a:r>
            <a:r>
              <a:rPr lang="en-US" sz="3300" b="1" dirty="0" smtClean="0"/>
              <a:t>algorithms</a:t>
            </a:r>
          </a:p>
          <a:p>
            <a:pPr marL="0" indent="0">
              <a:lnSpc>
                <a:spcPct val="150000"/>
              </a:lnSpc>
              <a:buNone/>
            </a:pPr>
            <a:r>
              <a:rPr lang="en-US" sz="3300" dirty="0" smtClean="0"/>
              <a:t>              How </a:t>
            </a:r>
            <a:r>
              <a:rPr lang="en-US" sz="3300" dirty="0"/>
              <a:t>to </a:t>
            </a:r>
            <a:r>
              <a:rPr lang="en-US" sz="3300" b="1" dirty="0"/>
              <a:t>write or show the algorithm</a:t>
            </a:r>
            <a:r>
              <a:rPr lang="en-US" sz="3300" dirty="0"/>
              <a:t> so others can understand it.</a:t>
            </a:r>
          </a:p>
          <a:p>
            <a:pPr>
              <a:lnSpc>
                <a:spcPct val="150000"/>
              </a:lnSpc>
            </a:pPr>
            <a:r>
              <a:rPr lang="en-US" sz="3300" b="1" dirty="0"/>
              <a:t>Proving </a:t>
            </a:r>
            <a:r>
              <a:rPr lang="en-US" sz="3300" b="1" dirty="0" smtClean="0"/>
              <a:t>correctness</a:t>
            </a:r>
          </a:p>
          <a:p>
            <a:pPr marL="0" indent="0">
              <a:lnSpc>
                <a:spcPct val="150000"/>
              </a:lnSpc>
              <a:buNone/>
            </a:pPr>
            <a:r>
              <a:rPr lang="en-US" sz="3300" dirty="0" smtClean="0"/>
              <a:t>             Showing </a:t>
            </a:r>
            <a:r>
              <a:rPr lang="en-US" sz="3300" dirty="0"/>
              <a:t>that the algorithm </a:t>
            </a:r>
            <a:r>
              <a:rPr lang="en-US" sz="3300" b="1" dirty="0"/>
              <a:t>always gives the correct answer</a:t>
            </a:r>
            <a:r>
              <a:rPr lang="en-US" sz="3300" dirty="0"/>
              <a:t>.</a:t>
            </a:r>
          </a:p>
          <a:p>
            <a:pPr>
              <a:lnSpc>
                <a:spcPct val="150000"/>
              </a:lnSpc>
            </a:pPr>
            <a:r>
              <a:rPr lang="en-US" sz="3300" b="1" dirty="0" smtClean="0"/>
              <a:t>Efficiency</a:t>
            </a:r>
          </a:p>
          <a:p>
            <a:pPr marL="0" indent="0">
              <a:lnSpc>
                <a:spcPct val="150000"/>
              </a:lnSpc>
              <a:buNone/>
            </a:pPr>
            <a:r>
              <a:rPr lang="en-US" sz="3300" dirty="0"/>
              <a:t> </a:t>
            </a:r>
            <a:r>
              <a:rPr lang="en-US" sz="3300" dirty="0" smtClean="0"/>
              <a:t>            How </a:t>
            </a:r>
            <a:r>
              <a:rPr lang="en-US" sz="3300" b="1" dirty="0"/>
              <a:t>fast</a:t>
            </a:r>
            <a:r>
              <a:rPr lang="en-US" sz="3300" dirty="0"/>
              <a:t> and </a:t>
            </a:r>
            <a:r>
              <a:rPr lang="en-US" sz="3300" b="1" dirty="0"/>
              <a:t>memory-saving</a:t>
            </a:r>
            <a:r>
              <a:rPr lang="en-US" sz="3300" dirty="0"/>
              <a:t> the algorithm is.</a:t>
            </a:r>
          </a:p>
          <a:p>
            <a:pPr lvl="1">
              <a:lnSpc>
                <a:spcPct val="150000"/>
              </a:lnSpc>
            </a:pPr>
            <a:r>
              <a:rPr lang="en-US" sz="3300" dirty="0"/>
              <a:t>Theoretical analysis</a:t>
            </a:r>
          </a:p>
          <a:p>
            <a:pPr lvl="1">
              <a:lnSpc>
                <a:spcPct val="150000"/>
              </a:lnSpc>
            </a:pPr>
            <a:r>
              <a:rPr lang="en-US" sz="3300" dirty="0" smtClean="0"/>
              <a:t>Experimental </a:t>
            </a:r>
            <a:r>
              <a:rPr lang="en-US" sz="3300" dirty="0"/>
              <a:t>analysis</a:t>
            </a:r>
          </a:p>
          <a:p>
            <a:pPr>
              <a:lnSpc>
                <a:spcPct val="150000"/>
              </a:lnSpc>
            </a:pPr>
            <a:r>
              <a:rPr lang="en-US" sz="3300" b="1" dirty="0"/>
              <a:t>Optimality / Best </a:t>
            </a:r>
            <a:r>
              <a:rPr lang="en-US" sz="3300" b="1" dirty="0" smtClean="0"/>
              <a:t>Solution</a:t>
            </a:r>
          </a:p>
          <a:p>
            <a:pPr marL="0" indent="0">
              <a:lnSpc>
                <a:spcPct val="150000"/>
              </a:lnSpc>
              <a:buNone/>
            </a:pPr>
            <a:r>
              <a:rPr lang="en-US" sz="3300" dirty="0"/>
              <a:t> </a:t>
            </a:r>
            <a:r>
              <a:rPr lang="en-US" sz="3300" dirty="0" smtClean="0"/>
              <a:t>         Finding </a:t>
            </a:r>
            <a:r>
              <a:rPr lang="en-US" sz="3300" dirty="0"/>
              <a:t>the </a:t>
            </a:r>
            <a:r>
              <a:rPr lang="en-US" sz="3300" b="1" dirty="0"/>
              <a:t>best possible solution</a:t>
            </a:r>
            <a:r>
              <a:rPr lang="en-US" sz="3300" dirty="0"/>
              <a:t> among all algorithms.</a:t>
            </a:r>
          </a:p>
          <a:p>
            <a:pPr>
              <a:lnSpc>
                <a:spcPct val="150000"/>
              </a:lnSpc>
              <a:buNone/>
            </a:pPr>
            <a:endParaRPr lang="en-US" dirty="0"/>
          </a:p>
          <a:p>
            <a:pPr>
              <a:lnSpc>
                <a:spcPct val="150000"/>
              </a:lnSpc>
            </a:pPr>
            <a:endParaRPr lang="en-US" dirty="0"/>
          </a:p>
        </p:txBody>
      </p:sp>
    </p:spTree>
    <p:extLst>
      <p:ext uri="{BB962C8B-B14F-4D97-AF65-F5344CB8AC3E}">
        <p14:creationId xmlns:p14="http://schemas.microsoft.com/office/powerpoint/2010/main" val="2136137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2622933" y="0"/>
            <a:ext cx="5584633" cy="1325563"/>
          </a:xfrm>
        </p:spPr>
        <p:txBody>
          <a:bodyPr/>
          <a:lstStyle/>
          <a:p>
            <a:r>
              <a:rPr lang="en-US" b="1" dirty="0">
                <a:latin typeface="+mn-lt"/>
              </a:rPr>
              <a:t>Analysis of Algorithms</a:t>
            </a:r>
          </a:p>
        </p:txBody>
      </p:sp>
      <p:sp>
        <p:nvSpPr>
          <p:cNvPr id="15365" name="Rectangle 3"/>
          <p:cNvSpPr>
            <a:spLocks noGrp="1" noChangeArrowheads="1"/>
          </p:cNvSpPr>
          <p:nvPr>
            <p:ph type="body" idx="1"/>
          </p:nvPr>
        </p:nvSpPr>
        <p:spPr>
          <a:xfrm>
            <a:off x="460872" y="1057619"/>
            <a:ext cx="11250058" cy="5144877"/>
          </a:xfrm>
        </p:spPr>
        <p:txBody>
          <a:bodyPr>
            <a:normAutofit/>
          </a:bodyPr>
          <a:lstStyle/>
          <a:p>
            <a:pPr>
              <a:lnSpc>
                <a:spcPct val="150000"/>
              </a:lnSpc>
            </a:pPr>
            <a:r>
              <a:rPr lang="en-US" dirty="0"/>
              <a:t>How good is the algorithm?</a:t>
            </a:r>
          </a:p>
          <a:p>
            <a:pPr lvl="1">
              <a:lnSpc>
                <a:spcPct val="150000"/>
              </a:lnSpc>
            </a:pPr>
            <a:r>
              <a:rPr lang="en-US" dirty="0"/>
              <a:t>Correctness</a:t>
            </a:r>
          </a:p>
          <a:p>
            <a:pPr lvl="1">
              <a:lnSpc>
                <a:spcPct val="150000"/>
              </a:lnSpc>
            </a:pPr>
            <a:r>
              <a:rPr lang="en-US" dirty="0"/>
              <a:t>Time efficiency</a:t>
            </a:r>
          </a:p>
          <a:p>
            <a:pPr lvl="1">
              <a:lnSpc>
                <a:spcPct val="150000"/>
              </a:lnSpc>
            </a:pPr>
            <a:r>
              <a:rPr lang="en-US" dirty="0"/>
              <a:t>Space </a:t>
            </a:r>
            <a:r>
              <a:rPr lang="en-US" dirty="0" smtClean="0"/>
              <a:t>efficiency</a:t>
            </a:r>
            <a:endParaRPr lang="en-US" dirty="0"/>
          </a:p>
        </p:txBody>
      </p:sp>
    </p:spTree>
    <p:extLst>
      <p:ext uri="{BB962C8B-B14F-4D97-AF65-F5344CB8AC3E}">
        <p14:creationId xmlns:p14="http://schemas.microsoft.com/office/powerpoint/2010/main" val="3887459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838200" y="228600"/>
            <a:ext cx="8991600" cy="838200"/>
          </a:xfrm>
        </p:spPr>
        <p:txBody>
          <a:bodyPr>
            <a:normAutofit/>
          </a:bodyPr>
          <a:lstStyle/>
          <a:p>
            <a:r>
              <a:rPr lang="en-US" sz="4000" b="1" dirty="0">
                <a:latin typeface="+mn-lt"/>
              </a:rPr>
              <a:t>What is an algorithm? (</a:t>
            </a:r>
            <a:r>
              <a:rPr lang="en-US" sz="4000" b="1" dirty="0" smtClean="0">
                <a:latin typeface="+mn-lt"/>
              </a:rPr>
              <a:t>Properties)</a:t>
            </a:r>
            <a:endParaRPr lang="en-US" sz="4000" b="1" dirty="0">
              <a:latin typeface="+mn-lt"/>
            </a:endParaRPr>
          </a:p>
        </p:txBody>
      </p:sp>
      <p:sp>
        <p:nvSpPr>
          <p:cNvPr id="16389" name="Rectangle 3"/>
          <p:cNvSpPr>
            <a:spLocks noGrp="1" noChangeArrowheads="1"/>
          </p:cNvSpPr>
          <p:nvPr>
            <p:ph type="body" idx="1"/>
          </p:nvPr>
        </p:nvSpPr>
        <p:spPr>
          <a:xfrm>
            <a:off x="396607" y="1143000"/>
            <a:ext cx="11248222" cy="5181600"/>
          </a:xfrm>
        </p:spPr>
        <p:txBody>
          <a:bodyPr>
            <a:normAutofit/>
          </a:bodyPr>
          <a:lstStyle/>
          <a:p>
            <a:pPr marL="457200" indent="-457200">
              <a:lnSpc>
                <a:spcPct val="150000"/>
              </a:lnSpc>
              <a:buFont typeface="+mj-lt"/>
              <a:buAutoNum type="arabicPeriod"/>
            </a:pPr>
            <a:r>
              <a:rPr lang="en-US" sz="2000" b="1" dirty="0"/>
              <a:t>Unambiguous</a:t>
            </a:r>
            <a:r>
              <a:rPr lang="en-US" sz="2000" dirty="0"/>
              <a:t>: Every step must be clearly defined.</a:t>
            </a:r>
          </a:p>
          <a:p>
            <a:pPr marL="457200" indent="-457200">
              <a:lnSpc>
                <a:spcPct val="150000"/>
              </a:lnSpc>
              <a:buFont typeface="+mj-lt"/>
              <a:buAutoNum type="arabicPeriod"/>
            </a:pPr>
            <a:r>
              <a:rPr lang="en-US" sz="2000" b="1" dirty="0"/>
              <a:t>Input</a:t>
            </a:r>
            <a:r>
              <a:rPr lang="en-US" sz="2000" dirty="0"/>
              <a:t>: Can have zero or more inputs.</a:t>
            </a:r>
          </a:p>
          <a:p>
            <a:pPr marL="457200" indent="-457200">
              <a:lnSpc>
                <a:spcPct val="150000"/>
              </a:lnSpc>
              <a:buFont typeface="+mj-lt"/>
              <a:buAutoNum type="arabicPeriod"/>
            </a:pPr>
            <a:r>
              <a:rPr lang="en-US" sz="2000" b="1" dirty="0"/>
              <a:t>Output</a:t>
            </a:r>
            <a:r>
              <a:rPr lang="en-US" sz="2000" dirty="0"/>
              <a:t>: Must produce at least one output.</a:t>
            </a:r>
          </a:p>
          <a:p>
            <a:pPr marL="457200" indent="-457200">
              <a:lnSpc>
                <a:spcPct val="150000"/>
              </a:lnSpc>
              <a:buFont typeface="+mj-lt"/>
              <a:buAutoNum type="arabicPeriod"/>
            </a:pPr>
            <a:r>
              <a:rPr lang="en-US" sz="2000" b="1" dirty="0"/>
              <a:t>Finiteness</a:t>
            </a:r>
            <a:r>
              <a:rPr lang="en-US" sz="2000" dirty="0"/>
              <a:t>: Should terminate after a finite number of steps.</a:t>
            </a:r>
          </a:p>
          <a:p>
            <a:pPr marL="457200" indent="-457200">
              <a:lnSpc>
                <a:spcPct val="150000"/>
              </a:lnSpc>
              <a:buFont typeface="+mj-lt"/>
              <a:buAutoNum type="arabicPeriod"/>
            </a:pPr>
            <a:r>
              <a:rPr lang="en-US" sz="2000" b="1" dirty="0"/>
              <a:t>Effectiveness</a:t>
            </a:r>
            <a:r>
              <a:rPr lang="en-US" sz="2000" dirty="0"/>
              <a:t>: Each step must be basic enough to be carried out.</a:t>
            </a:r>
          </a:p>
          <a:p>
            <a:pPr marL="457200" indent="-457200">
              <a:lnSpc>
                <a:spcPct val="150000"/>
              </a:lnSpc>
              <a:buFont typeface="+mj-lt"/>
              <a:buAutoNum type="arabicPeriod"/>
            </a:pPr>
            <a:r>
              <a:rPr lang="en-US" sz="2000" b="1" dirty="0"/>
              <a:t>Independence</a:t>
            </a:r>
            <a:r>
              <a:rPr lang="en-US" sz="2000" dirty="0"/>
              <a:t>: Should be independent of any programming language</a:t>
            </a:r>
            <a:endParaRPr lang="en-IN" sz="2000" dirty="0"/>
          </a:p>
        </p:txBody>
      </p:sp>
    </p:spTree>
    <p:extLst>
      <p:ext uri="{BB962C8B-B14F-4D97-AF65-F5344CB8AC3E}">
        <p14:creationId xmlns:p14="http://schemas.microsoft.com/office/powerpoint/2010/main" val="526057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947" y="155805"/>
            <a:ext cx="11026966" cy="1325563"/>
          </a:xfrm>
        </p:spPr>
        <p:txBody>
          <a:bodyPr>
            <a:normAutofit/>
          </a:bodyPr>
          <a:lstStyle/>
          <a:p>
            <a:r>
              <a:rPr lang="en-US" sz="3200" b="1" dirty="0">
                <a:latin typeface="+mn-lt"/>
              </a:rPr>
              <a:t>Algorithm Designing Methods / </a:t>
            </a:r>
            <a:r>
              <a:rPr lang="en-US" sz="3200" b="1" dirty="0" smtClean="0">
                <a:latin typeface="+mn-lt"/>
              </a:rPr>
              <a:t>Design </a:t>
            </a:r>
            <a:r>
              <a:rPr lang="en-US" sz="3200" b="1" dirty="0">
                <a:latin typeface="+mn-lt"/>
              </a:rPr>
              <a:t>Techniques</a:t>
            </a:r>
          </a:p>
        </p:txBody>
      </p:sp>
      <p:sp>
        <p:nvSpPr>
          <p:cNvPr id="3" name="Content Placeholder 2"/>
          <p:cNvSpPr>
            <a:spLocks noGrp="1"/>
          </p:cNvSpPr>
          <p:nvPr>
            <p:ph idx="1"/>
          </p:nvPr>
        </p:nvSpPr>
        <p:spPr>
          <a:xfrm>
            <a:off x="552287" y="1296311"/>
            <a:ext cx="10515600" cy="4351338"/>
          </a:xfrm>
        </p:spPr>
        <p:txBody>
          <a:bodyPr>
            <a:noAutofit/>
          </a:bodyPr>
          <a:lstStyle/>
          <a:p>
            <a:pPr>
              <a:lnSpc>
                <a:spcPct val="150000"/>
              </a:lnSpc>
              <a:buFont typeface="+mj-lt"/>
              <a:buAutoNum type="arabicPeriod"/>
            </a:pPr>
            <a:r>
              <a:rPr lang="en-US" sz="2100" dirty="0"/>
              <a:t> Incremental Approach</a:t>
            </a:r>
          </a:p>
          <a:p>
            <a:pPr>
              <a:lnSpc>
                <a:spcPct val="150000"/>
              </a:lnSpc>
              <a:buFont typeface="+mj-lt"/>
              <a:buAutoNum type="arabicPeriod"/>
            </a:pPr>
            <a:r>
              <a:rPr lang="en-US" sz="2100" dirty="0"/>
              <a:t> Divide and Conquer</a:t>
            </a:r>
          </a:p>
          <a:p>
            <a:pPr>
              <a:lnSpc>
                <a:spcPct val="150000"/>
              </a:lnSpc>
              <a:buFont typeface="+mj-lt"/>
              <a:buAutoNum type="arabicPeriod"/>
            </a:pPr>
            <a:r>
              <a:rPr lang="en-US" sz="2100" dirty="0"/>
              <a:t> Dynamic Programming</a:t>
            </a:r>
          </a:p>
          <a:p>
            <a:pPr>
              <a:lnSpc>
                <a:spcPct val="150000"/>
              </a:lnSpc>
              <a:buFont typeface="+mj-lt"/>
              <a:buAutoNum type="arabicPeriod"/>
            </a:pPr>
            <a:r>
              <a:rPr lang="en-US" sz="2100" dirty="0"/>
              <a:t> Greedy Approach</a:t>
            </a:r>
          </a:p>
          <a:p>
            <a:pPr>
              <a:lnSpc>
                <a:spcPct val="150000"/>
              </a:lnSpc>
              <a:buFont typeface="+mj-lt"/>
              <a:buAutoNum type="arabicPeriod"/>
            </a:pPr>
            <a:r>
              <a:rPr lang="en-US" sz="2100" dirty="0"/>
              <a:t> Backtracking</a:t>
            </a:r>
          </a:p>
          <a:p>
            <a:pPr>
              <a:lnSpc>
                <a:spcPct val="150000"/>
              </a:lnSpc>
              <a:buFont typeface="+mj-lt"/>
              <a:buAutoNum type="arabicPeriod"/>
            </a:pPr>
            <a:r>
              <a:rPr lang="en-US" sz="2100" dirty="0"/>
              <a:t> Linear Programming</a:t>
            </a:r>
          </a:p>
          <a:p>
            <a:pPr>
              <a:lnSpc>
                <a:spcPct val="150000"/>
              </a:lnSpc>
              <a:buFont typeface="+mj-lt"/>
              <a:buAutoNum type="arabicPeriod"/>
            </a:pPr>
            <a:r>
              <a:rPr lang="en-US" sz="2100" dirty="0"/>
              <a:t> Branch and Bound method</a:t>
            </a:r>
          </a:p>
          <a:p>
            <a:pPr>
              <a:lnSpc>
                <a:spcPct val="150000"/>
              </a:lnSpc>
              <a:buFont typeface="+mj-lt"/>
              <a:buAutoNum type="arabicPeriod"/>
            </a:pPr>
            <a:r>
              <a:rPr lang="en-US" sz="2100" dirty="0"/>
              <a:t> Randomized Algorithm</a:t>
            </a:r>
          </a:p>
          <a:p>
            <a:pPr>
              <a:lnSpc>
                <a:spcPct val="150000"/>
              </a:lnSpc>
              <a:buFont typeface="+mj-lt"/>
              <a:buAutoNum type="arabicPeriod"/>
            </a:pPr>
            <a:endParaRPr lang="en-US" sz="2100" dirty="0"/>
          </a:p>
        </p:txBody>
      </p:sp>
    </p:spTree>
    <p:extLst>
      <p:ext uri="{BB962C8B-B14F-4D97-AF65-F5344CB8AC3E}">
        <p14:creationId xmlns:p14="http://schemas.microsoft.com/office/powerpoint/2010/main" val="545474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270" y="88136"/>
            <a:ext cx="11600094" cy="3785652"/>
          </a:xfrm>
          <a:prstGeom prst="rect">
            <a:avLst/>
          </a:prstGeom>
        </p:spPr>
        <p:txBody>
          <a:bodyPr wrap="square">
            <a:spAutoFit/>
          </a:bodyPr>
          <a:lstStyle/>
          <a:p>
            <a:pPr marL="457200" indent="-457200" algn="just">
              <a:lnSpc>
                <a:spcPct val="150000"/>
              </a:lnSpc>
              <a:buAutoNum type="arabicPeriod"/>
            </a:pPr>
            <a:r>
              <a:rPr lang="en-IN" sz="2000" b="1" dirty="0"/>
              <a:t>Divide and Conquer Approach:</a:t>
            </a:r>
            <a:r>
              <a:rPr lang="en-IN" sz="2000" dirty="0"/>
              <a:t> </a:t>
            </a:r>
          </a:p>
          <a:p>
            <a:pPr algn="just">
              <a:lnSpc>
                <a:spcPct val="150000"/>
              </a:lnSpc>
            </a:pPr>
            <a:r>
              <a:rPr lang="en-IN" sz="2000" dirty="0"/>
              <a:t>It is a top-down approach. The algorithms which follow the divide &amp; conquer techniques involve three steps:</a:t>
            </a:r>
          </a:p>
          <a:p>
            <a:pPr marL="342900" indent="-342900" algn="just">
              <a:lnSpc>
                <a:spcPct val="150000"/>
              </a:lnSpc>
              <a:buFont typeface="Arial" panose="020B0604020202020204" pitchFamily="34" charset="0"/>
              <a:buChar char="•"/>
            </a:pPr>
            <a:r>
              <a:rPr lang="en-IN" sz="2000" dirty="0"/>
              <a:t>Divide the original problem into a set of </a:t>
            </a:r>
            <a:r>
              <a:rPr lang="en-IN" sz="2000" dirty="0" err="1"/>
              <a:t>subproblems</a:t>
            </a:r>
            <a:r>
              <a:rPr lang="en-IN" sz="2000" dirty="0"/>
              <a:t>.</a:t>
            </a:r>
          </a:p>
          <a:p>
            <a:pPr marL="342900" indent="-342900" algn="just">
              <a:lnSpc>
                <a:spcPct val="150000"/>
              </a:lnSpc>
              <a:buFont typeface="Arial" panose="020B0604020202020204" pitchFamily="34" charset="0"/>
              <a:buChar char="•"/>
            </a:pPr>
            <a:r>
              <a:rPr lang="en-IN" sz="2000" dirty="0"/>
              <a:t>Solve every </a:t>
            </a:r>
            <a:r>
              <a:rPr lang="en-IN" sz="2000" dirty="0" err="1"/>
              <a:t>subproblem</a:t>
            </a:r>
            <a:r>
              <a:rPr lang="en-IN" sz="2000" dirty="0"/>
              <a:t> individually, recursively.</a:t>
            </a:r>
          </a:p>
          <a:p>
            <a:pPr marL="342900" indent="-342900" algn="just">
              <a:lnSpc>
                <a:spcPct val="150000"/>
              </a:lnSpc>
              <a:buFont typeface="Arial" panose="020B0604020202020204" pitchFamily="34" charset="0"/>
              <a:buChar char="•"/>
            </a:pPr>
            <a:r>
              <a:rPr lang="en-IN" sz="2000" dirty="0"/>
              <a:t>Combine the solution of the </a:t>
            </a:r>
            <a:r>
              <a:rPr lang="en-IN" sz="2000" dirty="0" err="1"/>
              <a:t>subproblems</a:t>
            </a:r>
            <a:r>
              <a:rPr lang="en-IN" sz="2000" dirty="0"/>
              <a:t> (top level) into a solution of the whole original problem</a:t>
            </a:r>
            <a:r>
              <a:rPr lang="en-IN" sz="2000" dirty="0" smtClean="0"/>
              <a:t>.</a:t>
            </a:r>
          </a:p>
          <a:p>
            <a:pPr marL="342900" indent="-342900" algn="just">
              <a:lnSpc>
                <a:spcPct val="150000"/>
              </a:lnSpc>
              <a:buFont typeface="Arial" panose="020B0604020202020204" pitchFamily="34" charset="0"/>
              <a:buChar char="•"/>
            </a:pPr>
            <a:endParaRPr lang="en-IN" sz="2000" dirty="0"/>
          </a:p>
          <a:p>
            <a:pPr algn="just">
              <a:lnSpc>
                <a:spcPct val="150000"/>
              </a:lnSpc>
            </a:pPr>
            <a:endParaRPr lang="en-IN" sz="2000" dirty="0"/>
          </a:p>
          <a:p>
            <a:pPr algn="just">
              <a:lnSpc>
                <a:spcPct val="150000"/>
              </a:lnSpc>
            </a:pPr>
            <a:endParaRPr lang="en-IN" sz="2000" dirty="0"/>
          </a:p>
        </p:txBody>
      </p:sp>
      <p:pic>
        <p:nvPicPr>
          <p:cNvPr id="15362" name="Picture 2" descr="C:\Users\HP\Downloads\ChatGPT Image Feb 10, 2026, 07_51_49 P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574" y="2438399"/>
            <a:ext cx="8019948"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769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270" y="88136"/>
            <a:ext cx="11600094" cy="6247864"/>
          </a:xfrm>
          <a:prstGeom prst="rect">
            <a:avLst/>
          </a:prstGeom>
        </p:spPr>
        <p:txBody>
          <a:bodyPr wrap="square">
            <a:spAutoFit/>
          </a:bodyPr>
          <a:lstStyle/>
          <a:p>
            <a:pPr algn="just">
              <a:lnSpc>
                <a:spcPct val="150000"/>
              </a:lnSpc>
            </a:pPr>
            <a:r>
              <a:rPr lang="en-IN" sz="2000" b="1" dirty="0" smtClean="0"/>
              <a:t>2</a:t>
            </a:r>
            <a:r>
              <a:rPr lang="en-IN" sz="2000" b="1" dirty="0"/>
              <a:t>. Greedy Technique:</a:t>
            </a:r>
            <a:r>
              <a:rPr lang="en-IN" sz="2000" dirty="0"/>
              <a:t> </a:t>
            </a:r>
          </a:p>
          <a:p>
            <a:r>
              <a:rPr lang="en-US" sz="2000" dirty="0"/>
              <a:t>The </a:t>
            </a:r>
            <a:r>
              <a:rPr lang="en-US" sz="2000" b="1" dirty="0"/>
              <a:t>Greedy algorithm</a:t>
            </a:r>
            <a:r>
              <a:rPr lang="en-US" sz="2000" dirty="0"/>
              <a:t> is used to solve problems where we want the </a:t>
            </a:r>
            <a:r>
              <a:rPr lang="en-US" sz="2000" b="1" dirty="0"/>
              <a:t>best result</a:t>
            </a:r>
            <a:r>
              <a:rPr lang="en-US" sz="2000" dirty="0"/>
              <a:t> — either:</a:t>
            </a:r>
          </a:p>
          <a:p>
            <a:pPr marL="342900" indent="-342900">
              <a:buFont typeface="Arial" pitchFamily="34" charset="0"/>
              <a:buChar char="•"/>
            </a:pPr>
            <a:r>
              <a:rPr lang="en-US" sz="2000" dirty="0"/>
              <a:t>Maximum profit</a:t>
            </a:r>
          </a:p>
          <a:p>
            <a:pPr marL="342900" indent="-342900">
              <a:buFont typeface="Arial" pitchFamily="34" charset="0"/>
              <a:buChar char="•"/>
            </a:pPr>
            <a:r>
              <a:rPr lang="en-US" sz="2000" dirty="0"/>
              <a:t>Minimum cost</a:t>
            </a:r>
          </a:p>
          <a:p>
            <a:pPr marL="342900" indent="-342900">
              <a:buFont typeface="Arial" pitchFamily="34" charset="0"/>
              <a:buChar char="•"/>
            </a:pPr>
            <a:r>
              <a:rPr lang="en-US" sz="2000" dirty="0"/>
              <a:t>Minimum time</a:t>
            </a:r>
          </a:p>
          <a:p>
            <a:pPr marL="342900" indent="-342900">
              <a:buFont typeface="Arial" pitchFamily="34" charset="0"/>
              <a:buChar char="•"/>
            </a:pPr>
            <a:r>
              <a:rPr lang="en-US" sz="2000" dirty="0"/>
              <a:t>Shortest distance</a:t>
            </a:r>
          </a:p>
          <a:p>
            <a:r>
              <a:rPr lang="en-US" sz="2000" dirty="0"/>
              <a:t>These are called </a:t>
            </a:r>
            <a:r>
              <a:rPr lang="en-US" sz="2000" b="1" dirty="0"/>
              <a:t>optimization problems</a:t>
            </a:r>
            <a:r>
              <a:rPr lang="en-US" sz="2000" dirty="0" smtClean="0"/>
              <a:t>.</a:t>
            </a:r>
          </a:p>
          <a:p>
            <a:pPr lvl="1"/>
            <a:endParaRPr lang="en-US" sz="2000" dirty="0" smtClean="0"/>
          </a:p>
          <a:p>
            <a:pPr lvl="1"/>
            <a:r>
              <a:rPr lang="en-US" sz="2000" b="1" dirty="0" smtClean="0"/>
              <a:t>Example— </a:t>
            </a:r>
            <a:r>
              <a:rPr lang="en-US" sz="2000" b="1" dirty="0"/>
              <a:t>Coin Change Problem</a:t>
            </a:r>
          </a:p>
          <a:p>
            <a:pPr lvl="1"/>
            <a:r>
              <a:rPr lang="en-US" sz="2000" dirty="0"/>
              <a:t>You want to make </a:t>
            </a:r>
            <a:r>
              <a:rPr lang="en-US" sz="2000" b="1" dirty="0"/>
              <a:t>₹18</a:t>
            </a:r>
            <a:r>
              <a:rPr lang="en-US" sz="2000" dirty="0"/>
              <a:t> using coins:</a:t>
            </a:r>
            <a:br>
              <a:rPr lang="en-US" sz="2000" dirty="0"/>
            </a:br>
            <a:r>
              <a:rPr lang="en-US" sz="2000" dirty="0"/>
              <a:t>₹10, ₹5, ₹2, ₹1</a:t>
            </a:r>
          </a:p>
          <a:p>
            <a:pPr lvl="2"/>
            <a:r>
              <a:rPr lang="en-US" sz="2000" b="1" dirty="0"/>
              <a:t>Greedy Approach</a:t>
            </a:r>
          </a:p>
          <a:p>
            <a:pPr lvl="2"/>
            <a:r>
              <a:rPr lang="en-US" sz="2000" dirty="0"/>
              <a:t>Always pick largest coin first.</a:t>
            </a:r>
          </a:p>
          <a:p>
            <a:pPr lvl="2"/>
            <a:r>
              <a:rPr lang="en-US" sz="2000" dirty="0"/>
              <a:t>Take 10 → Remaining = 8</a:t>
            </a:r>
          </a:p>
          <a:p>
            <a:pPr lvl="2"/>
            <a:r>
              <a:rPr lang="en-US" sz="2000" dirty="0"/>
              <a:t>Take 5 → Remaining = 3</a:t>
            </a:r>
          </a:p>
          <a:p>
            <a:pPr lvl="2"/>
            <a:r>
              <a:rPr lang="en-US" sz="2000" dirty="0"/>
              <a:t>Take 2 → Remaining = 1</a:t>
            </a:r>
          </a:p>
          <a:p>
            <a:pPr lvl="2"/>
            <a:r>
              <a:rPr lang="en-US" sz="2000" dirty="0"/>
              <a:t>Take 1 → Remaining = 0</a:t>
            </a:r>
          </a:p>
          <a:p>
            <a:pPr lvl="2"/>
            <a:r>
              <a:rPr lang="en-US" sz="2000" b="1" dirty="0"/>
              <a:t>Total coins used = 4 (Good solution)</a:t>
            </a:r>
            <a:endParaRPr lang="en-US" sz="2000" dirty="0"/>
          </a:p>
          <a:p>
            <a:pPr lvl="1" algn="just">
              <a:lnSpc>
                <a:spcPct val="150000"/>
              </a:lnSpc>
            </a:pPr>
            <a:endParaRPr lang="en-IN" sz="2000" dirty="0"/>
          </a:p>
        </p:txBody>
      </p:sp>
    </p:spTree>
    <p:extLst>
      <p:ext uri="{BB962C8B-B14F-4D97-AF65-F5344CB8AC3E}">
        <p14:creationId xmlns:p14="http://schemas.microsoft.com/office/powerpoint/2010/main" val="295757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439" y="165253"/>
            <a:ext cx="11666862" cy="7478970"/>
          </a:xfrm>
          <a:prstGeom prst="rect">
            <a:avLst/>
          </a:prstGeom>
        </p:spPr>
        <p:txBody>
          <a:bodyPr wrap="square">
            <a:spAutoFit/>
          </a:bodyPr>
          <a:lstStyle/>
          <a:p>
            <a:r>
              <a:rPr lang="en-IN" sz="2400" b="1" dirty="0"/>
              <a:t>3. Dynamic Programming:</a:t>
            </a:r>
            <a:r>
              <a:rPr lang="en-IN" sz="2400" dirty="0"/>
              <a:t> </a:t>
            </a:r>
            <a:endParaRPr lang="en-IN" sz="2400" dirty="0" smtClean="0"/>
          </a:p>
          <a:p>
            <a:endParaRPr lang="en-IN" sz="2400" dirty="0" smtClean="0"/>
          </a:p>
          <a:p>
            <a:r>
              <a:rPr lang="en-US" sz="2400" b="1" dirty="0" smtClean="0"/>
              <a:t>Dynamic </a:t>
            </a:r>
            <a:r>
              <a:rPr lang="en-US" sz="2400" b="1" dirty="0"/>
              <a:t>Programming (DP)</a:t>
            </a:r>
            <a:r>
              <a:rPr lang="en-US" sz="2400" dirty="0"/>
              <a:t> is a technique used to solve complex problems by:</a:t>
            </a:r>
          </a:p>
          <a:p>
            <a:pPr lvl="1">
              <a:lnSpc>
                <a:spcPct val="150000"/>
              </a:lnSpc>
            </a:pPr>
            <a:r>
              <a:rPr lang="en-US" sz="2400" dirty="0" smtClean="0"/>
              <a:t>Solving </a:t>
            </a:r>
            <a:r>
              <a:rPr lang="en-US" sz="2400" b="1" dirty="0"/>
              <a:t>small sub-problems first</a:t>
            </a:r>
            <a:r>
              <a:rPr lang="en-US" sz="2400" dirty="0"/>
              <a:t/>
            </a:r>
            <a:br>
              <a:rPr lang="en-US" sz="2400" dirty="0"/>
            </a:br>
            <a:r>
              <a:rPr lang="en-US" sz="2400" dirty="0" smtClean="0"/>
              <a:t>Saving </a:t>
            </a:r>
            <a:r>
              <a:rPr lang="en-US" sz="2400" dirty="0"/>
              <a:t>their answers</a:t>
            </a:r>
            <a:br>
              <a:rPr lang="en-US" sz="2400" dirty="0"/>
            </a:br>
            <a:r>
              <a:rPr lang="en-US" sz="2400" dirty="0" smtClean="0"/>
              <a:t>Using </a:t>
            </a:r>
            <a:r>
              <a:rPr lang="en-US" sz="2400" dirty="0"/>
              <a:t>them again to build the final big answer</a:t>
            </a:r>
          </a:p>
          <a:p>
            <a:pPr lvl="1">
              <a:lnSpc>
                <a:spcPct val="150000"/>
              </a:lnSpc>
            </a:pPr>
            <a:r>
              <a:rPr lang="en-US" sz="2400" dirty="0"/>
              <a:t>So instead of solving the same problem again and again,</a:t>
            </a:r>
            <a:br>
              <a:rPr lang="en-US" sz="2400" dirty="0"/>
            </a:br>
            <a:r>
              <a:rPr lang="en-US" sz="2400" dirty="0"/>
              <a:t>we </a:t>
            </a:r>
            <a:r>
              <a:rPr lang="en-US" sz="2400" b="1" dirty="0"/>
              <a:t>remember previous results</a:t>
            </a:r>
            <a:r>
              <a:rPr lang="en-US" sz="2400" dirty="0" smtClean="0"/>
              <a:t>.</a:t>
            </a:r>
          </a:p>
          <a:p>
            <a:pPr lvl="1"/>
            <a:endParaRPr lang="en-US" sz="2400" dirty="0" smtClean="0"/>
          </a:p>
          <a:p>
            <a:pPr marL="742950" lvl="1" indent="-285750">
              <a:lnSpc>
                <a:spcPct val="150000"/>
              </a:lnSpc>
              <a:buFont typeface="Arial" pitchFamily="34" charset="0"/>
              <a:buChar char="•"/>
            </a:pPr>
            <a:r>
              <a:rPr lang="en-IN" b="1" dirty="0"/>
              <a:t>Example — Fibonacci Numbers</a:t>
            </a:r>
          </a:p>
          <a:p>
            <a:pPr lvl="1">
              <a:lnSpc>
                <a:spcPct val="150000"/>
              </a:lnSpc>
            </a:pPr>
            <a:r>
              <a:rPr lang="en-IN" dirty="0"/>
              <a:t>We want to find:</a:t>
            </a:r>
          </a:p>
          <a:p>
            <a:pPr lvl="1">
              <a:lnSpc>
                <a:spcPct val="150000"/>
              </a:lnSpc>
            </a:pPr>
            <a:r>
              <a:rPr lang="en-IN" dirty="0"/>
              <a:t>F(n)=F(n−1)+F(n−</a:t>
            </a:r>
            <a:r>
              <a:rPr lang="en-IN" dirty="0" smtClean="0"/>
              <a:t>2)……… </a:t>
            </a:r>
          </a:p>
          <a:p>
            <a:pPr lvl="1">
              <a:lnSpc>
                <a:spcPct val="150000"/>
              </a:lnSpc>
            </a:pPr>
            <a:r>
              <a:rPr lang="en-IN" dirty="0" smtClean="0"/>
              <a:t>0</a:t>
            </a:r>
            <a:r>
              <a:rPr lang="en-IN" dirty="0"/>
              <a:t>, 1, 1, 2, 3, 5, 8, 13, 21 …</a:t>
            </a:r>
          </a:p>
          <a:p>
            <a:pPr lvl="1"/>
            <a:endParaRPr lang="en-US" sz="2400" dirty="0"/>
          </a:p>
          <a:p>
            <a:pPr algn="just">
              <a:lnSpc>
                <a:spcPct val="150000"/>
              </a:lnSpc>
            </a:pPr>
            <a:endParaRPr lang="en-IN" sz="2400" dirty="0"/>
          </a:p>
          <a:p>
            <a:pPr algn="just">
              <a:lnSpc>
                <a:spcPct val="150000"/>
              </a:lnSpc>
            </a:pPr>
            <a:endParaRPr lang="en-IN" sz="2400" dirty="0"/>
          </a:p>
        </p:txBody>
      </p:sp>
    </p:spTree>
    <p:extLst>
      <p:ext uri="{BB962C8B-B14F-4D97-AF65-F5344CB8AC3E}">
        <p14:creationId xmlns:p14="http://schemas.microsoft.com/office/powerpoint/2010/main" val="3331455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439" y="165253"/>
            <a:ext cx="11666862" cy="2677656"/>
          </a:xfrm>
          <a:prstGeom prst="rect">
            <a:avLst/>
          </a:prstGeom>
        </p:spPr>
        <p:txBody>
          <a:bodyPr wrap="square">
            <a:spAutoFit/>
          </a:bodyPr>
          <a:lstStyle/>
          <a:p>
            <a:r>
              <a:rPr lang="en-IN" sz="2400" b="1" dirty="0" smtClean="0"/>
              <a:t>4</a:t>
            </a:r>
            <a:r>
              <a:rPr lang="en-IN" sz="2400" b="1" dirty="0"/>
              <a:t>. </a:t>
            </a:r>
            <a:r>
              <a:rPr lang="en-US" sz="2400" b="1" dirty="0"/>
              <a:t>Branch and Bound</a:t>
            </a:r>
            <a:r>
              <a:rPr lang="en-US" sz="2400" dirty="0"/>
              <a:t> </a:t>
            </a:r>
            <a:r>
              <a:rPr lang="en-US" sz="2400" dirty="0" smtClean="0"/>
              <a:t>:</a:t>
            </a:r>
            <a:endParaRPr lang="en-IN" sz="2400" b="1" dirty="0" smtClean="0"/>
          </a:p>
          <a:p>
            <a:r>
              <a:rPr lang="en-US" sz="2400" b="1" dirty="0" smtClean="0"/>
              <a:t>Branch </a:t>
            </a:r>
            <a:r>
              <a:rPr lang="en-US" sz="2400" b="1" dirty="0"/>
              <a:t>and Bound</a:t>
            </a:r>
            <a:r>
              <a:rPr lang="en-US" sz="2400" dirty="0"/>
              <a:t> is a method used to find the </a:t>
            </a:r>
            <a:r>
              <a:rPr lang="en-US" sz="2400" b="1" dirty="0"/>
              <a:t>best possible solution</a:t>
            </a:r>
            <a:r>
              <a:rPr lang="en-US" sz="2400" dirty="0"/>
              <a:t> from many choices.</a:t>
            </a:r>
          </a:p>
          <a:p>
            <a:r>
              <a:rPr lang="en-US" sz="2400" dirty="0"/>
              <a:t>It works like a tree:</a:t>
            </a:r>
          </a:p>
          <a:p>
            <a:r>
              <a:rPr lang="en-US" sz="2400" b="1" dirty="0"/>
              <a:t>Branch</a:t>
            </a:r>
            <a:r>
              <a:rPr lang="en-US" sz="2400" dirty="0"/>
              <a:t> → Try different possible choices</a:t>
            </a:r>
          </a:p>
          <a:p>
            <a:r>
              <a:rPr lang="en-US" sz="2400" b="1" dirty="0"/>
              <a:t>Bound</a:t>
            </a:r>
            <a:r>
              <a:rPr lang="en-US" sz="2400" dirty="0"/>
              <a:t> → Stop exploring a choice if it is already worse than the best answer</a:t>
            </a:r>
          </a:p>
          <a:p>
            <a:r>
              <a:rPr lang="en-US" sz="2400" dirty="0" smtClean="0"/>
              <a:t>In </a:t>
            </a:r>
            <a:r>
              <a:rPr lang="en-US" sz="2400" dirty="0"/>
              <a:t>short:</a:t>
            </a:r>
            <a:br>
              <a:rPr lang="en-US" sz="2400" dirty="0"/>
            </a:br>
            <a:r>
              <a:rPr lang="en-US" sz="2400" b="1" dirty="0"/>
              <a:t>Try all good paths, skip bad paths early</a:t>
            </a:r>
            <a:endParaRPr lang="en-US" sz="2400" dirty="0"/>
          </a:p>
        </p:txBody>
      </p:sp>
      <p:pic>
        <p:nvPicPr>
          <p:cNvPr id="16386" name="Picture 2" descr="C:\Users\HP\Downloads\ChatGPT Image Feb 10, 2026, 08_08_38 P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3050" y="1962150"/>
            <a:ext cx="6442209" cy="4705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5012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270" y="132202"/>
            <a:ext cx="11788047" cy="4893647"/>
          </a:xfrm>
          <a:prstGeom prst="rect">
            <a:avLst/>
          </a:prstGeom>
        </p:spPr>
        <p:txBody>
          <a:bodyPr wrap="square">
            <a:spAutoFit/>
          </a:bodyPr>
          <a:lstStyle/>
          <a:p>
            <a:pPr algn="just">
              <a:lnSpc>
                <a:spcPct val="150000"/>
              </a:lnSpc>
            </a:pPr>
            <a:r>
              <a:rPr lang="en-IN" sz="2400" b="1" dirty="0"/>
              <a:t>5. Randomized Algorithms:</a:t>
            </a:r>
            <a:r>
              <a:rPr lang="en-IN" sz="2400" dirty="0"/>
              <a:t> </a:t>
            </a:r>
            <a:endParaRPr lang="en-IN" sz="2400" dirty="0" smtClean="0"/>
          </a:p>
          <a:p>
            <a:r>
              <a:rPr lang="en-US" sz="2400" dirty="0"/>
              <a:t>A </a:t>
            </a:r>
            <a:r>
              <a:rPr lang="en-US" sz="2400" b="1" dirty="0"/>
              <a:t>Randomized Algorithm</a:t>
            </a:r>
            <a:r>
              <a:rPr lang="en-US" sz="2400" dirty="0"/>
              <a:t> is an algorithm that uses </a:t>
            </a:r>
            <a:r>
              <a:rPr lang="en-US" sz="2400" b="1" dirty="0"/>
              <a:t>random numbers (luck/chance)</a:t>
            </a:r>
            <a:r>
              <a:rPr lang="en-US" sz="2400" dirty="0"/>
              <a:t> while solving a problem.</a:t>
            </a:r>
          </a:p>
          <a:p>
            <a:r>
              <a:rPr lang="en-US" sz="2400" dirty="0"/>
              <a:t>So every time you run it →</a:t>
            </a:r>
            <a:br>
              <a:rPr lang="en-US" sz="2400" dirty="0"/>
            </a:br>
            <a:r>
              <a:rPr lang="en-US" sz="2400" dirty="0"/>
              <a:t>the steps may be slightly different →</a:t>
            </a:r>
            <a:br>
              <a:rPr lang="en-US" sz="2400" dirty="0"/>
            </a:br>
            <a:r>
              <a:rPr lang="en-US" sz="2400" dirty="0"/>
              <a:t>but the answer is still correct (or almost correct</a:t>
            </a:r>
            <a:r>
              <a:rPr lang="en-US" sz="2400" dirty="0" smtClean="0"/>
              <a:t>).</a:t>
            </a:r>
          </a:p>
          <a:p>
            <a:endParaRPr lang="en-US" sz="2400" dirty="0"/>
          </a:p>
          <a:p>
            <a:endParaRPr lang="en-US" sz="2400" dirty="0"/>
          </a:p>
          <a:p>
            <a:pPr>
              <a:lnSpc>
                <a:spcPct val="150000"/>
              </a:lnSpc>
            </a:pPr>
            <a:r>
              <a:rPr lang="en-IN" sz="2400" b="1" dirty="0" smtClean="0"/>
              <a:t>6</a:t>
            </a:r>
            <a:r>
              <a:rPr lang="en-IN" sz="2400" b="1" dirty="0"/>
              <a:t>. Backtracking Algorithm:</a:t>
            </a:r>
            <a:r>
              <a:rPr lang="en-IN" sz="2400" dirty="0"/>
              <a:t> </a:t>
            </a:r>
            <a:r>
              <a:rPr lang="en-US" sz="2400" dirty="0"/>
              <a:t>A backtracking algorithm is a method of solving problems by </a:t>
            </a:r>
            <a:r>
              <a:rPr lang="en-US" sz="2400" b="1" dirty="0" smtClean="0"/>
              <a:t>trying all possible options one by one</a:t>
            </a:r>
            <a:r>
              <a:rPr lang="en-US" sz="2400" dirty="0" smtClean="0"/>
              <a:t>. If </a:t>
            </a:r>
            <a:r>
              <a:rPr lang="en-US" sz="2400" dirty="0"/>
              <a:t>one option does not lead to the correct answer, it </a:t>
            </a:r>
            <a:r>
              <a:rPr lang="en-US" sz="2400" b="1" dirty="0"/>
              <a:t>goes back (backtracks)</a:t>
            </a:r>
            <a:r>
              <a:rPr lang="en-US" sz="2400" dirty="0"/>
              <a:t> to the previous step and </a:t>
            </a:r>
            <a:r>
              <a:rPr lang="en-US" sz="2400" b="1" dirty="0"/>
              <a:t>tries a different option</a:t>
            </a:r>
            <a:r>
              <a:rPr lang="en-US" sz="2400" dirty="0" smtClean="0"/>
              <a:t>.</a:t>
            </a:r>
          </a:p>
        </p:txBody>
      </p:sp>
    </p:spTree>
    <p:extLst>
      <p:ext uri="{BB962C8B-B14F-4D97-AF65-F5344CB8AC3E}">
        <p14:creationId xmlns:p14="http://schemas.microsoft.com/office/powerpoint/2010/main" val="2662421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panose="02020603050405020304" pitchFamily="18" charset="0"/>
                <a:cs typeface="Times" panose="02020603050405020304" pitchFamily="18" charset="0"/>
              </a:rPr>
              <a:t>Introduction to Analysis of Algorithm</a:t>
            </a:r>
            <a:endParaRPr lang="en-US" dirty="0">
              <a:solidFill>
                <a:srgbClr val="FF0000"/>
              </a:solidFill>
              <a:latin typeface="Times" panose="02020603050405020304" pitchFamily="18" charset="0"/>
              <a:cs typeface="Times" panose="02020603050405020304" pitchFamily="18" charset="0"/>
            </a:endParaRPr>
          </a:p>
        </p:txBody>
      </p:sp>
      <p:sp>
        <p:nvSpPr>
          <p:cNvPr id="3" name="Content Placeholder 2"/>
          <p:cNvSpPr>
            <a:spLocks noGrp="1"/>
          </p:cNvSpPr>
          <p:nvPr>
            <p:ph idx="1"/>
          </p:nvPr>
        </p:nvSpPr>
        <p:spPr>
          <a:xfrm>
            <a:off x="606846" y="1690688"/>
            <a:ext cx="10746954" cy="4351338"/>
          </a:xfrm>
        </p:spPr>
        <p:txBody>
          <a:bodyPr>
            <a:normAutofit lnSpcReduction="10000"/>
          </a:bodyPr>
          <a:lstStyle/>
          <a:p>
            <a:r>
              <a:rPr lang="en-US" dirty="0">
                <a:latin typeface="Times" panose="02020603050405020304" pitchFamily="18" charset="0"/>
                <a:cs typeface="Times" panose="02020603050405020304" pitchFamily="18" charset="0"/>
              </a:rPr>
              <a:t>Some people enjoy studying algorithms because it is </a:t>
            </a:r>
            <a:r>
              <a:rPr lang="en-US" b="1" dirty="0">
                <a:latin typeface="Times" panose="02020603050405020304" pitchFamily="18" charset="0"/>
                <a:cs typeface="Times" panose="02020603050405020304" pitchFamily="18" charset="0"/>
              </a:rPr>
              <a:t>fun and challenging</a:t>
            </a:r>
            <a:r>
              <a:rPr lang="en-US" dirty="0" smtClean="0">
                <a:latin typeface="Times" panose="02020603050405020304" pitchFamily="18" charset="0"/>
                <a:cs typeface="Times" panose="02020603050405020304" pitchFamily="18" charset="0"/>
              </a:rPr>
              <a:t>.</a:t>
            </a:r>
          </a:p>
          <a:p>
            <a:endParaRPr lang="en-US" dirty="0">
              <a:latin typeface="Times" panose="02020603050405020304" pitchFamily="18" charset="0"/>
              <a:cs typeface="Times" panose="02020603050405020304" pitchFamily="18" charset="0"/>
            </a:endParaRPr>
          </a:p>
          <a:p>
            <a:r>
              <a:rPr lang="en-US" dirty="0">
                <a:latin typeface="Times" panose="02020603050405020304" pitchFamily="18" charset="0"/>
                <a:cs typeface="Times" panose="02020603050405020304" pitchFamily="18" charset="0"/>
              </a:rPr>
              <a:t>They like to </a:t>
            </a:r>
            <a:r>
              <a:rPr lang="en-US" b="1" dirty="0">
                <a:latin typeface="Times" panose="02020603050405020304" pitchFamily="18" charset="0"/>
                <a:cs typeface="Times" panose="02020603050405020304" pitchFamily="18" charset="0"/>
              </a:rPr>
              <a:t>predict how fast and efficiently a program will work</a:t>
            </a:r>
            <a:r>
              <a:rPr lang="en-US" dirty="0" smtClean="0">
                <a:latin typeface="Times" panose="02020603050405020304" pitchFamily="18" charset="0"/>
                <a:cs typeface="Times" panose="02020603050405020304" pitchFamily="18" charset="0"/>
              </a:rPr>
              <a:t>.</a:t>
            </a:r>
          </a:p>
          <a:p>
            <a:endParaRPr lang="en-US" dirty="0">
              <a:latin typeface="Times" panose="02020603050405020304" pitchFamily="18" charset="0"/>
              <a:cs typeface="Times" panose="02020603050405020304" pitchFamily="18" charset="0"/>
            </a:endParaRPr>
          </a:p>
          <a:p>
            <a:r>
              <a:rPr lang="en-US" dirty="0">
                <a:latin typeface="Times" panose="02020603050405020304" pitchFamily="18" charset="0"/>
                <a:cs typeface="Times" panose="02020603050405020304" pitchFamily="18" charset="0"/>
              </a:rPr>
              <a:t>Computer science attracts people who like </a:t>
            </a:r>
            <a:r>
              <a:rPr lang="en-US" b="1" dirty="0">
                <a:latin typeface="Times" panose="02020603050405020304" pitchFamily="18" charset="0"/>
                <a:cs typeface="Times" panose="02020603050405020304" pitchFamily="18" charset="0"/>
              </a:rPr>
              <a:t>making things faster and better</a:t>
            </a:r>
            <a:r>
              <a:rPr lang="en-US" dirty="0" smtClean="0">
                <a:latin typeface="Times" panose="02020603050405020304" pitchFamily="18" charset="0"/>
                <a:cs typeface="Times" panose="02020603050405020304" pitchFamily="18" charset="0"/>
              </a:rPr>
              <a:t>.</a:t>
            </a:r>
          </a:p>
          <a:p>
            <a:endParaRPr lang="en-US" dirty="0">
              <a:latin typeface="Times" panose="02020603050405020304" pitchFamily="18" charset="0"/>
              <a:cs typeface="Times" panose="02020603050405020304" pitchFamily="18" charset="0"/>
            </a:endParaRPr>
          </a:p>
          <a:p>
            <a:r>
              <a:rPr lang="en-US" dirty="0">
                <a:latin typeface="Times" panose="02020603050405020304" pitchFamily="18" charset="0"/>
                <a:cs typeface="Times" panose="02020603050405020304" pitchFamily="18" charset="0"/>
              </a:rPr>
              <a:t>Algorithm analysis means </a:t>
            </a:r>
            <a:r>
              <a:rPr lang="en-US" b="1" dirty="0">
                <a:latin typeface="Times" panose="02020603050405020304" pitchFamily="18" charset="0"/>
                <a:cs typeface="Times" panose="02020603050405020304" pitchFamily="18" charset="0"/>
              </a:rPr>
              <a:t>checking how much time and memory a program needs</a:t>
            </a:r>
            <a:r>
              <a:rPr lang="en-US" dirty="0">
                <a:latin typeface="Times" panose="02020603050405020304" pitchFamily="18" charset="0"/>
                <a:cs typeface="Times" panose="02020603050405020304" pitchFamily="18" charset="0"/>
              </a:rPr>
              <a:t>.</a:t>
            </a:r>
          </a:p>
        </p:txBody>
      </p:sp>
    </p:spTree>
    <p:extLst>
      <p:ext uri="{BB962C8B-B14F-4D97-AF65-F5344CB8AC3E}">
        <p14:creationId xmlns:p14="http://schemas.microsoft.com/office/powerpoint/2010/main" val="3906116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011496" y="162499"/>
            <a:ext cx="4995232" cy="1143000"/>
          </a:xfrm>
        </p:spPr>
        <p:txBody>
          <a:bodyPr/>
          <a:lstStyle/>
          <a:p>
            <a:pPr eaLnBrk="1" hangingPunct="1"/>
            <a:r>
              <a:rPr lang="en-US" b="1" dirty="0">
                <a:solidFill>
                  <a:srgbClr val="FF0000"/>
                </a:solidFill>
                <a:latin typeface="+mn-lt"/>
              </a:rPr>
              <a:t> Algorithm Analysis</a:t>
            </a:r>
          </a:p>
        </p:txBody>
      </p:sp>
      <p:sp>
        <p:nvSpPr>
          <p:cNvPr id="18435" name="Rectangle 3"/>
          <p:cNvSpPr>
            <a:spLocks noGrp="1" noChangeArrowheads="1"/>
          </p:cNvSpPr>
          <p:nvPr>
            <p:ph type="body" idx="1"/>
          </p:nvPr>
        </p:nvSpPr>
        <p:spPr>
          <a:xfrm>
            <a:off x="646323" y="1499680"/>
            <a:ext cx="10707477" cy="4662488"/>
          </a:xfrm>
        </p:spPr>
        <p:txBody>
          <a:bodyPr>
            <a:normAutofit/>
          </a:bodyPr>
          <a:lstStyle/>
          <a:p>
            <a:pPr eaLnBrk="1" hangingPunct="1">
              <a:lnSpc>
                <a:spcPct val="150000"/>
              </a:lnSpc>
            </a:pPr>
            <a:r>
              <a:rPr lang="en-US" altLang="en-US" dirty="0"/>
              <a:t> Analyzing means </a:t>
            </a:r>
            <a:r>
              <a:rPr lang="en-US" altLang="en-US" b="1" dirty="0"/>
              <a:t>predicting resources </a:t>
            </a:r>
            <a:r>
              <a:rPr lang="en-US" altLang="en-US" dirty="0"/>
              <a:t>that algorithms requires , i.e. </a:t>
            </a:r>
          </a:p>
          <a:p>
            <a:pPr eaLnBrk="1" hangingPunct="1">
              <a:lnSpc>
                <a:spcPct val="150000"/>
              </a:lnSpc>
            </a:pPr>
            <a:r>
              <a:rPr lang="en-US" altLang="en-US" u="sng" dirty="0"/>
              <a:t>Space complexity</a:t>
            </a:r>
          </a:p>
          <a:p>
            <a:pPr lvl="1" eaLnBrk="1" hangingPunct="1">
              <a:lnSpc>
                <a:spcPct val="150000"/>
              </a:lnSpc>
            </a:pPr>
            <a:r>
              <a:rPr lang="en-US" dirty="0"/>
              <a:t>How much space is required</a:t>
            </a:r>
          </a:p>
          <a:p>
            <a:pPr eaLnBrk="1" hangingPunct="1">
              <a:lnSpc>
                <a:spcPct val="150000"/>
              </a:lnSpc>
            </a:pPr>
            <a:r>
              <a:rPr lang="en-US" u="sng" dirty="0"/>
              <a:t>Time complexity</a:t>
            </a:r>
          </a:p>
          <a:p>
            <a:pPr lvl="1" eaLnBrk="1" hangingPunct="1">
              <a:lnSpc>
                <a:spcPct val="150000"/>
              </a:lnSpc>
            </a:pPr>
            <a:r>
              <a:rPr lang="en-US" dirty="0"/>
              <a:t>How much time does it take to run the algorithm</a:t>
            </a:r>
          </a:p>
        </p:txBody>
      </p:sp>
    </p:spTree>
    <p:extLst>
      <p:ext uri="{BB962C8B-B14F-4D97-AF65-F5344CB8AC3E}">
        <p14:creationId xmlns:p14="http://schemas.microsoft.com/office/powerpoint/2010/main" val="3746642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838200" y="63338"/>
            <a:ext cx="3998205" cy="961232"/>
          </a:xfrm>
        </p:spPr>
        <p:txBody>
          <a:bodyPr>
            <a:normAutofit/>
          </a:bodyPr>
          <a:lstStyle/>
          <a:p>
            <a:pPr eaLnBrk="1" hangingPunct="1"/>
            <a:r>
              <a:rPr lang="en-US" sz="3600" b="1" dirty="0">
                <a:solidFill>
                  <a:srgbClr val="FF0000"/>
                </a:solidFill>
                <a:latin typeface="+mn-lt"/>
              </a:rPr>
              <a:t>Space Complexity</a:t>
            </a:r>
          </a:p>
        </p:txBody>
      </p:sp>
      <p:sp>
        <p:nvSpPr>
          <p:cNvPr id="19459" name="Rectangle 3"/>
          <p:cNvSpPr>
            <a:spLocks noGrp="1" noChangeArrowheads="1"/>
          </p:cNvSpPr>
          <p:nvPr>
            <p:ph type="body" idx="1"/>
          </p:nvPr>
        </p:nvSpPr>
        <p:spPr>
          <a:xfrm>
            <a:off x="309390" y="1024570"/>
            <a:ext cx="11148152" cy="4351338"/>
          </a:xfrm>
        </p:spPr>
        <p:txBody>
          <a:bodyPr/>
          <a:lstStyle/>
          <a:p>
            <a:r>
              <a:rPr lang="en-US" sz="2400" b="1" dirty="0" smtClean="0"/>
              <a:t>Space </a:t>
            </a:r>
            <a:r>
              <a:rPr lang="en-US" sz="2400" b="1" dirty="0"/>
              <a:t>Complexity</a:t>
            </a:r>
            <a:r>
              <a:rPr lang="en-US" sz="2400" dirty="0"/>
              <a:t> means </a:t>
            </a:r>
            <a:r>
              <a:rPr lang="en-US" sz="2400" b="1" dirty="0"/>
              <a:t>how much memory an algorithm needs to run completely</a:t>
            </a:r>
            <a:r>
              <a:rPr lang="en-US" sz="2400" dirty="0" smtClean="0"/>
              <a:t>.</a:t>
            </a:r>
          </a:p>
          <a:p>
            <a:endParaRPr lang="en-US" sz="2400" dirty="0"/>
          </a:p>
          <a:p>
            <a:r>
              <a:rPr lang="en-US" sz="2400" dirty="0"/>
              <a:t>Sometimes, a program uses </a:t>
            </a:r>
            <a:r>
              <a:rPr lang="en-US" sz="2400" b="1" dirty="0"/>
              <a:t>more memory than the system has</a:t>
            </a:r>
            <a:r>
              <a:rPr lang="en-US" sz="2400" dirty="0"/>
              <a:t>, which can cause errors like </a:t>
            </a:r>
            <a:r>
              <a:rPr lang="en-US" sz="2400" b="1" dirty="0"/>
              <a:t>core dumps</a:t>
            </a:r>
            <a:r>
              <a:rPr lang="en-US" sz="2400" dirty="0"/>
              <a:t>. The most common reason for this is </a:t>
            </a:r>
            <a:r>
              <a:rPr lang="en-US" sz="2400" b="1" dirty="0"/>
              <a:t>memory leaks</a:t>
            </a:r>
            <a:r>
              <a:rPr lang="en-US" sz="2400" dirty="0"/>
              <a:t>, where memory is not released properly</a:t>
            </a:r>
            <a:r>
              <a:rPr lang="en-US" sz="2400" dirty="0" smtClean="0"/>
              <a:t>.</a:t>
            </a:r>
          </a:p>
          <a:p>
            <a:endParaRPr lang="en-US" sz="2400" dirty="0"/>
          </a:p>
          <a:p>
            <a:r>
              <a:rPr lang="en-US" sz="2400" dirty="0"/>
              <a:t>Some algorithms work </a:t>
            </a:r>
            <a:r>
              <a:rPr lang="en-US" sz="2400" b="1" dirty="0"/>
              <a:t>faster and better if all the data is loaded into memory</a:t>
            </a:r>
            <a:r>
              <a:rPr lang="en-US" sz="2400" dirty="0"/>
              <a:t>, but this is not always possible. So, we must also </a:t>
            </a:r>
            <a:r>
              <a:rPr lang="en-US" sz="2400" b="1" dirty="0"/>
              <a:t>consider the memory limits of the system</a:t>
            </a:r>
            <a:r>
              <a:rPr lang="en-US" sz="2400" dirty="0"/>
              <a:t>.</a:t>
            </a:r>
          </a:p>
        </p:txBody>
      </p:sp>
    </p:spTree>
    <p:extLst>
      <p:ext uri="{BB962C8B-B14F-4D97-AF65-F5344CB8AC3E}">
        <p14:creationId xmlns:p14="http://schemas.microsoft.com/office/powerpoint/2010/main" val="18627868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581400" y="0"/>
            <a:ext cx="4251593" cy="980501"/>
          </a:xfrm>
        </p:spPr>
        <p:txBody>
          <a:bodyPr>
            <a:normAutofit/>
          </a:bodyPr>
          <a:lstStyle/>
          <a:p>
            <a:pPr eaLnBrk="1" hangingPunct="1"/>
            <a:r>
              <a:rPr lang="en-US" sz="3600" b="1" dirty="0">
                <a:solidFill>
                  <a:srgbClr val="FF0000"/>
                </a:solidFill>
                <a:latin typeface="+mn-lt"/>
              </a:rPr>
              <a:t>Time Complexity</a:t>
            </a:r>
          </a:p>
        </p:txBody>
      </p:sp>
      <p:sp>
        <p:nvSpPr>
          <p:cNvPr id="3" name="Text Placeholder 2"/>
          <p:cNvSpPr>
            <a:spLocks noGrp="1" noChangeArrowheads="1"/>
          </p:cNvSpPr>
          <p:nvPr>
            <p:ph type="body" idx="1"/>
          </p:nvPr>
        </p:nvSpPr>
        <p:spPr bwMode="auto">
          <a:xfrm>
            <a:off x="261938" y="1552288"/>
            <a:ext cx="87619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200000"/>
              </a:lnSpc>
              <a:spcBef>
                <a:spcPct val="0"/>
              </a:spcBef>
              <a:spcAft>
                <a:spcPct val="0"/>
              </a:spcAft>
            </a:pP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Time complexity is </a:t>
            </a:r>
            <a:r>
              <a:rPr kumimoji="0" lang="en-US" sz="2400" b="1"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often more important than space complexity</a:t>
            </a: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a:t>
            </a:r>
          </a:p>
          <a:p>
            <a:pPr eaLnBrk="0" fontAlgn="base" hangingPunct="0">
              <a:lnSpc>
                <a:spcPct val="200000"/>
              </a:lnSpc>
              <a:spcBef>
                <a:spcPct val="0"/>
              </a:spcBef>
              <a:spcAft>
                <a:spcPct val="0"/>
              </a:spcAft>
            </a:pP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Memory is increasing, but </a:t>
            </a:r>
            <a:r>
              <a:rPr kumimoji="0" lang="en-US" sz="2400" b="1"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time is still limited</a:t>
            </a: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a:t>
            </a:r>
          </a:p>
          <a:p>
            <a:pPr eaLnBrk="0" fontAlgn="base" hangingPunct="0">
              <a:lnSpc>
                <a:spcPct val="200000"/>
              </a:lnSpc>
              <a:spcBef>
                <a:spcPct val="0"/>
              </a:spcBef>
              <a:spcAft>
                <a:spcPct val="0"/>
              </a:spcAft>
            </a:pP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Even very fast computers need </a:t>
            </a:r>
            <a:r>
              <a:rPr kumimoji="0" lang="en-US" sz="2400" b="1"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a long time for complex problems</a:t>
            </a: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a:t>
            </a:r>
          </a:p>
          <a:p>
            <a:pPr eaLnBrk="0" fontAlgn="base" hangingPunct="0">
              <a:lnSpc>
                <a:spcPct val="200000"/>
              </a:lnSpc>
              <a:spcBef>
                <a:spcPct val="0"/>
              </a:spcBef>
              <a:spcAft>
                <a:spcPct val="0"/>
              </a:spcAft>
            </a:pP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Therefore, </a:t>
            </a:r>
            <a:r>
              <a:rPr kumimoji="0" lang="en-US" sz="2400" b="1"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algorithm running time is a critical issue</a:t>
            </a:r>
            <a:r>
              <a:rPr kumimoji="0" lang="en-US" sz="24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rPr>
              <a:t>.</a:t>
            </a:r>
          </a:p>
        </p:txBody>
      </p:sp>
    </p:spTree>
    <p:extLst>
      <p:ext uri="{BB962C8B-B14F-4D97-AF65-F5344CB8AC3E}">
        <p14:creationId xmlns:p14="http://schemas.microsoft.com/office/powerpoint/2010/main" val="20867441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731666" y="-39675"/>
            <a:ext cx="6531428" cy="768122"/>
          </a:xfrm>
        </p:spPr>
        <p:txBody>
          <a:bodyPr>
            <a:normAutofit/>
          </a:bodyPr>
          <a:lstStyle/>
          <a:p>
            <a:pPr eaLnBrk="1" hangingPunct="1"/>
            <a:r>
              <a:rPr lang="tr-TR" b="1" dirty="0">
                <a:solidFill>
                  <a:srgbClr val="9E189E"/>
                </a:solidFill>
              </a:rPr>
              <a:t>Basic Matrix Multiplication</a:t>
            </a:r>
          </a:p>
        </p:txBody>
      </p:sp>
      <p:sp>
        <p:nvSpPr>
          <p:cNvPr id="30723" name="Rectangle 5"/>
          <p:cNvSpPr>
            <a:spLocks noChangeArrowheads="1"/>
          </p:cNvSpPr>
          <p:nvPr/>
        </p:nvSpPr>
        <p:spPr bwMode="auto">
          <a:xfrm>
            <a:off x="2209800" y="1308555"/>
            <a:ext cx="7848600" cy="954107"/>
          </a:xfrm>
          <a:prstGeom prst="rect">
            <a:avLst/>
          </a:prstGeom>
          <a:noFill/>
          <a:ln w="9525">
            <a:noFill/>
            <a:miter lim="800000"/>
            <a:headEnd/>
            <a:tailEnd/>
          </a:ln>
        </p:spPr>
        <p:txBody>
          <a:bodyPr>
            <a:spAutoFit/>
          </a:bodyPr>
          <a:lstStyle/>
          <a:p>
            <a:pPr>
              <a:spcBef>
                <a:spcPct val="20000"/>
              </a:spcBef>
            </a:pPr>
            <a:r>
              <a:rPr lang="en-US" sz="2800" dirty="0">
                <a:latin typeface="Times New Roman" pitchFamily="18" charset="0"/>
              </a:rPr>
              <a:t>Suppose we want to multiply two matrices of size </a:t>
            </a:r>
            <a:r>
              <a:rPr lang="en-US" sz="2800" i="1" dirty="0">
                <a:latin typeface="Times New Roman" pitchFamily="18" charset="0"/>
              </a:rPr>
              <a:t>N </a:t>
            </a:r>
            <a:r>
              <a:rPr lang="en-US" sz="2800" dirty="0">
                <a:latin typeface="Times New Roman" pitchFamily="18" charset="0"/>
              </a:rPr>
              <a:t>x </a:t>
            </a:r>
            <a:r>
              <a:rPr lang="en-US" sz="2800" i="1" dirty="0">
                <a:latin typeface="Times New Roman" pitchFamily="18" charset="0"/>
              </a:rPr>
              <a:t>N</a:t>
            </a:r>
            <a:r>
              <a:rPr lang="en-US" sz="2800" dirty="0">
                <a:latin typeface="Times New Roman" pitchFamily="18" charset="0"/>
              </a:rPr>
              <a:t>: for example </a:t>
            </a:r>
            <a:r>
              <a:rPr lang="en-US" sz="2800" i="1" dirty="0">
                <a:latin typeface="Times New Roman" pitchFamily="18" charset="0"/>
              </a:rPr>
              <a:t>A</a:t>
            </a:r>
            <a:r>
              <a:rPr lang="en-US" sz="2800" dirty="0">
                <a:latin typeface="Times New Roman" pitchFamily="18" charset="0"/>
              </a:rPr>
              <a:t> x </a:t>
            </a:r>
            <a:r>
              <a:rPr lang="en-US" sz="2800" i="1" dirty="0">
                <a:latin typeface="Times New Roman" pitchFamily="18" charset="0"/>
              </a:rPr>
              <a:t>B = C</a:t>
            </a:r>
            <a:r>
              <a:rPr lang="en-US" sz="2800" dirty="0">
                <a:latin typeface="Times New Roman" pitchFamily="18" charset="0"/>
              </a:rPr>
              <a:t>.</a:t>
            </a:r>
          </a:p>
        </p:txBody>
      </p:sp>
      <p:sp>
        <p:nvSpPr>
          <p:cNvPr id="30724" name="Rectangle 8"/>
          <p:cNvSpPr>
            <a:spLocks noChangeArrowheads="1"/>
          </p:cNvSpPr>
          <p:nvPr/>
        </p:nvSpPr>
        <p:spPr bwMode="auto">
          <a:xfrm>
            <a:off x="2209800" y="3852351"/>
            <a:ext cx="4572000" cy="1615827"/>
          </a:xfrm>
          <a:prstGeom prst="rect">
            <a:avLst/>
          </a:prstGeom>
          <a:noFill/>
          <a:ln w="9525">
            <a:noFill/>
            <a:miter lim="800000"/>
            <a:headEnd/>
            <a:tailEnd/>
          </a:ln>
        </p:spPr>
        <p:txBody>
          <a:bodyPr>
            <a:spAutoFit/>
          </a:bodyPr>
          <a:lstStyle/>
          <a:p>
            <a:pPr eaLnBrk="0" hangingPunct="0">
              <a:spcBef>
                <a:spcPct val="50000"/>
              </a:spcBef>
            </a:pPr>
            <a:r>
              <a:rPr lang="tr-TR" b="1" dirty="0">
                <a:latin typeface="Times New Roman" pitchFamily="18" charset="0"/>
              </a:rPr>
              <a:t>C</a:t>
            </a:r>
            <a:r>
              <a:rPr lang="tr-TR" b="1" baseline="-30000" dirty="0">
                <a:latin typeface="Times New Roman" pitchFamily="18" charset="0"/>
              </a:rPr>
              <a:t>11</a:t>
            </a:r>
            <a:r>
              <a:rPr lang="tr-TR" b="1" dirty="0">
                <a:latin typeface="Times New Roman" pitchFamily="18" charset="0"/>
              </a:rPr>
              <a:t> = a</a:t>
            </a:r>
            <a:r>
              <a:rPr lang="tr-TR" b="1" baseline="-30000" dirty="0">
                <a:latin typeface="Times New Roman" pitchFamily="18" charset="0"/>
              </a:rPr>
              <a:t>11</a:t>
            </a:r>
            <a:r>
              <a:rPr lang="tr-TR" b="1" dirty="0">
                <a:latin typeface="Times New Roman" pitchFamily="18" charset="0"/>
              </a:rPr>
              <a:t>b</a:t>
            </a:r>
            <a:r>
              <a:rPr lang="tr-TR" b="1" baseline="-30000" dirty="0">
                <a:latin typeface="Times New Roman" pitchFamily="18" charset="0"/>
              </a:rPr>
              <a:t>11</a:t>
            </a:r>
            <a:r>
              <a:rPr lang="tr-TR" b="1" dirty="0">
                <a:latin typeface="Times New Roman" pitchFamily="18" charset="0"/>
              </a:rPr>
              <a:t> + a</a:t>
            </a:r>
            <a:r>
              <a:rPr lang="tr-TR" b="1" baseline="-30000" dirty="0">
                <a:latin typeface="Times New Roman" pitchFamily="18" charset="0"/>
              </a:rPr>
              <a:t>12</a:t>
            </a:r>
            <a:r>
              <a:rPr lang="tr-TR" b="1" dirty="0">
                <a:latin typeface="Times New Roman" pitchFamily="18" charset="0"/>
              </a:rPr>
              <a:t>b</a:t>
            </a:r>
            <a:r>
              <a:rPr lang="tr-TR" b="1" baseline="-30000" dirty="0">
                <a:latin typeface="Times New Roman" pitchFamily="18" charset="0"/>
              </a:rPr>
              <a:t>21</a:t>
            </a:r>
            <a:r>
              <a:rPr lang="tr-TR" b="1" dirty="0">
                <a:latin typeface="Times New Roman" pitchFamily="18" charset="0"/>
              </a:rPr>
              <a:t> </a:t>
            </a:r>
          </a:p>
          <a:p>
            <a:pPr eaLnBrk="0" hangingPunct="0">
              <a:spcBef>
                <a:spcPct val="50000"/>
              </a:spcBef>
            </a:pPr>
            <a:r>
              <a:rPr lang="tr-TR" b="1" dirty="0">
                <a:latin typeface="Times New Roman" pitchFamily="18" charset="0"/>
              </a:rPr>
              <a:t>C</a:t>
            </a:r>
            <a:r>
              <a:rPr lang="tr-TR" b="1" baseline="-30000" dirty="0">
                <a:latin typeface="Times New Roman" pitchFamily="18" charset="0"/>
              </a:rPr>
              <a:t>12</a:t>
            </a:r>
            <a:r>
              <a:rPr lang="tr-TR" b="1" dirty="0">
                <a:latin typeface="Times New Roman" pitchFamily="18" charset="0"/>
              </a:rPr>
              <a:t> = a</a:t>
            </a:r>
            <a:r>
              <a:rPr lang="tr-TR" b="1" baseline="-30000" dirty="0">
                <a:latin typeface="Times New Roman" pitchFamily="18" charset="0"/>
              </a:rPr>
              <a:t>11</a:t>
            </a:r>
            <a:r>
              <a:rPr lang="tr-TR" b="1" dirty="0">
                <a:latin typeface="Times New Roman" pitchFamily="18" charset="0"/>
              </a:rPr>
              <a:t>b</a:t>
            </a:r>
            <a:r>
              <a:rPr lang="tr-TR" b="1" baseline="-30000" dirty="0">
                <a:latin typeface="Times New Roman" pitchFamily="18" charset="0"/>
              </a:rPr>
              <a:t>12</a:t>
            </a:r>
            <a:r>
              <a:rPr lang="tr-TR" b="1" dirty="0">
                <a:latin typeface="Times New Roman" pitchFamily="18" charset="0"/>
              </a:rPr>
              <a:t> + a</a:t>
            </a:r>
            <a:r>
              <a:rPr lang="tr-TR" b="1" baseline="-30000" dirty="0">
                <a:latin typeface="Times New Roman" pitchFamily="18" charset="0"/>
              </a:rPr>
              <a:t>12</a:t>
            </a:r>
            <a:r>
              <a:rPr lang="tr-TR" b="1" dirty="0">
                <a:latin typeface="Times New Roman" pitchFamily="18" charset="0"/>
              </a:rPr>
              <a:t>b</a:t>
            </a:r>
            <a:r>
              <a:rPr lang="tr-TR" b="1" baseline="-30000" dirty="0">
                <a:latin typeface="Times New Roman" pitchFamily="18" charset="0"/>
              </a:rPr>
              <a:t>22</a:t>
            </a:r>
            <a:r>
              <a:rPr lang="tr-TR" b="1" dirty="0">
                <a:latin typeface="Times New Roman" pitchFamily="18" charset="0"/>
              </a:rPr>
              <a:t> </a:t>
            </a:r>
          </a:p>
          <a:p>
            <a:pPr eaLnBrk="0" hangingPunct="0">
              <a:spcBef>
                <a:spcPct val="50000"/>
              </a:spcBef>
            </a:pPr>
            <a:r>
              <a:rPr lang="tr-TR" b="1" dirty="0">
                <a:latin typeface="Times New Roman" pitchFamily="18" charset="0"/>
              </a:rPr>
              <a:t>C</a:t>
            </a:r>
            <a:r>
              <a:rPr lang="tr-TR" b="1" baseline="-30000" dirty="0">
                <a:latin typeface="Times New Roman" pitchFamily="18" charset="0"/>
              </a:rPr>
              <a:t>21</a:t>
            </a:r>
            <a:r>
              <a:rPr lang="tr-TR" b="1" dirty="0">
                <a:latin typeface="Times New Roman" pitchFamily="18" charset="0"/>
              </a:rPr>
              <a:t> = a</a:t>
            </a:r>
            <a:r>
              <a:rPr lang="tr-TR" b="1" baseline="-30000" dirty="0">
                <a:latin typeface="Times New Roman" pitchFamily="18" charset="0"/>
              </a:rPr>
              <a:t>21</a:t>
            </a:r>
            <a:r>
              <a:rPr lang="tr-TR" b="1" dirty="0">
                <a:latin typeface="Times New Roman" pitchFamily="18" charset="0"/>
              </a:rPr>
              <a:t>b</a:t>
            </a:r>
            <a:r>
              <a:rPr lang="tr-TR" b="1" baseline="-30000" dirty="0">
                <a:latin typeface="Times New Roman" pitchFamily="18" charset="0"/>
              </a:rPr>
              <a:t>11</a:t>
            </a:r>
            <a:r>
              <a:rPr lang="tr-TR" b="1" dirty="0">
                <a:latin typeface="Times New Roman" pitchFamily="18" charset="0"/>
              </a:rPr>
              <a:t> + a</a:t>
            </a:r>
            <a:r>
              <a:rPr lang="tr-TR" b="1" baseline="-30000" dirty="0">
                <a:latin typeface="Times New Roman" pitchFamily="18" charset="0"/>
              </a:rPr>
              <a:t>22</a:t>
            </a:r>
            <a:r>
              <a:rPr lang="tr-TR" b="1" dirty="0">
                <a:latin typeface="Times New Roman" pitchFamily="18" charset="0"/>
              </a:rPr>
              <a:t>b</a:t>
            </a:r>
            <a:r>
              <a:rPr lang="tr-TR" b="1" baseline="-30000" dirty="0">
                <a:latin typeface="Times New Roman" pitchFamily="18" charset="0"/>
              </a:rPr>
              <a:t>21</a:t>
            </a:r>
            <a:r>
              <a:rPr lang="tr-TR" b="1" dirty="0">
                <a:latin typeface="Times New Roman" pitchFamily="18" charset="0"/>
              </a:rPr>
              <a:t> </a:t>
            </a:r>
          </a:p>
          <a:p>
            <a:pPr eaLnBrk="0" hangingPunct="0">
              <a:spcBef>
                <a:spcPct val="50000"/>
              </a:spcBef>
            </a:pPr>
            <a:r>
              <a:rPr lang="tr-TR" b="1" dirty="0">
                <a:latin typeface="Times New Roman" pitchFamily="18" charset="0"/>
              </a:rPr>
              <a:t>C</a:t>
            </a:r>
            <a:r>
              <a:rPr lang="tr-TR" b="1" baseline="-30000" dirty="0">
                <a:latin typeface="Times New Roman" pitchFamily="18" charset="0"/>
              </a:rPr>
              <a:t>22</a:t>
            </a:r>
            <a:r>
              <a:rPr lang="tr-TR" b="1" dirty="0">
                <a:latin typeface="Times New Roman" pitchFamily="18" charset="0"/>
              </a:rPr>
              <a:t> = a</a:t>
            </a:r>
            <a:r>
              <a:rPr lang="tr-TR" b="1" baseline="-30000" dirty="0">
                <a:latin typeface="Times New Roman" pitchFamily="18" charset="0"/>
              </a:rPr>
              <a:t>21</a:t>
            </a:r>
            <a:r>
              <a:rPr lang="tr-TR" b="1" dirty="0">
                <a:latin typeface="Times New Roman" pitchFamily="18" charset="0"/>
              </a:rPr>
              <a:t>b</a:t>
            </a:r>
            <a:r>
              <a:rPr lang="tr-TR" b="1" baseline="-30000" dirty="0">
                <a:latin typeface="Times New Roman" pitchFamily="18" charset="0"/>
              </a:rPr>
              <a:t>12</a:t>
            </a:r>
            <a:r>
              <a:rPr lang="tr-TR" b="1" dirty="0">
                <a:latin typeface="Times New Roman" pitchFamily="18" charset="0"/>
              </a:rPr>
              <a:t> + a</a:t>
            </a:r>
            <a:r>
              <a:rPr lang="tr-TR" b="1" baseline="-30000" dirty="0">
                <a:latin typeface="Times New Roman" pitchFamily="18" charset="0"/>
              </a:rPr>
              <a:t>22</a:t>
            </a:r>
            <a:r>
              <a:rPr lang="tr-TR" b="1" dirty="0">
                <a:latin typeface="Times New Roman" pitchFamily="18" charset="0"/>
              </a:rPr>
              <a:t>b</a:t>
            </a:r>
            <a:r>
              <a:rPr lang="tr-TR" b="1" baseline="-30000" dirty="0">
                <a:latin typeface="Times New Roman" pitchFamily="18" charset="0"/>
              </a:rPr>
              <a:t>22</a:t>
            </a:r>
          </a:p>
        </p:txBody>
      </p:sp>
      <p:pic>
        <p:nvPicPr>
          <p:cNvPr id="30725" name="Picture 9" descr="D:\GRAFHHHH\matrix\Sunum icin\str1_files\img1_trans.gif"/>
          <p:cNvPicPr>
            <a:picLocks noChangeAspect="1" noChangeArrowheads="1"/>
          </p:cNvPicPr>
          <p:nvPr/>
        </p:nvPicPr>
        <p:blipFill>
          <a:blip r:embed="rId2"/>
          <a:srcRect/>
          <a:stretch>
            <a:fillRect/>
          </a:stretch>
        </p:blipFill>
        <p:spPr bwMode="auto">
          <a:xfrm>
            <a:off x="2438400" y="2551320"/>
            <a:ext cx="4495800" cy="990600"/>
          </a:xfrm>
          <a:prstGeom prst="rect">
            <a:avLst/>
          </a:prstGeom>
          <a:noFill/>
          <a:ln w="9525">
            <a:noFill/>
            <a:miter lim="800000"/>
            <a:headEnd/>
            <a:tailEnd/>
          </a:ln>
        </p:spPr>
      </p:pic>
      <p:sp>
        <p:nvSpPr>
          <p:cNvPr id="30726" name="Text Box 10"/>
          <p:cNvSpPr txBox="1">
            <a:spLocks noChangeArrowheads="1"/>
          </p:cNvSpPr>
          <p:nvPr/>
        </p:nvSpPr>
        <p:spPr bwMode="auto">
          <a:xfrm>
            <a:off x="6134100" y="4191001"/>
            <a:ext cx="3810000" cy="1224951"/>
          </a:xfrm>
          <a:prstGeom prst="rect">
            <a:avLst/>
          </a:prstGeom>
          <a:noFill/>
          <a:ln w="9525">
            <a:noFill/>
            <a:miter lim="800000"/>
            <a:headEnd/>
            <a:tailEnd/>
          </a:ln>
        </p:spPr>
        <p:txBody>
          <a:bodyPr wrap="square">
            <a:spAutoFit/>
          </a:bodyPr>
          <a:lstStyle/>
          <a:p>
            <a:pPr>
              <a:spcBef>
                <a:spcPct val="20000"/>
              </a:spcBef>
              <a:buClr>
                <a:schemeClr val="hlink"/>
              </a:buClr>
              <a:buSzPct val="110000"/>
              <a:buFont typeface="Wingdings" pitchFamily="2" charset="2"/>
              <a:buNone/>
            </a:pPr>
            <a:r>
              <a:rPr lang="tr-TR" sz="2000" dirty="0">
                <a:latin typeface="Times New Roman" pitchFamily="18" charset="0"/>
              </a:rPr>
              <a:t>2x2 matrix multiplication can be accomplished in 8 multiplication</a:t>
            </a:r>
            <a:r>
              <a:rPr lang="en-US" sz="2000" dirty="0">
                <a:latin typeface="Times New Roman" pitchFamily="18" charset="0"/>
              </a:rPr>
              <a:t>s</a:t>
            </a:r>
            <a:r>
              <a:rPr lang="tr-TR" sz="2000" dirty="0">
                <a:latin typeface="Times New Roman" pitchFamily="18" charset="0"/>
              </a:rPr>
              <a:t>.</a:t>
            </a:r>
            <a:endParaRPr lang="en-US" sz="2000" dirty="0">
              <a:latin typeface="Times New Roman" pitchFamily="18" charset="0"/>
            </a:endParaRPr>
          </a:p>
          <a:p>
            <a:pPr>
              <a:spcBef>
                <a:spcPct val="20000"/>
              </a:spcBef>
              <a:buClr>
                <a:schemeClr val="hlink"/>
              </a:buClr>
              <a:buSzPct val="110000"/>
              <a:buFont typeface="Wingdings" pitchFamily="2" charset="2"/>
              <a:buNone/>
            </a:pPr>
            <a:r>
              <a:rPr lang="tr-TR" sz="2800" b="1" dirty="0">
                <a:latin typeface="Times New Roman" pitchFamily="18" charset="0"/>
              </a:rPr>
              <a:t>(2</a:t>
            </a:r>
            <a:r>
              <a:rPr lang="tr-TR" sz="2800" b="1" baseline="30000" dirty="0">
                <a:latin typeface="Times New Roman" pitchFamily="18" charset="0"/>
              </a:rPr>
              <a:t>log</a:t>
            </a:r>
            <a:r>
              <a:rPr lang="tr-TR" sz="2800" b="1" baseline="-25000" dirty="0">
                <a:latin typeface="Times New Roman" pitchFamily="18" charset="0"/>
              </a:rPr>
              <a:t>2</a:t>
            </a:r>
            <a:r>
              <a:rPr lang="tr-TR" sz="2800" b="1" baseline="30000" dirty="0">
                <a:latin typeface="Times New Roman" pitchFamily="18" charset="0"/>
              </a:rPr>
              <a:t>8</a:t>
            </a:r>
            <a:r>
              <a:rPr lang="tr-TR" sz="2800" b="1" dirty="0">
                <a:latin typeface="Times New Roman" pitchFamily="18" charset="0"/>
              </a:rPr>
              <a:t> =2</a:t>
            </a:r>
            <a:r>
              <a:rPr lang="tr-TR" sz="2800" b="1" baseline="30000" dirty="0">
                <a:latin typeface="Times New Roman" pitchFamily="18" charset="0"/>
              </a:rPr>
              <a:t>3</a:t>
            </a:r>
            <a:r>
              <a:rPr lang="tr-TR" sz="2800" b="1" dirty="0">
                <a:latin typeface="Times New Roman" pitchFamily="18" charset="0"/>
              </a:rPr>
              <a:t>)</a:t>
            </a:r>
          </a:p>
        </p:txBody>
      </p:sp>
    </p:spTree>
    <p:extLst>
      <p:ext uri="{BB962C8B-B14F-4D97-AF65-F5344CB8AC3E}">
        <p14:creationId xmlns:p14="http://schemas.microsoft.com/office/powerpoint/2010/main" val="3739554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05000" y="304800"/>
            <a:ext cx="8763000" cy="1143000"/>
          </a:xfrm>
        </p:spPr>
        <p:txBody>
          <a:bodyPr/>
          <a:lstStyle/>
          <a:p>
            <a:pPr eaLnBrk="1" hangingPunct="1"/>
            <a:r>
              <a:rPr lang="en-US">
                <a:solidFill>
                  <a:srgbClr val="9E189E"/>
                </a:solidFill>
                <a:latin typeface="Times New Roman" pitchFamily="18" charset="0"/>
              </a:rPr>
              <a:t>Divide and Conquer Matrix Multiply</a:t>
            </a:r>
            <a:endParaRPr lang="tr-TR">
              <a:solidFill>
                <a:srgbClr val="9E189E"/>
              </a:solidFill>
              <a:latin typeface="Times New Roman" pitchFamily="18" charset="0"/>
            </a:endParaRPr>
          </a:p>
        </p:txBody>
      </p:sp>
      <p:sp>
        <p:nvSpPr>
          <p:cNvPr id="31747" name="Text Box 3"/>
          <p:cNvSpPr txBox="1">
            <a:spLocks noChangeArrowheads="1"/>
          </p:cNvSpPr>
          <p:nvPr/>
        </p:nvSpPr>
        <p:spPr bwMode="auto">
          <a:xfrm>
            <a:off x="2133600" y="1616076"/>
            <a:ext cx="8077200" cy="542925"/>
          </a:xfrm>
          <a:prstGeom prst="rect">
            <a:avLst/>
          </a:prstGeom>
          <a:noFill/>
          <a:ln w="9525">
            <a:noFill/>
            <a:miter lim="800000"/>
            <a:headEnd/>
            <a:tailEnd/>
          </a:ln>
        </p:spPr>
        <p:txBody>
          <a:bodyPr>
            <a:spAutoFit/>
          </a:bodyPr>
          <a:lstStyle/>
          <a:p>
            <a:pPr eaLnBrk="0" hangingPunct="0">
              <a:lnSpc>
                <a:spcPct val="80000"/>
              </a:lnSpc>
              <a:spcBef>
                <a:spcPct val="20000"/>
              </a:spcBef>
            </a:pPr>
            <a:r>
              <a:rPr lang="en-US" sz="3700">
                <a:cs typeface="Tahoma" pitchFamily="34" charset="0"/>
                <a:sym typeface="Symbol" pitchFamily="18" charset="2"/>
              </a:rPr>
              <a:t>    A</a:t>
            </a:r>
            <a:r>
              <a:rPr lang="en-US" sz="3700" b="1">
                <a:cs typeface="Tahoma" pitchFamily="34" charset="0"/>
                <a:sym typeface="Symbol" pitchFamily="18" charset="2"/>
              </a:rPr>
              <a:t>           </a:t>
            </a:r>
            <a:r>
              <a:rPr lang="en-US" sz="3700">
                <a:cs typeface="Tahoma" pitchFamily="34" charset="0"/>
                <a:sym typeface="Symbol" pitchFamily="18" charset="2"/>
              </a:rPr>
              <a:t>B</a:t>
            </a:r>
            <a:r>
              <a:rPr lang="en-US" sz="3700" b="1">
                <a:cs typeface="Tahoma" pitchFamily="34" charset="0"/>
                <a:sym typeface="Symbol" pitchFamily="18" charset="2"/>
              </a:rPr>
              <a:t>     </a:t>
            </a:r>
            <a:r>
              <a:rPr lang="en-US" sz="3700">
                <a:cs typeface="Tahoma" pitchFamily="34" charset="0"/>
                <a:sym typeface="Symbol" pitchFamily="18" charset="2"/>
              </a:rPr>
              <a:t>=             R</a:t>
            </a:r>
          </a:p>
        </p:txBody>
      </p:sp>
      <p:graphicFrame>
        <p:nvGraphicFramePr>
          <p:cNvPr id="16388" name="Group 4"/>
          <p:cNvGraphicFramePr>
            <a:graphicFrameLocks noGrp="1"/>
          </p:cNvGraphicFramePr>
          <p:nvPr/>
        </p:nvGraphicFramePr>
        <p:xfrm>
          <a:off x="2133600" y="2387600"/>
          <a:ext cx="1614488" cy="1422400"/>
        </p:xfrm>
        <a:graphic>
          <a:graphicData uri="http://schemas.openxmlformats.org/drawingml/2006/table">
            <a:tbl>
              <a:tblPr/>
              <a:tblGrid>
                <a:gridCol w="808038">
                  <a:extLst>
                    <a:ext uri="{9D8B030D-6E8A-4147-A177-3AD203B41FA5}">
                      <a16:colId xmlns="" xmlns:a16="http://schemas.microsoft.com/office/drawing/2014/main" val="20000"/>
                    </a:ext>
                  </a:extLst>
                </a:gridCol>
                <a:gridCol w="806450">
                  <a:extLst>
                    <a:ext uri="{9D8B030D-6E8A-4147-A177-3AD203B41FA5}">
                      <a16:colId xmlns="" xmlns:a16="http://schemas.microsoft.com/office/drawing/2014/main" val="20001"/>
                    </a:ext>
                  </a:extLst>
                </a:gridCol>
              </a:tblGrid>
              <a:tr h="711200">
                <a:tc>
                  <a:txBody>
                    <a:bodyPr/>
                    <a:lstStyle/>
                    <a:p>
                      <a:pPr marL="0" marR="0" lvl="0" indent="0" algn="ctr" defTabSz="914400" rtl="0" eaLnBrk="1" fontAlgn="base" latinLnBrk="0" hangingPunct="1">
                        <a:lnSpc>
                          <a:spcPct val="135000"/>
                        </a:lnSpc>
                        <a:spcBef>
                          <a:spcPct val="35000"/>
                        </a:spcBef>
                        <a:spcAft>
                          <a:spcPct val="1000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a:t>
                      </a:r>
                      <a:r>
                        <a:rPr kumimoji="0" lang="en-US" sz="2800" b="0" i="0" u="none" strike="noStrike" cap="none" normalizeH="0" baseline="-25000">
                          <a:ln>
                            <a:noFill/>
                          </a:ln>
                          <a:solidFill>
                            <a:schemeClr val="tx1"/>
                          </a:solidFill>
                          <a:effectLst/>
                          <a:latin typeface="Tahoma"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a:t>
                      </a:r>
                      <a:r>
                        <a:rPr kumimoji="0" lang="en-US" sz="2800" b="0" i="0" u="none" strike="noStrike" cap="none" normalizeH="0" baseline="-25000">
                          <a:ln>
                            <a:noFill/>
                          </a:ln>
                          <a:solidFill>
                            <a:schemeClr val="tx1"/>
                          </a:solidFill>
                          <a:effectLst/>
                          <a:latin typeface="Tahoma"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11200">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a:t>
                      </a:r>
                      <a:r>
                        <a:rPr kumimoji="0" lang="en-US" sz="2800" b="0" i="0" u="none" strike="noStrike" cap="none" normalizeH="0" baseline="-25000">
                          <a:ln>
                            <a:noFill/>
                          </a:ln>
                          <a:solidFill>
                            <a:schemeClr val="tx1"/>
                          </a:solidFill>
                          <a:effectLst/>
                          <a:latin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a:t>
                      </a:r>
                      <a:r>
                        <a:rPr kumimoji="0" lang="en-US" sz="2800" b="0" i="0" u="none" strike="noStrike" cap="none" normalizeH="0" baseline="-25000">
                          <a:ln>
                            <a:noFill/>
                          </a:ln>
                          <a:solidFill>
                            <a:schemeClr val="tx1"/>
                          </a:solidFill>
                          <a:effectLst/>
                          <a:latin typeface="Tahoma"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16428" name="Group 44"/>
          <p:cNvGraphicFramePr>
            <a:graphicFrameLocks noGrp="1"/>
          </p:cNvGraphicFramePr>
          <p:nvPr/>
        </p:nvGraphicFramePr>
        <p:xfrm>
          <a:off x="4191000" y="2362200"/>
          <a:ext cx="1614488" cy="1447800"/>
        </p:xfrm>
        <a:graphic>
          <a:graphicData uri="http://schemas.openxmlformats.org/drawingml/2006/table">
            <a:tbl>
              <a:tblPr/>
              <a:tblGrid>
                <a:gridCol w="808038">
                  <a:extLst>
                    <a:ext uri="{9D8B030D-6E8A-4147-A177-3AD203B41FA5}">
                      <a16:colId xmlns="" xmlns:a16="http://schemas.microsoft.com/office/drawing/2014/main" val="20000"/>
                    </a:ext>
                  </a:extLst>
                </a:gridCol>
                <a:gridCol w="806450">
                  <a:extLst>
                    <a:ext uri="{9D8B030D-6E8A-4147-A177-3AD203B41FA5}">
                      <a16:colId xmlns="" xmlns:a16="http://schemas.microsoft.com/office/drawing/2014/main" val="20001"/>
                    </a:ext>
                  </a:extLst>
                </a:gridCol>
              </a:tblGrid>
              <a:tr h="736600">
                <a:tc>
                  <a:txBody>
                    <a:bodyPr/>
                    <a:lstStyle/>
                    <a:p>
                      <a:pPr marL="0" marR="0" lvl="0" indent="0" algn="ctr" defTabSz="914400" rtl="0" eaLnBrk="1" fontAlgn="base" latinLnBrk="0" hangingPunct="1">
                        <a:lnSpc>
                          <a:spcPct val="135000"/>
                        </a:lnSpc>
                        <a:spcBef>
                          <a:spcPct val="35000"/>
                        </a:spcBef>
                        <a:spcAft>
                          <a:spcPct val="1000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B</a:t>
                      </a:r>
                      <a:r>
                        <a:rPr kumimoji="0" lang="en-US" sz="2800" b="0" i="0" u="none" strike="noStrike" cap="none" normalizeH="0" baseline="-25000">
                          <a:ln>
                            <a:noFill/>
                          </a:ln>
                          <a:solidFill>
                            <a:schemeClr val="tx1"/>
                          </a:solidFill>
                          <a:effectLst/>
                          <a:latin typeface="Tahoma"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B</a:t>
                      </a:r>
                      <a:r>
                        <a:rPr kumimoji="0" lang="en-US" sz="2800" b="0" i="0" u="none" strike="noStrike" cap="none" normalizeH="0" baseline="-25000">
                          <a:ln>
                            <a:noFill/>
                          </a:ln>
                          <a:solidFill>
                            <a:schemeClr val="tx1"/>
                          </a:solidFill>
                          <a:effectLst/>
                          <a:latin typeface="Tahoma"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11200">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B</a:t>
                      </a:r>
                      <a:r>
                        <a:rPr kumimoji="0" lang="en-US" sz="2800" b="0" i="0" u="none" strike="noStrike" cap="none" normalizeH="0" baseline="-25000">
                          <a:ln>
                            <a:noFill/>
                          </a:ln>
                          <a:solidFill>
                            <a:schemeClr val="tx1"/>
                          </a:solidFill>
                          <a:effectLst/>
                          <a:latin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B</a:t>
                      </a:r>
                      <a:r>
                        <a:rPr kumimoji="0" lang="en-US" sz="2800" b="0" i="0" u="none" strike="noStrike" cap="none" normalizeH="0" baseline="-25000">
                          <a:ln>
                            <a:noFill/>
                          </a:ln>
                          <a:solidFill>
                            <a:schemeClr val="tx1"/>
                          </a:solidFill>
                          <a:effectLst/>
                          <a:latin typeface="Tahoma"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16427" name="Group 43"/>
          <p:cNvGraphicFramePr>
            <a:graphicFrameLocks noGrp="1"/>
          </p:cNvGraphicFramePr>
          <p:nvPr/>
        </p:nvGraphicFramePr>
        <p:xfrm>
          <a:off x="6096000" y="2362200"/>
          <a:ext cx="4419600" cy="1422400"/>
        </p:xfrm>
        <a:graphic>
          <a:graphicData uri="http://schemas.openxmlformats.org/drawingml/2006/table">
            <a:tbl>
              <a:tblPr/>
              <a:tblGrid>
                <a:gridCol w="2286000">
                  <a:extLst>
                    <a:ext uri="{9D8B030D-6E8A-4147-A177-3AD203B41FA5}">
                      <a16:colId xmlns="" xmlns:a16="http://schemas.microsoft.com/office/drawing/2014/main" val="20000"/>
                    </a:ext>
                  </a:extLst>
                </a:gridCol>
                <a:gridCol w="2133600">
                  <a:extLst>
                    <a:ext uri="{9D8B030D-6E8A-4147-A177-3AD203B41FA5}">
                      <a16:colId xmlns="" xmlns:a16="http://schemas.microsoft.com/office/drawing/2014/main" val="20001"/>
                    </a:ext>
                  </a:extLst>
                </a:gridCol>
              </a:tblGrid>
              <a:tr h="711200">
                <a:tc>
                  <a:txBody>
                    <a:bodyPr/>
                    <a:lstStyle/>
                    <a:p>
                      <a:pPr marL="0" marR="0" lvl="0" indent="0" algn="ctr" defTabSz="914400" rtl="0" eaLnBrk="1" fontAlgn="base" latinLnBrk="0" hangingPunct="1">
                        <a:lnSpc>
                          <a:spcPct val="135000"/>
                        </a:lnSpc>
                        <a:spcBef>
                          <a:spcPct val="35000"/>
                        </a:spcBef>
                        <a:spcAft>
                          <a:spcPct val="10000"/>
                        </a:spcAft>
                        <a:buClr>
                          <a:schemeClr val="hlink"/>
                        </a:buClr>
                        <a:buSzPct val="110000"/>
                        <a:buFont typeface="Wingdings" pitchFamily="2" charset="2"/>
                        <a:buNone/>
                        <a:tabLst/>
                      </a:pP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0</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0</a:t>
                      </a: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1</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0</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1</a:t>
                      </a: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1</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11200">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2</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0</a:t>
                      </a: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3</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5000"/>
                        </a:lnSpc>
                        <a:spcBef>
                          <a:spcPct val="35000"/>
                        </a:spcBef>
                        <a:spcAft>
                          <a:spcPct val="0"/>
                        </a:spcAft>
                        <a:buClr>
                          <a:schemeClr val="hlink"/>
                        </a:buClr>
                        <a:buSzPct val="110000"/>
                        <a:buFont typeface="Wingdings" pitchFamily="2" charset="2"/>
                        <a:buNone/>
                        <a:tabLst/>
                      </a:pP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2</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1</a:t>
                      </a:r>
                      <a:r>
                        <a:rPr kumimoji="0" lang="en-US" sz="2400" b="1" i="0" u="none" strike="noStrike" cap="none" normalizeH="0" baseline="0">
                          <a:ln>
                            <a:noFill/>
                          </a:ln>
                          <a:solidFill>
                            <a:schemeClr val="tx1"/>
                          </a:solidFill>
                          <a:effectLst/>
                          <a:latin typeface="Times New Roman" charset="0"/>
                        </a:rPr>
                        <a:t>+A</a:t>
                      </a:r>
                      <a:r>
                        <a:rPr kumimoji="0" lang="en-US" sz="2400" b="1" i="0" u="none" strike="noStrike" cap="none" normalizeH="0" baseline="-25000">
                          <a:ln>
                            <a:noFill/>
                          </a:ln>
                          <a:solidFill>
                            <a:schemeClr val="tx1"/>
                          </a:solidFill>
                          <a:effectLst/>
                          <a:latin typeface="Times New Roman" charset="0"/>
                        </a:rPr>
                        <a:t>3</a:t>
                      </a:r>
                      <a:r>
                        <a:rPr kumimoji="0" lang="en-US" sz="2400" b="1" i="0" u="none" strike="noStrike" cap="none" normalizeH="0" baseline="0">
                          <a:ln>
                            <a:noFill/>
                          </a:ln>
                          <a:solidFill>
                            <a:schemeClr val="tx1"/>
                          </a:solidFill>
                          <a:effectLst/>
                          <a:latin typeface="Times New Roman" charset="0"/>
                          <a:sym typeface="Symbol" pitchFamily="18" charset="2"/>
                        </a:rPr>
                        <a:t></a:t>
                      </a:r>
                      <a:r>
                        <a:rPr kumimoji="0" lang="en-US" sz="2400" b="1" i="0" u="none" strike="noStrike" cap="none" normalizeH="0" baseline="0">
                          <a:ln>
                            <a:noFill/>
                          </a:ln>
                          <a:solidFill>
                            <a:schemeClr val="tx1"/>
                          </a:solidFill>
                          <a:effectLst/>
                          <a:latin typeface="Times New Roman" charset="0"/>
                        </a:rPr>
                        <a:t>B</a:t>
                      </a:r>
                      <a:r>
                        <a:rPr kumimoji="0" lang="en-US" sz="2400" b="1" i="0" u="none" strike="noStrike" cap="none" normalizeH="0" baseline="-25000">
                          <a:ln>
                            <a:noFill/>
                          </a:ln>
                          <a:solidFill>
                            <a:schemeClr val="tx1"/>
                          </a:solidFill>
                          <a:effectLst/>
                          <a:latin typeface="Times New Roman"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sp>
        <p:nvSpPr>
          <p:cNvPr id="31781" name="Text Box 37"/>
          <p:cNvSpPr txBox="1">
            <a:spLocks noChangeArrowheads="1"/>
          </p:cNvSpPr>
          <p:nvPr/>
        </p:nvSpPr>
        <p:spPr bwMode="auto">
          <a:xfrm>
            <a:off x="3733801" y="2882900"/>
            <a:ext cx="441325" cy="458788"/>
          </a:xfrm>
          <a:prstGeom prst="rect">
            <a:avLst/>
          </a:prstGeom>
          <a:noFill/>
          <a:ln w="9525">
            <a:noFill/>
            <a:miter lim="800000"/>
            <a:headEnd/>
            <a:tailEnd/>
          </a:ln>
        </p:spPr>
        <p:txBody>
          <a:bodyPr>
            <a:spAutoFit/>
          </a:bodyPr>
          <a:lstStyle/>
          <a:p>
            <a:pPr eaLnBrk="0" hangingPunct="0">
              <a:lnSpc>
                <a:spcPct val="65000"/>
              </a:lnSpc>
              <a:spcBef>
                <a:spcPct val="20000"/>
              </a:spcBef>
            </a:pPr>
            <a:r>
              <a:rPr lang="en-US" sz="3700" b="1">
                <a:cs typeface="Tahoma" pitchFamily="34" charset="0"/>
                <a:sym typeface="Symbol" pitchFamily="18" charset="2"/>
              </a:rPr>
              <a:t></a:t>
            </a:r>
            <a:endParaRPr lang="en-US" sz="3700" b="1"/>
          </a:p>
        </p:txBody>
      </p:sp>
      <p:sp>
        <p:nvSpPr>
          <p:cNvPr id="31782" name="Text Box 38"/>
          <p:cNvSpPr txBox="1">
            <a:spLocks noChangeArrowheads="1"/>
          </p:cNvSpPr>
          <p:nvPr/>
        </p:nvSpPr>
        <p:spPr bwMode="auto">
          <a:xfrm>
            <a:off x="5715001" y="2895601"/>
            <a:ext cx="441325" cy="487363"/>
          </a:xfrm>
          <a:prstGeom prst="rect">
            <a:avLst/>
          </a:prstGeom>
          <a:noFill/>
          <a:ln w="9525">
            <a:noFill/>
            <a:miter lim="800000"/>
            <a:headEnd/>
            <a:tailEnd/>
          </a:ln>
        </p:spPr>
        <p:txBody>
          <a:bodyPr>
            <a:spAutoFit/>
          </a:bodyPr>
          <a:lstStyle/>
          <a:p>
            <a:pPr eaLnBrk="0" hangingPunct="0">
              <a:lnSpc>
                <a:spcPct val="70000"/>
              </a:lnSpc>
              <a:spcBef>
                <a:spcPct val="20000"/>
              </a:spcBef>
            </a:pPr>
            <a:r>
              <a:rPr lang="en-US" sz="3700">
                <a:cs typeface="Tahoma" pitchFamily="34" charset="0"/>
                <a:sym typeface="Symbol" pitchFamily="18" charset="2"/>
              </a:rPr>
              <a:t>=</a:t>
            </a:r>
            <a:endParaRPr lang="en-US" sz="3700"/>
          </a:p>
        </p:txBody>
      </p:sp>
      <p:sp>
        <p:nvSpPr>
          <p:cNvPr id="31783" name="Rectangle 45"/>
          <p:cNvSpPr>
            <a:spLocks noChangeArrowheads="1"/>
          </p:cNvSpPr>
          <p:nvPr/>
        </p:nvSpPr>
        <p:spPr bwMode="auto">
          <a:xfrm>
            <a:off x="2133600" y="3886200"/>
            <a:ext cx="8382000" cy="1948226"/>
          </a:xfrm>
          <a:prstGeom prst="rect">
            <a:avLst/>
          </a:prstGeom>
          <a:noFill/>
          <a:ln w="9525">
            <a:noFill/>
            <a:miter lim="800000"/>
            <a:headEnd/>
            <a:tailEnd/>
          </a:ln>
        </p:spPr>
        <p:txBody>
          <a:bodyPr>
            <a:spAutoFit/>
          </a:bodyPr>
          <a:lstStyle/>
          <a:p>
            <a:pPr eaLnBrk="0" hangingPunct="0">
              <a:spcBef>
                <a:spcPct val="50000"/>
              </a:spcBef>
              <a:buFontTx/>
              <a:buChar char="•"/>
            </a:pPr>
            <a:endParaRPr lang="tr-TR" dirty="0">
              <a:latin typeface="Times New Roman" pitchFamily="18" charset="0"/>
            </a:endParaRPr>
          </a:p>
          <a:p>
            <a:pPr eaLnBrk="0" hangingPunct="0">
              <a:spcBef>
                <a:spcPct val="50000"/>
              </a:spcBef>
              <a:buFontTx/>
              <a:buChar char="•"/>
            </a:pPr>
            <a:r>
              <a:rPr lang="en-US" smtClean="0">
                <a:latin typeface="Times New Roman" pitchFamily="18" charset="0"/>
              </a:rPr>
              <a:t>   Divide </a:t>
            </a:r>
            <a:r>
              <a:rPr lang="en-US" dirty="0">
                <a:latin typeface="Times New Roman" pitchFamily="18" charset="0"/>
              </a:rPr>
              <a:t>matrices into sub-matrices: A</a:t>
            </a:r>
            <a:r>
              <a:rPr lang="en-US" baseline="-25000" dirty="0">
                <a:latin typeface="Times New Roman" pitchFamily="18" charset="0"/>
              </a:rPr>
              <a:t>0 </a:t>
            </a:r>
            <a:r>
              <a:rPr lang="en-US" dirty="0">
                <a:latin typeface="Times New Roman" pitchFamily="18" charset="0"/>
              </a:rPr>
              <a:t>, A</a:t>
            </a:r>
            <a:r>
              <a:rPr lang="en-US" baseline="-25000" dirty="0">
                <a:latin typeface="Times New Roman" pitchFamily="18" charset="0"/>
              </a:rPr>
              <a:t>1</a:t>
            </a:r>
            <a:r>
              <a:rPr lang="en-US" dirty="0">
                <a:latin typeface="Times New Roman" pitchFamily="18" charset="0"/>
              </a:rPr>
              <a:t>, A</a:t>
            </a:r>
            <a:r>
              <a:rPr lang="en-US" baseline="-25000" dirty="0">
                <a:latin typeface="Times New Roman" pitchFamily="18" charset="0"/>
              </a:rPr>
              <a:t>2</a:t>
            </a:r>
            <a:r>
              <a:rPr lang="en-US" dirty="0">
                <a:latin typeface="Times New Roman" pitchFamily="18" charset="0"/>
              </a:rPr>
              <a:t> </a:t>
            </a:r>
            <a:r>
              <a:rPr lang="en-US" dirty="0" err="1">
                <a:latin typeface="Times New Roman" pitchFamily="18" charset="0"/>
              </a:rPr>
              <a:t>etc</a:t>
            </a:r>
            <a:r>
              <a:rPr lang="en-US" dirty="0">
                <a:latin typeface="Times New Roman" pitchFamily="18" charset="0"/>
              </a:rPr>
              <a:t> </a:t>
            </a:r>
          </a:p>
          <a:p>
            <a:pPr eaLnBrk="0" hangingPunct="0">
              <a:spcBef>
                <a:spcPct val="50000"/>
              </a:spcBef>
              <a:buFontTx/>
              <a:buChar char="•"/>
            </a:pPr>
            <a:r>
              <a:rPr lang="en-US" dirty="0" smtClean="0">
                <a:latin typeface="Times New Roman" pitchFamily="18" charset="0"/>
              </a:rPr>
              <a:t>   Use </a:t>
            </a:r>
            <a:r>
              <a:rPr lang="en-US" dirty="0">
                <a:latin typeface="Times New Roman" pitchFamily="18" charset="0"/>
              </a:rPr>
              <a:t>blocked matrix multiply equations</a:t>
            </a:r>
            <a:endParaRPr lang="tr-TR" dirty="0">
              <a:latin typeface="Times New Roman" pitchFamily="18" charset="0"/>
            </a:endParaRPr>
          </a:p>
          <a:p>
            <a:pPr eaLnBrk="0" hangingPunct="0">
              <a:spcBef>
                <a:spcPct val="20000"/>
              </a:spcBef>
              <a:buFontTx/>
              <a:buChar char="•"/>
            </a:pPr>
            <a:r>
              <a:rPr lang="en-US" dirty="0" smtClean="0">
                <a:latin typeface="Times New Roman" pitchFamily="18" charset="0"/>
              </a:rPr>
              <a:t>   Recursively </a:t>
            </a:r>
            <a:r>
              <a:rPr lang="en-US" dirty="0">
                <a:latin typeface="Times New Roman" pitchFamily="18" charset="0"/>
              </a:rPr>
              <a:t>multiply sub-matrices</a:t>
            </a:r>
          </a:p>
          <a:p>
            <a:pPr eaLnBrk="0" hangingPunct="0">
              <a:spcBef>
                <a:spcPct val="50000"/>
              </a:spcBef>
              <a:buFontTx/>
              <a:buChar char="•"/>
            </a:pPr>
            <a:endParaRPr lang="en-US" dirty="0">
              <a:latin typeface="Times New Roman" pitchFamily="18" charset="0"/>
            </a:endParaRPr>
          </a:p>
        </p:txBody>
      </p:sp>
    </p:spTree>
    <p:extLst>
      <p:ext uri="{BB962C8B-B14F-4D97-AF65-F5344CB8AC3E}">
        <p14:creationId xmlns:p14="http://schemas.microsoft.com/office/powerpoint/2010/main" val="1468431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133600" y="152400"/>
            <a:ext cx="8382000" cy="540774"/>
          </a:xfrm>
        </p:spPr>
        <p:txBody>
          <a:bodyPr>
            <a:normAutofit fontScale="90000"/>
          </a:bodyPr>
          <a:lstStyle/>
          <a:p>
            <a:pPr eaLnBrk="1" hangingPunct="1"/>
            <a:r>
              <a:rPr lang="tr-TR" dirty="0">
                <a:solidFill>
                  <a:srgbClr val="9E189E"/>
                </a:solidFill>
                <a:latin typeface="Times New Roman" pitchFamily="18" charset="0"/>
              </a:rPr>
              <a:t>Strassens’s Matrix Multiplication</a:t>
            </a:r>
          </a:p>
        </p:txBody>
      </p:sp>
      <p:pic>
        <p:nvPicPr>
          <p:cNvPr id="32771" name="Picture 4" descr="D:\GRAFHHHH\matrix\Sunum icin\str1_files\img1_trans.gif"/>
          <p:cNvPicPr>
            <a:picLocks noChangeAspect="1" noChangeArrowheads="1"/>
          </p:cNvPicPr>
          <p:nvPr/>
        </p:nvPicPr>
        <p:blipFill>
          <a:blip r:embed="rId2"/>
          <a:srcRect/>
          <a:stretch>
            <a:fillRect/>
          </a:stretch>
        </p:blipFill>
        <p:spPr bwMode="auto">
          <a:xfrm>
            <a:off x="3502742" y="919567"/>
            <a:ext cx="4495800" cy="990600"/>
          </a:xfrm>
          <a:prstGeom prst="rect">
            <a:avLst/>
          </a:prstGeom>
          <a:noFill/>
          <a:ln w="9525">
            <a:noFill/>
            <a:miter lim="800000"/>
            <a:headEnd/>
            <a:tailEnd/>
          </a:ln>
        </p:spPr>
      </p:pic>
      <p:sp>
        <p:nvSpPr>
          <p:cNvPr id="32772" name="Rectangle 5"/>
          <p:cNvSpPr>
            <a:spLocks noChangeArrowheads="1"/>
          </p:cNvSpPr>
          <p:nvPr/>
        </p:nvSpPr>
        <p:spPr bwMode="auto">
          <a:xfrm>
            <a:off x="682020" y="1910167"/>
            <a:ext cx="4704735" cy="4539191"/>
          </a:xfrm>
          <a:prstGeom prst="rect">
            <a:avLst/>
          </a:prstGeom>
          <a:noFill/>
          <a:ln w="9525">
            <a:solidFill>
              <a:srgbClr val="0070C0"/>
            </a:solidFill>
            <a:miter lim="800000"/>
            <a:headEnd/>
            <a:tailEnd/>
          </a:ln>
        </p:spPr>
        <p:txBody>
          <a:bodyPr wrap="square">
            <a:spAutoFit/>
          </a:bodyPr>
          <a:lstStyle/>
          <a:p>
            <a:pPr>
              <a:lnSpc>
                <a:spcPct val="150000"/>
              </a:lnSpc>
            </a:pPr>
            <a:r>
              <a:rPr lang="tr-TR" sz="2800" b="1" dirty="0">
                <a:latin typeface="Times New Roman" pitchFamily="18" charset="0"/>
              </a:rPr>
              <a:t>P</a:t>
            </a:r>
            <a:r>
              <a:rPr lang="tr-TR" sz="2800" b="1" baseline="-30000" dirty="0">
                <a:latin typeface="Times New Roman" pitchFamily="18" charset="0"/>
              </a:rPr>
              <a:t>1</a:t>
            </a:r>
            <a:r>
              <a:rPr lang="tr-TR" sz="2800" b="1" dirty="0">
                <a:latin typeface="Times New Roman" pitchFamily="18" charset="0"/>
              </a:rPr>
              <a:t> = (A</a:t>
            </a:r>
            <a:r>
              <a:rPr lang="tr-TR" sz="2800" b="1" baseline="-30000" dirty="0">
                <a:latin typeface="Times New Roman" pitchFamily="18" charset="0"/>
              </a:rPr>
              <a:t>11</a:t>
            </a:r>
            <a:r>
              <a:rPr lang="tr-TR" sz="2800" b="1" dirty="0">
                <a:latin typeface="Times New Roman" pitchFamily="18" charset="0"/>
              </a:rPr>
              <a:t>+ A</a:t>
            </a:r>
            <a:r>
              <a:rPr lang="tr-TR" sz="2800" b="1" baseline="-30000" dirty="0">
                <a:latin typeface="Times New Roman" pitchFamily="18" charset="0"/>
              </a:rPr>
              <a:t>22</a:t>
            </a:r>
            <a:r>
              <a:rPr lang="tr-TR" sz="2800" b="1" dirty="0">
                <a:latin typeface="Times New Roman" pitchFamily="18" charset="0"/>
              </a:rPr>
              <a:t>)(B</a:t>
            </a:r>
            <a:r>
              <a:rPr lang="tr-TR" sz="2800" b="1" baseline="-30000" dirty="0">
                <a:latin typeface="Times New Roman" pitchFamily="18" charset="0"/>
              </a:rPr>
              <a:t>11</a:t>
            </a:r>
            <a:r>
              <a:rPr lang="tr-TR" sz="2800" b="1" dirty="0">
                <a:latin typeface="Times New Roman" pitchFamily="18" charset="0"/>
              </a:rPr>
              <a:t>+B</a:t>
            </a:r>
            <a:r>
              <a:rPr lang="tr-TR" sz="2800" b="1" baseline="-30000" dirty="0">
                <a:latin typeface="Times New Roman" pitchFamily="18" charset="0"/>
              </a:rPr>
              <a:t>22</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P</a:t>
            </a:r>
            <a:r>
              <a:rPr lang="tr-TR" sz="2800" b="1" baseline="-30000" dirty="0">
                <a:latin typeface="Times New Roman" pitchFamily="18" charset="0"/>
              </a:rPr>
              <a:t>2</a:t>
            </a:r>
            <a:r>
              <a:rPr lang="tr-TR" sz="2800" b="1" dirty="0">
                <a:latin typeface="Times New Roman" pitchFamily="18" charset="0"/>
              </a:rPr>
              <a:t> = (A</a:t>
            </a:r>
            <a:r>
              <a:rPr lang="tr-TR" sz="2800" b="1" baseline="-30000" dirty="0">
                <a:latin typeface="Times New Roman" pitchFamily="18" charset="0"/>
              </a:rPr>
              <a:t>21</a:t>
            </a:r>
            <a:r>
              <a:rPr lang="tr-TR" sz="2800" b="1" dirty="0">
                <a:latin typeface="Times New Roman" pitchFamily="18" charset="0"/>
              </a:rPr>
              <a:t> + A</a:t>
            </a:r>
            <a:r>
              <a:rPr lang="tr-TR" sz="2800" b="1" baseline="-30000" dirty="0">
                <a:latin typeface="Times New Roman" pitchFamily="18" charset="0"/>
              </a:rPr>
              <a:t>22</a:t>
            </a:r>
            <a:r>
              <a:rPr lang="tr-TR" sz="2800" b="1" dirty="0">
                <a:latin typeface="Times New Roman" pitchFamily="18" charset="0"/>
              </a:rPr>
              <a:t>) * B</a:t>
            </a:r>
            <a:r>
              <a:rPr lang="tr-TR" sz="2800" b="1" baseline="-30000" dirty="0">
                <a:latin typeface="Times New Roman" pitchFamily="18" charset="0"/>
              </a:rPr>
              <a:t>11</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P</a:t>
            </a:r>
            <a:r>
              <a:rPr lang="tr-TR" sz="2800" b="1" baseline="-30000" dirty="0">
                <a:latin typeface="Times New Roman" pitchFamily="18" charset="0"/>
              </a:rPr>
              <a:t>3</a:t>
            </a:r>
            <a:r>
              <a:rPr lang="tr-TR" sz="2800" b="1" dirty="0">
                <a:latin typeface="Times New Roman" pitchFamily="18" charset="0"/>
              </a:rPr>
              <a:t> = A</a:t>
            </a:r>
            <a:r>
              <a:rPr lang="tr-TR" sz="2800" b="1" baseline="-30000" dirty="0">
                <a:latin typeface="Times New Roman" pitchFamily="18" charset="0"/>
              </a:rPr>
              <a:t>11</a:t>
            </a:r>
            <a:r>
              <a:rPr lang="tr-TR" sz="2800" b="1" dirty="0">
                <a:latin typeface="Times New Roman" pitchFamily="18" charset="0"/>
              </a:rPr>
              <a:t> * (B</a:t>
            </a:r>
            <a:r>
              <a:rPr lang="tr-TR" sz="2800" b="1" baseline="-30000" dirty="0">
                <a:latin typeface="Times New Roman" pitchFamily="18" charset="0"/>
              </a:rPr>
              <a:t>12</a:t>
            </a:r>
            <a:r>
              <a:rPr lang="tr-TR" sz="2800" b="1" dirty="0">
                <a:latin typeface="Times New Roman" pitchFamily="18" charset="0"/>
              </a:rPr>
              <a:t> - B</a:t>
            </a:r>
            <a:r>
              <a:rPr lang="tr-TR" sz="2800" b="1" baseline="-30000" dirty="0">
                <a:latin typeface="Times New Roman" pitchFamily="18" charset="0"/>
              </a:rPr>
              <a:t>22</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P</a:t>
            </a:r>
            <a:r>
              <a:rPr lang="tr-TR" sz="2800" b="1" baseline="-30000" dirty="0">
                <a:latin typeface="Times New Roman" pitchFamily="18" charset="0"/>
              </a:rPr>
              <a:t>4</a:t>
            </a:r>
            <a:r>
              <a:rPr lang="tr-TR" sz="2800" b="1" dirty="0">
                <a:latin typeface="Times New Roman" pitchFamily="18" charset="0"/>
              </a:rPr>
              <a:t> = A</a:t>
            </a:r>
            <a:r>
              <a:rPr lang="tr-TR" sz="2800" b="1" baseline="-30000" dirty="0">
                <a:latin typeface="Times New Roman" pitchFamily="18" charset="0"/>
              </a:rPr>
              <a:t>22</a:t>
            </a:r>
            <a:r>
              <a:rPr lang="tr-TR" sz="2800" b="1" dirty="0">
                <a:latin typeface="Times New Roman" pitchFamily="18" charset="0"/>
              </a:rPr>
              <a:t> * (B</a:t>
            </a:r>
            <a:r>
              <a:rPr lang="tr-TR" sz="2800" b="1" baseline="-30000" dirty="0">
                <a:latin typeface="Times New Roman" pitchFamily="18" charset="0"/>
              </a:rPr>
              <a:t>21</a:t>
            </a:r>
            <a:r>
              <a:rPr lang="tr-TR" sz="2800" b="1" dirty="0">
                <a:latin typeface="Times New Roman" pitchFamily="18" charset="0"/>
              </a:rPr>
              <a:t> - B</a:t>
            </a:r>
            <a:r>
              <a:rPr lang="tr-TR" sz="2800" b="1" baseline="-30000" dirty="0">
                <a:latin typeface="Times New Roman" pitchFamily="18" charset="0"/>
              </a:rPr>
              <a:t>11</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P</a:t>
            </a:r>
            <a:r>
              <a:rPr lang="tr-TR" sz="2800" b="1" baseline="-30000" dirty="0">
                <a:latin typeface="Times New Roman" pitchFamily="18" charset="0"/>
              </a:rPr>
              <a:t>5</a:t>
            </a:r>
            <a:r>
              <a:rPr lang="tr-TR" sz="2800" b="1" dirty="0">
                <a:latin typeface="Times New Roman" pitchFamily="18" charset="0"/>
              </a:rPr>
              <a:t> = (A</a:t>
            </a:r>
            <a:r>
              <a:rPr lang="tr-TR" sz="2800" b="1" baseline="-30000" dirty="0">
                <a:latin typeface="Times New Roman" pitchFamily="18" charset="0"/>
              </a:rPr>
              <a:t>11</a:t>
            </a:r>
            <a:r>
              <a:rPr lang="tr-TR" sz="2800" b="1" dirty="0">
                <a:latin typeface="Times New Roman" pitchFamily="18" charset="0"/>
              </a:rPr>
              <a:t> + A</a:t>
            </a:r>
            <a:r>
              <a:rPr lang="tr-TR" sz="2800" b="1" baseline="-30000" dirty="0">
                <a:latin typeface="Times New Roman" pitchFamily="18" charset="0"/>
              </a:rPr>
              <a:t>12</a:t>
            </a:r>
            <a:r>
              <a:rPr lang="tr-TR" sz="2800" b="1" dirty="0">
                <a:latin typeface="Times New Roman" pitchFamily="18" charset="0"/>
              </a:rPr>
              <a:t>) * B</a:t>
            </a:r>
            <a:r>
              <a:rPr lang="tr-TR" sz="2800" b="1" baseline="-30000" dirty="0">
                <a:latin typeface="Times New Roman" pitchFamily="18" charset="0"/>
              </a:rPr>
              <a:t>22</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P</a:t>
            </a:r>
            <a:r>
              <a:rPr lang="tr-TR" sz="2800" b="1" baseline="-30000" dirty="0">
                <a:latin typeface="Times New Roman" pitchFamily="18" charset="0"/>
              </a:rPr>
              <a:t>6</a:t>
            </a:r>
            <a:r>
              <a:rPr lang="tr-TR" sz="2800" b="1" dirty="0">
                <a:latin typeface="Times New Roman" pitchFamily="18" charset="0"/>
              </a:rPr>
              <a:t> = (A</a:t>
            </a:r>
            <a:r>
              <a:rPr lang="tr-TR" sz="2800" b="1" baseline="-30000" dirty="0">
                <a:latin typeface="Times New Roman" pitchFamily="18" charset="0"/>
              </a:rPr>
              <a:t>21</a:t>
            </a:r>
            <a:r>
              <a:rPr lang="tr-TR" sz="2800" b="1" dirty="0">
                <a:latin typeface="Times New Roman" pitchFamily="18" charset="0"/>
              </a:rPr>
              <a:t> - A</a:t>
            </a:r>
            <a:r>
              <a:rPr lang="tr-TR" sz="2800" b="1" baseline="-30000" dirty="0">
                <a:latin typeface="Times New Roman" pitchFamily="18" charset="0"/>
              </a:rPr>
              <a:t>11</a:t>
            </a:r>
            <a:r>
              <a:rPr lang="tr-TR" sz="2800" b="1" dirty="0">
                <a:latin typeface="Times New Roman" pitchFamily="18" charset="0"/>
              </a:rPr>
              <a:t>) * (B</a:t>
            </a:r>
            <a:r>
              <a:rPr lang="tr-TR" sz="2800" b="1" baseline="-30000" dirty="0">
                <a:latin typeface="Times New Roman" pitchFamily="18" charset="0"/>
              </a:rPr>
              <a:t>11</a:t>
            </a:r>
            <a:r>
              <a:rPr lang="tr-TR" sz="2800" b="1" dirty="0">
                <a:latin typeface="Times New Roman" pitchFamily="18" charset="0"/>
              </a:rPr>
              <a:t> + B</a:t>
            </a:r>
            <a:r>
              <a:rPr lang="tr-TR" sz="2800" b="1" baseline="-30000" dirty="0">
                <a:latin typeface="Times New Roman" pitchFamily="18" charset="0"/>
              </a:rPr>
              <a:t>12</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P</a:t>
            </a:r>
            <a:r>
              <a:rPr lang="tr-TR" sz="2800" b="1" baseline="-30000" dirty="0">
                <a:latin typeface="Times New Roman" pitchFamily="18" charset="0"/>
              </a:rPr>
              <a:t>7</a:t>
            </a:r>
            <a:r>
              <a:rPr lang="tr-TR" sz="2800" b="1" dirty="0">
                <a:latin typeface="Times New Roman" pitchFamily="18" charset="0"/>
              </a:rPr>
              <a:t> = (A</a:t>
            </a:r>
            <a:r>
              <a:rPr lang="tr-TR" sz="2800" b="1" baseline="-30000" dirty="0">
                <a:latin typeface="Times New Roman" pitchFamily="18" charset="0"/>
              </a:rPr>
              <a:t>12</a:t>
            </a:r>
            <a:r>
              <a:rPr lang="tr-TR" sz="2800" b="1" dirty="0">
                <a:latin typeface="Times New Roman" pitchFamily="18" charset="0"/>
              </a:rPr>
              <a:t> - A</a:t>
            </a:r>
            <a:r>
              <a:rPr lang="tr-TR" sz="2800" b="1" baseline="-30000" dirty="0">
                <a:latin typeface="Times New Roman" pitchFamily="18" charset="0"/>
              </a:rPr>
              <a:t>22</a:t>
            </a:r>
            <a:r>
              <a:rPr lang="tr-TR" sz="2800" b="1" dirty="0">
                <a:latin typeface="Times New Roman" pitchFamily="18" charset="0"/>
              </a:rPr>
              <a:t>) * (B</a:t>
            </a:r>
            <a:r>
              <a:rPr lang="tr-TR" sz="2800" b="1" baseline="-30000" dirty="0">
                <a:latin typeface="Times New Roman" pitchFamily="18" charset="0"/>
              </a:rPr>
              <a:t>21</a:t>
            </a:r>
            <a:r>
              <a:rPr lang="tr-TR" sz="2800" b="1" dirty="0">
                <a:latin typeface="Times New Roman" pitchFamily="18" charset="0"/>
              </a:rPr>
              <a:t> + B</a:t>
            </a:r>
            <a:r>
              <a:rPr lang="tr-TR" sz="2800" b="1" baseline="-30000" dirty="0">
                <a:latin typeface="Times New Roman" pitchFamily="18" charset="0"/>
              </a:rPr>
              <a:t>22</a:t>
            </a:r>
            <a:r>
              <a:rPr lang="tr-TR" sz="2800" b="1" dirty="0">
                <a:latin typeface="Times New Roman" pitchFamily="18" charset="0"/>
              </a:rPr>
              <a:t>) </a:t>
            </a:r>
          </a:p>
        </p:txBody>
      </p:sp>
      <p:sp>
        <p:nvSpPr>
          <p:cNvPr id="32773" name="Rectangle 6"/>
          <p:cNvSpPr>
            <a:spLocks noChangeArrowheads="1"/>
          </p:cNvSpPr>
          <p:nvPr/>
        </p:nvSpPr>
        <p:spPr bwMode="auto">
          <a:xfrm>
            <a:off x="6849626" y="1927195"/>
            <a:ext cx="3665974" cy="2600199"/>
          </a:xfrm>
          <a:prstGeom prst="rect">
            <a:avLst/>
          </a:prstGeom>
          <a:noFill/>
          <a:ln w="9525">
            <a:solidFill>
              <a:srgbClr val="0070C0"/>
            </a:solidFill>
            <a:miter lim="800000"/>
            <a:headEnd/>
            <a:tailEnd/>
          </a:ln>
        </p:spPr>
        <p:txBody>
          <a:bodyPr wrap="square">
            <a:spAutoFit/>
          </a:bodyPr>
          <a:lstStyle/>
          <a:p>
            <a:pPr eaLnBrk="0" hangingPunct="0">
              <a:lnSpc>
                <a:spcPct val="150000"/>
              </a:lnSpc>
            </a:pPr>
            <a:r>
              <a:rPr lang="tr-TR" sz="2800" b="1" dirty="0">
                <a:latin typeface="Times New Roman" pitchFamily="18" charset="0"/>
              </a:rPr>
              <a:t>C</a:t>
            </a:r>
            <a:r>
              <a:rPr lang="tr-TR" sz="2800" b="1" baseline="-30000" dirty="0">
                <a:latin typeface="Times New Roman" pitchFamily="18" charset="0"/>
              </a:rPr>
              <a:t>11</a:t>
            </a:r>
            <a:r>
              <a:rPr lang="tr-TR" sz="2800" b="1" dirty="0">
                <a:latin typeface="Times New Roman" pitchFamily="18" charset="0"/>
              </a:rPr>
              <a:t> = P</a:t>
            </a:r>
            <a:r>
              <a:rPr lang="tr-TR" sz="2800" b="1" baseline="-30000" dirty="0">
                <a:latin typeface="Times New Roman" pitchFamily="18" charset="0"/>
              </a:rPr>
              <a:t>1</a:t>
            </a:r>
            <a:r>
              <a:rPr lang="tr-TR" sz="2800" b="1" dirty="0">
                <a:latin typeface="Times New Roman" pitchFamily="18" charset="0"/>
              </a:rPr>
              <a:t> + P</a:t>
            </a:r>
            <a:r>
              <a:rPr lang="tr-TR" sz="2800" b="1" baseline="-30000" dirty="0">
                <a:latin typeface="Times New Roman" pitchFamily="18" charset="0"/>
              </a:rPr>
              <a:t>4</a:t>
            </a:r>
            <a:r>
              <a:rPr lang="tr-TR" sz="2800" b="1" dirty="0">
                <a:latin typeface="Times New Roman" pitchFamily="18" charset="0"/>
              </a:rPr>
              <a:t> - P</a:t>
            </a:r>
            <a:r>
              <a:rPr lang="tr-TR" sz="2800" b="1" baseline="-30000" dirty="0">
                <a:latin typeface="Times New Roman" pitchFamily="18" charset="0"/>
              </a:rPr>
              <a:t>5</a:t>
            </a:r>
            <a:r>
              <a:rPr lang="tr-TR" sz="2800" b="1" dirty="0">
                <a:latin typeface="Times New Roman" pitchFamily="18" charset="0"/>
              </a:rPr>
              <a:t> + P</a:t>
            </a:r>
            <a:r>
              <a:rPr lang="tr-TR" sz="2800" b="1" baseline="-30000" dirty="0">
                <a:latin typeface="Times New Roman" pitchFamily="18" charset="0"/>
              </a:rPr>
              <a:t>7</a:t>
            </a:r>
            <a:r>
              <a:rPr lang="tr-TR" sz="2800" b="1" dirty="0">
                <a:latin typeface="Times New Roman" pitchFamily="18" charset="0"/>
              </a:rPr>
              <a:t/>
            </a:r>
            <a:br>
              <a:rPr lang="tr-TR" sz="2800" b="1" dirty="0">
                <a:latin typeface="Times New Roman" pitchFamily="18" charset="0"/>
              </a:rPr>
            </a:br>
            <a:r>
              <a:rPr lang="tr-TR" sz="2800" b="1" dirty="0">
                <a:latin typeface="Times New Roman" pitchFamily="18" charset="0"/>
              </a:rPr>
              <a:t>C</a:t>
            </a:r>
            <a:r>
              <a:rPr lang="tr-TR" sz="2800" b="1" baseline="-30000" dirty="0">
                <a:latin typeface="Times New Roman" pitchFamily="18" charset="0"/>
              </a:rPr>
              <a:t>12</a:t>
            </a:r>
            <a:r>
              <a:rPr lang="tr-TR" sz="2800" b="1" dirty="0">
                <a:latin typeface="Times New Roman" pitchFamily="18" charset="0"/>
              </a:rPr>
              <a:t> = P</a:t>
            </a:r>
            <a:r>
              <a:rPr lang="tr-TR" sz="2800" b="1" baseline="-30000" dirty="0">
                <a:latin typeface="Times New Roman" pitchFamily="18" charset="0"/>
              </a:rPr>
              <a:t>3</a:t>
            </a:r>
            <a:r>
              <a:rPr lang="tr-TR" sz="2800" b="1" dirty="0">
                <a:latin typeface="Times New Roman" pitchFamily="18" charset="0"/>
              </a:rPr>
              <a:t> + P</a:t>
            </a:r>
            <a:r>
              <a:rPr lang="tr-TR" sz="2800" b="1" baseline="-30000" dirty="0">
                <a:latin typeface="Times New Roman" pitchFamily="18" charset="0"/>
              </a:rPr>
              <a:t>5</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C</a:t>
            </a:r>
            <a:r>
              <a:rPr lang="tr-TR" sz="2800" b="1" baseline="-30000" dirty="0">
                <a:latin typeface="Times New Roman" pitchFamily="18" charset="0"/>
              </a:rPr>
              <a:t>21</a:t>
            </a:r>
            <a:r>
              <a:rPr lang="tr-TR" sz="2800" b="1" dirty="0">
                <a:latin typeface="Times New Roman" pitchFamily="18" charset="0"/>
              </a:rPr>
              <a:t> = P</a:t>
            </a:r>
            <a:r>
              <a:rPr lang="tr-TR" sz="2800" b="1" baseline="-30000" dirty="0">
                <a:latin typeface="Times New Roman" pitchFamily="18" charset="0"/>
              </a:rPr>
              <a:t>2</a:t>
            </a:r>
            <a:r>
              <a:rPr lang="tr-TR" sz="2800" b="1" dirty="0">
                <a:latin typeface="Times New Roman" pitchFamily="18" charset="0"/>
              </a:rPr>
              <a:t> + P</a:t>
            </a:r>
            <a:r>
              <a:rPr lang="tr-TR" sz="2800" b="1" baseline="-30000" dirty="0">
                <a:latin typeface="Times New Roman" pitchFamily="18" charset="0"/>
              </a:rPr>
              <a:t>4</a:t>
            </a:r>
            <a:r>
              <a:rPr lang="tr-TR" sz="2800" b="1" dirty="0">
                <a:latin typeface="Times New Roman" pitchFamily="18" charset="0"/>
              </a:rPr>
              <a:t> </a:t>
            </a:r>
            <a:br>
              <a:rPr lang="tr-TR" sz="2800" b="1" dirty="0">
                <a:latin typeface="Times New Roman" pitchFamily="18" charset="0"/>
              </a:rPr>
            </a:br>
            <a:r>
              <a:rPr lang="tr-TR" sz="2800" b="1" dirty="0">
                <a:latin typeface="Times New Roman" pitchFamily="18" charset="0"/>
              </a:rPr>
              <a:t>C</a:t>
            </a:r>
            <a:r>
              <a:rPr lang="tr-TR" sz="2800" b="1" baseline="-30000" dirty="0">
                <a:latin typeface="Times New Roman" pitchFamily="18" charset="0"/>
              </a:rPr>
              <a:t>22</a:t>
            </a:r>
            <a:r>
              <a:rPr lang="tr-TR" sz="2800" b="1" dirty="0">
                <a:latin typeface="Times New Roman" pitchFamily="18" charset="0"/>
              </a:rPr>
              <a:t> = P</a:t>
            </a:r>
            <a:r>
              <a:rPr lang="tr-TR" sz="2800" b="1" baseline="-30000" dirty="0">
                <a:latin typeface="Times New Roman" pitchFamily="18" charset="0"/>
              </a:rPr>
              <a:t>1</a:t>
            </a:r>
            <a:r>
              <a:rPr lang="tr-TR" sz="2800" b="1" dirty="0">
                <a:latin typeface="Times New Roman" pitchFamily="18" charset="0"/>
              </a:rPr>
              <a:t> + P</a:t>
            </a:r>
            <a:r>
              <a:rPr lang="tr-TR" sz="2800" b="1" baseline="-30000" dirty="0">
                <a:latin typeface="Times New Roman" pitchFamily="18" charset="0"/>
              </a:rPr>
              <a:t>3</a:t>
            </a:r>
            <a:r>
              <a:rPr lang="tr-TR" sz="2800" b="1" dirty="0">
                <a:latin typeface="Times New Roman" pitchFamily="18" charset="0"/>
              </a:rPr>
              <a:t> - P</a:t>
            </a:r>
            <a:r>
              <a:rPr lang="tr-TR" sz="2800" b="1" baseline="-30000" dirty="0">
                <a:latin typeface="Times New Roman" pitchFamily="18" charset="0"/>
              </a:rPr>
              <a:t>2</a:t>
            </a:r>
            <a:r>
              <a:rPr lang="tr-TR" sz="2800" b="1" dirty="0">
                <a:latin typeface="Times New Roman" pitchFamily="18" charset="0"/>
              </a:rPr>
              <a:t> + P</a:t>
            </a:r>
            <a:r>
              <a:rPr lang="tr-TR" sz="2800" b="1" baseline="-30000" dirty="0">
                <a:latin typeface="Times New Roman" pitchFamily="18" charset="0"/>
              </a:rPr>
              <a:t>6</a:t>
            </a:r>
            <a:r>
              <a:rPr lang="tr-TR" sz="2800" b="1" dirty="0">
                <a:latin typeface="Times New Roman" pitchFamily="18" charset="0"/>
              </a:rPr>
              <a:t> </a:t>
            </a:r>
          </a:p>
        </p:txBody>
      </p:sp>
      <p:sp>
        <p:nvSpPr>
          <p:cNvPr id="3" name="Rectangle 2"/>
          <p:cNvSpPr/>
          <p:nvPr/>
        </p:nvSpPr>
        <p:spPr>
          <a:xfrm>
            <a:off x="6672511" y="4947834"/>
            <a:ext cx="4704734" cy="1661993"/>
          </a:xfrm>
          <a:prstGeom prst="rect">
            <a:avLst/>
          </a:prstGeom>
          <a:ln>
            <a:solidFill>
              <a:srgbClr val="0070C0"/>
            </a:solidFill>
          </a:ln>
        </p:spPr>
        <p:txBody>
          <a:bodyPr wrap="square">
            <a:spAutoFit/>
          </a:bodyPr>
          <a:lstStyle/>
          <a:p>
            <a:pPr>
              <a:spcBef>
                <a:spcPct val="50000"/>
              </a:spcBef>
            </a:pPr>
            <a:r>
              <a:rPr lang="en-US" altLang="zh-CN" sz="2400" dirty="0"/>
              <a:t>No. of multiplications: M(n) = 7</a:t>
            </a:r>
          </a:p>
          <a:p>
            <a:pPr>
              <a:spcBef>
                <a:spcPct val="50000"/>
              </a:spcBef>
            </a:pPr>
            <a:r>
              <a:rPr lang="en-US" altLang="zh-CN" sz="2400" dirty="0"/>
              <a:t>No. of additions: A(n) = 18</a:t>
            </a:r>
          </a:p>
          <a:p>
            <a:pPr>
              <a:spcBef>
                <a:spcPct val="50000"/>
              </a:spcBef>
            </a:pPr>
            <a:r>
              <a:rPr lang="tr-TR" sz="2800" b="1" dirty="0">
                <a:latin typeface="Times New Roman" pitchFamily="18" charset="0"/>
              </a:rPr>
              <a:t>2</a:t>
            </a:r>
            <a:r>
              <a:rPr lang="tr-TR" sz="2800" b="1" baseline="30000" dirty="0">
                <a:latin typeface="Times New Roman" pitchFamily="18" charset="0"/>
              </a:rPr>
              <a:t>log</a:t>
            </a:r>
            <a:r>
              <a:rPr lang="tr-TR" sz="2800" b="1" baseline="-25000" dirty="0">
                <a:latin typeface="Times New Roman" pitchFamily="18" charset="0"/>
              </a:rPr>
              <a:t>2</a:t>
            </a:r>
            <a:r>
              <a:rPr lang="tr-TR" sz="2800" b="1" baseline="30000" dirty="0">
                <a:latin typeface="Times New Roman" pitchFamily="18" charset="0"/>
              </a:rPr>
              <a:t>7</a:t>
            </a:r>
            <a:r>
              <a:rPr lang="tr-TR" sz="2800" b="1" dirty="0">
                <a:latin typeface="Times New Roman" pitchFamily="18" charset="0"/>
              </a:rPr>
              <a:t> =</a:t>
            </a:r>
            <a:r>
              <a:rPr lang="en-US" sz="2800" b="1" dirty="0">
                <a:latin typeface="Times New Roman" pitchFamily="18" charset="0"/>
              </a:rPr>
              <a:t> </a:t>
            </a:r>
            <a:r>
              <a:rPr lang="tr-TR" sz="2800" b="1" dirty="0">
                <a:latin typeface="Times New Roman" pitchFamily="18" charset="0"/>
              </a:rPr>
              <a:t>2</a:t>
            </a:r>
            <a:r>
              <a:rPr lang="tr-TR" sz="2800" b="1" baseline="30000" dirty="0">
                <a:latin typeface="Times New Roman" pitchFamily="18" charset="0"/>
              </a:rPr>
              <a:t>2.807</a:t>
            </a:r>
            <a:r>
              <a:rPr lang="en-US" sz="2800" b="1" dirty="0">
                <a:latin typeface="Times New Roman" pitchFamily="18" charset="0"/>
              </a:rPr>
              <a:t>  = </a:t>
            </a:r>
            <a:r>
              <a:rPr lang="en-US" altLang="zh-CN" sz="2800" b="1" dirty="0">
                <a:sym typeface="Symbol" pitchFamily="18" charset="2"/>
              </a:rPr>
              <a:t>(n</a:t>
            </a:r>
            <a:r>
              <a:rPr lang="en-US" altLang="zh-CN" sz="2800" b="1" baseline="30000" dirty="0">
                <a:sym typeface="Symbol" pitchFamily="18" charset="2"/>
              </a:rPr>
              <a:t>2.807</a:t>
            </a:r>
            <a:r>
              <a:rPr lang="en-US" altLang="zh-CN" sz="2800" b="1" dirty="0">
                <a:sym typeface="Symbol" pitchFamily="18" charset="2"/>
              </a:rPr>
              <a:t>)</a:t>
            </a:r>
            <a:endParaRPr lang="en-IN" sz="2800" dirty="0"/>
          </a:p>
        </p:txBody>
      </p:sp>
    </p:spTree>
    <p:extLst>
      <p:ext uri="{BB962C8B-B14F-4D97-AF65-F5344CB8AC3E}">
        <p14:creationId xmlns:p14="http://schemas.microsoft.com/office/powerpoint/2010/main" val="3069956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1981200" y="274638"/>
            <a:ext cx="8229600" cy="868362"/>
          </a:xfrm>
        </p:spPr>
        <p:txBody>
          <a:bodyPr/>
          <a:lstStyle/>
          <a:p>
            <a:r>
              <a:rPr lang="en-US" altLang="zh-CN"/>
              <a:t>Strassen’s matrix multiplication</a:t>
            </a:r>
          </a:p>
        </p:txBody>
      </p:sp>
      <p:graphicFrame>
        <p:nvGraphicFramePr>
          <p:cNvPr id="2050" name="Object 2"/>
          <p:cNvGraphicFramePr>
            <a:graphicFrameLocks noChangeAspect="1"/>
          </p:cNvGraphicFramePr>
          <p:nvPr/>
        </p:nvGraphicFramePr>
        <p:xfrm>
          <a:off x="2362200" y="1066800"/>
          <a:ext cx="7315200" cy="2362200"/>
        </p:xfrm>
        <a:graphic>
          <a:graphicData uri="http://schemas.openxmlformats.org/presentationml/2006/ole">
            <mc:AlternateContent xmlns:mc="http://schemas.openxmlformats.org/markup-compatibility/2006">
              <mc:Choice xmlns:v="urn:schemas-microsoft-com:vml" Requires="v">
                <p:oleObj spid="_x0000_s2206" name="Equation" r:id="rId4" imgW="2793960" imgH="965160" progId="Equation.3">
                  <p:embed/>
                </p:oleObj>
              </mc:Choice>
              <mc:Fallback>
                <p:oleObj name="Equation" r:id="rId4" imgW="2793960" imgH="9651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066800"/>
                        <a:ext cx="7315200" cy="236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4" name="Text Box 5"/>
          <p:cNvSpPr txBox="1">
            <a:spLocks noChangeArrowheads="1"/>
          </p:cNvSpPr>
          <p:nvPr/>
        </p:nvSpPr>
        <p:spPr bwMode="auto">
          <a:xfrm>
            <a:off x="2743200" y="3505200"/>
            <a:ext cx="2348720" cy="2308324"/>
          </a:xfrm>
          <a:prstGeom prst="rect">
            <a:avLst/>
          </a:prstGeom>
          <a:noFill/>
          <a:ln w="12700">
            <a:noFill/>
            <a:miter lim="800000"/>
            <a:headEnd type="none" w="sm" len="sm"/>
            <a:tailEnd type="none" w="sm" len="sm"/>
          </a:ln>
        </p:spPr>
        <p:txBody>
          <a:bodyPr wrap="none">
            <a:spAutoFit/>
          </a:bodyPr>
          <a:lstStyle/>
          <a:p>
            <a:r>
              <a:rPr lang="en-US" altLang="zh-CN"/>
              <a:t>M</a:t>
            </a:r>
            <a:r>
              <a:rPr lang="en-US" altLang="zh-CN" baseline="-25000"/>
              <a:t>1</a:t>
            </a:r>
            <a:r>
              <a:rPr lang="en-US" altLang="zh-CN"/>
              <a:t>=(A</a:t>
            </a:r>
            <a:r>
              <a:rPr lang="en-US" altLang="zh-CN" baseline="-25000"/>
              <a:t>00</a:t>
            </a:r>
            <a:r>
              <a:rPr lang="en-US" altLang="zh-CN"/>
              <a:t>+A</a:t>
            </a:r>
            <a:r>
              <a:rPr lang="en-US" altLang="zh-CN" baseline="-25000"/>
              <a:t>11</a:t>
            </a:r>
            <a:r>
              <a:rPr lang="en-US" altLang="zh-CN"/>
              <a:t>)*(B</a:t>
            </a:r>
            <a:r>
              <a:rPr lang="en-US" altLang="zh-CN" baseline="-25000"/>
              <a:t>00</a:t>
            </a:r>
            <a:r>
              <a:rPr lang="en-US" altLang="zh-CN"/>
              <a:t>+B</a:t>
            </a:r>
            <a:r>
              <a:rPr lang="en-US" altLang="zh-CN" baseline="-25000"/>
              <a:t>11</a:t>
            </a:r>
            <a:r>
              <a:rPr lang="en-US" altLang="zh-CN"/>
              <a:t>)</a:t>
            </a:r>
          </a:p>
          <a:p>
            <a:r>
              <a:rPr lang="en-US" altLang="zh-CN"/>
              <a:t>M</a:t>
            </a:r>
            <a:r>
              <a:rPr lang="en-US" altLang="zh-CN" baseline="-25000"/>
              <a:t>2</a:t>
            </a:r>
            <a:r>
              <a:rPr lang="en-US" altLang="zh-CN"/>
              <a:t>=(A</a:t>
            </a:r>
            <a:r>
              <a:rPr lang="en-US" altLang="zh-CN" baseline="-25000"/>
              <a:t>10</a:t>
            </a:r>
            <a:r>
              <a:rPr lang="en-US" altLang="zh-CN"/>
              <a:t>+A</a:t>
            </a:r>
            <a:r>
              <a:rPr lang="en-US" altLang="zh-CN" baseline="-25000"/>
              <a:t>11</a:t>
            </a:r>
            <a:r>
              <a:rPr lang="en-US" altLang="zh-CN"/>
              <a:t>)*B</a:t>
            </a:r>
            <a:r>
              <a:rPr lang="en-US" altLang="zh-CN" baseline="-25000"/>
              <a:t>00</a:t>
            </a:r>
            <a:endParaRPr lang="en-US" altLang="zh-CN"/>
          </a:p>
          <a:p>
            <a:r>
              <a:rPr lang="en-US" altLang="zh-CN"/>
              <a:t>M</a:t>
            </a:r>
            <a:r>
              <a:rPr lang="en-US" altLang="zh-CN" baseline="-25000"/>
              <a:t>3</a:t>
            </a:r>
            <a:r>
              <a:rPr lang="en-US" altLang="zh-CN"/>
              <a:t>=A</a:t>
            </a:r>
            <a:r>
              <a:rPr lang="en-US" altLang="zh-CN" baseline="-25000"/>
              <a:t>00</a:t>
            </a:r>
            <a:r>
              <a:rPr lang="en-US" altLang="zh-CN"/>
              <a:t>*(B</a:t>
            </a:r>
            <a:r>
              <a:rPr lang="en-US" altLang="zh-CN" baseline="-25000"/>
              <a:t>01</a:t>
            </a:r>
            <a:r>
              <a:rPr lang="en-US" altLang="zh-CN"/>
              <a:t>-B</a:t>
            </a:r>
            <a:r>
              <a:rPr lang="en-US" altLang="zh-CN" baseline="-25000"/>
              <a:t>11</a:t>
            </a:r>
            <a:r>
              <a:rPr lang="en-US" altLang="zh-CN"/>
              <a:t>)</a:t>
            </a:r>
          </a:p>
          <a:p>
            <a:r>
              <a:rPr lang="en-US" altLang="zh-CN"/>
              <a:t>M</a:t>
            </a:r>
            <a:r>
              <a:rPr lang="en-US" altLang="zh-CN" baseline="-25000"/>
              <a:t>4</a:t>
            </a:r>
            <a:r>
              <a:rPr lang="en-US" altLang="zh-CN"/>
              <a:t>=A</a:t>
            </a:r>
            <a:r>
              <a:rPr lang="en-US" altLang="zh-CN" baseline="-25000"/>
              <a:t>11</a:t>
            </a:r>
            <a:r>
              <a:rPr lang="en-US" altLang="zh-CN"/>
              <a:t>*(B</a:t>
            </a:r>
            <a:r>
              <a:rPr lang="en-US" altLang="zh-CN" baseline="-25000"/>
              <a:t>10</a:t>
            </a:r>
            <a:r>
              <a:rPr lang="en-US" altLang="zh-CN"/>
              <a:t>-B</a:t>
            </a:r>
            <a:r>
              <a:rPr lang="en-US" altLang="zh-CN" baseline="-25000"/>
              <a:t>00</a:t>
            </a:r>
            <a:r>
              <a:rPr lang="en-US" altLang="zh-CN"/>
              <a:t>)</a:t>
            </a:r>
          </a:p>
          <a:p>
            <a:r>
              <a:rPr lang="en-US" altLang="zh-CN"/>
              <a:t>M</a:t>
            </a:r>
            <a:r>
              <a:rPr lang="en-US" altLang="zh-CN" baseline="-25000"/>
              <a:t>5</a:t>
            </a:r>
            <a:r>
              <a:rPr lang="en-US" altLang="zh-CN"/>
              <a:t>=(A</a:t>
            </a:r>
            <a:r>
              <a:rPr lang="en-US" altLang="zh-CN" baseline="-25000"/>
              <a:t>00</a:t>
            </a:r>
            <a:r>
              <a:rPr lang="en-US" altLang="zh-CN"/>
              <a:t>+A</a:t>
            </a:r>
            <a:r>
              <a:rPr lang="en-US" altLang="zh-CN" baseline="-25000"/>
              <a:t>01</a:t>
            </a:r>
            <a:r>
              <a:rPr lang="en-US" altLang="zh-CN"/>
              <a:t>)*B</a:t>
            </a:r>
            <a:r>
              <a:rPr lang="en-US" altLang="zh-CN" baseline="-25000"/>
              <a:t>11</a:t>
            </a:r>
            <a:endParaRPr lang="en-US" altLang="zh-CN"/>
          </a:p>
          <a:p>
            <a:r>
              <a:rPr lang="en-US" altLang="zh-CN"/>
              <a:t>M</a:t>
            </a:r>
            <a:r>
              <a:rPr lang="en-US" altLang="zh-CN" baseline="-25000"/>
              <a:t>6</a:t>
            </a:r>
            <a:r>
              <a:rPr lang="en-US" altLang="zh-CN"/>
              <a:t>=(A</a:t>
            </a:r>
            <a:r>
              <a:rPr lang="en-US" altLang="zh-CN" baseline="-25000"/>
              <a:t>10</a:t>
            </a:r>
            <a:r>
              <a:rPr lang="en-US" altLang="zh-CN"/>
              <a:t>-A</a:t>
            </a:r>
            <a:r>
              <a:rPr lang="en-US" altLang="zh-CN" baseline="-25000"/>
              <a:t>00</a:t>
            </a:r>
            <a:r>
              <a:rPr lang="en-US" altLang="zh-CN"/>
              <a:t>)*(B</a:t>
            </a:r>
            <a:r>
              <a:rPr lang="en-US" altLang="zh-CN" baseline="-25000"/>
              <a:t>00</a:t>
            </a:r>
            <a:r>
              <a:rPr lang="en-US" altLang="zh-CN"/>
              <a:t>+B</a:t>
            </a:r>
            <a:r>
              <a:rPr lang="en-US" altLang="zh-CN" baseline="-25000"/>
              <a:t>01</a:t>
            </a:r>
            <a:r>
              <a:rPr lang="en-US" altLang="zh-CN"/>
              <a:t>)</a:t>
            </a:r>
          </a:p>
          <a:p>
            <a:r>
              <a:rPr lang="en-US" altLang="zh-CN"/>
              <a:t>M</a:t>
            </a:r>
            <a:r>
              <a:rPr lang="en-US" altLang="zh-CN" baseline="-25000"/>
              <a:t>7</a:t>
            </a:r>
            <a:r>
              <a:rPr lang="en-US" altLang="zh-CN"/>
              <a:t>=(A</a:t>
            </a:r>
            <a:r>
              <a:rPr lang="en-US" altLang="zh-CN" baseline="-25000"/>
              <a:t>01</a:t>
            </a:r>
            <a:r>
              <a:rPr lang="en-US" altLang="zh-CN"/>
              <a:t>-A</a:t>
            </a:r>
            <a:r>
              <a:rPr lang="en-US" altLang="zh-CN" baseline="-25000"/>
              <a:t>11</a:t>
            </a:r>
            <a:r>
              <a:rPr lang="en-US" altLang="zh-CN"/>
              <a:t>)*(B</a:t>
            </a:r>
            <a:r>
              <a:rPr lang="en-US" altLang="zh-CN" baseline="-25000"/>
              <a:t>10</a:t>
            </a:r>
            <a:r>
              <a:rPr lang="en-US" altLang="zh-CN"/>
              <a:t>+B</a:t>
            </a:r>
            <a:r>
              <a:rPr lang="en-US" altLang="zh-CN" baseline="-25000"/>
              <a:t>11</a:t>
            </a:r>
            <a:r>
              <a:rPr lang="en-US" altLang="zh-CN"/>
              <a:t>)</a:t>
            </a:r>
            <a:endParaRPr lang="en-US" altLang="zh-CN" baseline="-25000"/>
          </a:p>
          <a:p>
            <a:endParaRPr lang="zh-CN" altLang="en-US">
              <a:sym typeface="Symbol" pitchFamily="18" charset="2"/>
            </a:endParaRPr>
          </a:p>
        </p:txBody>
      </p:sp>
      <p:sp>
        <p:nvSpPr>
          <p:cNvPr id="2055" name="Text Box 6"/>
          <p:cNvSpPr txBox="1">
            <a:spLocks noChangeArrowheads="1"/>
          </p:cNvSpPr>
          <p:nvPr/>
        </p:nvSpPr>
        <p:spPr bwMode="auto">
          <a:xfrm>
            <a:off x="6934200" y="4038600"/>
            <a:ext cx="3352800" cy="1200150"/>
          </a:xfrm>
          <a:prstGeom prst="rect">
            <a:avLst/>
          </a:prstGeom>
          <a:noFill/>
          <a:ln w="12700">
            <a:noFill/>
            <a:miter lim="800000"/>
            <a:headEnd type="none" w="sm" len="sm"/>
            <a:tailEnd type="none" w="sm" len="sm"/>
          </a:ln>
        </p:spPr>
        <p:txBody>
          <a:bodyPr>
            <a:spAutoFit/>
          </a:bodyPr>
          <a:lstStyle/>
          <a:p>
            <a:pPr>
              <a:spcBef>
                <a:spcPct val="50000"/>
              </a:spcBef>
            </a:pPr>
            <a:r>
              <a:rPr lang="en-US" altLang="zh-CN" dirty="0">
                <a:solidFill>
                  <a:srgbClr val="FF0000"/>
                </a:solidFill>
              </a:rPr>
              <a:t>recurrence relations:</a:t>
            </a:r>
          </a:p>
          <a:p>
            <a:pPr>
              <a:spcBef>
                <a:spcPct val="50000"/>
              </a:spcBef>
            </a:pPr>
            <a:r>
              <a:rPr lang="en-US" altLang="zh-CN" dirty="0"/>
              <a:t>multiplication: M(n) = 7</a:t>
            </a:r>
          </a:p>
          <a:p>
            <a:pPr>
              <a:spcBef>
                <a:spcPct val="50000"/>
              </a:spcBef>
            </a:pPr>
            <a:r>
              <a:rPr lang="en-US" altLang="zh-CN" dirty="0"/>
              <a:t>addition: A(n) = 18</a:t>
            </a:r>
          </a:p>
        </p:txBody>
      </p:sp>
    </p:spTree>
    <p:extLst>
      <p:ext uri="{BB962C8B-B14F-4D97-AF65-F5344CB8AC3E}">
        <p14:creationId xmlns:p14="http://schemas.microsoft.com/office/powerpoint/2010/main" val="477544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lide Number Placeholder 5"/>
          <p:cNvSpPr txBox="1">
            <a:spLocks noGrp="1"/>
          </p:cNvSpPr>
          <p:nvPr/>
        </p:nvSpPr>
        <p:spPr>
          <a:xfrm>
            <a:off x="1981200" y="6356351"/>
            <a:ext cx="2133600" cy="365125"/>
          </a:xfrm>
          <a:prstGeom prst="rect">
            <a:avLst/>
          </a:prstGeom>
          <a:noFill/>
        </p:spPr>
        <p:txBody>
          <a:bodyPr rtlCol="1" anchor="ctr"/>
          <a:lstStyle/>
          <a:p>
            <a:pPr>
              <a:defRPr/>
            </a:pPr>
            <a:fld id="{8D318607-0329-4557-949E-8BEB7A09081A}" type="slidenum">
              <a:rPr lang="he-IL" sz="1200">
                <a:solidFill>
                  <a:schemeClr val="tx1">
                    <a:tint val="75000"/>
                  </a:schemeClr>
                </a:solidFill>
              </a:rPr>
              <a:pPr>
                <a:defRPr/>
              </a:pPr>
              <a:t>32</a:t>
            </a:fld>
            <a:endParaRPr lang="he-IL" sz="1200">
              <a:solidFill>
                <a:schemeClr val="tx1">
                  <a:tint val="75000"/>
                </a:schemeClr>
              </a:solidFill>
            </a:endParaRPr>
          </a:p>
        </p:txBody>
      </p:sp>
      <p:sp>
        <p:nvSpPr>
          <p:cNvPr id="3081" name="Text Box 49"/>
          <p:cNvSpPr txBox="1">
            <a:spLocks noChangeArrowheads="1"/>
          </p:cNvSpPr>
          <p:nvPr/>
        </p:nvSpPr>
        <p:spPr bwMode="auto">
          <a:xfrm>
            <a:off x="1774825" y="1052514"/>
            <a:ext cx="8642350" cy="504825"/>
          </a:xfrm>
          <a:prstGeom prst="rect">
            <a:avLst/>
          </a:prstGeom>
          <a:noFill/>
          <a:ln w="9525" algn="ctr">
            <a:noFill/>
            <a:miter lim="800000"/>
            <a:headEnd/>
            <a:tailEnd/>
          </a:ln>
        </p:spPr>
        <p:txBody>
          <a:bodyPr>
            <a:spAutoFit/>
          </a:bodyPr>
          <a:lstStyle/>
          <a:p>
            <a:pPr marL="342900" indent="-342900">
              <a:lnSpc>
                <a:spcPct val="150000"/>
              </a:lnSpc>
              <a:buFontTx/>
              <a:buChar char="•"/>
            </a:pPr>
            <a:r>
              <a:rPr lang="en-US">
                <a:solidFill>
                  <a:srgbClr val="5F5F5F"/>
                </a:solidFill>
              </a:rPr>
              <a:t>Define seven matrices of size (n/2)x(n/2) :</a:t>
            </a:r>
          </a:p>
        </p:txBody>
      </p:sp>
      <p:sp>
        <p:nvSpPr>
          <p:cNvPr id="3082" name="Rectangle 305"/>
          <p:cNvSpPr>
            <a:spLocks noChangeArrowheads="1"/>
          </p:cNvSpPr>
          <p:nvPr/>
        </p:nvSpPr>
        <p:spPr bwMode="auto">
          <a:xfrm rot="5400000">
            <a:off x="7377114" y="1303339"/>
            <a:ext cx="2808287" cy="3024187"/>
          </a:xfrm>
          <a:prstGeom prst="rect">
            <a:avLst/>
          </a:prstGeom>
          <a:solidFill>
            <a:srgbClr val="98B5D8">
              <a:alpha val="50195"/>
            </a:srgbClr>
          </a:solidFill>
          <a:ln w="25400" algn="ctr">
            <a:noFill/>
            <a:miter lim="800000"/>
            <a:headEnd/>
            <a:tailEnd/>
          </a:ln>
        </p:spPr>
        <p:txBody>
          <a:bodyPr anchor="ctr"/>
          <a:lstStyle/>
          <a:p>
            <a:endParaRPr lang="ar-SA" b="1">
              <a:solidFill>
                <a:srgbClr val="FFFFFF"/>
              </a:solidFill>
              <a:latin typeface="Calibri" pitchFamily="34" charset="0"/>
            </a:endParaRPr>
          </a:p>
        </p:txBody>
      </p:sp>
      <p:graphicFrame>
        <p:nvGraphicFramePr>
          <p:cNvPr id="3074" name="Object 12"/>
          <p:cNvGraphicFramePr>
            <a:graphicFrameLocks noChangeAspect="1"/>
          </p:cNvGraphicFramePr>
          <p:nvPr/>
        </p:nvGraphicFramePr>
        <p:xfrm>
          <a:off x="7319963" y="1411288"/>
          <a:ext cx="2851150" cy="1617662"/>
        </p:xfrm>
        <a:graphic>
          <a:graphicData uri="http://schemas.openxmlformats.org/presentationml/2006/ole">
            <mc:AlternateContent xmlns:mc="http://schemas.openxmlformats.org/markup-compatibility/2006">
              <mc:Choice xmlns:v="urn:schemas-microsoft-com:vml" Requires="v">
                <p:oleObj spid="_x0000_s3854" name="Equation" r:id="rId4" imgW="1790700" imgH="1016000" progId="">
                  <p:embed/>
                </p:oleObj>
              </mc:Choice>
              <mc:Fallback>
                <p:oleObj name="Equation" r:id="rId4" imgW="1790700" imgH="10160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9963" y="1411288"/>
                        <a:ext cx="2851150" cy="161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
          <p:cNvGraphicFramePr>
            <a:graphicFrameLocks noChangeAspect="1"/>
          </p:cNvGraphicFramePr>
          <p:nvPr/>
        </p:nvGraphicFramePr>
        <p:xfrm>
          <a:off x="7313614" y="2994026"/>
          <a:ext cx="2790825" cy="1211263"/>
        </p:xfrm>
        <a:graphic>
          <a:graphicData uri="http://schemas.openxmlformats.org/presentationml/2006/ole">
            <mc:AlternateContent xmlns:mc="http://schemas.openxmlformats.org/markup-compatibility/2006">
              <mc:Choice xmlns:v="urn:schemas-microsoft-com:vml" Requires="v">
                <p:oleObj spid="_x0000_s3855" name="Equation" r:id="rId6" imgW="1752600" imgH="762000" progId="">
                  <p:embed/>
                </p:oleObj>
              </mc:Choice>
              <mc:Fallback>
                <p:oleObj name="Equation" r:id="rId6" imgW="1752600" imgH="7620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3614" y="2994026"/>
                        <a:ext cx="2790825" cy="121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3" name="Rectangle 305"/>
          <p:cNvSpPr>
            <a:spLocks noChangeArrowheads="1"/>
          </p:cNvSpPr>
          <p:nvPr/>
        </p:nvSpPr>
        <p:spPr bwMode="auto">
          <a:xfrm rot="5400000">
            <a:off x="3181351" y="1160463"/>
            <a:ext cx="1296987" cy="3240088"/>
          </a:xfrm>
          <a:prstGeom prst="rect">
            <a:avLst/>
          </a:prstGeom>
          <a:solidFill>
            <a:srgbClr val="98B5D8">
              <a:alpha val="50195"/>
            </a:srgbClr>
          </a:solidFill>
          <a:ln w="25400" algn="ctr">
            <a:noFill/>
            <a:miter lim="800000"/>
            <a:headEnd/>
            <a:tailEnd/>
          </a:ln>
        </p:spPr>
        <p:txBody>
          <a:bodyPr anchor="ctr"/>
          <a:lstStyle/>
          <a:p>
            <a:endParaRPr lang="ar-SA" b="1">
              <a:solidFill>
                <a:srgbClr val="FFFFFF"/>
              </a:solidFill>
              <a:latin typeface="Calibri" pitchFamily="34" charset="0"/>
            </a:endParaRPr>
          </a:p>
        </p:txBody>
      </p:sp>
      <p:sp>
        <p:nvSpPr>
          <p:cNvPr id="3084" name="Line 45"/>
          <p:cNvSpPr>
            <a:spLocks noChangeShapeType="1"/>
          </p:cNvSpPr>
          <p:nvPr/>
        </p:nvSpPr>
        <p:spPr bwMode="auto">
          <a:xfrm>
            <a:off x="5548314" y="2781300"/>
            <a:ext cx="1627187" cy="0"/>
          </a:xfrm>
          <a:prstGeom prst="line">
            <a:avLst/>
          </a:prstGeom>
          <a:noFill/>
          <a:ln w="38100">
            <a:solidFill>
              <a:srgbClr val="7A9FCC"/>
            </a:solidFill>
            <a:round/>
            <a:headEnd/>
            <a:tailEnd type="triangle" w="lg" len="med"/>
          </a:ln>
        </p:spPr>
        <p:txBody>
          <a:bodyPr/>
          <a:lstStyle/>
          <a:p>
            <a:endParaRPr lang="en-US"/>
          </a:p>
        </p:txBody>
      </p:sp>
      <p:sp>
        <p:nvSpPr>
          <p:cNvPr id="3085" name="Text Box 49"/>
          <p:cNvSpPr txBox="1">
            <a:spLocks noChangeArrowheads="1"/>
          </p:cNvSpPr>
          <p:nvPr/>
        </p:nvSpPr>
        <p:spPr bwMode="auto">
          <a:xfrm>
            <a:off x="1774825" y="4506914"/>
            <a:ext cx="7850188" cy="504825"/>
          </a:xfrm>
          <a:prstGeom prst="rect">
            <a:avLst/>
          </a:prstGeom>
          <a:noFill/>
          <a:ln w="9525" algn="ctr">
            <a:noFill/>
            <a:miter lim="800000"/>
            <a:headEnd/>
            <a:tailEnd/>
          </a:ln>
        </p:spPr>
        <p:txBody>
          <a:bodyPr>
            <a:spAutoFit/>
          </a:bodyPr>
          <a:lstStyle/>
          <a:p>
            <a:pPr marL="342900" indent="-342900">
              <a:lnSpc>
                <a:spcPct val="150000"/>
              </a:lnSpc>
              <a:buFontTx/>
              <a:buChar char="•"/>
            </a:pPr>
            <a:r>
              <a:rPr lang="en-US">
                <a:solidFill>
                  <a:srgbClr val="5F5F5F"/>
                </a:solidFill>
              </a:rPr>
              <a:t>The four (n/2)x(n/2) matrices       can be defined in terms of M1,…,M7:</a:t>
            </a:r>
          </a:p>
        </p:txBody>
      </p:sp>
      <p:graphicFrame>
        <p:nvGraphicFramePr>
          <p:cNvPr id="3076" name="Object 5"/>
          <p:cNvGraphicFramePr>
            <a:graphicFrameLocks noChangeAspect="1"/>
          </p:cNvGraphicFramePr>
          <p:nvPr/>
        </p:nvGraphicFramePr>
        <p:xfrm>
          <a:off x="5159376" y="4613276"/>
          <a:ext cx="322263" cy="384175"/>
        </p:xfrm>
        <a:graphic>
          <a:graphicData uri="http://schemas.openxmlformats.org/presentationml/2006/ole">
            <mc:AlternateContent xmlns:mc="http://schemas.openxmlformats.org/markup-compatibility/2006">
              <mc:Choice xmlns:v="urn:schemas-microsoft-com:vml" Requires="v">
                <p:oleObj spid="_x0000_s3856" name="Equation" r:id="rId8" imgW="203112" imgH="241195" progId="">
                  <p:embed/>
                </p:oleObj>
              </mc:Choice>
              <mc:Fallback>
                <p:oleObj name="Equation" r:id="rId8" imgW="203112" imgH="241195"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9376" y="4613276"/>
                        <a:ext cx="322263"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05"/>
          <p:cNvSpPr>
            <a:spLocks noChangeArrowheads="1"/>
          </p:cNvSpPr>
          <p:nvPr/>
        </p:nvSpPr>
        <p:spPr bwMode="auto">
          <a:xfrm rot="5400000">
            <a:off x="5219700" y="4568825"/>
            <a:ext cx="1512888" cy="2687638"/>
          </a:xfrm>
          <a:prstGeom prst="rect">
            <a:avLst/>
          </a:prstGeom>
          <a:solidFill>
            <a:srgbClr val="98B5D8">
              <a:alpha val="50195"/>
            </a:srgbClr>
          </a:solidFill>
          <a:ln>
            <a:noFill/>
          </a:ln>
          <a:extLst/>
        </p:spPr>
        <p:txBody>
          <a:bodyPr anchor="ctr"/>
          <a:lstStyle/>
          <a:p>
            <a:pPr>
              <a:defRPr/>
            </a:pPr>
            <a:endParaRPr lang="he-IL" b="1">
              <a:solidFill>
                <a:schemeClr val="lt1"/>
              </a:solidFill>
            </a:endParaRPr>
          </a:p>
        </p:txBody>
      </p:sp>
      <p:graphicFrame>
        <p:nvGraphicFramePr>
          <p:cNvPr id="3077" name="Object 6"/>
          <p:cNvGraphicFramePr>
            <a:graphicFrameLocks noChangeAspect="1"/>
          </p:cNvGraphicFramePr>
          <p:nvPr/>
        </p:nvGraphicFramePr>
        <p:xfrm>
          <a:off x="4705351" y="5227639"/>
          <a:ext cx="2551113" cy="1411287"/>
        </p:xfrm>
        <a:graphic>
          <a:graphicData uri="http://schemas.openxmlformats.org/presentationml/2006/ole">
            <mc:AlternateContent xmlns:mc="http://schemas.openxmlformats.org/markup-compatibility/2006">
              <mc:Choice xmlns:v="urn:schemas-microsoft-com:vml" Requires="v">
                <p:oleObj spid="_x0000_s3857" name="Equation" r:id="rId10" imgW="1651000" imgH="914400" progId="">
                  <p:embed/>
                </p:oleObj>
              </mc:Choice>
              <mc:Fallback>
                <p:oleObj name="Equation" r:id="rId10" imgW="1651000" imgH="914400"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05351" y="5227639"/>
                        <a:ext cx="2551113" cy="141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9"/>
          <p:cNvGraphicFramePr>
            <a:graphicFrameLocks noChangeAspect="1"/>
          </p:cNvGraphicFramePr>
          <p:nvPr/>
        </p:nvGraphicFramePr>
        <p:xfrm>
          <a:off x="2279650" y="2347914"/>
          <a:ext cx="3111500" cy="865187"/>
        </p:xfrm>
        <a:graphic>
          <a:graphicData uri="http://schemas.openxmlformats.org/presentationml/2006/ole">
            <mc:AlternateContent xmlns:mc="http://schemas.openxmlformats.org/markup-compatibility/2006">
              <mc:Choice xmlns:v="urn:schemas-microsoft-com:vml" Requires="v">
                <p:oleObj spid="_x0000_s3858" name="משוואה" r:id="rId12" imgW="2286000" imgH="635000" progId="Equation.3">
                  <p:embed/>
                </p:oleObj>
              </mc:Choice>
              <mc:Fallback>
                <p:oleObj name="משוואה" r:id="rId12" imgW="2286000" imgH="6350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79650" y="2347914"/>
                        <a:ext cx="3111500"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a:xfrm>
            <a:off x="1524000" y="-2381"/>
            <a:ext cx="9144000" cy="404813"/>
          </a:xfrm>
          <a:prstGeom prst="rect">
            <a:avLst/>
          </a:prstGeom>
          <a:solidFill>
            <a:schemeClr val="tx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endParaRPr lang="he-IL"/>
          </a:p>
        </p:txBody>
      </p:sp>
      <p:sp>
        <p:nvSpPr>
          <p:cNvPr id="3088" name="TextBox 3"/>
          <p:cNvSpPr txBox="1">
            <a:spLocks noChangeArrowheads="1"/>
          </p:cNvSpPr>
          <p:nvPr/>
        </p:nvSpPr>
        <p:spPr bwMode="auto">
          <a:xfrm>
            <a:off x="1524000" y="-52388"/>
            <a:ext cx="5689600" cy="457201"/>
          </a:xfrm>
          <a:prstGeom prst="rect">
            <a:avLst/>
          </a:prstGeom>
          <a:noFill/>
          <a:ln w="9525">
            <a:noFill/>
            <a:miter lim="800000"/>
            <a:headEnd/>
            <a:tailEnd/>
          </a:ln>
        </p:spPr>
        <p:txBody>
          <a:bodyPr wrap="none">
            <a:spAutoFit/>
          </a:bodyPr>
          <a:lstStyle/>
          <a:p>
            <a:r>
              <a:rPr lang="en-US" sz="2400" b="1" dirty="0" err="1">
                <a:solidFill>
                  <a:schemeClr val="bg1"/>
                </a:solidFill>
                <a:latin typeface="Calibri" pitchFamily="34" charset="0"/>
              </a:rPr>
              <a:t>Strassen’s</a:t>
            </a:r>
            <a:r>
              <a:rPr lang="en-US" sz="2400" b="1" dirty="0">
                <a:solidFill>
                  <a:schemeClr val="bg1"/>
                </a:solidFill>
                <a:latin typeface="Calibri" pitchFamily="34" charset="0"/>
              </a:rPr>
              <a:t> method for matrix multiplication</a:t>
            </a:r>
            <a:endParaRPr lang="he-IL" sz="2400" b="1" dirty="0">
              <a:solidFill>
                <a:schemeClr val="bg1"/>
              </a:solidFill>
              <a:latin typeface="Calibri" pitchFamily="34" charset="0"/>
            </a:endParaRPr>
          </a:p>
        </p:txBody>
      </p:sp>
      <p:sp>
        <p:nvSpPr>
          <p:cNvPr id="3089" name="Text Box 49"/>
          <p:cNvSpPr txBox="1">
            <a:spLocks noChangeArrowheads="1"/>
          </p:cNvSpPr>
          <p:nvPr/>
        </p:nvSpPr>
        <p:spPr bwMode="auto">
          <a:xfrm>
            <a:off x="3792539" y="361951"/>
            <a:ext cx="2390547" cy="549275"/>
          </a:xfrm>
          <a:prstGeom prst="rect">
            <a:avLst/>
          </a:prstGeom>
          <a:noFill/>
          <a:ln w="9525" algn="ctr">
            <a:noFill/>
            <a:miter lim="800000"/>
            <a:headEnd/>
            <a:tailEnd/>
          </a:ln>
        </p:spPr>
        <p:txBody>
          <a:bodyPr wrap="square">
            <a:spAutoFit/>
          </a:bodyPr>
          <a:lstStyle/>
          <a:p>
            <a:pPr marL="342900" indent="-342900">
              <a:lnSpc>
                <a:spcPct val="150000"/>
              </a:lnSpc>
            </a:pPr>
            <a:r>
              <a:rPr lang="en-US" sz="2000" b="1"/>
              <a:t>Strassen’s algorithm</a:t>
            </a:r>
            <a:endParaRPr lang="en-US" sz="2000"/>
          </a:p>
        </p:txBody>
      </p:sp>
    </p:spTree>
    <p:extLst>
      <p:ext uri="{BB962C8B-B14F-4D97-AF65-F5344CB8AC3E}">
        <p14:creationId xmlns:p14="http://schemas.microsoft.com/office/powerpoint/2010/main" val="1224097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a:xfrm>
            <a:off x="990600" y="0"/>
            <a:ext cx="10515600" cy="1325563"/>
          </a:xfrm>
        </p:spPr>
        <p:txBody>
          <a:bodyPr/>
          <a:lstStyle/>
          <a:p>
            <a:r>
              <a:rPr lang="en-US" altLang="zh-CN" dirty="0" err="1"/>
              <a:t>Strassen’s</a:t>
            </a:r>
            <a:r>
              <a:rPr lang="en-US" altLang="zh-CN" dirty="0"/>
              <a:t> matrix multiplication</a:t>
            </a:r>
          </a:p>
        </p:txBody>
      </p:sp>
      <p:graphicFrame>
        <p:nvGraphicFramePr>
          <p:cNvPr id="4098" name="Object 2"/>
          <p:cNvGraphicFramePr>
            <a:graphicFrameLocks noChangeAspect="1"/>
          </p:cNvGraphicFramePr>
          <p:nvPr/>
        </p:nvGraphicFramePr>
        <p:xfrm>
          <a:off x="2819400" y="1143000"/>
          <a:ext cx="5867400" cy="2133600"/>
        </p:xfrm>
        <a:graphic>
          <a:graphicData uri="http://schemas.openxmlformats.org/presentationml/2006/ole">
            <mc:AlternateContent xmlns:mc="http://schemas.openxmlformats.org/markup-compatibility/2006">
              <mc:Choice xmlns:v="urn:schemas-microsoft-com:vml" Requires="v">
                <p:oleObj spid="_x0000_s4254" name="Equation" r:id="rId4" imgW="2793960" imgH="965160" progId="Equation.3">
                  <p:embed/>
                </p:oleObj>
              </mc:Choice>
              <mc:Fallback>
                <p:oleObj name="Equation" r:id="rId4" imgW="2793960" imgH="9651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1143000"/>
                        <a:ext cx="58674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Text Box 5"/>
          <p:cNvSpPr txBox="1">
            <a:spLocks noChangeArrowheads="1"/>
          </p:cNvSpPr>
          <p:nvPr/>
        </p:nvSpPr>
        <p:spPr bwMode="auto">
          <a:xfrm>
            <a:off x="2743200" y="3505200"/>
            <a:ext cx="2348720" cy="2308324"/>
          </a:xfrm>
          <a:prstGeom prst="rect">
            <a:avLst/>
          </a:prstGeom>
          <a:noFill/>
          <a:ln w="12700">
            <a:noFill/>
            <a:miter lim="800000"/>
            <a:headEnd type="none" w="sm" len="sm"/>
            <a:tailEnd type="none" w="sm" len="sm"/>
          </a:ln>
        </p:spPr>
        <p:txBody>
          <a:bodyPr wrap="none">
            <a:spAutoFit/>
          </a:bodyPr>
          <a:lstStyle/>
          <a:p>
            <a:r>
              <a:rPr lang="en-US" altLang="zh-CN"/>
              <a:t>M</a:t>
            </a:r>
            <a:r>
              <a:rPr lang="en-US" altLang="zh-CN" baseline="-25000"/>
              <a:t>1</a:t>
            </a:r>
            <a:r>
              <a:rPr lang="en-US" altLang="zh-CN"/>
              <a:t>=(A</a:t>
            </a:r>
            <a:r>
              <a:rPr lang="en-US" altLang="zh-CN" baseline="-25000"/>
              <a:t>00</a:t>
            </a:r>
            <a:r>
              <a:rPr lang="en-US" altLang="zh-CN"/>
              <a:t>+A</a:t>
            </a:r>
            <a:r>
              <a:rPr lang="en-US" altLang="zh-CN" baseline="-25000"/>
              <a:t>11</a:t>
            </a:r>
            <a:r>
              <a:rPr lang="en-US" altLang="zh-CN"/>
              <a:t>)*(B</a:t>
            </a:r>
            <a:r>
              <a:rPr lang="en-US" altLang="zh-CN" baseline="-25000"/>
              <a:t>00</a:t>
            </a:r>
            <a:r>
              <a:rPr lang="en-US" altLang="zh-CN"/>
              <a:t>+B</a:t>
            </a:r>
            <a:r>
              <a:rPr lang="en-US" altLang="zh-CN" baseline="-25000"/>
              <a:t>11</a:t>
            </a:r>
            <a:r>
              <a:rPr lang="en-US" altLang="zh-CN"/>
              <a:t>)</a:t>
            </a:r>
          </a:p>
          <a:p>
            <a:r>
              <a:rPr lang="en-US" altLang="zh-CN"/>
              <a:t>M</a:t>
            </a:r>
            <a:r>
              <a:rPr lang="en-US" altLang="zh-CN" baseline="-25000"/>
              <a:t>2</a:t>
            </a:r>
            <a:r>
              <a:rPr lang="en-US" altLang="zh-CN"/>
              <a:t>=(A</a:t>
            </a:r>
            <a:r>
              <a:rPr lang="en-US" altLang="zh-CN" baseline="-25000"/>
              <a:t>10</a:t>
            </a:r>
            <a:r>
              <a:rPr lang="en-US" altLang="zh-CN"/>
              <a:t>+A</a:t>
            </a:r>
            <a:r>
              <a:rPr lang="en-US" altLang="zh-CN" baseline="-25000"/>
              <a:t>11</a:t>
            </a:r>
            <a:r>
              <a:rPr lang="en-US" altLang="zh-CN"/>
              <a:t>)*B</a:t>
            </a:r>
            <a:r>
              <a:rPr lang="en-US" altLang="zh-CN" baseline="-25000"/>
              <a:t>00</a:t>
            </a:r>
            <a:endParaRPr lang="en-US" altLang="zh-CN"/>
          </a:p>
          <a:p>
            <a:r>
              <a:rPr lang="en-US" altLang="zh-CN"/>
              <a:t>M</a:t>
            </a:r>
            <a:r>
              <a:rPr lang="en-US" altLang="zh-CN" baseline="-25000"/>
              <a:t>3</a:t>
            </a:r>
            <a:r>
              <a:rPr lang="en-US" altLang="zh-CN"/>
              <a:t>=A</a:t>
            </a:r>
            <a:r>
              <a:rPr lang="en-US" altLang="zh-CN" baseline="-25000"/>
              <a:t>00</a:t>
            </a:r>
            <a:r>
              <a:rPr lang="en-US" altLang="zh-CN"/>
              <a:t>*(B</a:t>
            </a:r>
            <a:r>
              <a:rPr lang="en-US" altLang="zh-CN" baseline="-25000"/>
              <a:t>01</a:t>
            </a:r>
            <a:r>
              <a:rPr lang="en-US" altLang="zh-CN"/>
              <a:t>-B</a:t>
            </a:r>
            <a:r>
              <a:rPr lang="en-US" altLang="zh-CN" baseline="-25000"/>
              <a:t>11</a:t>
            </a:r>
            <a:r>
              <a:rPr lang="en-US" altLang="zh-CN"/>
              <a:t>)</a:t>
            </a:r>
          </a:p>
          <a:p>
            <a:r>
              <a:rPr lang="en-US" altLang="zh-CN"/>
              <a:t>M</a:t>
            </a:r>
            <a:r>
              <a:rPr lang="en-US" altLang="zh-CN" baseline="-25000"/>
              <a:t>4</a:t>
            </a:r>
            <a:r>
              <a:rPr lang="en-US" altLang="zh-CN"/>
              <a:t>=A</a:t>
            </a:r>
            <a:r>
              <a:rPr lang="en-US" altLang="zh-CN" baseline="-25000"/>
              <a:t>11</a:t>
            </a:r>
            <a:r>
              <a:rPr lang="en-US" altLang="zh-CN"/>
              <a:t>*(B</a:t>
            </a:r>
            <a:r>
              <a:rPr lang="en-US" altLang="zh-CN" baseline="-25000"/>
              <a:t>10</a:t>
            </a:r>
            <a:r>
              <a:rPr lang="en-US" altLang="zh-CN"/>
              <a:t>-B</a:t>
            </a:r>
            <a:r>
              <a:rPr lang="en-US" altLang="zh-CN" baseline="-25000"/>
              <a:t>00</a:t>
            </a:r>
            <a:r>
              <a:rPr lang="en-US" altLang="zh-CN"/>
              <a:t>)</a:t>
            </a:r>
          </a:p>
          <a:p>
            <a:r>
              <a:rPr lang="en-US" altLang="zh-CN"/>
              <a:t>M</a:t>
            </a:r>
            <a:r>
              <a:rPr lang="en-US" altLang="zh-CN" baseline="-25000"/>
              <a:t>5</a:t>
            </a:r>
            <a:r>
              <a:rPr lang="en-US" altLang="zh-CN"/>
              <a:t>=(A</a:t>
            </a:r>
            <a:r>
              <a:rPr lang="en-US" altLang="zh-CN" baseline="-25000"/>
              <a:t>00</a:t>
            </a:r>
            <a:r>
              <a:rPr lang="en-US" altLang="zh-CN"/>
              <a:t>+A</a:t>
            </a:r>
            <a:r>
              <a:rPr lang="en-US" altLang="zh-CN" baseline="-25000"/>
              <a:t>01</a:t>
            </a:r>
            <a:r>
              <a:rPr lang="en-US" altLang="zh-CN"/>
              <a:t>)*B</a:t>
            </a:r>
            <a:r>
              <a:rPr lang="en-US" altLang="zh-CN" baseline="-25000"/>
              <a:t>11</a:t>
            </a:r>
            <a:endParaRPr lang="en-US" altLang="zh-CN"/>
          </a:p>
          <a:p>
            <a:r>
              <a:rPr lang="en-US" altLang="zh-CN"/>
              <a:t>M</a:t>
            </a:r>
            <a:r>
              <a:rPr lang="en-US" altLang="zh-CN" baseline="-25000"/>
              <a:t>6</a:t>
            </a:r>
            <a:r>
              <a:rPr lang="en-US" altLang="zh-CN"/>
              <a:t>=(A</a:t>
            </a:r>
            <a:r>
              <a:rPr lang="en-US" altLang="zh-CN" baseline="-25000"/>
              <a:t>10</a:t>
            </a:r>
            <a:r>
              <a:rPr lang="en-US" altLang="zh-CN"/>
              <a:t>-A</a:t>
            </a:r>
            <a:r>
              <a:rPr lang="en-US" altLang="zh-CN" baseline="-25000"/>
              <a:t>00</a:t>
            </a:r>
            <a:r>
              <a:rPr lang="en-US" altLang="zh-CN"/>
              <a:t>)*(B</a:t>
            </a:r>
            <a:r>
              <a:rPr lang="en-US" altLang="zh-CN" baseline="-25000"/>
              <a:t>00</a:t>
            </a:r>
            <a:r>
              <a:rPr lang="en-US" altLang="zh-CN"/>
              <a:t>+B</a:t>
            </a:r>
            <a:r>
              <a:rPr lang="en-US" altLang="zh-CN" baseline="-25000"/>
              <a:t>01</a:t>
            </a:r>
            <a:r>
              <a:rPr lang="en-US" altLang="zh-CN"/>
              <a:t>)</a:t>
            </a:r>
          </a:p>
          <a:p>
            <a:r>
              <a:rPr lang="en-US" altLang="zh-CN"/>
              <a:t>M</a:t>
            </a:r>
            <a:r>
              <a:rPr lang="en-US" altLang="zh-CN" baseline="-25000"/>
              <a:t>7</a:t>
            </a:r>
            <a:r>
              <a:rPr lang="en-US" altLang="zh-CN"/>
              <a:t>=(A</a:t>
            </a:r>
            <a:r>
              <a:rPr lang="en-US" altLang="zh-CN" baseline="-25000"/>
              <a:t>01</a:t>
            </a:r>
            <a:r>
              <a:rPr lang="en-US" altLang="zh-CN"/>
              <a:t>-A</a:t>
            </a:r>
            <a:r>
              <a:rPr lang="en-US" altLang="zh-CN" baseline="-25000"/>
              <a:t>11</a:t>
            </a:r>
            <a:r>
              <a:rPr lang="en-US" altLang="zh-CN"/>
              <a:t>)*(B</a:t>
            </a:r>
            <a:r>
              <a:rPr lang="en-US" altLang="zh-CN" baseline="-25000"/>
              <a:t>10</a:t>
            </a:r>
            <a:r>
              <a:rPr lang="en-US" altLang="zh-CN"/>
              <a:t>+B</a:t>
            </a:r>
            <a:r>
              <a:rPr lang="en-US" altLang="zh-CN" baseline="-25000"/>
              <a:t>11</a:t>
            </a:r>
            <a:r>
              <a:rPr lang="en-US" altLang="zh-CN"/>
              <a:t>)</a:t>
            </a:r>
            <a:endParaRPr lang="en-US" altLang="zh-CN" baseline="-25000"/>
          </a:p>
          <a:p>
            <a:endParaRPr lang="zh-CN" altLang="en-US">
              <a:sym typeface="Symbol" pitchFamily="18" charset="2"/>
            </a:endParaRPr>
          </a:p>
        </p:txBody>
      </p:sp>
      <p:sp>
        <p:nvSpPr>
          <p:cNvPr id="4103" name="Text Box 6"/>
          <p:cNvSpPr txBox="1">
            <a:spLocks noChangeArrowheads="1"/>
          </p:cNvSpPr>
          <p:nvPr/>
        </p:nvSpPr>
        <p:spPr bwMode="auto">
          <a:xfrm>
            <a:off x="6858000" y="4800601"/>
            <a:ext cx="3352800" cy="784225"/>
          </a:xfrm>
          <a:prstGeom prst="rect">
            <a:avLst/>
          </a:prstGeom>
          <a:noFill/>
          <a:ln w="12700">
            <a:noFill/>
            <a:miter lim="800000"/>
            <a:headEnd type="none" w="sm" len="sm"/>
            <a:tailEnd type="none" w="sm" len="sm"/>
          </a:ln>
        </p:spPr>
        <p:txBody>
          <a:bodyPr>
            <a:spAutoFit/>
          </a:bodyPr>
          <a:lstStyle/>
          <a:p>
            <a:pPr>
              <a:spcBef>
                <a:spcPct val="50000"/>
              </a:spcBef>
            </a:pPr>
            <a:r>
              <a:rPr lang="en-US" altLang="zh-CN" b="1" dirty="0"/>
              <a:t>M(n) </a:t>
            </a:r>
            <a:r>
              <a:rPr lang="en-US" altLang="zh-CN" b="1" dirty="0">
                <a:sym typeface="Symbol" pitchFamily="18" charset="2"/>
              </a:rPr>
              <a:t></a:t>
            </a:r>
            <a:r>
              <a:rPr lang="en-US" altLang="zh-CN" b="1" dirty="0"/>
              <a:t> </a:t>
            </a:r>
            <a:r>
              <a:rPr lang="en-US" altLang="zh-CN" b="1" dirty="0">
                <a:sym typeface="Symbol" pitchFamily="18" charset="2"/>
              </a:rPr>
              <a:t>(n</a:t>
            </a:r>
            <a:r>
              <a:rPr lang="en-US" altLang="zh-CN" b="1" baseline="30000" dirty="0">
                <a:sym typeface="Symbol" pitchFamily="18" charset="2"/>
              </a:rPr>
              <a:t>2.807</a:t>
            </a:r>
            <a:r>
              <a:rPr lang="en-US" altLang="zh-CN" b="1" dirty="0">
                <a:sym typeface="Symbol" pitchFamily="18" charset="2"/>
              </a:rPr>
              <a:t>)</a:t>
            </a:r>
            <a:r>
              <a:rPr lang="en-US" altLang="zh-CN" b="1" dirty="0"/>
              <a:t> </a:t>
            </a:r>
          </a:p>
          <a:p>
            <a:pPr>
              <a:spcBef>
                <a:spcPct val="50000"/>
              </a:spcBef>
            </a:pPr>
            <a:r>
              <a:rPr lang="en-US" altLang="zh-CN" b="1" dirty="0"/>
              <a:t>A(n) </a:t>
            </a:r>
            <a:r>
              <a:rPr lang="en-US" altLang="zh-CN" b="1" dirty="0">
                <a:sym typeface="Symbol" pitchFamily="18" charset="2"/>
              </a:rPr>
              <a:t></a:t>
            </a:r>
            <a:r>
              <a:rPr lang="en-US" altLang="zh-CN" b="1" dirty="0"/>
              <a:t> </a:t>
            </a:r>
            <a:r>
              <a:rPr lang="en-US" altLang="zh-CN" b="1" dirty="0">
                <a:sym typeface="Symbol" pitchFamily="18" charset="2"/>
              </a:rPr>
              <a:t>(n</a:t>
            </a:r>
            <a:r>
              <a:rPr lang="en-US" altLang="zh-CN" b="1" baseline="30000" dirty="0">
                <a:sym typeface="Symbol" pitchFamily="18" charset="2"/>
              </a:rPr>
              <a:t>2.807</a:t>
            </a:r>
            <a:r>
              <a:rPr lang="en-US" altLang="zh-CN" b="1" dirty="0">
                <a:sym typeface="Symbol" pitchFamily="18" charset="2"/>
              </a:rPr>
              <a:t>)</a:t>
            </a:r>
          </a:p>
        </p:txBody>
      </p:sp>
      <p:sp>
        <p:nvSpPr>
          <p:cNvPr id="4104" name="Rectangle 8"/>
          <p:cNvSpPr>
            <a:spLocks noChangeArrowheads="1"/>
          </p:cNvSpPr>
          <p:nvPr/>
        </p:nvSpPr>
        <p:spPr bwMode="auto">
          <a:xfrm>
            <a:off x="5791200" y="3657601"/>
            <a:ext cx="4267200" cy="923925"/>
          </a:xfrm>
          <a:prstGeom prst="rect">
            <a:avLst/>
          </a:prstGeom>
          <a:noFill/>
          <a:ln w="9525">
            <a:noFill/>
            <a:miter lim="800000"/>
            <a:headEnd/>
            <a:tailEnd/>
          </a:ln>
        </p:spPr>
        <p:txBody>
          <a:bodyPr>
            <a:spAutoFit/>
          </a:bodyPr>
          <a:lstStyle/>
          <a:p>
            <a:r>
              <a:rPr lang="en-US"/>
              <a:t>                    b                        n=&lt; 2</a:t>
            </a:r>
          </a:p>
          <a:p>
            <a:r>
              <a:rPr lang="en-US"/>
              <a:t> T(n) =                   </a:t>
            </a:r>
          </a:p>
          <a:p>
            <a:r>
              <a:rPr lang="en-US"/>
              <a:t>                  7T(n/2)  +  an</a:t>
            </a:r>
            <a:r>
              <a:rPr lang="en-US" baseline="30000"/>
              <a:t>2  </a:t>
            </a:r>
            <a:r>
              <a:rPr lang="en-US"/>
              <a:t>    n &gt; 2</a:t>
            </a:r>
          </a:p>
        </p:txBody>
      </p:sp>
      <p:sp>
        <p:nvSpPr>
          <p:cNvPr id="10" name="Left Brace 9"/>
          <p:cNvSpPr/>
          <p:nvPr/>
        </p:nvSpPr>
        <p:spPr>
          <a:xfrm>
            <a:off x="6781801" y="3657600"/>
            <a:ext cx="155575" cy="9144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793908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133600" y="304800"/>
            <a:ext cx="8229600" cy="1143000"/>
          </a:xfrm>
        </p:spPr>
        <p:txBody>
          <a:bodyPr/>
          <a:lstStyle/>
          <a:p>
            <a:pPr eaLnBrk="1" hangingPunct="1"/>
            <a:r>
              <a:rPr lang="tr-TR">
                <a:solidFill>
                  <a:srgbClr val="9E189E"/>
                </a:solidFill>
              </a:rPr>
              <a:t>Strassens’s Matrix Multiplication</a:t>
            </a:r>
          </a:p>
        </p:txBody>
      </p:sp>
      <p:sp>
        <p:nvSpPr>
          <p:cNvPr id="34819" name="Rectangle 3" descr="Rectangle: Click to edit Master text styles&#10;Second level&#10;Third level&#10;Fourth level&#10;Fifth level"/>
          <p:cNvSpPr>
            <a:spLocks noGrp="1" noChangeArrowheads="1"/>
          </p:cNvSpPr>
          <p:nvPr>
            <p:ph type="body" idx="1"/>
          </p:nvPr>
        </p:nvSpPr>
        <p:spPr>
          <a:xfrm>
            <a:off x="881742" y="1447800"/>
            <a:ext cx="10515600" cy="4351338"/>
          </a:xfrm>
        </p:spPr>
        <p:txBody>
          <a:bodyPr/>
          <a:lstStyle/>
          <a:p>
            <a:pPr eaLnBrk="1" hangingPunct="1"/>
            <a:endParaRPr lang="tr-TR" dirty="0">
              <a:latin typeface="Times New Roman" pitchFamily="18" charset="0"/>
            </a:endParaRPr>
          </a:p>
          <a:p>
            <a:pPr eaLnBrk="1" hangingPunct="1"/>
            <a:r>
              <a:rPr lang="tr-TR" dirty="0">
                <a:latin typeface="Times New Roman" pitchFamily="18" charset="0"/>
              </a:rPr>
              <a:t>Strassen showed that 2x2 matrix multiplication can be accomplished in  7 multiplication and 18 additions or subtractions. </a:t>
            </a:r>
            <a:r>
              <a:rPr lang="tr-TR" sz="2000" b="1" dirty="0">
                <a:latin typeface="Times New Roman" pitchFamily="18" charset="0"/>
              </a:rPr>
              <a:t>.(2</a:t>
            </a:r>
            <a:r>
              <a:rPr lang="tr-TR" sz="2000" b="1" baseline="30000" dirty="0">
                <a:latin typeface="Times New Roman" pitchFamily="18" charset="0"/>
              </a:rPr>
              <a:t>log</a:t>
            </a:r>
            <a:r>
              <a:rPr lang="tr-TR" sz="2000" b="1" baseline="-25000" dirty="0">
                <a:latin typeface="Times New Roman" pitchFamily="18" charset="0"/>
              </a:rPr>
              <a:t>2</a:t>
            </a:r>
            <a:r>
              <a:rPr lang="tr-TR" sz="2000" b="1" baseline="30000" dirty="0">
                <a:latin typeface="Times New Roman" pitchFamily="18" charset="0"/>
              </a:rPr>
              <a:t>7</a:t>
            </a:r>
            <a:r>
              <a:rPr lang="tr-TR" sz="2000" b="1" dirty="0">
                <a:latin typeface="Times New Roman" pitchFamily="18" charset="0"/>
              </a:rPr>
              <a:t> =2</a:t>
            </a:r>
            <a:r>
              <a:rPr lang="tr-TR" sz="2000" b="1" baseline="30000" dirty="0">
                <a:latin typeface="Times New Roman" pitchFamily="18" charset="0"/>
              </a:rPr>
              <a:t>2.807</a:t>
            </a:r>
            <a:r>
              <a:rPr lang="tr-TR" sz="2000" b="1" dirty="0">
                <a:latin typeface="Times New Roman" pitchFamily="18" charset="0"/>
              </a:rPr>
              <a:t>)</a:t>
            </a:r>
            <a:endParaRPr lang="tr-TR" b="1" dirty="0">
              <a:latin typeface="Times New Roman" pitchFamily="18" charset="0"/>
            </a:endParaRPr>
          </a:p>
          <a:p>
            <a:pPr eaLnBrk="1" hangingPunct="1"/>
            <a:endParaRPr lang="tr-TR" dirty="0">
              <a:latin typeface="Times New Roman" pitchFamily="18" charset="0"/>
            </a:endParaRPr>
          </a:p>
          <a:p>
            <a:pPr eaLnBrk="1" hangingPunct="1"/>
            <a:r>
              <a:rPr lang="tr-TR" dirty="0">
                <a:latin typeface="Times New Roman" pitchFamily="18" charset="0"/>
              </a:rPr>
              <a:t>This reduce can be done by </a:t>
            </a:r>
            <a:r>
              <a:rPr lang="en-US" dirty="0">
                <a:latin typeface="Times New Roman" pitchFamily="18" charset="0"/>
              </a:rPr>
              <a:t>Divide and Conquer Approach</a:t>
            </a:r>
            <a:r>
              <a:rPr lang="tr-TR" dirty="0">
                <a:latin typeface="Times New Roman" pitchFamily="18" charset="0"/>
              </a:rPr>
              <a:t>.</a:t>
            </a:r>
            <a:endParaRPr lang="en-US" dirty="0">
              <a:latin typeface="Times New Roman" pitchFamily="18" charset="0"/>
            </a:endParaRPr>
          </a:p>
          <a:p>
            <a:pPr eaLnBrk="1" hangingPunct="1"/>
            <a:endParaRPr lang="en-US" dirty="0">
              <a:latin typeface="Times New Roman" pitchFamily="18" charset="0"/>
            </a:endParaRPr>
          </a:p>
          <a:p>
            <a:pPr lvl="0">
              <a:lnSpc>
                <a:spcPct val="150000"/>
              </a:lnSpc>
              <a:spcBef>
                <a:spcPts val="0"/>
              </a:spcBef>
            </a:pPr>
            <a:r>
              <a:rPr lang="en-US" sz="3600" dirty="0"/>
              <a:t>Time Complexity    T(N) = 7T(N/2) + O(N</a:t>
            </a:r>
            <a:r>
              <a:rPr lang="en-US" sz="2000" baseline="30000" dirty="0"/>
              <a:t>2</a:t>
            </a:r>
            <a:r>
              <a:rPr lang="en-US" sz="3600" dirty="0"/>
              <a:t>)</a:t>
            </a:r>
            <a:r>
              <a:rPr lang="en-US" sz="2000" dirty="0"/>
              <a:t> </a:t>
            </a:r>
            <a:endParaRPr lang="en-US" sz="4800" dirty="0"/>
          </a:p>
          <a:p>
            <a:pPr eaLnBrk="1" hangingPunct="1"/>
            <a:endParaRPr lang="tr-TR" dirty="0">
              <a:latin typeface="Times New Roman" pitchFamily="18" charset="0"/>
            </a:endParaRPr>
          </a:p>
        </p:txBody>
      </p:sp>
    </p:spTree>
    <p:extLst>
      <p:ext uri="{BB962C8B-B14F-4D97-AF65-F5344CB8AC3E}">
        <p14:creationId xmlns:p14="http://schemas.microsoft.com/office/powerpoint/2010/main" val="1434703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8708" y="260061"/>
            <a:ext cx="11326091" cy="6459394"/>
          </a:xfrm>
        </p:spPr>
        <p:txBody>
          <a:bodyPr>
            <a:normAutofit/>
          </a:bodyPr>
          <a:lstStyle/>
          <a:p>
            <a:pPr algn="just">
              <a:lnSpc>
                <a:spcPct val="150000"/>
              </a:lnSpc>
            </a:pPr>
            <a:r>
              <a:rPr lang="en-IN" b="1" dirty="0"/>
              <a:t>Lower bound</a:t>
            </a:r>
            <a:r>
              <a:rPr lang="en-IN" dirty="0"/>
              <a:t>: a value that is less than or equal to every element of a set of data. </a:t>
            </a:r>
          </a:p>
          <a:p>
            <a:pPr algn="just">
              <a:lnSpc>
                <a:spcPct val="150000"/>
              </a:lnSpc>
            </a:pPr>
            <a:r>
              <a:rPr lang="en-IN" b="1" dirty="0"/>
              <a:t>Upper bound</a:t>
            </a:r>
            <a:r>
              <a:rPr lang="en-IN" dirty="0"/>
              <a:t>: a value that is greater than or equal to every element of a set of data. </a:t>
            </a:r>
          </a:p>
          <a:p>
            <a:pPr algn="just">
              <a:lnSpc>
                <a:spcPct val="150000"/>
              </a:lnSpc>
            </a:pPr>
            <a:r>
              <a:rPr lang="en-IN" dirty="0"/>
              <a:t>Example: in { 3, 5, 11, 20, 22 } </a:t>
            </a:r>
          </a:p>
          <a:p>
            <a:pPr marL="0" indent="0" algn="just">
              <a:lnSpc>
                <a:spcPct val="150000"/>
              </a:lnSpc>
              <a:buNone/>
            </a:pPr>
            <a:r>
              <a:rPr lang="en-IN" dirty="0"/>
              <a:t>		3 is a lower bound, and </a:t>
            </a:r>
          </a:p>
          <a:p>
            <a:pPr marL="0" indent="0" algn="just">
              <a:lnSpc>
                <a:spcPct val="150000"/>
              </a:lnSpc>
              <a:buNone/>
            </a:pPr>
            <a:r>
              <a:rPr lang="en-IN" dirty="0"/>
              <a:t>		22 is an upper bound.</a:t>
            </a:r>
            <a:endParaRPr lang="en-GB" dirty="0"/>
          </a:p>
        </p:txBody>
      </p:sp>
    </p:spTree>
    <p:extLst>
      <p:ext uri="{BB962C8B-B14F-4D97-AF65-F5344CB8AC3E}">
        <p14:creationId xmlns:p14="http://schemas.microsoft.com/office/powerpoint/2010/main" val="627106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491" y="307676"/>
            <a:ext cx="11471564" cy="5170646"/>
          </a:xfrm>
          <a:prstGeom prst="rect">
            <a:avLst/>
          </a:prstGeom>
        </p:spPr>
        <p:txBody>
          <a:bodyPr wrap="square">
            <a:spAutoFit/>
          </a:bodyPr>
          <a:lstStyle/>
          <a:p>
            <a:pPr algn="just" fontAlgn="base">
              <a:lnSpc>
                <a:spcPct val="150000"/>
              </a:lnSpc>
            </a:pPr>
            <a:r>
              <a:rPr lang="en-IN" sz="2800" b="1" dirty="0"/>
              <a:t>Measurement of Complexity of an Algorithm</a:t>
            </a:r>
          </a:p>
          <a:p>
            <a:pPr algn="just" fontAlgn="base">
              <a:lnSpc>
                <a:spcPct val="150000"/>
              </a:lnSpc>
            </a:pPr>
            <a:r>
              <a:rPr lang="en-IN" sz="2400" dirty="0"/>
              <a:t>Time Complexity there are three cases to analyse an algorithm:</a:t>
            </a:r>
          </a:p>
          <a:p>
            <a:pPr algn="just" fontAlgn="base">
              <a:lnSpc>
                <a:spcPct val="150000"/>
              </a:lnSpc>
            </a:pPr>
            <a:r>
              <a:rPr lang="en-IN" sz="2400" b="1" dirty="0"/>
              <a:t>1. Worst Case Analysis (Mostly used) </a:t>
            </a:r>
          </a:p>
          <a:p>
            <a:pPr marL="342900" indent="-342900" algn="just" fontAlgn="base">
              <a:lnSpc>
                <a:spcPct val="150000"/>
              </a:lnSpc>
              <a:buFont typeface="Arial" pitchFamily="34" charset="0"/>
              <a:buChar char="•"/>
            </a:pPr>
            <a:r>
              <a:rPr lang="en-IN" sz="2400" dirty="0"/>
              <a:t>we calculate the </a:t>
            </a:r>
            <a:r>
              <a:rPr lang="en-IN" sz="2400" b="1" dirty="0"/>
              <a:t>upper bound </a:t>
            </a:r>
            <a:r>
              <a:rPr lang="en-IN" sz="2400" dirty="0"/>
              <a:t>on the running time of an algorithm.</a:t>
            </a:r>
          </a:p>
          <a:p>
            <a:pPr marL="342900" indent="-342900" algn="just" fontAlgn="base">
              <a:lnSpc>
                <a:spcPct val="150000"/>
              </a:lnSpc>
              <a:buFont typeface="Arial" pitchFamily="34" charset="0"/>
              <a:buChar char="•"/>
            </a:pPr>
            <a:r>
              <a:rPr lang="en-IN" sz="2400" dirty="0"/>
              <a:t>causes a </a:t>
            </a:r>
            <a:r>
              <a:rPr lang="en-IN" sz="2400" b="1" dirty="0"/>
              <a:t>maximum number of operations to be executed</a:t>
            </a:r>
            <a:r>
              <a:rPr lang="en-IN" sz="2400" dirty="0"/>
              <a:t>. </a:t>
            </a:r>
          </a:p>
          <a:p>
            <a:pPr marL="342900" indent="-342900" algn="just" fontAlgn="base">
              <a:lnSpc>
                <a:spcPct val="150000"/>
              </a:lnSpc>
              <a:buFont typeface="Arial" pitchFamily="34" charset="0"/>
              <a:buChar char="•"/>
            </a:pPr>
            <a:r>
              <a:rPr lang="en-IN" sz="2400" dirty="0"/>
              <a:t>For Linear Search, the worst case happens when the element to be searched (x) is </a:t>
            </a:r>
            <a:r>
              <a:rPr lang="en-IN" sz="2400" b="1" dirty="0"/>
              <a:t>not present in the array</a:t>
            </a:r>
            <a:r>
              <a:rPr lang="en-IN" sz="2400" dirty="0"/>
              <a:t>. When x is not present, the search()</a:t>
            </a:r>
            <a:r>
              <a:rPr lang="en-IN" sz="2400" b="1" dirty="0"/>
              <a:t> </a:t>
            </a:r>
            <a:r>
              <a:rPr lang="en-IN" sz="2400" dirty="0"/>
              <a:t>function compares it with all the elements of </a:t>
            </a:r>
            <a:r>
              <a:rPr lang="en-IN" sz="2400" dirty="0" err="1"/>
              <a:t>arr</a:t>
            </a:r>
            <a:r>
              <a:rPr lang="en-IN" sz="2400" dirty="0"/>
              <a:t>[] one by one. Therefore, the worst-case time complexity of the linear search would be </a:t>
            </a:r>
            <a:r>
              <a:rPr lang="en-IN" sz="2400" b="1" dirty="0"/>
              <a:t>O(n)</a:t>
            </a:r>
            <a:r>
              <a:rPr lang="en-IN" sz="2400" dirty="0"/>
              <a:t>.</a:t>
            </a:r>
          </a:p>
        </p:txBody>
      </p:sp>
    </p:spTree>
    <p:extLst>
      <p:ext uri="{BB962C8B-B14F-4D97-AF65-F5344CB8AC3E}">
        <p14:creationId xmlns:p14="http://schemas.microsoft.com/office/powerpoint/2010/main" val="737012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3235" y="168947"/>
            <a:ext cx="11568547" cy="6186309"/>
          </a:xfrm>
          <a:prstGeom prst="rect">
            <a:avLst/>
          </a:prstGeom>
        </p:spPr>
        <p:txBody>
          <a:bodyPr wrap="square">
            <a:spAutoFit/>
          </a:bodyPr>
          <a:lstStyle/>
          <a:p>
            <a:pPr algn="just" fontAlgn="base">
              <a:lnSpc>
                <a:spcPct val="150000"/>
              </a:lnSpc>
            </a:pPr>
            <a:r>
              <a:rPr lang="en-IN" sz="2400" b="1" dirty="0"/>
              <a:t>2. Best Case Analysis (Very Rarely used) </a:t>
            </a:r>
          </a:p>
          <a:p>
            <a:pPr marL="342900" indent="-342900" algn="just" fontAlgn="base">
              <a:lnSpc>
                <a:spcPct val="150000"/>
              </a:lnSpc>
              <a:buFont typeface="Arial" pitchFamily="34" charset="0"/>
              <a:buChar char="•"/>
            </a:pPr>
            <a:r>
              <a:rPr lang="en-IN" sz="2400" dirty="0"/>
              <a:t>we calculate the </a:t>
            </a:r>
            <a:r>
              <a:rPr lang="en-IN" sz="2400" b="1" dirty="0"/>
              <a:t>lower bound </a:t>
            </a:r>
            <a:r>
              <a:rPr lang="en-IN" sz="2400" dirty="0"/>
              <a:t>on the running time of an algorithm. </a:t>
            </a:r>
          </a:p>
          <a:p>
            <a:pPr marL="342900" indent="-342900" algn="just" fontAlgn="base">
              <a:lnSpc>
                <a:spcPct val="150000"/>
              </a:lnSpc>
              <a:buFont typeface="Arial" pitchFamily="34" charset="0"/>
              <a:buChar char="•"/>
            </a:pPr>
            <a:r>
              <a:rPr lang="en-IN" sz="2400" dirty="0"/>
              <a:t>We must know the case that causes a </a:t>
            </a:r>
            <a:r>
              <a:rPr lang="en-IN" sz="2400" b="1" dirty="0"/>
              <a:t>minimum number of operations to be executed</a:t>
            </a:r>
            <a:r>
              <a:rPr lang="en-IN" sz="2400" dirty="0"/>
              <a:t>. </a:t>
            </a:r>
          </a:p>
          <a:p>
            <a:pPr marL="342900" indent="-342900" algn="just" fontAlgn="base">
              <a:lnSpc>
                <a:spcPct val="150000"/>
              </a:lnSpc>
              <a:buFont typeface="Arial" pitchFamily="34" charset="0"/>
              <a:buChar char="•"/>
            </a:pPr>
            <a:r>
              <a:rPr lang="en-IN" sz="2400" dirty="0"/>
              <a:t>In the linear search problem, the best case occurs when x is present at the first location. The number of operations in the best case is constant (not dependent on n). So time complexity in the best case would be Ω(1)</a:t>
            </a:r>
          </a:p>
          <a:p>
            <a:pPr marL="342900" indent="-342900" algn="just" fontAlgn="base">
              <a:lnSpc>
                <a:spcPct val="150000"/>
              </a:lnSpc>
              <a:buFont typeface="Arial" pitchFamily="34" charset="0"/>
              <a:buChar char="•"/>
            </a:pPr>
            <a:endParaRPr lang="en-IN" sz="2400" dirty="0"/>
          </a:p>
          <a:p>
            <a:pPr fontAlgn="base">
              <a:lnSpc>
                <a:spcPct val="150000"/>
              </a:lnSpc>
            </a:pPr>
            <a:r>
              <a:rPr lang="en-IN" sz="2400" b="1" dirty="0"/>
              <a:t>3. Average Case Analysis (Rarely used) </a:t>
            </a:r>
          </a:p>
          <a:p>
            <a:pPr marL="342900" indent="-342900" fontAlgn="base">
              <a:lnSpc>
                <a:spcPct val="150000"/>
              </a:lnSpc>
              <a:buFont typeface="Arial" pitchFamily="34" charset="0"/>
              <a:buChar char="•"/>
            </a:pPr>
            <a:r>
              <a:rPr lang="en-IN" sz="2400" dirty="0"/>
              <a:t>we take all possible inputs and calculate the computing time for all of the inputs. </a:t>
            </a:r>
          </a:p>
          <a:p>
            <a:pPr marL="342900" indent="-342900" fontAlgn="base">
              <a:lnSpc>
                <a:spcPct val="150000"/>
              </a:lnSpc>
              <a:buFont typeface="Arial" pitchFamily="34" charset="0"/>
              <a:buChar char="•"/>
            </a:pPr>
            <a:r>
              <a:rPr lang="en-IN" sz="2400" dirty="0"/>
              <a:t>Sum all the calculated values and divide the sum by the total number of inputs. </a:t>
            </a:r>
          </a:p>
          <a:p>
            <a:pPr marL="342900" indent="-342900" fontAlgn="base">
              <a:lnSpc>
                <a:spcPct val="150000"/>
              </a:lnSpc>
              <a:buFont typeface="Arial" pitchFamily="34" charset="0"/>
              <a:buChar char="•"/>
            </a:pPr>
            <a:r>
              <a:rPr lang="en-IN" sz="2400" dirty="0"/>
              <a:t>We must know (or predict) the distribution of cases.</a:t>
            </a:r>
          </a:p>
        </p:txBody>
      </p:sp>
    </p:spTree>
    <p:extLst>
      <p:ext uri="{BB962C8B-B14F-4D97-AF65-F5344CB8AC3E}">
        <p14:creationId xmlns:p14="http://schemas.microsoft.com/office/powerpoint/2010/main" val="2824558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290" y="170999"/>
            <a:ext cx="5271655" cy="1325563"/>
          </a:xfrm>
        </p:spPr>
        <p:txBody>
          <a:bodyPr>
            <a:normAutofit/>
          </a:bodyPr>
          <a:lstStyle/>
          <a:p>
            <a:pPr algn="just"/>
            <a:r>
              <a:rPr lang="en-US" sz="4000" b="1" dirty="0">
                <a:latin typeface="+mn-lt"/>
              </a:rPr>
              <a:t>Asymptotic Notation</a:t>
            </a:r>
          </a:p>
        </p:txBody>
      </p:sp>
      <p:sp>
        <p:nvSpPr>
          <p:cNvPr id="3" name="Content Placeholder 2"/>
          <p:cNvSpPr>
            <a:spLocks noGrp="1"/>
          </p:cNvSpPr>
          <p:nvPr>
            <p:ph idx="1"/>
          </p:nvPr>
        </p:nvSpPr>
        <p:spPr>
          <a:xfrm>
            <a:off x="549233" y="1496561"/>
            <a:ext cx="4497779" cy="4844861"/>
          </a:xfrm>
        </p:spPr>
        <p:txBody>
          <a:bodyPr>
            <a:noAutofit/>
          </a:bodyPr>
          <a:lstStyle/>
          <a:p>
            <a:pPr>
              <a:lnSpc>
                <a:spcPct val="150000"/>
              </a:lnSpc>
            </a:pPr>
            <a:r>
              <a:rPr lang="en-US" sz="3200" dirty="0">
                <a:solidFill>
                  <a:srgbClr val="FF0000"/>
                </a:solidFill>
              </a:rPr>
              <a:t>Big-Oh</a:t>
            </a:r>
            <a:r>
              <a:rPr lang="en-US" sz="3200" dirty="0"/>
              <a:t> 		    </a:t>
            </a:r>
            <a:r>
              <a:rPr lang="en-US" b="1" dirty="0">
                <a:solidFill>
                  <a:srgbClr val="FF0000"/>
                </a:solidFill>
              </a:rPr>
              <a:t>O</a:t>
            </a:r>
            <a:endParaRPr lang="en-US" sz="3200" b="1" dirty="0">
              <a:solidFill>
                <a:srgbClr val="FF0000"/>
              </a:solidFill>
            </a:endParaRPr>
          </a:p>
          <a:p>
            <a:pPr>
              <a:lnSpc>
                <a:spcPct val="150000"/>
              </a:lnSpc>
            </a:pPr>
            <a:r>
              <a:rPr lang="en-US" sz="3200" dirty="0"/>
              <a:t>Small-Oh 		    </a:t>
            </a:r>
            <a:r>
              <a:rPr lang="en-US" sz="3200" b="1" dirty="0"/>
              <a:t>o</a:t>
            </a:r>
          </a:p>
          <a:p>
            <a:pPr>
              <a:lnSpc>
                <a:spcPct val="150000"/>
              </a:lnSpc>
            </a:pPr>
            <a:r>
              <a:rPr lang="en-US" sz="3200" dirty="0">
                <a:solidFill>
                  <a:srgbClr val="FF0000"/>
                </a:solidFill>
              </a:rPr>
              <a:t>Big Omega</a:t>
            </a:r>
            <a:r>
              <a:rPr lang="en-US" sz="3200" dirty="0"/>
              <a:t>	    </a:t>
            </a:r>
            <a:r>
              <a:rPr lang="en-US" sz="3200" b="1" dirty="0">
                <a:solidFill>
                  <a:srgbClr val="FF0000"/>
                </a:solidFill>
              </a:rPr>
              <a:t>Ω</a:t>
            </a:r>
          </a:p>
          <a:p>
            <a:pPr>
              <a:lnSpc>
                <a:spcPct val="150000"/>
              </a:lnSpc>
            </a:pPr>
            <a:r>
              <a:rPr lang="en-US" sz="3200" dirty="0"/>
              <a:t>Small-Omega	    </a:t>
            </a:r>
            <a:r>
              <a:rPr lang="el-GR" sz="3200" b="1" dirty="0"/>
              <a:t>ω</a:t>
            </a:r>
            <a:endParaRPr lang="en-US" sz="3200" b="1" dirty="0"/>
          </a:p>
          <a:p>
            <a:pPr>
              <a:lnSpc>
                <a:spcPct val="150000"/>
              </a:lnSpc>
            </a:pPr>
            <a:r>
              <a:rPr lang="en-US" sz="3200" dirty="0">
                <a:solidFill>
                  <a:srgbClr val="FF0000"/>
                </a:solidFill>
              </a:rPr>
              <a:t>Theta Notations   </a:t>
            </a:r>
            <a:r>
              <a:rPr lang="el-GR" sz="3200" b="1" dirty="0">
                <a:solidFill>
                  <a:srgbClr val="FF0000"/>
                </a:solidFill>
              </a:rPr>
              <a:t>Θ</a:t>
            </a:r>
            <a:endParaRPr lang="en-US" sz="3200" b="1" dirty="0">
              <a:solidFill>
                <a:srgbClr val="FF0000"/>
              </a:solidFill>
            </a:endParaRPr>
          </a:p>
        </p:txBody>
      </p:sp>
      <p:sp>
        <p:nvSpPr>
          <p:cNvPr id="4" name="Rectangle 3"/>
          <p:cNvSpPr/>
          <p:nvPr/>
        </p:nvSpPr>
        <p:spPr>
          <a:xfrm>
            <a:off x="5624945" y="833780"/>
            <a:ext cx="6096000" cy="3970318"/>
          </a:xfrm>
          <a:prstGeom prst="rect">
            <a:avLst/>
          </a:prstGeom>
          <a:ln>
            <a:solidFill>
              <a:schemeClr val="accent1"/>
            </a:solidFill>
          </a:ln>
        </p:spPr>
        <p:txBody>
          <a:bodyPr>
            <a:spAutoFit/>
          </a:bodyPr>
          <a:lstStyle/>
          <a:p>
            <a:pPr marL="457200" indent="-457200" algn="just">
              <a:lnSpc>
                <a:spcPct val="150000"/>
              </a:lnSpc>
              <a:buFont typeface="Arial" panose="020B0604020202020204" pitchFamily="34" charset="0"/>
              <a:buChar char="•"/>
            </a:pPr>
            <a:r>
              <a:rPr lang="en-US" sz="2800" b="1" dirty="0"/>
              <a:t>mathematical tool</a:t>
            </a:r>
            <a:endParaRPr lang="en-IN" sz="2800" dirty="0"/>
          </a:p>
          <a:p>
            <a:pPr marL="457200" indent="-457200" algn="just">
              <a:lnSpc>
                <a:spcPct val="150000"/>
              </a:lnSpc>
              <a:buFont typeface="Arial" panose="020B0604020202020204" pitchFamily="34" charset="0"/>
              <a:buChar char="•"/>
            </a:pPr>
            <a:r>
              <a:rPr lang="en-IN" sz="2800" b="1" dirty="0"/>
              <a:t>used to describe the running time of an algorithm </a:t>
            </a:r>
            <a:r>
              <a:rPr lang="en-IN" sz="2800" dirty="0"/>
              <a:t>- how much time an algorithm takes with a given input, n. </a:t>
            </a:r>
          </a:p>
          <a:p>
            <a:pPr marL="457200" indent="-457200" algn="just">
              <a:lnSpc>
                <a:spcPct val="150000"/>
              </a:lnSpc>
              <a:buFont typeface="Arial" panose="020B0604020202020204" pitchFamily="34" charset="0"/>
              <a:buChar char="•"/>
            </a:pPr>
            <a:r>
              <a:rPr lang="en-IN" sz="2800" dirty="0"/>
              <a:t>three different notations: </a:t>
            </a:r>
          </a:p>
          <a:p>
            <a:pPr algn="just">
              <a:lnSpc>
                <a:spcPct val="150000"/>
              </a:lnSpc>
            </a:pPr>
            <a:r>
              <a:rPr lang="en-IN" sz="2800" b="1" dirty="0"/>
              <a:t>big O, big Theta (Θ), and big Omega (Ω)</a:t>
            </a:r>
            <a:r>
              <a:rPr lang="en-IN" sz="2800" dirty="0"/>
              <a:t>.</a:t>
            </a:r>
            <a:endParaRPr lang="en-GB" sz="2800" dirty="0"/>
          </a:p>
        </p:txBody>
      </p:sp>
    </p:spTree>
    <p:extLst>
      <p:ext uri="{BB962C8B-B14F-4D97-AF65-F5344CB8AC3E}">
        <p14:creationId xmlns:p14="http://schemas.microsoft.com/office/powerpoint/2010/main" val="3603212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2509" y="238174"/>
            <a:ext cx="11471564" cy="5909310"/>
          </a:xfrm>
          <a:prstGeom prst="rect">
            <a:avLst/>
          </a:prstGeom>
        </p:spPr>
        <p:txBody>
          <a:bodyPr wrap="square">
            <a:spAutoFit/>
          </a:bodyPr>
          <a:lstStyle/>
          <a:p>
            <a:pPr algn="just" fontAlgn="base">
              <a:lnSpc>
                <a:spcPct val="150000"/>
              </a:lnSpc>
            </a:pPr>
            <a:r>
              <a:rPr lang="en-IN" sz="3600" b="1" dirty="0"/>
              <a:t>Popular Notations in Complexity Analysis of Algorithms</a:t>
            </a:r>
          </a:p>
          <a:p>
            <a:pPr algn="just" fontAlgn="base">
              <a:lnSpc>
                <a:spcPct val="150000"/>
              </a:lnSpc>
            </a:pPr>
            <a:r>
              <a:rPr lang="en-IN" sz="3600" b="1" dirty="0"/>
              <a:t>1. Big-O Notation</a:t>
            </a:r>
          </a:p>
          <a:p>
            <a:pPr marL="457200" indent="-457200" algn="just" fontAlgn="base">
              <a:lnSpc>
                <a:spcPct val="150000"/>
              </a:lnSpc>
              <a:buFont typeface="Arial" pitchFamily="34" charset="0"/>
              <a:buChar char="•"/>
            </a:pPr>
            <a:r>
              <a:rPr lang="en-IN" sz="3200" dirty="0"/>
              <a:t>We define an algorithm’s </a:t>
            </a:r>
            <a:r>
              <a:rPr lang="en-IN" sz="3600" b="1" dirty="0"/>
              <a:t>worst-case</a:t>
            </a:r>
            <a:r>
              <a:rPr lang="en-IN" sz="3200" dirty="0"/>
              <a:t> time complexity by using the Big-O notation, </a:t>
            </a:r>
            <a:r>
              <a:rPr lang="en-IN" sz="3600" b="1" dirty="0"/>
              <a:t>which determines the set of functions grows slower than or at the same rate as the expression.</a:t>
            </a:r>
            <a:r>
              <a:rPr lang="en-IN" sz="3600" dirty="0"/>
              <a:t> </a:t>
            </a:r>
          </a:p>
          <a:p>
            <a:pPr marL="571500" indent="-571500" algn="just" fontAlgn="base">
              <a:lnSpc>
                <a:spcPct val="150000"/>
              </a:lnSpc>
              <a:buFont typeface="Arial" pitchFamily="34" charset="0"/>
              <a:buChar char="•"/>
            </a:pPr>
            <a:r>
              <a:rPr lang="en-IN" sz="3600" dirty="0"/>
              <a:t>It explains the </a:t>
            </a:r>
            <a:r>
              <a:rPr lang="en-IN" sz="3600" b="1" dirty="0"/>
              <a:t>maximum amount of time</a:t>
            </a:r>
            <a:r>
              <a:rPr lang="en-IN" sz="3600" dirty="0"/>
              <a:t> an algorithm requires to consider all input values.</a:t>
            </a:r>
          </a:p>
        </p:txBody>
      </p:sp>
    </p:spTree>
    <p:extLst>
      <p:ext uri="{BB962C8B-B14F-4D97-AF65-F5344CB8AC3E}">
        <p14:creationId xmlns:p14="http://schemas.microsoft.com/office/powerpoint/2010/main" val="937179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90791" y="162043"/>
            <a:ext cx="8057715"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sz="2400" b="1" i="0" u="none" strike="noStrike" cap="none" normalizeH="0" baseline="0" dirty="0">
                <a:ln>
                  <a:noFill/>
                </a:ln>
                <a:effectLst/>
                <a:cs typeface="Arial" pitchFamily="34" charset="0"/>
              </a:rPr>
              <a:t>Big-Oh (O) notation (worst case)</a:t>
            </a:r>
          </a:p>
          <a:p>
            <a:pPr marL="342900" marR="0" lvl="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effectLst/>
                <a:cs typeface="Arial" pitchFamily="34" charset="0"/>
              </a:rPr>
              <a:t>gives an </a:t>
            </a:r>
            <a:r>
              <a:rPr kumimoji="0" lang="en-US" sz="2400" b="1" i="0" u="none" strike="noStrike" cap="none" normalizeH="0" baseline="0" dirty="0">
                <a:ln>
                  <a:noFill/>
                </a:ln>
                <a:effectLst/>
                <a:cs typeface="Arial" pitchFamily="34" charset="0"/>
              </a:rPr>
              <a:t>upper bound</a:t>
            </a:r>
            <a:r>
              <a:rPr kumimoji="0" lang="en-US" sz="2400" b="0" i="0" u="none" strike="noStrike" cap="none" normalizeH="0" baseline="0" dirty="0">
                <a:ln>
                  <a:noFill/>
                </a:ln>
                <a:effectLst/>
                <a:cs typeface="Arial" pitchFamily="34" charset="0"/>
              </a:rPr>
              <a:t> for a function f(n) to within a constant factor.    </a:t>
            </a:r>
            <a:r>
              <a:rPr lang="en-US" sz="2000" dirty="0">
                <a:cs typeface="Arial" pitchFamily="34" charset="0"/>
              </a:rPr>
              <a:t>(n</a:t>
            </a:r>
            <a:r>
              <a:rPr kumimoji="0" lang="en-US" sz="2000" b="0" i="0" u="none" strike="noStrike" cap="none" normalizeH="0" baseline="0" dirty="0">
                <a:ln>
                  <a:noFill/>
                </a:ln>
                <a:effectLst/>
                <a:cs typeface="Arial" pitchFamily="34" charset="0"/>
              </a:rPr>
              <a:t> is the size of input)</a:t>
            </a:r>
            <a:endParaRPr kumimoji="0" lang="en-US" b="0" i="0" u="none" strike="noStrike" cap="none" normalizeH="0" baseline="0" dirty="0">
              <a:ln>
                <a:noFill/>
              </a:ln>
              <a:effectLst/>
              <a:cs typeface="Arial"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effectLst/>
                <a:cs typeface="Arial" pitchFamily="34" charset="0"/>
              </a:rPr>
              <a:t>f(n) = O(g(n)), If there are positive constants n0  and c such that, to the right of n0 the f(n) always lies on or below</a:t>
            </a:r>
            <a:r>
              <a:rPr kumimoji="0" lang="en-US" sz="2400" b="0" i="0" u="none" strike="noStrike" cap="none" normalizeH="0" dirty="0">
                <a:ln>
                  <a:noFill/>
                </a:ln>
                <a:effectLst/>
                <a:cs typeface="Arial" pitchFamily="34" charset="0"/>
              </a:rPr>
              <a:t> </a:t>
            </a:r>
            <a:r>
              <a:rPr kumimoji="0" lang="en-US" sz="2400" b="0" i="0" u="none" strike="noStrike" cap="none" normalizeH="0" baseline="0" dirty="0">
                <a:ln>
                  <a:noFill/>
                </a:ln>
                <a:effectLst/>
                <a:cs typeface="Arial" pitchFamily="34" charset="0"/>
              </a:rPr>
              <a:t>c*g(n)</a:t>
            </a:r>
          </a:p>
          <a:p>
            <a:pPr marL="800100" lvl="1" indent="-342900" algn="just" eaLnBrk="0" fontAlgn="base" hangingPunct="0">
              <a:lnSpc>
                <a:spcPct val="150000"/>
              </a:lnSpc>
              <a:spcBef>
                <a:spcPct val="0"/>
              </a:spcBef>
              <a:spcAft>
                <a:spcPct val="0"/>
              </a:spcAft>
              <a:buFont typeface="Arial" panose="020B0604020202020204" pitchFamily="34" charset="0"/>
              <a:buChar char="•"/>
            </a:pPr>
            <a:r>
              <a:rPr lang="en-US" sz="2400" b="1" dirty="0">
                <a:solidFill>
                  <a:srgbClr val="FF0000"/>
                </a:solidFill>
                <a:cs typeface="Arial" pitchFamily="34" charset="0"/>
              </a:rPr>
              <a:t>f(n) &lt;= c*g(n)</a:t>
            </a:r>
            <a:r>
              <a:rPr lang="en-US" sz="2400" b="1" dirty="0">
                <a:cs typeface="Arial" pitchFamily="34" charset="0"/>
              </a:rPr>
              <a:t>  ……</a:t>
            </a:r>
            <a:r>
              <a:rPr lang="en-US" sz="2400" dirty="0">
                <a:cs typeface="Arial" pitchFamily="34" charset="0"/>
              </a:rPr>
              <a:t> </a:t>
            </a:r>
            <a:r>
              <a:rPr lang="en-US" sz="2400" dirty="0">
                <a:solidFill>
                  <a:srgbClr val="000000"/>
                </a:solidFill>
                <a:cs typeface="Arial" pitchFamily="34" charset="0"/>
              </a:rPr>
              <a:t>n ≥ n0</a:t>
            </a:r>
            <a:endParaRPr lang="en-US" sz="2400" b="1" dirty="0">
              <a:solidFill>
                <a:srgbClr val="FF0000"/>
              </a:solidFill>
              <a:cs typeface="Arial" pitchFamily="34" charset="0"/>
            </a:endParaRPr>
          </a:p>
          <a:p>
            <a:pPr marL="342900" lvl="0" indent="-342900" algn="just" eaLnBrk="0" fontAlgn="base" hangingPunct="0">
              <a:lnSpc>
                <a:spcPct val="150000"/>
              </a:lnSpc>
              <a:spcBef>
                <a:spcPct val="0"/>
              </a:spcBef>
              <a:spcAft>
                <a:spcPct val="0"/>
              </a:spcAft>
              <a:buFont typeface="Arial" panose="020B0604020202020204" pitchFamily="34" charset="0"/>
              <a:buChar char="•"/>
            </a:pPr>
            <a:r>
              <a:rPr kumimoji="0" lang="en-US" sz="2400" b="0" i="0" u="none" strike="noStrike" cap="none" normalizeH="0" baseline="0" dirty="0">
                <a:ln>
                  <a:noFill/>
                </a:ln>
                <a:solidFill>
                  <a:srgbClr val="000000"/>
                </a:solidFill>
                <a:effectLst/>
                <a:cs typeface="Arial" pitchFamily="34" charset="0"/>
              </a:rPr>
              <a:t>O(g(n)) = { f(n) : There exist positive constant c and n0 such 		that 0 ≤ f(n) ≤ c g(n), for all n ≥ n0, c &gt;0 }</a:t>
            </a:r>
          </a:p>
          <a:p>
            <a:pPr lvl="0" algn="just" eaLnBrk="0" fontAlgn="base" hangingPunct="0">
              <a:lnSpc>
                <a:spcPct val="150000"/>
              </a:lnSpc>
              <a:spcBef>
                <a:spcPct val="0"/>
              </a:spcBef>
              <a:spcAft>
                <a:spcPct val="0"/>
              </a:spcAft>
            </a:pPr>
            <a:r>
              <a:rPr lang="en-US" sz="2400" dirty="0">
                <a:solidFill>
                  <a:srgbClr val="000000"/>
                </a:solidFill>
                <a:cs typeface="Arial" pitchFamily="34" charset="0"/>
              </a:rPr>
              <a:t>After some </a:t>
            </a:r>
            <a:r>
              <a:rPr lang="en-US" sz="2400" b="1" dirty="0">
                <a:solidFill>
                  <a:srgbClr val="FF0000"/>
                </a:solidFill>
                <a:cs typeface="Arial" pitchFamily="34" charset="0"/>
              </a:rPr>
              <a:t>n0</a:t>
            </a:r>
            <a:r>
              <a:rPr lang="en-US" sz="2400" dirty="0">
                <a:solidFill>
                  <a:srgbClr val="000000"/>
                </a:solidFill>
                <a:cs typeface="Arial" pitchFamily="34" charset="0"/>
              </a:rPr>
              <a:t> value of </a:t>
            </a:r>
            <a:r>
              <a:rPr lang="en-US" sz="2400" b="1" dirty="0">
                <a:solidFill>
                  <a:srgbClr val="FF0000"/>
                </a:solidFill>
                <a:cs typeface="Arial" pitchFamily="34" charset="0"/>
              </a:rPr>
              <a:t>c*g(n) </a:t>
            </a:r>
            <a:r>
              <a:rPr lang="en-US" sz="2400" dirty="0">
                <a:solidFill>
                  <a:srgbClr val="000000"/>
                </a:solidFill>
                <a:cs typeface="Arial" pitchFamily="34" charset="0"/>
              </a:rPr>
              <a:t>is always greater than </a:t>
            </a:r>
            <a:r>
              <a:rPr lang="en-US" sz="2000" b="1" dirty="0">
                <a:solidFill>
                  <a:srgbClr val="FF0000"/>
                </a:solidFill>
                <a:cs typeface="Arial" pitchFamily="34" charset="0"/>
              </a:rPr>
              <a:t>f(n)</a:t>
            </a:r>
          </a:p>
          <a:p>
            <a:pPr lvl="0" algn="ctr" eaLnBrk="0" fontAlgn="base" hangingPunct="0">
              <a:lnSpc>
                <a:spcPct val="150000"/>
              </a:lnSpc>
              <a:spcBef>
                <a:spcPct val="0"/>
              </a:spcBef>
              <a:spcAft>
                <a:spcPct val="0"/>
              </a:spcAft>
            </a:pPr>
            <a:r>
              <a:rPr lang="en-US" sz="2800" b="1" dirty="0">
                <a:solidFill>
                  <a:schemeClr val="accent6">
                    <a:lumMod val="50000"/>
                  </a:schemeClr>
                </a:solidFill>
                <a:cs typeface="Arial" pitchFamily="34" charset="0"/>
              </a:rPr>
              <a:t>f(n) = O(g(n))     </a:t>
            </a:r>
            <a:r>
              <a:rPr lang="en-US" sz="2800" b="1" dirty="0">
                <a:cs typeface="Arial" pitchFamily="34" charset="0"/>
              </a:rPr>
              <a:t> …</a:t>
            </a:r>
            <a:r>
              <a:rPr lang="en-IN" sz="2800" dirty="0"/>
              <a:t> n&gt;=n0,    c&gt;0,    n0&gt;1</a:t>
            </a:r>
            <a:endParaRPr kumimoji="0" lang="en-US" sz="2800" b="1" i="0" u="none" strike="noStrike" cap="none" normalizeH="0" baseline="0" dirty="0">
              <a:ln>
                <a:noFill/>
              </a:ln>
              <a:solidFill>
                <a:schemeClr val="accent6">
                  <a:lumMod val="50000"/>
                </a:schemeClr>
              </a:solidFill>
              <a:effectLst/>
              <a:cs typeface="Arial" pitchFamily="34" charset="0"/>
            </a:endParaRPr>
          </a:p>
        </p:txBody>
      </p:sp>
      <p:pic>
        <p:nvPicPr>
          <p:cNvPr id="2050" name="Picture 2" descr="https://www.tutorialspoint.com/assets/questions/media/9995/big_oh_not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8506" y="173181"/>
            <a:ext cx="3373582" cy="33735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339769" y="77118"/>
            <a:ext cx="374573" cy="369332"/>
          </a:xfrm>
          <a:prstGeom prst="rect">
            <a:avLst/>
          </a:prstGeom>
          <a:noFill/>
        </p:spPr>
        <p:txBody>
          <a:bodyPr wrap="square" rtlCol="0">
            <a:spAutoFit/>
          </a:bodyPr>
          <a:lstStyle/>
          <a:p>
            <a:r>
              <a:rPr lang="en-US" dirty="0"/>
              <a:t>t</a:t>
            </a:r>
          </a:p>
        </p:txBody>
      </p:sp>
    </p:spTree>
    <p:extLst>
      <p:ext uri="{BB962C8B-B14F-4D97-AF65-F5344CB8AC3E}">
        <p14:creationId xmlns:p14="http://schemas.microsoft.com/office/powerpoint/2010/main" val="3451791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781" y="404382"/>
            <a:ext cx="11360727" cy="6278642"/>
          </a:xfrm>
          <a:prstGeom prst="rect">
            <a:avLst/>
          </a:prstGeom>
        </p:spPr>
        <p:txBody>
          <a:bodyPr wrap="square">
            <a:spAutoFit/>
          </a:bodyPr>
          <a:lstStyle/>
          <a:p>
            <a:pPr algn="just" fontAlgn="base">
              <a:lnSpc>
                <a:spcPct val="150000"/>
              </a:lnSpc>
            </a:pPr>
            <a:r>
              <a:rPr lang="en-GB" sz="2800" b="1" dirty="0"/>
              <a:t>Little-o </a:t>
            </a:r>
            <a:r>
              <a:rPr lang="en-IN" sz="2800" b="1" dirty="0"/>
              <a:t>Notation (o)</a:t>
            </a:r>
            <a:endParaRPr lang="en-IN" sz="2800" dirty="0"/>
          </a:p>
          <a:p>
            <a:pPr marL="342900" indent="-342900" algn="just">
              <a:lnSpc>
                <a:spcPct val="150000"/>
              </a:lnSpc>
              <a:buFont typeface="Arial" pitchFamily="34" charset="0"/>
              <a:buChar char="•"/>
            </a:pPr>
            <a:r>
              <a:rPr lang="en-IN" sz="2400" b="1" dirty="0"/>
              <a:t>Little-o notation is used to denote an upper-bound that is not asymptotically tight</a:t>
            </a:r>
            <a:r>
              <a:rPr lang="en-IN" sz="2400" dirty="0"/>
              <a:t>. It is formally defined as:</a:t>
            </a:r>
          </a:p>
          <a:p>
            <a:pPr marL="342900" indent="-342900" algn="just">
              <a:lnSpc>
                <a:spcPct val="150000"/>
              </a:lnSpc>
              <a:buFont typeface="Arial" pitchFamily="34" charset="0"/>
              <a:buChar char="•"/>
            </a:pPr>
            <a:r>
              <a:rPr lang="en-IN" sz="2400" dirty="0"/>
              <a:t> o(g(n)) = </a:t>
            </a:r>
            <a:r>
              <a:rPr lang="en-US" sz="2400" dirty="0">
                <a:solidFill>
                  <a:srgbClr val="000000"/>
                </a:solidFill>
                <a:cs typeface="Arial" pitchFamily="34" charset="0"/>
              </a:rPr>
              <a:t>{ f(n) : There exist positive constant c and n0 such that 0 ≤ f(n) ≤ c g(n), for all n ≥ n0, c &gt;0 }</a:t>
            </a:r>
            <a:endParaRPr lang="en-IN" sz="2400" dirty="0"/>
          </a:p>
          <a:p>
            <a:pPr marL="342900" indent="-342900" algn="just">
              <a:lnSpc>
                <a:spcPct val="150000"/>
              </a:lnSpc>
              <a:buFont typeface="Arial" pitchFamily="34" charset="0"/>
              <a:buChar char="•"/>
            </a:pPr>
            <a:r>
              <a:rPr lang="en-IN" sz="2400" dirty="0"/>
              <a:t>for any positive constant , there exists positive constant  such that  for all .</a:t>
            </a:r>
          </a:p>
          <a:p>
            <a:pPr marL="342900" indent="-342900" algn="just">
              <a:lnSpc>
                <a:spcPct val="150000"/>
              </a:lnSpc>
              <a:buFont typeface="Arial" pitchFamily="34" charset="0"/>
              <a:buChar char="•"/>
            </a:pPr>
            <a:r>
              <a:rPr lang="en-IN" sz="2400" b="1" dirty="0"/>
              <a:t>The set of functions f(n) are strictly smaller than</a:t>
            </a:r>
            <a:r>
              <a:rPr lang="en-IN" sz="2400" dirty="0"/>
              <a:t> </a:t>
            </a:r>
            <a:r>
              <a:rPr lang="en-IN" sz="2400" b="1" dirty="0"/>
              <a:t>c*g(n)</a:t>
            </a:r>
            <a:r>
              <a:rPr lang="en-IN" sz="2400" dirty="0"/>
              <a:t>, </a:t>
            </a:r>
            <a:r>
              <a:rPr lang="en-IN" sz="2400" b="1" dirty="0"/>
              <a:t>meaning that</a:t>
            </a:r>
            <a:r>
              <a:rPr lang="en-IN" sz="2400" dirty="0"/>
              <a:t> </a:t>
            </a:r>
            <a:r>
              <a:rPr lang="en-IN" sz="2400" b="1" dirty="0"/>
              <a:t>little-o notation is a stronger upper bound than big-O notation</a:t>
            </a:r>
            <a:r>
              <a:rPr lang="en-IN" sz="2400" dirty="0"/>
              <a:t>. </a:t>
            </a:r>
          </a:p>
          <a:p>
            <a:pPr marL="342900" indent="-342900" algn="just">
              <a:lnSpc>
                <a:spcPct val="150000"/>
              </a:lnSpc>
              <a:buFont typeface="Arial" pitchFamily="34" charset="0"/>
              <a:buChar char="•"/>
            </a:pPr>
            <a:r>
              <a:rPr lang="en-IN" sz="2400" dirty="0"/>
              <a:t>In other words, the little-o notation does not allow the function  to have the same growth rate as .</a:t>
            </a:r>
          </a:p>
          <a:p>
            <a:pPr algn="just" fontAlgn="base">
              <a:lnSpc>
                <a:spcPct val="150000"/>
              </a:lnSpc>
            </a:pPr>
            <a:endParaRPr lang="en-IN" sz="2400" b="1" dirty="0"/>
          </a:p>
        </p:txBody>
      </p:sp>
    </p:spTree>
    <p:extLst>
      <p:ext uri="{BB962C8B-B14F-4D97-AF65-F5344CB8AC3E}">
        <p14:creationId xmlns:p14="http://schemas.microsoft.com/office/powerpoint/2010/main" val="3072454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781" y="404382"/>
            <a:ext cx="11360727" cy="4708981"/>
          </a:xfrm>
          <a:prstGeom prst="rect">
            <a:avLst/>
          </a:prstGeom>
        </p:spPr>
        <p:txBody>
          <a:bodyPr wrap="square">
            <a:spAutoFit/>
          </a:bodyPr>
          <a:lstStyle/>
          <a:p>
            <a:pPr algn="just" fontAlgn="base">
              <a:lnSpc>
                <a:spcPct val="150000"/>
              </a:lnSpc>
            </a:pPr>
            <a:r>
              <a:rPr lang="en-IN" sz="3200" b="1" dirty="0"/>
              <a:t>2. Omega Notation (Big Omega) </a:t>
            </a:r>
            <a:r>
              <a:rPr lang="en-IN" sz="4000" dirty="0"/>
              <a:t>Ω</a:t>
            </a:r>
            <a:endParaRPr lang="en-IN" sz="4000" b="1" dirty="0"/>
          </a:p>
          <a:p>
            <a:pPr marL="457200" indent="-457200" algn="just" fontAlgn="base">
              <a:lnSpc>
                <a:spcPct val="150000"/>
              </a:lnSpc>
              <a:buFont typeface="Arial" pitchFamily="34" charset="0"/>
              <a:buChar char="•"/>
            </a:pPr>
            <a:r>
              <a:rPr lang="en-IN" sz="3200" dirty="0"/>
              <a:t>It defines the</a:t>
            </a:r>
            <a:r>
              <a:rPr lang="en-IN" sz="3200" b="1" dirty="0"/>
              <a:t> best case</a:t>
            </a:r>
            <a:r>
              <a:rPr lang="en-IN" sz="3200" dirty="0"/>
              <a:t> of an algorithm’s time complexity, the Omega notation </a:t>
            </a:r>
            <a:r>
              <a:rPr lang="en-IN" sz="3200" b="1" dirty="0"/>
              <a:t>defines whether the set of functions will grow faster or at the same rate as the expression</a:t>
            </a:r>
            <a:r>
              <a:rPr lang="en-IN" sz="3200" dirty="0"/>
              <a:t>. </a:t>
            </a:r>
          </a:p>
          <a:p>
            <a:pPr marL="457200" indent="-457200" algn="just" fontAlgn="base">
              <a:lnSpc>
                <a:spcPct val="150000"/>
              </a:lnSpc>
              <a:buFont typeface="Arial" pitchFamily="34" charset="0"/>
              <a:buChar char="•"/>
            </a:pPr>
            <a:r>
              <a:rPr lang="en-IN" sz="3200" dirty="0"/>
              <a:t>It explains the </a:t>
            </a:r>
            <a:r>
              <a:rPr lang="en-IN" sz="3200" b="1" dirty="0"/>
              <a:t>minimum amount of time </a:t>
            </a:r>
            <a:r>
              <a:rPr lang="en-IN" sz="3200" dirty="0"/>
              <a:t>an algorithm requires to consider all input values.</a:t>
            </a:r>
          </a:p>
        </p:txBody>
      </p:sp>
    </p:spTree>
    <p:extLst>
      <p:ext uri="{BB962C8B-B14F-4D97-AF65-F5344CB8AC3E}">
        <p14:creationId xmlns:p14="http://schemas.microsoft.com/office/powerpoint/2010/main" val="1283459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8654" y="362635"/>
            <a:ext cx="6733310" cy="5262979"/>
          </a:xfrm>
          <a:prstGeom prst="rect">
            <a:avLst/>
          </a:prstGeom>
        </p:spPr>
        <p:txBody>
          <a:bodyPr wrap="square">
            <a:spAutoFit/>
          </a:bodyPr>
          <a:lstStyle/>
          <a:p>
            <a:pPr algn="just">
              <a:lnSpc>
                <a:spcPct val="150000"/>
              </a:lnSpc>
            </a:pPr>
            <a:r>
              <a:rPr lang="en-IN" sz="2400" b="1" dirty="0"/>
              <a:t>Big-Omega Ω</a:t>
            </a:r>
            <a:r>
              <a:rPr lang="en-IN" sz="2400" dirty="0"/>
              <a:t> notation gives a </a:t>
            </a:r>
            <a:r>
              <a:rPr lang="en-IN" sz="2400" b="1" dirty="0"/>
              <a:t>lower bound </a:t>
            </a:r>
            <a:r>
              <a:rPr lang="en-IN" sz="2400" dirty="0"/>
              <a:t>for a function f(n) to within a constant factor.</a:t>
            </a:r>
            <a:endParaRPr lang="en-GB" sz="2400" dirty="0"/>
          </a:p>
          <a:p>
            <a:pPr marL="342900" indent="-342900" algn="just">
              <a:lnSpc>
                <a:spcPct val="150000"/>
              </a:lnSpc>
              <a:buFont typeface="Arial" panose="020B0604020202020204" pitchFamily="34" charset="0"/>
              <a:buChar char="•"/>
            </a:pPr>
            <a:r>
              <a:rPr lang="en-IN" sz="2400" dirty="0"/>
              <a:t>We write f(n) = Ω(g(n)), If there are positive constants n0  and c such that, to the right of n0 the f(n) always lies on or above c*g(n).</a:t>
            </a:r>
          </a:p>
          <a:p>
            <a:pPr marL="342900" indent="-342900" algn="just">
              <a:lnSpc>
                <a:spcPct val="150000"/>
              </a:lnSpc>
              <a:buFont typeface="Arial" panose="020B0604020202020204" pitchFamily="34" charset="0"/>
              <a:buChar char="•"/>
            </a:pPr>
            <a:r>
              <a:rPr lang="en-IN" sz="2400" dirty="0"/>
              <a:t>Ω(g(n)) = { f(n) : There exist positive constant c and n0 such that 0 ≤ c g(n) ≤ f(n), for all n ≥ n0}</a:t>
            </a:r>
          </a:p>
          <a:p>
            <a:pPr marL="342900" indent="-342900" algn="just">
              <a:lnSpc>
                <a:spcPct val="150000"/>
              </a:lnSpc>
              <a:buFont typeface="Arial" panose="020B0604020202020204" pitchFamily="34" charset="0"/>
              <a:buChar char="•"/>
            </a:pPr>
            <a:r>
              <a:rPr lang="en-IN" sz="3200" b="1" dirty="0">
                <a:solidFill>
                  <a:schemeClr val="accent6">
                    <a:lumMod val="50000"/>
                  </a:schemeClr>
                </a:solidFill>
              </a:rPr>
              <a:t>f(n) &gt;= c g(n) </a:t>
            </a:r>
            <a:r>
              <a:rPr lang="en-IN" sz="2400" dirty="0"/>
              <a:t>    … n&gt;=n0,    c&gt;0,    n0&gt;1</a:t>
            </a:r>
          </a:p>
          <a:p>
            <a:pPr algn="just">
              <a:lnSpc>
                <a:spcPct val="150000"/>
              </a:lnSpc>
            </a:pPr>
            <a:endParaRPr lang="en-GB" sz="2400" dirty="0"/>
          </a:p>
        </p:txBody>
      </p:sp>
      <p:pic>
        <p:nvPicPr>
          <p:cNvPr id="3074" name="Picture 2" descr="https://www.tutorialspoint.com/assets/questions/media/9995/big_omega_not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5465" y="623083"/>
            <a:ext cx="3973080" cy="3954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033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7400"/>
            <a:ext cx="11319164" cy="3970318"/>
          </a:xfrm>
          <a:prstGeom prst="rect">
            <a:avLst/>
          </a:prstGeom>
        </p:spPr>
        <p:txBody>
          <a:bodyPr wrap="square">
            <a:spAutoFit/>
          </a:bodyPr>
          <a:lstStyle/>
          <a:p>
            <a:pPr algn="just" fontAlgn="base">
              <a:lnSpc>
                <a:spcPct val="150000"/>
              </a:lnSpc>
            </a:pPr>
            <a:r>
              <a:rPr lang="en-IN" sz="3200" b="1" dirty="0"/>
              <a:t>3. Theta Notation </a:t>
            </a:r>
            <a:r>
              <a:rPr lang="en-IN" sz="4000" b="1" dirty="0"/>
              <a:t>Θ</a:t>
            </a:r>
            <a:endParaRPr lang="en-IN" sz="3200" b="1" dirty="0"/>
          </a:p>
          <a:p>
            <a:pPr marL="457200" indent="-457200" algn="just" fontAlgn="base">
              <a:lnSpc>
                <a:spcPct val="150000"/>
              </a:lnSpc>
              <a:buFont typeface="Arial" pitchFamily="34" charset="0"/>
              <a:buChar char="•"/>
            </a:pPr>
            <a:r>
              <a:rPr lang="en-IN" sz="3200" dirty="0"/>
              <a:t>It defines the </a:t>
            </a:r>
            <a:r>
              <a:rPr lang="en-IN" sz="3200" b="1" dirty="0"/>
              <a:t>average case</a:t>
            </a:r>
            <a:r>
              <a:rPr lang="en-IN" sz="3200" dirty="0"/>
              <a:t> of an algorithm’s time complexity.</a:t>
            </a:r>
          </a:p>
          <a:p>
            <a:pPr marL="457200" indent="-457200" algn="just" fontAlgn="base">
              <a:lnSpc>
                <a:spcPct val="150000"/>
              </a:lnSpc>
              <a:buFont typeface="Arial" pitchFamily="34" charset="0"/>
              <a:buChar char="•"/>
            </a:pPr>
            <a:r>
              <a:rPr lang="en-IN" sz="3200" dirty="0"/>
              <a:t>Theta notation defines when the set of functions lies in both </a:t>
            </a:r>
            <a:r>
              <a:rPr lang="en-IN" sz="3200" b="1" dirty="0"/>
              <a:t>O(expression)</a:t>
            </a:r>
            <a:r>
              <a:rPr lang="en-IN" sz="3200" dirty="0"/>
              <a:t> and </a:t>
            </a:r>
            <a:r>
              <a:rPr lang="en-IN" sz="3200" b="1" dirty="0"/>
              <a:t>Omega(expression)</a:t>
            </a:r>
            <a:r>
              <a:rPr lang="en-IN" sz="3200" dirty="0"/>
              <a:t>, then Theta notation is used.</a:t>
            </a:r>
          </a:p>
        </p:txBody>
      </p:sp>
    </p:spTree>
    <p:extLst>
      <p:ext uri="{BB962C8B-B14F-4D97-AF65-F5344CB8AC3E}">
        <p14:creationId xmlns:p14="http://schemas.microsoft.com/office/powerpoint/2010/main" val="990772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www.tutorialspoint.com/assets/questions/media/9995/big_theta_not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738" y="379990"/>
            <a:ext cx="3280351" cy="328035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80262" y="247788"/>
            <a:ext cx="7720737" cy="6370975"/>
          </a:xfrm>
          <a:prstGeom prst="rect">
            <a:avLst/>
          </a:prstGeom>
        </p:spPr>
        <p:txBody>
          <a:bodyPr wrap="square">
            <a:spAutoFit/>
          </a:bodyPr>
          <a:lstStyle/>
          <a:p>
            <a:pPr algn="just">
              <a:lnSpc>
                <a:spcPct val="150000"/>
              </a:lnSpc>
            </a:pPr>
            <a:r>
              <a:rPr lang="en-IN" sz="2400" b="1" dirty="0"/>
              <a:t>Big-Theta(Θ)</a:t>
            </a:r>
            <a:r>
              <a:rPr lang="en-IN" sz="2400" dirty="0"/>
              <a:t> notation gives bound for a function f(n) to within a constant factor.</a:t>
            </a:r>
          </a:p>
          <a:p>
            <a:pPr marL="342900" indent="-342900" algn="just">
              <a:lnSpc>
                <a:spcPct val="150000"/>
              </a:lnSpc>
              <a:buFont typeface="Arial" panose="020B0604020202020204" pitchFamily="34" charset="0"/>
              <a:buChar char="•"/>
            </a:pPr>
            <a:r>
              <a:rPr lang="en-IN" sz="2400" dirty="0"/>
              <a:t>We write f(n) = Θ(g(n)), If there are positive constantsn0  and c1 and c2 such that, to the right of n0 the f(n) always lies between c1*g(n) and c2*g(n) inclusive.</a:t>
            </a:r>
          </a:p>
          <a:p>
            <a:pPr marL="342900" indent="-342900" algn="just">
              <a:lnSpc>
                <a:spcPct val="150000"/>
              </a:lnSpc>
              <a:buFont typeface="Arial" panose="020B0604020202020204" pitchFamily="34" charset="0"/>
              <a:buChar char="•"/>
            </a:pPr>
            <a:r>
              <a:rPr lang="en-IN" sz="2400" dirty="0"/>
              <a:t> Θ(g(n)) = {f(n) : There exist positive constant c1, c2 and n0 such that 0 ≤ c1 g(n) ≤ f(n) ≤ c2 g(n), for all n ≥ n0}</a:t>
            </a:r>
          </a:p>
          <a:p>
            <a:pPr marL="342900" indent="-342900" algn="just">
              <a:lnSpc>
                <a:spcPct val="150000"/>
              </a:lnSpc>
              <a:buFont typeface="Arial" panose="020B0604020202020204" pitchFamily="34" charset="0"/>
              <a:buChar char="•"/>
            </a:pPr>
            <a:r>
              <a:rPr lang="en-IN" sz="3200" b="1" dirty="0">
                <a:solidFill>
                  <a:schemeClr val="accent6">
                    <a:lumMod val="50000"/>
                  </a:schemeClr>
                </a:solidFill>
              </a:rPr>
              <a:t>c1 g(n) ≤ f(n) ≤ c2 g(n) </a:t>
            </a:r>
            <a:r>
              <a:rPr lang="en-IN" sz="2400" dirty="0"/>
              <a:t> </a:t>
            </a:r>
          </a:p>
          <a:p>
            <a:pPr algn="just">
              <a:lnSpc>
                <a:spcPct val="150000"/>
              </a:lnSpc>
            </a:pPr>
            <a:r>
              <a:rPr lang="en-IN" sz="2400" dirty="0"/>
              <a:t>		…n&gt;=n0,  c1, c2 &gt;0,  n0&gt;=1</a:t>
            </a:r>
          </a:p>
          <a:p>
            <a:pPr marL="342900" indent="-342900" algn="just">
              <a:lnSpc>
                <a:spcPct val="150000"/>
              </a:lnSpc>
              <a:buFont typeface="Arial" panose="020B0604020202020204" pitchFamily="34" charset="0"/>
              <a:buChar char="•"/>
            </a:pPr>
            <a:endParaRPr lang="en-IN" sz="2400" dirty="0"/>
          </a:p>
          <a:p>
            <a:pPr algn="just">
              <a:lnSpc>
                <a:spcPct val="150000"/>
              </a:lnSpc>
            </a:pPr>
            <a:endParaRPr lang="en-GB" sz="2400" dirty="0"/>
          </a:p>
        </p:txBody>
      </p:sp>
    </p:spTree>
    <p:extLst>
      <p:ext uri="{BB962C8B-B14F-4D97-AF65-F5344CB8AC3E}">
        <p14:creationId xmlns:p14="http://schemas.microsoft.com/office/powerpoint/2010/main" val="2643279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0101" y="693593"/>
            <a:ext cx="6358371" cy="5137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0496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algorithm - Difference between Big-O and Little-O Notation - Stack Overflow"/>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algorithm - Difference between Big-O and Little-O Notation - Stack Overflow"/>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6" descr="algorithm - Difference between Big-O and Little-O Notation - Stack Overflow"/>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8" descr="algorithm - Difference between Big-O and Little-O Notation - Stack Overflow"/>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10" descr="algorithm - Difference between Big-O and Little-O Notation - Stack Overflow"/>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12" descr="algorithm - Difference between Big-O and Little-O Notation - Stack Overflow"/>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37"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395" y="1212270"/>
            <a:ext cx="8469242" cy="43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4147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436" y="384790"/>
            <a:ext cx="10515600" cy="4351338"/>
          </a:xfrm>
        </p:spPr>
        <p:txBody>
          <a:bodyPr/>
          <a:lstStyle/>
          <a:p>
            <a:r>
              <a:rPr lang="en-US" dirty="0"/>
              <a:t>Big-Oh Notation</a:t>
            </a:r>
          </a:p>
          <a:p>
            <a:endParaRPr lang="en-US" dirty="0"/>
          </a:p>
          <a:p>
            <a:endParaRPr lang="en-US" dirty="0"/>
          </a:p>
          <a:p>
            <a:endParaRPr lang="en-US" dirty="0"/>
          </a:p>
          <a:p>
            <a:endParaRPr lang="en-US" dirty="0"/>
          </a:p>
          <a:p>
            <a:r>
              <a:rPr lang="en-US" dirty="0"/>
              <a:t>Small oh -</a:t>
            </a:r>
          </a:p>
          <a:p>
            <a:endParaRPr lang="en-US" dirty="0"/>
          </a:p>
        </p:txBody>
      </p:sp>
      <p:pic>
        <p:nvPicPr>
          <p:cNvPr id="4" name="Picture 3"/>
          <p:cNvPicPr>
            <a:picLocks noChangeAspect="1"/>
          </p:cNvPicPr>
          <p:nvPr/>
        </p:nvPicPr>
        <p:blipFill>
          <a:blip r:embed="rId2"/>
          <a:stretch>
            <a:fillRect/>
          </a:stretch>
        </p:blipFill>
        <p:spPr>
          <a:xfrm>
            <a:off x="8431263" y="2617305"/>
            <a:ext cx="3495582" cy="3986391"/>
          </a:xfrm>
          <a:prstGeom prst="rect">
            <a:avLst/>
          </a:prstGeom>
        </p:spPr>
      </p:pic>
      <p:pic>
        <p:nvPicPr>
          <p:cNvPr id="5" name="Picture 4"/>
          <p:cNvPicPr>
            <a:picLocks noChangeAspect="1"/>
          </p:cNvPicPr>
          <p:nvPr/>
        </p:nvPicPr>
        <p:blipFill>
          <a:blip r:embed="rId3">
            <a:lum bright="-20000" contrast="40000"/>
          </a:blip>
          <a:stretch>
            <a:fillRect/>
          </a:stretch>
        </p:blipFill>
        <p:spPr>
          <a:xfrm>
            <a:off x="296632" y="3664138"/>
            <a:ext cx="7976713" cy="902672"/>
          </a:xfrm>
          <a:prstGeom prst="rect">
            <a:avLst/>
          </a:prstGeom>
        </p:spPr>
      </p:pic>
      <p:pic>
        <p:nvPicPr>
          <p:cNvPr id="6" name="Picture 5"/>
          <p:cNvPicPr>
            <a:picLocks noChangeAspect="1"/>
          </p:cNvPicPr>
          <p:nvPr/>
        </p:nvPicPr>
        <p:blipFill>
          <a:blip r:embed="rId4">
            <a:lum bright="-20000" contrast="40000"/>
          </a:blip>
          <a:stretch>
            <a:fillRect/>
          </a:stretch>
        </p:blipFill>
        <p:spPr>
          <a:xfrm>
            <a:off x="527459" y="1030730"/>
            <a:ext cx="8549791" cy="118723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659320" y="4129920"/>
              <a:ext cx="2240640" cy="480600"/>
            </p14:xfrm>
          </p:contentPart>
        </mc:Choice>
        <mc:Fallback xmlns="">
          <p:pic>
            <p:nvPicPr>
              <p:cNvPr id="2" name="Ink 1"/>
              <p:cNvPicPr/>
              <p:nvPr/>
            </p:nvPicPr>
            <p:blipFill>
              <a:blip r:embed="rId6"/>
              <a:stretch>
                <a:fillRect/>
              </a:stretch>
            </p:blipFill>
            <p:spPr>
              <a:xfrm>
                <a:off x="2643480" y="4066560"/>
                <a:ext cx="2272320" cy="607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p14:cNvContentPartPr/>
              <p14:nvPr/>
            </p14:nvContentPartPr>
            <p14:xfrm>
              <a:off x="4709160" y="1729800"/>
              <a:ext cx="2278800" cy="488160"/>
            </p14:xfrm>
          </p:contentPart>
        </mc:Choice>
        <mc:Fallback xmlns="">
          <p:pic>
            <p:nvPicPr>
              <p:cNvPr id="7" name="Ink 6"/>
              <p:cNvPicPr/>
              <p:nvPr/>
            </p:nvPicPr>
            <p:blipFill>
              <a:blip r:embed="rId8"/>
              <a:stretch>
                <a:fillRect/>
              </a:stretch>
            </p:blipFill>
            <p:spPr>
              <a:xfrm>
                <a:off x="4693320" y="1666440"/>
                <a:ext cx="2310480" cy="614880"/>
              </a:xfrm>
              <a:prstGeom prst="rect">
                <a:avLst/>
              </a:prstGeom>
            </p:spPr>
          </p:pic>
        </mc:Fallback>
      </mc:AlternateContent>
    </p:spTree>
    <p:extLst>
      <p:ext uri="{BB962C8B-B14F-4D97-AF65-F5344CB8AC3E}">
        <p14:creationId xmlns:p14="http://schemas.microsoft.com/office/powerpoint/2010/main" val="287288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164" y="96701"/>
            <a:ext cx="10515600" cy="4351338"/>
          </a:xfrm>
        </p:spPr>
        <p:txBody>
          <a:bodyPr/>
          <a:lstStyle/>
          <a:p>
            <a:r>
              <a:rPr lang="en-US" b="1" dirty="0"/>
              <a:t>Omega Notation</a:t>
            </a:r>
          </a:p>
          <a:p>
            <a:endParaRPr lang="en-US" dirty="0"/>
          </a:p>
        </p:txBody>
      </p:sp>
      <p:pic>
        <p:nvPicPr>
          <p:cNvPr id="4" name="Picture 3"/>
          <p:cNvPicPr>
            <a:picLocks noChangeAspect="1"/>
          </p:cNvPicPr>
          <p:nvPr/>
        </p:nvPicPr>
        <p:blipFill>
          <a:blip r:embed="rId2"/>
          <a:stretch>
            <a:fillRect/>
          </a:stretch>
        </p:blipFill>
        <p:spPr>
          <a:xfrm>
            <a:off x="8170932" y="1801091"/>
            <a:ext cx="3725386" cy="4477694"/>
          </a:xfrm>
          <a:prstGeom prst="rect">
            <a:avLst/>
          </a:prstGeom>
        </p:spPr>
      </p:pic>
      <p:pic>
        <p:nvPicPr>
          <p:cNvPr id="5" name="Picture 4"/>
          <p:cNvPicPr>
            <a:picLocks noChangeAspect="1"/>
          </p:cNvPicPr>
          <p:nvPr/>
        </p:nvPicPr>
        <p:blipFill>
          <a:blip r:embed="rId3">
            <a:lum bright="-20000" contrast="40000"/>
          </a:blip>
          <a:stretch>
            <a:fillRect/>
          </a:stretch>
        </p:blipFill>
        <p:spPr>
          <a:xfrm>
            <a:off x="434595" y="848459"/>
            <a:ext cx="7628635" cy="952632"/>
          </a:xfrm>
          <a:prstGeom prst="rect">
            <a:avLst/>
          </a:prstGeom>
        </p:spPr>
      </p:pic>
      <p:pic>
        <p:nvPicPr>
          <p:cNvPr id="6" name="Picture 5"/>
          <p:cNvPicPr>
            <a:picLocks noChangeAspect="1"/>
          </p:cNvPicPr>
          <p:nvPr/>
        </p:nvPicPr>
        <p:blipFill>
          <a:blip r:embed="rId4">
            <a:lum bright="-20000" contrast="40000"/>
          </a:blip>
          <a:stretch>
            <a:fillRect/>
          </a:stretch>
        </p:blipFill>
        <p:spPr>
          <a:xfrm>
            <a:off x="221841" y="2727223"/>
            <a:ext cx="7841389" cy="1127672"/>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773800" y="1325880"/>
              <a:ext cx="2164320" cy="358560"/>
            </p14:xfrm>
          </p:contentPart>
        </mc:Choice>
        <mc:Fallback xmlns="">
          <p:pic>
            <p:nvPicPr>
              <p:cNvPr id="2" name="Ink 1"/>
              <p:cNvPicPr/>
              <p:nvPr/>
            </p:nvPicPr>
            <p:blipFill>
              <a:blip r:embed="rId6"/>
              <a:stretch>
                <a:fillRect/>
              </a:stretch>
            </p:blipFill>
            <p:spPr>
              <a:xfrm>
                <a:off x="2757960" y="1262520"/>
                <a:ext cx="2196000" cy="485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p14:cNvContentPartPr/>
              <p14:nvPr/>
            </p14:nvContentPartPr>
            <p14:xfrm>
              <a:off x="4191120" y="3330000"/>
              <a:ext cx="1966320" cy="472680"/>
            </p14:xfrm>
          </p:contentPart>
        </mc:Choice>
        <mc:Fallback xmlns="">
          <p:pic>
            <p:nvPicPr>
              <p:cNvPr id="7" name="Ink 6"/>
              <p:cNvPicPr/>
              <p:nvPr/>
            </p:nvPicPr>
            <p:blipFill>
              <a:blip r:embed="rId8"/>
              <a:stretch>
                <a:fillRect/>
              </a:stretch>
            </p:blipFill>
            <p:spPr>
              <a:xfrm>
                <a:off x="4175280" y="3266640"/>
                <a:ext cx="1998000" cy="599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p14:cNvContentPartPr/>
              <p14:nvPr/>
            </p14:nvContentPartPr>
            <p14:xfrm>
              <a:off x="2758320" y="1272600"/>
              <a:ext cx="2172240" cy="411840"/>
            </p14:xfrm>
          </p:contentPart>
        </mc:Choice>
        <mc:Fallback xmlns="">
          <p:pic>
            <p:nvPicPr>
              <p:cNvPr id="8" name="Ink 7"/>
              <p:cNvPicPr/>
              <p:nvPr/>
            </p:nvPicPr>
            <p:blipFill>
              <a:blip r:embed="rId10"/>
              <a:stretch>
                <a:fillRect/>
              </a:stretch>
            </p:blipFill>
            <p:spPr>
              <a:xfrm>
                <a:off x="2742480" y="1209240"/>
                <a:ext cx="2203920" cy="538560"/>
              </a:xfrm>
              <a:prstGeom prst="rect">
                <a:avLst/>
              </a:prstGeom>
            </p:spPr>
          </p:pic>
        </mc:Fallback>
      </mc:AlternateContent>
    </p:spTree>
    <p:extLst>
      <p:ext uri="{BB962C8B-B14F-4D97-AF65-F5344CB8AC3E}">
        <p14:creationId xmlns:p14="http://schemas.microsoft.com/office/powerpoint/2010/main" val="44665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273" y="357043"/>
            <a:ext cx="10515600" cy="4351338"/>
          </a:xfrm>
        </p:spPr>
        <p:txBody>
          <a:bodyPr/>
          <a:lstStyle/>
          <a:p>
            <a:r>
              <a:rPr lang="en-US" dirty="0"/>
              <a:t>Theta Notation</a:t>
            </a:r>
          </a:p>
          <a:p>
            <a:endParaRPr lang="en-US" dirty="0"/>
          </a:p>
        </p:txBody>
      </p:sp>
      <p:pic>
        <p:nvPicPr>
          <p:cNvPr id="4" name="Picture 3"/>
          <p:cNvPicPr>
            <a:picLocks noChangeAspect="1"/>
          </p:cNvPicPr>
          <p:nvPr/>
        </p:nvPicPr>
        <p:blipFill>
          <a:blip r:embed="rId2"/>
          <a:stretch>
            <a:fillRect/>
          </a:stretch>
        </p:blipFill>
        <p:spPr>
          <a:xfrm>
            <a:off x="8001632" y="1978211"/>
            <a:ext cx="3669235" cy="4237686"/>
          </a:xfrm>
          <a:prstGeom prst="rect">
            <a:avLst/>
          </a:prstGeom>
        </p:spPr>
      </p:pic>
      <p:pic>
        <p:nvPicPr>
          <p:cNvPr id="5" name="Picture 4"/>
          <p:cNvPicPr>
            <a:picLocks noChangeAspect="1"/>
          </p:cNvPicPr>
          <p:nvPr/>
        </p:nvPicPr>
        <p:blipFill>
          <a:blip r:embed="rId3">
            <a:lum bright="-20000" contrast="40000"/>
          </a:blip>
          <a:stretch>
            <a:fillRect/>
          </a:stretch>
        </p:blipFill>
        <p:spPr>
          <a:xfrm>
            <a:off x="365615" y="1105374"/>
            <a:ext cx="8073812" cy="1140867"/>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2628720" y="1638360"/>
              <a:ext cx="3261960" cy="305280"/>
            </p14:xfrm>
          </p:contentPart>
        </mc:Choice>
        <mc:Fallback xmlns="">
          <p:pic>
            <p:nvPicPr>
              <p:cNvPr id="2" name="Ink 1"/>
              <p:cNvPicPr/>
              <p:nvPr/>
            </p:nvPicPr>
            <p:blipFill>
              <a:blip r:embed="rId5"/>
              <a:stretch>
                <a:fillRect/>
              </a:stretch>
            </p:blipFill>
            <p:spPr>
              <a:xfrm>
                <a:off x="2612880" y="1575000"/>
                <a:ext cx="3293640" cy="432000"/>
              </a:xfrm>
              <a:prstGeom prst="rect">
                <a:avLst/>
              </a:prstGeom>
            </p:spPr>
          </p:pic>
        </mc:Fallback>
      </mc:AlternateContent>
    </p:spTree>
    <p:extLst>
      <p:ext uri="{BB962C8B-B14F-4D97-AF65-F5344CB8AC3E}">
        <p14:creationId xmlns:p14="http://schemas.microsoft.com/office/powerpoint/2010/main" val="4152046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4142" y="54429"/>
            <a:ext cx="10047515" cy="6698343"/>
          </a:xfrm>
          <a:prstGeom prst="rect">
            <a:avLst/>
          </a:prstGeom>
        </p:spPr>
      </p:pic>
    </p:spTree>
    <p:extLst>
      <p:ext uri="{BB962C8B-B14F-4D97-AF65-F5344CB8AC3E}">
        <p14:creationId xmlns:p14="http://schemas.microsoft.com/office/powerpoint/2010/main" val="25178346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2540" y="228844"/>
            <a:ext cx="11534659" cy="5078313"/>
          </a:xfrm>
          <a:prstGeom prst="rect">
            <a:avLst/>
          </a:prstGeom>
        </p:spPr>
        <p:txBody>
          <a:bodyPr wrap="square">
            <a:spAutoFit/>
          </a:bodyPr>
          <a:lstStyle/>
          <a:p>
            <a:pPr algn="just">
              <a:lnSpc>
                <a:spcPct val="150000"/>
              </a:lnSpc>
            </a:pPr>
            <a:r>
              <a:rPr lang="en-US" sz="2400" b="1" dirty="0"/>
              <a:t>Selection Sort</a:t>
            </a:r>
          </a:p>
          <a:p>
            <a:pPr marL="342900" indent="-342900" algn="just">
              <a:lnSpc>
                <a:spcPct val="150000"/>
              </a:lnSpc>
              <a:buFont typeface="Arial" panose="020B0604020202020204" pitchFamily="34" charset="0"/>
              <a:buChar char="•"/>
            </a:pPr>
            <a:r>
              <a:rPr lang="en-US" sz="2400" dirty="0"/>
              <a:t>The selection sort enhances the bubble sort by making </a:t>
            </a:r>
            <a:r>
              <a:rPr lang="en-US" sz="2400" b="1" dirty="0"/>
              <a:t>only a single swap for each pass </a:t>
            </a:r>
            <a:r>
              <a:rPr lang="en-US" sz="2400" dirty="0"/>
              <a:t>through the rundown. </a:t>
            </a:r>
          </a:p>
          <a:p>
            <a:pPr marL="342900" indent="-342900" algn="just">
              <a:lnSpc>
                <a:spcPct val="150000"/>
              </a:lnSpc>
              <a:buFont typeface="Arial" panose="020B0604020202020204" pitchFamily="34" charset="0"/>
              <a:buChar char="•"/>
            </a:pPr>
            <a:r>
              <a:rPr lang="en-US" sz="2400" dirty="0"/>
              <a:t>In order to do this, a selection sort searches for the biggest value as it makes a pass and, after finishing the pass, places it in the best possible area. </a:t>
            </a:r>
          </a:p>
          <a:p>
            <a:pPr marL="342900" indent="-342900" algn="just">
              <a:lnSpc>
                <a:spcPct val="150000"/>
              </a:lnSpc>
              <a:buFont typeface="Arial" panose="020B0604020202020204" pitchFamily="34" charset="0"/>
              <a:buChar char="•"/>
            </a:pPr>
            <a:r>
              <a:rPr lang="en-US" sz="2400" dirty="0"/>
              <a:t>Similarly, as with a bubble sort, after the first pass, the biggest item is in the right place. After the second pass, the following biggest is set up. </a:t>
            </a:r>
          </a:p>
          <a:p>
            <a:pPr marL="342900" indent="-342900" algn="just">
              <a:lnSpc>
                <a:spcPct val="150000"/>
              </a:lnSpc>
              <a:buFont typeface="Arial" panose="020B0604020202020204" pitchFamily="34" charset="0"/>
              <a:buChar char="•"/>
            </a:pPr>
            <a:r>
              <a:rPr lang="en-US" sz="2400" dirty="0"/>
              <a:t>This procedure proceeds and requires n-1 goes to sort n item since the last item must be set up after the (</a:t>
            </a:r>
            <a:r>
              <a:rPr lang="en-US" sz="2400" dirty="0" smtClean="0"/>
              <a:t>n-1)</a:t>
            </a:r>
            <a:r>
              <a:rPr lang="en-US" sz="2400" dirty="0" err="1" smtClean="0"/>
              <a:t>th</a:t>
            </a:r>
            <a:r>
              <a:rPr lang="en-US" sz="2400" dirty="0" smtClean="0"/>
              <a:t> </a:t>
            </a:r>
            <a:r>
              <a:rPr lang="en-US" sz="2400" dirty="0"/>
              <a:t>pass.</a:t>
            </a:r>
            <a:endParaRPr lang="en-US" sz="2400" b="0" i="0" dirty="0">
              <a:effectLst/>
            </a:endParaRPr>
          </a:p>
        </p:txBody>
      </p:sp>
      <p:sp>
        <p:nvSpPr>
          <p:cNvPr id="2" name="TextBox 1"/>
          <p:cNvSpPr txBox="1"/>
          <p:nvPr/>
        </p:nvSpPr>
        <p:spPr>
          <a:xfrm>
            <a:off x="4438185" y="228844"/>
            <a:ext cx="4638908" cy="369332"/>
          </a:xfrm>
          <a:prstGeom prst="rect">
            <a:avLst/>
          </a:prstGeom>
          <a:noFill/>
        </p:spPr>
        <p:txBody>
          <a:bodyPr wrap="square" rtlCol="0">
            <a:spAutoFit/>
          </a:bodyPr>
          <a:lstStyle/>
          <a:p>
            <a:r>
              <a:rPr lang="en-US" dirty="0" smtClean="0">
                <a:solidFill>
                  <a:srgbClr val="FF0000"/>
                </a:solidFill>
              </a:rPr>
              <a:t>Not in Syllabus 2024-25</a:t>
            </a:r>
            <a:endParaRPr lang="en-IN" dirty="0">
              <a:solidFill>
                <a:srgbClr val="FF0000"/>
              </a:solidFill>
            </a:endParaRPr>
          </a:p>
        </p:txBody>
      </p:sp>
    </p:spTree>
    <p:extLst>
      <p:ext uri="{BB962C8B-B14F-4D97-AF65-F5344CB8AC3E}">
        <p14:creationId xmlns:p14="http://schemas.microsoft.com/office/powerpoint/2010/main" val="39910128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337" y="222533"/>
            <a:ext cx="11655846" cy="6133859"/>
          </a:xfrm>
          <a:prstGeom prst="rect">
            <a:avLst/>
          </a:prstGeom>
        </p:spPr>
        <p:txBody>
          <a:bodyPr wrap="square">
            <a:spAutoFit/>
          </a:bodyPr>
          <a:lstStyle/>
          <a:p>
            <a:pPr algn="just">
              <a:lnSpc>
                <a:spcPct val="150000"/>
              </a:lnSpc>
            </a:pPr>
            <a:r>
              <a:rPr lang="en-US" sz="2400" b="1" dirty="0"/>
              <a:t>How Selection Sort works</a:t>
            </a:r>
          </a:p>
          <a:p>
            <a:pPr algn="just">
              <a:lnSpc>
                <a:spcPct val="150000"/>
              </a:lnSpc>
              <a:buFont typeface="+mj-lt"/>
              <a:buAutoNum type="arabicPeriod"/>
            </a:pPr>
            <a:r>
              <a:rPr lang="en-US" sz="2200" dirty="0">
                <a:solidFill>
                  <a:srgbClr val="000000"/>
                </a:solidFill>
              </a:rPr>
              <a:t>In the selection sort, first of all, we set the initial element as a </a:t>
            </a:r>
            <a:r>
              <a:rPr lang="en-US" sz="2200" b="1" dirty="0">
                <a:solidFill>
                  <a:srgbClr val="000000"/>
                </a:solidFill>
              </a:rPr>
              <a:t>minimum</a:t>
            </a:r>
            <a:r>
              <a:rPr lang="en-US" sz="2200" dirty="0">
                <a:solidFill>
                  <a:srgbClr val="000000"/>
                </a:solidFill>
              </a:rPr>
              <a:t>.</a:t>
            </a:r>
          </a:p>
          <a:p>
            <a:pPr algn="just">
              <a:lnSpc>
                <a:spcPct val="150000"/>
              </a:lnSpc>
              <a:buFont typeface="+mj-lt"/>
              <a:buAutoNum type="arabicPeriod"/>
            </a:pPr>
            <a:r>
              <a:rPr lang="en-US" sz="2200" dirty="0">
                <a:solidFill>
                  <a:srgbClr val="000000"/>
                </a:solidFill>
              </a:rPr>
              <a:t>Now we will compare the minimum with the second element. If the second element turns out to be smaller than the minimum, we will swap them, followed by assigning to a minimum to the third element.</a:t>
            </a:r>
          </a:p>
          <a:p>
            <a:pPr algn="just">
              <a:lnSpc>
                <a:spcPct val="150000"/>
              </a:lnSpc>
              <a:buFont typeface="+mj-lt"/>
              <a:buAutoNum type="arabicPeriod"/>
            </a:pPr>
            <a:r>
              <a:rPr lang="en-US" sz="2200" dirty="0">
                <a:solidFill>
                  <a:srgbClr val="000000"/>
                </a:solidFill>
              </a:rPr>
              <a:t>Else if the second element is greater than the minimum, which is our first element, then we will do nothing and move on to the third element and then compare it with the minimum.</a:t>
            </a:r>
            <a:br>
              <a:rPr lang="en-US" sz="2200" dirty="0">
                <a:solidFill>
                  <a:srgbClr val="000000"/>
                </a:solidFill>
              </a:rPr>
            </a:br>
            <a:r>
              <a:rPr lang="en-US" sz="2200" dirty="0">
                <a:solidFill>
                  <a:srgbClr val="000000"/>
                </a:solidFill>
              </a:rPr>
              <a:t>We will repeat this process until we reach the last element.</a:t>
            </a:r>
          </a:p>
          <a:p>
            <a:pPr algn="just">
              <a:lnSpc>
                <a:spcPct val="150000"/>
              </a:lnSpc>
              <a:buFont typeface="+mj-lt"/>
              <a:buAutoNum type="arabicPeriod"/>
            </a:pPr>
            <a:r>
              <a:rPr lang="en-US" sz="2200" dirty="0">
                <a:solidFill>
                  <a:srgbClr val="000000"/>
                </a:solidFill>
              </a:rPr>
              <a:t>After the completion of each iteration, we will notice that our minimum has reached the start of the unsorted list.</a:t>
            </a:r>
          </a:p>
          <a:p>
            <a:pPr algn="just">
              <a:lnSpc>
                <a:spcPct val="150000"/>
              </a:lnSpc>
              <a:buFont typeface="+mj-lt"/>
              <a:buAutoNum type="arabicPeriod"/>
            </a:pPr>
            <a:r>
              <a:rPr lang="en-US" sz="2200" dirty="0">
                <a:solidFill>
                  <a:srgbClr val="000000"/>
                </a:solidFill>
              </a:rPr>
              <a:t>For each iteration, we will start the indexing from the first element of the unsorted list. We will repeat the Steps from 1 to 4 until the list gets sorted or all the elements get correctly positioned.</a:t>
            </a:r>
            <a:endParaRPr lang="en-US" sz="2200" b="0" i="0" dirty="0">
              <a:solidFill>
                <a:srgbClr val="000000"/>
              </a:solidFill>
              <a:effectLst/>
            </a:endParaRPr>
          </a:p>
        </p:txBody>
      </p:sp>
      <p:sp>
        <p:nvSpPr>
          <p:cNvPr id="3" name="TextBox 2"/>
          <p:cNvSpPr txBox="1"/>
          <p:nvPr/>
        </p:nvSpPr>
        <p:spPr>
          <a:xfrm>
            <a:off x="4438185" y="228844"/>
            <a:ext cx="4638908" cy="369332"/>
          </a:xfrm>
          <a:prstGeom prst="rect">
            <a:avLst/>
          </a:prstGeom>
          <a:noFill/>
        </p:spPr>
        <p:txBody>
          <a:bodyPr wrap="square" rtlCol="0">
            <a:spAutoFit/>
          </a:bodyPr>
          <a:lstStyle/>
          <a:p>
            <a:r>
              <a:rPr lang="en-US" dirty="0" smtClean="0">
                <a:solidFill>
                  <a:srgbClr val="FF0000"/>
                </a:solidFill>
              </a:rPr>
              <a:t>Not in Syllabus 2024-25</a:t>
            </a:r>
            <a:endParaRPr lang="en-IN" dirty="0">
              <a:solidFill>
                <a:srgbClr val="FF0000"/>
              </a:solidFill>
            </a:endParaRPr>
          </a:p>
        </p:txBody>
      </p:sp>
    </p:spTree>
    <p:extLst>
      <p:ext uri="{BB962C8B-B14F-4D97-AF65-F5344CB8AC3E}">
        <p14:creationId xmlns:p14="http://schemas.microsoft.com/office/powerpoint/2010/main" val="1328618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6841" y="78847"/>
            <a:ext cx="4295659" cy="747420"/>
          </a:xfrm>
        </p:spPr>
        <p:txBody>
          <a:bodyPr/>
          <a:lstStyle/>
          <a:p>
            <a:r>
              <a:rPr lang="en-US" b="1" dirty="0">
                <a:latin typeface="+mn-lt"/>
              </a:rPr>
              <a:t>Insertion Sort</a:t>
            </a:r>
          </a:p>
        </p:txBody>
      </p:sp>
      <p:pic>
        <p:nvPicPr>
          <p:cNvPr id="4" name="Picture 3"/>
          <p:cNvPicPr>
            <a:picLocks noChangeAspect="1"/>
          </p:cNvPicPr>
          <p:nvPr/>
        </p:nvPicPr>
        <p:blipFill>
          <a:blip r:embed="rId3"/>
          <a:stretch>
            <a:fillRect/>
          </a:stretch>
        </p:blipFill>
        <p:spPr>
          <a:xfrm>
            <a:off x="584813" y="952717"/>
            <a:ext cx="6509003" cy="5095161"/>
          </a:xfrm>
          <a:prstGeom prst="rect">
            <a:avLst/>
          </a:prstGeom>
        </p:spPr>
      </p:pic>
      <p:sp>
        <p:nvSpPr>
          <p:cNvPr id="5" name="TextBox 4"/>
          <p:cNvSpPr txBox="1"/>
          <p:nvPr/>
        </p:nvSpPr>
        <p:spPr>
          <a:xfrm>
            <a:off x="5765181" y="267891"/>
            <a:ext cx="4638908" cy="369332"/>
          </a:xfrm>
          <a:prstGeom prst="rect">
            <a:avLst/>
          </a:prstGeom>
          <a:noFill/>
        </p:spPr>
        <p:txBody>
          <a:bodyPr wrap="square" rtlCol="0">
            <a:spAutoFit/>
          </a:bodyPr>
          <a:lstStyle/>
          <a:p>
            <a:r>
              <a:rPr lang="en-US" dirty="0" smtClean="0">
                <a:solidFill>
                  <a:srgbClr val="FF0000"/>
                </a:solidFill>
              </a:rPr>
              <a:t>Not in Syllabus 2024-25</a:t>
            </a:r>
            <a:endParaRPr lang="en-IN" dirty="0">
              <a:solidFill>
                <a:srgbClr val="FF0000"/>
              </a:solidFill>
            </a:endParaRPr>
          </a:p>
        </p:txBody>
      </p:sp>
    </p:spTree>
    <p:extLst>
      <p:ext uri="{BB962C8B-B14F-4D97-AF65-F5344CB8AC3E}">
        <p14:creationId xmlns:p14="http://schemas.microsoft.com/office/powerpoint/2010/main" val="5535680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17744" y="192056"/>
            <a:ext cx="6707190" cy="3410079"/>
          </a:xfrm>
          <a:prstGeom prst="rect">
            <a:avLst/>
          </a:prstGeom>
          <a:ln w="12700">
            <a:solidFill>
              <a:schemeClr val="accent1"/>
            </a:solidFill>
          </a:ln>
        </p:spPr>
      </p:pic>
      <p:pic>
        <p:nvPicPr>
          <p:cNvPr id="3" name="Picture 2"/>
          <p:cNvPicPr>
            <a:picLocks noChangeAspect="1"/>
          </p:cNvPicPr>
          <p:nvPr/>
        </p:nvPicPr>
        <p:blipFill>
          <a:blip r:embed="rId3">
            <a:lum bright="-20000" contrast="40000"/>
          </a:blip>
          <a:stretch>
            <a:fillRect/>
          </a:stretch>
        </p:blipFill>
        <p:spPr>
          <a:xfrm>
            <a:off x="1817744" y="4122075"/>
            <a:ext cx="6707190" cy="1507465"/>
          </a:xfrm>
          <a:prstGeom prst="rect">
            <a:avLst/>
          </a:prstGeom>
          <a:ln>
            <a:solidFill>
              <a:schemeClr val="accent1"/>
            </a:solidFill>
          </a:ln>
        </p:spPr>
      </p:pic>
      <p:sp>
        <p:nvSpPr>
          <p:cNvPr id="5" name="Line Callout 1 4"/>
          <p:cNvSpPr/>
          <p:nvPr/>
        </p:nvSpPr>
        <p:spPr>
          <a:xfrm>
            <a:off x="8739739" y="1097280"/>
            <a:ext cx="3243713" cy="1039528"/>
          </a:xfrm>
          <a:prstGeom prst="borderCallout1">
            <a:avLst>
              <a:gd name="adj1" fmla="val 50232"/>
              <a:gd name="adj2" fmla="val -551"/>
              <a:gd name="adj3" fmla="val 112500"/>
              <a:gd name="adj4" fmla="val -383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best case </a:t>
            </a:r>
          </a:p>
          <a:p>
            <a:pPr algn="ctr"/>
            <a:r>
              <a:rPr lang="en-US" dirty="0"/>
              <a:t>Condition false, each time</a:t>
            </a:r>
          </a:p>
          <a:p>
            <a:pPr algn="ctr"/>
            <a:r>
              <a:rPr lang="en-US" dirty="0"/>
              <a:t>Hence </a:t>
            </a:r>
            <a:r>
              <a:rPr lang="en-US" dirty="0" err="1"/>
              <a:t>t</a:t>
            </a:r>
            <a:r>
              <a:rPr lang="en-US" sz="1400" dirty="0" err="1"/>
              <a:t>j</a:t>
            </a:r>
            <a:r>
              <a:rPr lang="en-US" sz="1400" dirty="0"/>
              <a:t> = 1</a:t>
            </a:r>
            <a:endParaRPr lang="en-US" dirty="0"/>
          </a:p>
        </p:txBody>
      </p:sp>
      <p:sp>
        <p:nvSpPr>
          <p:cNvPr id="6" name="Line Callout 1 5"/>
          <p:cNvSpPr/>
          <p:nvPr/>
        </p:nvSpPr>
        <p:spPr>
          <a:xfrm>
            <a:off x="4195011" y="5938786"/>
            <a:ext cx="3243713" cy="662539"/>
          </a:xfrm>
          <a:prstGeom prst="borderCallout1">
            <a:avLst>
              <a:gd name="adj1" fmla="val -694"/>
              <a:gd name="adj2" fmla="val 46037"/>
              <a:gd name="adj3" fmla="val -178625"/>
              <a:gd name="adj4" fmla="val 643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(n-1)</a:t>
            </a:r>
          </a:p>
        </p:txBody>
      </p:sp>
      <p:pic>
        <p:nvPicPr>
          <p:cNvPr id="4" name="Picture 3"/>
          <p:cNvPicPr>
            <a:picLocks noChangeAspect="1"/>
          </p:cNvPicPr>
          <p:nvPr/>
        </p:nvPicPr>
        <p:blipFill>
          <a:blip r:embed="rId4">
            <a:lum bright="-20000" contrast="40000"/>
          </a:blip>
          <a:stretch>
            <a:fillRect/>
          </a:stretch>
        </p:blipFill>
        <p:spPr>
          <a:xfrm>
            <a:off x="1817744" y="5697307"/>
            <a:ext cx="6707190" cy="904345"/>
          </a:xfrm>
          <a:prstGeom prst="rect">
            <a:avLst/>
          </a:prstGeom>
          <a:ln>
            <a:solidFill>
              <a:schemeClr val="accent1"/>
            </a:solidFill>
          </a:ln>
        </p:spPr>
      </p:pic>
      <p:sp>
        <p:nvSpPr>
          <p:cNvPr id="7" name="TextBox 6"/>
          <p:cNvSpPr txBox="1"/>
          <p:nvPr/>
        </p:nvSpPr>
        <p:spPr>
          <a:xfrm>
            <a:off x="9606285" y="7390"/>
            <a:ext cx="2400330" cy="369332"/>
          </a:xfrm>
          <a:prstGeom prst="rect">
            <a:avLst/>
          </a:prstGeom>
          <a:noFill/>
        </p:spPr>
        <p:txBody>
          <a:bodyPr wrap="square" rtlCol="0">
            <a:spAutoFit/>
          </a:bodyPr>
          <a:lstStyle/>
          <a:p>
            <a:r>
              <a:rPr lang="en-US" dirty="0" smtClean="0">
                <a:solidFill>
                  <a:srgbClr val="FF0000"/>
                </a:solidFill>
              </a:rPr>
              <a:t>Not in Syllabus 2024-25</a:t>
            </a:r>
            <a:endParaRPr lang="en-IN" dirty="0">
              <a:solidFill>
                <a:srgbClr val="FF0000"/>
              </a:solidFill>
            </a:endParaRPr>
          </a:p>
        </p:txBody>
      </p:sp>
    </p:spTree>
    <p:extLst>
      <p:ext uri="{BB962C8B-B14F-4D97-AF65-F5344CB8AC3E}">
        <p14:creationId xmlns:p14="http://schemas.microsoft.com/office/powerpoint/2010/main" val="336144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17744" y="192056"/>
            <a:ext cx="6707190" cy="3410079"/>
          </a:xfrm>
          <a:prstGeom prst="rect">
            <a:avLst/>
          </a:prstGeom>
          <a:ln w="12700">
            <a:solidFill>
              <a:schemeClr val="accent1"/>
            </a:solidFill>
          </a:ln>
        </p:spPr>
      </p:pic>
      <p:pic>
        <p:nvPicPr>
          <p:cNvPr id="3" name="Picture 2"/>
          <p:cNvPicPr>
            <a:picLocks noChangeAspect="1"/>
          </p:cNvPicPr>
          <p:nvPr/>
        </p:nvPicPr>
        <p:blipFill>
          <a:blip r:embed="rId3">
            <a:lum bright="-20000" contrast="40000"/>
          </a:blip>
          <a:stretch>
            <a:fillRect/>
          </a:stretch>
        </p:blipFill>
        <p:spPr>
          <a:xfrm>
            <a:off x="1817744" y="4122075"/>
            <a:ext cx="6707190" cy="1507465"/>
          </a:xfrm>
          <a:prstGeom prst="rect">
            <a:avLst/>
          </a:prstGeom>
          <a:ln>
            <a:solidFill>
              <a:schemeClr val="accent1"/>
            </a:solidFill>
          </a:ln>
        </p:spPr>
      </p:pic>
      <p:sp>
        <p:nvSpPr>
          <p:cNvPr id="5" name="Line Callout 1 4"/>
          <p:cNvSpPr/>
          <p:nvPr/>
        </p:nvSpPr>
        <p:spPr>
          <a:xfrm>
            <a:off x="8739739" y="1097279"/>
            <a:ext cx="3243713" cy="1106905"/>
          </a:xfrm>
          <a:prstGeom prst="borderCallout1">
            <a:avLst>
              <a:gd name="adj1" fmla="val 50232"/>
              <a:gd name="adj2" fmla="val -551"/>
              <a:gd name="adj3" fmla="val 112500"/>
              <a:gd name="adj4" fmla="val -383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worst case </a:t>
            </a:r>
          </a:p>
          <a:p>
            <a:pPr algn="ctr"/>
            <a:r>
              <a:rPr lang="en-US" dirty="0"/>
              <a:t>Condition true for max possible value, hence generate series</a:t>
            </a:r>
          </a:p>
        </p:txBody>
      </p:sp>
      <p:sp>
        <p:nvSpPr>
          <p:cNvPr id="6" name="Line Callout 1 5"/>
          <p:cNvSpPr/>
          <p:nvPr/>
        </p:nvSpPr>
        <p:spPr>
          <a:xfrm>
            <a:off x="4195011" y="5938786"/>
            <a:ext cx="3243713" cy="662539"/>
          </a:xfrm>
          <a:prstGeom prst="borderCallout1">
            <a:avLst>
              <a:gd name="adj1" fmla="val -694"/>
              <a:gd name="adj2" fmla="val 46037"/>
              <a:gd name="adj3" fmla="val -178625"/>
              <a:gd name="adj4" fmla="val 643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(n(n+1)/2)-1</a:t>
            </a:r>
          </a:p>
        </p:txBody>
      </p:sp>
      <p:pic>
        <p:nvPicPr>
          <p:cNvPr id="7" name="Picture 6"/>
          <p:cNvPicPr>
            <a:picLocks noChangeAspect="1"/>
          </p:cNvPicPr>
          <p:nvPr/>
        </p:nvPicPr>
        <p:blipFill>
          <a:blip r:embed="rId4">
            <a:lum bright="-20000" contrast="40000"/>
          </a:blip>
          <a:stretch>
            <a:fillRect/>
          </a:stretch>
        </p:blipFill>
        <p:spPr>
          <a:xfrm>
            <a:off x="1817744" y="3811605"/>
            <a:ext cx="6787240" cy="1817936"/>
          </a:xfrm>
          <a:prstGeom prst="rect">
            <a:avLst/>
          </a:prstGeom>
        </p:spPr>
      </p:pic>
      <p:sp>
        <p:nvSpPr>
          <p:cNvPr id="8" name="TextBox 7"/>
          <p:cNvSpPr txBox="1"/>
          <p:nvPr/>
        </p:nvSpPr>
        <p:spPr>
          <a:xfrm>
            <a:off x="9367024" y="7390"/>
            <a:ext cx="2386361" cy="369332"/>
          </a:xfrm>
          <a:prstGeom prst="rect">
            <a:avLst/>
          </a:prstGeom>
          <a:noFill/>
        </p:spPr>
        <p:txBody>
          <a:bodyPr wrap="square" rtlCol="0">
            <a:spAutoFit/>
          </a:bodyPr>
          <a:lstStyle/>
          <a:p>
            <a:r>
              <a:rPr lang="en-US" dirty="0" smtClean="0">
                <a:solidFill>
                  <a:srgbClr val="FF0000"/>
                </a:solidFill>
              </a:rPr>
              <a:t>Not in Syllabus 2024-25</a:t>
            </a:r>
            <a:endParaRPr lang="en-IN" dirty="0">
              <a:solidFill>
                <a:srgbClr val="FF0000"/>
              </a:solidFill>
            </a:endParaRPr>
          </a:p>
        </p:txBody>
      </p:sp>
    </p:spTree>
    <p:extLst>
      <p:ext uri="{BB962C8B-B14F-4D97-AF65-F5344CB8AC3E}">
        <p14:creationId xmlns:p14="http://schemas.microsoft.com/office/powerpoint/2010/main" val="127126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305" y="217163"/>
            <a:ext cx="11676961" cy="6403974"/>
          </a:xfrm>
        </p:spPr>
        <p:txBody>
          <a:bodyPr/>
          <a:lstStyle/>
          <a:p>
            <a:pPr marL="0" indent="0" algn="just">
              <a:buNone/>
            </a:pPr>
            <a:r>
              <a:rPr lang="en-US" b="1" dirty="0"/>
              <a:t>Recursion</a:t>
            </a:r>
          </a:p>
          <a:p>
            <a:pPr algn="just">
              <a:lnSpc>
                <a:spcPct val="150000"/>
              </a:lnSpc>
            </a:pPr>
            <a:r>
              <a:rPr lang="en-US" sz="2200" b="1" dirty="0"/>
              <a:t>A function that calls itself.</a:t>
            </a:r>
          </a:p>
          <a:p>
            <a:pPr algn="just">
              <a:lnSpc>
                <a:spcPct val="150000"/>
              </a:lnSpc>
            </a:pPr>
            <a:r>
              <a:rPr lang="en-US" sz="2200" dirty="0"/>
              <a:t>Every recursive program </a:t>
            </a:r>
            <a:r>
              <a:rPr lang="en-US" sz="2200" b="1" dirty="0"/>
              <a:t>should have a termination condition</a:t>
            </a:r>
            <a:r>
              <a:rPr lang="en-US" sz="2200" dirty="0"/>
              <a:t>, otherwise program may go into the infinite loop.</a:t>
            </a:r>
          </a:p>
          <a:p>
            <a:pPr algn="just">
              <a:lnSpc>
                <a:spcPct val="150000"/>
              </a:lnSpc>
            </a:pPr>
            <a:r>
              <a:rPr lang="en-US" sz="2200" dirty="0"/>
              <a:t>Recursion solves bigger problem in terms of smaller problems.</a:t>
            </a:r>
          </a:p>
          <a:p>
            <a:pPr algn="just">
              <a:lnSpc>
                <a:spcPct val="150000"/>
              </a:lnSpc>
            </a:pPr>
            <a:r>
              <a:rPr lang="en-US" sz="2200" dirty="0"/>
              <a:t>For recursive function, number of parameters never change,  code will never change, </a:t>
            </a:r>
            <a:r>
              <a:rPr lang="en-US" sz="2200" b="1" dirty="0"/>
              <a:t>only parameter values will changes</a:t>
            </a:r>
            <a:r>
              <a:rPr lang="en-US" sz="2200" dirty="0"/>
              <a:t>.</a:t>
            </a:r>
          </a:p>
          <a:p>
            <a:pPr algn="just">
              <a:lnSpc>
                <a:spcPct val="100000"/>
              </a:lnSpc>
            </a:pPr>
            <a:r>
              <a:rPr lang="en-US" sz="1800" dirty="0"/>
              <a:t>Example: Fact(5) = 120</a:t>
            </a:r>
          </a:p>
          <a:p>
            <a:pPr marL="1371600" lvl="3" indent="0" algn="just">
              <a:lnSpc>
                <a:spcPct val="100000"/>
              </a:lnSpc>
              <a:buNone/>
            </a:pPr>
            <a:r>
              <a:rPr lang="en-US" dirty="0"/>
              <a:t>= 5* Fact (4)                  ………. Reducing problem size</a:t>
            </a:r>
          </a:p>
          <a:p>
            <a:pPr marL="1371600" lvl="3" indent="0" algn="just">
              <a:lnSpc>
                <a:spcPct val="100000"/>
              </a:lnSpc>
              <a:buNone/>
            </a:pPr>
            <a:r>
              <a:rPr lang="en-US" dirty="0"/>
              <a:t>= 5* 5* Fact (3)</a:t>
            </a:r>
          </a:p>
          <a:p>
            <a:pPr marL="1371600" lvl="3" indent="0" algn="just">
              <a:lnSpc>
                <a:spcPct val="150000"/>
              </a:lnSpc>
              <a:buNone/>
            </a:pPr>
            <a:endParaRPr lang="en-US" sz="1200" dirty="0"/>
          </a:p>
        </p:txBody>
      </p:sp>
    </p:spTree>
    <p:extLst>
      <p:ext uri="{BB962C8B-B14F-4D97-AF65-F5344CB8AC3E}">
        <p14:creationId xmlns:p14="http://schemas.microsoft.com/office/powerpoint/2010/main" val="42225134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305" y="217163"/>
            <a:ext cx="11676961" cy="6403974"/>
          </a:xfrm>
        </p:spPr>
        <p:txBody>
          <a:bodyPr/>
          <a:lstStyle/>
          <a:p>
            <a:pPr marL="0" indent="0" algn="just">
              <a:lnSpc>
                <a:spcPct val="150000"/>
              </a:lnSpc>
              <a:buNone/>
            </a:pPr>
            <a:r>
              <a:rPr lang="en-US" b="1" dirty="0"/>
              <a:t>Advantages of Recursion</a:t>
            </a:r>
          </a:p>
          <a:p>
            <a:pPr algn="just">
              <a:lnSpc>
                <a:spcPct val="150000"/>
              </a:lnSpc>
            </a:pPr>
            <a:r>
              <a:rPr lang="en-US" sz="2200" dirty="0"/>
              <a:t>Recursion can reduce time complexity</a:t>
            </a:r>
          </a:p>
          <a:p>
            <a:pPr algn="just">
              <a:lnSpc>
                <a:spcPct val="150000"/>
              </a:lnSpc>
            </a:pPr>
            <a:r>
              <a:rPr lang="en-US" sz="2200" dirty="0"/>
              <a:t>Adds clarity to code</a:t>
            </a:r>
          </a:p>
          <a:p>
            <a:pPr algn="just">
              <a:lnSpc>
                <a:spcPct val="150000"/>
              </a:lnSpc>
            </a:pPr>
            <a:r>
              <a:rPr lang="en-US" sz="2200" dirty="0"/>
              <a:t>Reduce time to debug</a:t>
            </a:r>
          </a:p>
          <a:p>
            <a:pPr marL="0" indent="0" algn="just">
              <a:lnSpc>
                <a:spcPct val="150000"/>
              </a:lnSpc>
              <a:buNone/>
            </a:pPr>
            <a:r>
              <a:rPr lang="en-US" b="1" dirty="0"/>
              <a:t>Disadvantages of Recursion</a:t>
            </a:r>
          </a:p>
          <a:p>
            <a:pPr algn="just">
              <a:lnSpc>
                <a:spcPct val="150000"/>
              </a:lnSpc>
            </a:pPr>
            <a:r>
              <a:rPr lang="en-US" sz="2200" dirty="0"/>
              <a:t>Uses more memory (</a:t>
            </a:r>
            <a:r>
              <a:rPr lang="en-US" sz="2000" dirty="0"/>
              <a:t>stack in fact(5) example</a:t>
            </a:r>
            <a:r>
              <a:rPr lang="en-US" sz="2200" dirty="0"/>
              <a:t>)</a:t>
            </a:r>
          </a:p>
          <a:p>
            <a:pPr algn="just">
              <a:lnSpc>
                <a:spcPct val="150000"/>
              </a:lnSpc>
            </a:pPr>
            <a:r>
              <a:rPr lang="en-US" sz="2200" dirty="0"/>
              <a:t>Recursion can be slow</a:t>
            </a:r>
          </a:p>
          <a:p>
            <a:pPr marL="1371600" lvl="3" indent="0" algn="just">
              <a:lnSpc>
                <a:spcPct val="150000"/>
              </a:lnSpc>
              <a:buNone/>
            </a:pPr>
            <a:endParaRPr lang="en-US" sz="1200" dirty="0"/>
          </a:p>
        </p:txBody>
      </p:sp>
    </p:spTree>
    <p:extLst>
      <p:ext uri="{BB962C8B-B14F-4D97-AF65-F5344CB8AC3E}">
        <p14:creationId xmlns:p14="http://schemas.microsoft.com/office/powerpoint/2010/main" val="19596706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a:xfrm>
            <a:off x="462707" y="1438276"/>
            <a:ext cx="11380424" cy="2063414"/>
          </a:xfrm>
        </p:spPr>
        <p:txBody>
          <a:bodyPr>
            <a:normAutofit fontScale="90000"/>
          </a:bodyPr>
          <a:lstStyle/>
          <a:p>
            <a:r>
              <a:rPr lang="en-US" sz="3100" b="1" dirty="0" smtClean="0">
                <a:latin typeface="+mn-lt"/>
              </a:rPr>
              <a:t/>
            </a:r>
            <a:br>
              <a:rPr lang="en-US" sz="3100" b="1" dirty="0" smtClean="0">
                <a:latin typeface="+mn-lt"/>
              </a:rPr>
            </a:br>
            <a:r>
              <a:rPr lang="en-US" sz="3100" b="1" dirty="0" smtClean="0">
                <a:latin typeface="+mn-lt"/>
              </a:rPr>
              <a:t>Recurrences</a:t>
            </a:r>
            <a:r>
              <a:rPr lang="en-US" sz="2700" dirty="0">
                <a:latin typeface="+mn-lt"/>
              </a:rPr>
              <a:t/>
            </a:r>
            <a:br>
              <a:rPr lang="en-US" sz="2700" dirty="0">
                <a:latin typeface="+mn-lt"/>
              </a:rPr>
            </a:br>
            <a:r>
              <a:rPr lang="en-US" sz="2700" dirty="0" smtClean="0">
                <a:latin typeface="+mn-lt"/>
              </a:rPr>
              <a:t/>
            </a:r>
            <a:br>
              <a:rPr lang="en-US" sz="2700" dirty="0" smtClean="0">
                <a:latin typeface="+mn-lt"/>
              </a:rPr>
            </a:br>
            <a:r>
              <a:rPr lang="en-US" sz="2700" dirty="0">
                <a:latin typeface="+mn-lt"/>
              </a:rPr>
              <a:t/>
            </a:r>
            <a:br>
              <a:rPr lang="en-US" sz="2700" dirty="0">
                <a:latin typeface="+mn-lt"/>
              </a:rPr>
            </a:br>
            <a:r>
              <a:rPr lang="en-US" sz="2700" dirty="0" smtClean="0">
                <a:latin typeface="+mn-lt"/>
              </a:rPr>
              <a:t/>
            </a:r>
            <a:br>
              <a:rPr lang="en-US" sz="2700" dirty="0" smtClean="0">
                <a:latin typeface="+mn-lt"/>
              </a:rPr>
            </a:br>
            <a:r>
              <a:rPr lang="en-US" sz="2400" b="1" dirty="0" smtClean="0"/>
              <a:t>A </a:t>
            </a:r>
            <a:r>
              <a:rPr lang="en-US" sz="2400" b="1" dirty="0"/>
              <a:t>recurrence is just a way of describing a problem using smaller versions of the same problem.</a:t>
            </a:r>
            <a:br>
              <a:rPr lang="en-US" sz="2400" b="1" dirty="0"/>
            </a:br>
            <a:r>
              <a:rPr lang="en-US" sz="2400" b="1" dirty="0"/>
              <a:t>Instead of writing a direct formula, we say</a:t>
            </a:r>
            <a:r>
              <a:rPr lang="en-US" sz="2400" b="1" dirty="0" smtClean="0"/>
              <a:t>:</a:t>
            </a:r>
            <a:br>
              <a:rPr lang="en-US" sz="2400" b="1" dirty="0" smtClean="0"/>
            </a:br>
            <a:r>
              <a:rPr lang="en-US" sz="2400" b="1" dirty="0"/>
              <a:t/>
            </a:r>
            <a:br>
              <a:rPr lang="en-US" sz="2400" b="1" dirty="0"/>
            </a:br>
            <a:r>
              <a:rPr lang="en-US" sz="2400" b="1" dirty="0"/>
              <a:t>“To solve a big input, first solve smaller inputs — then combine their results</a:t>
            </a:r>
            <a:r>
              <a:rPr lang="en-US" sz="2400" b="1" dirty="0" smtClean="0"/>
              <a:t>.”</a:t>
            </a:r>
            <a:br>
              <a:rPr lang="en-US" sz="2400" b="1" dirty="0" smtClean="0"/>
            </a:br>
            <a:r>
              <a:rPr lang="en-US" sz="2400" b="1" dirty="0"/>
              <a:t/>
            </a:r>
            <a:br>
              <a:rPr lang="en-US" sz="2400" b="1" dirty="0"/>
            </a:br>
            <a:r>
              <a:rPr lang="en-US" sz="2400" b="1" dirty="0"/>
              <a:t>So the time (or work) needed for size n depends on the time needed for smaller sizes.</a:t>
            </a:r>
            <a:br>
              <a:rPr lang="en-US" sz="2400" b="1" dirty="0"/>
            </a:br>
            <a:r>
              <a:rPr lang="en-US" sz="2800" dirty="0"/>
              <a:t/>
            </a:r>
            <a:br>
              <a:rPr lang="en-US" sz="2800" dirty="0"/>
            </a:br>
            <a:r>
              <a:rPr lang="en-US" sz="2800" dirty="0"/>
              <a:t/>
            </a:r>
            <a:br>
              <a:rPr lang="en-US" sz="2800" dirty="0"/>
            </a:br>
            <a:r>
              <a:rPr lang="en-US" sz="3100" dirty="0">
                <a:latin typeface="+mn-lt"/>
              </a:rPr>
              <a:t/>
            </a:r>
            <a:br>
              <a:rPr lang="en-US" sz="3100" dirty="0">
                <a:latin typeface="+mn-lt"/>
              </a:rPr>
            </a:br>
            <a:endParaRPr lang="en-US" sz="4400" dirty="0">
              <a:latin typeface="+mn-lt"/>
            </a:endParaRPr>
          </a:p>
        </p:txBody>
      </p:sp>
      <p:graphicFrame>
        <p:nvGraphicFramePr>
          <p:cNvPr id="7" name="Object 8"/>
          <p:cNvGraphicFramePr>
            <a:graphicFrameLocks noChangeAspect="1"/>
          </p:cNvGraphicFramePr>
          <p:nvPr>
            <p:extLst/>
          </p:nvPr>
        </p:nvGraphicFramePr>
        <p:xfrm>
          <a:off x="2100664" y="3841443"/>
          <a:ext cx="4191000" cy="2155825"/>
        </p:xfrm>
        <a:graphic>
          <a:graphicData uri="http://schemas.openxmlformats.org/presentationml/2006/ole">
            <mc:AlternateContent xmlns:mc="http://schemas.openxmlformats.org/markup-compatibility/2006">
              <mc:Choice xmlns:v="urn:schemas-microsoft-com:vml" Requires="v">
                <p:oleObj spid="_x0000_s6287" name="Equation" r:id="rId4" imgW="1676160" imgH="863280" progId="Equation.3">
                  <p:embed/>
                </p:oleObj>
              </mc:Choice>
              <mc:Fallback>
                <p:oleObj name="Equation" r:id="rId4" imgW="1676160" imgH="8632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0664" y="3841443"/>
                        <a:ext cx="4191000" cy="215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604512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57" y="151061"/>
            <a:ext cx="11643910" cy="6569228"/>
          </a:xfrm>
        </p:spPr>
        <p:txBody>
          <a:bodyPr>
            <a:normAutofit/>
          </a:bodyPr>
          <a:lstStyle/>
          <a:p>
            <a:pPr>
              <a:lnSpc>
                <a:spcPct val="150000"/>
              </a:lnSpc>
            </a:pPr>
            <a:r>
              <a:rPr lang="en-US" dirty="0"/>
              <a:t>Recurrence of </a:t>
            </a:r>
            <a:r>
              <a:rPr lang="en-US" dirty="0" smtClean="0"/>
              <a:t>Merge Sort</a:t>
            </a:r>
            <a:r>
              <a:rPr lang="en-US" dirty="0"/>
              <a:t>: T(n) = 2T(n/2) + n</a:t>
            </a:r>
          </a:p>
          <a:p>
            <a:pPr>
              <a:lnSpc>
                <a:spcPct val="150000"/>
              </a:lnSpc>
            </a:pPr>
            <a:r>
              <a:rPr lang="en-US" dirty="0"/>
              <a:t>Recurrence of Binary Search: T(n) = T(n/2) + 1</a:t>
            </a:r>
          </a:p>
          <a:p>
            <a:pPr marL="457200" indent="-457200">
              <a:lnSpc>
                <a:spcPct val="150000"/>
              </a:lnSpc>
              <a:spcBef>
                <a:spcPts val="0"/>
              </a:spcBef>
              <a:buNone/>
            </a:pPr>
            <a:r>
              <a:rPr lang="en-US" sz="1800" dirty="0">
                <a:sym typeface="Symbol" pitchFamily="18" charset="2"/>
              </a:rPr>
              <a:t>BINARY-SEARCH (A, low, high, x) </a:t>
            </a:r>
          </a:p>
          <a:p>
            <a:pPr marL="457200" indent="-457200">
              <a:lnSpc>
                <a:spcPct val="150000"/>
              </a:lnSpc>
              <a:spcBef>
                <a:spcPts val="0"/>
              </a:spcBef>
              <a:buNone/>
            </a:pPr>
            <a:r>
              <a:rPr lang="en-US" sz="1800" dirty="0">
                <a:sym typeface="Symbol" pitchFamily="18" charset="2"/>
              </a:rPr>
              <a:t>	</a:t>
            </a:r>
            <a:r>
              <a:rPr lang="en-US" sz="1800" b="1" dirty="0">
                <a:sym typeface="Symbol" pitchFamily="18" charset="2"/>
              </a:rPr>
              <a:t>if</a:t>
            </a:r>
            <a:r>
              <a:rPr lang="en-US" sz="1800" dirty="0">
                <a:sym typeface="Symbol" pitchFamily="18" charset="2"/>
              </a:rPr>
              <a:t> (low &gt; high)</a:t>
            </a:r>
          </a:p>
          <a:p>
            <a:pPr marL="457200" indent="-457200">
              <a:lnSpc>
                <a:spcPct val="150000"/>
              </a:lnSpc>
              <a:spcBef>
                <a:spcPts val="0"/>
              </a:spcBef>
              <a:buNone/>
            </a:pPr>
            <a:r>
              <a:rPr lang="en-US" sz="1800" dirty="0">
                <a:sym typeface="Symbol" pitchFamily="18" charset="2"/>
              </a:rPr>
              <a:t>		</a:t>
            </a:r>
            <a:r>
              <a:rPr lang="en-US" sz="1800" b="1" dirty="0">
                <a:sym typeface="Symbol" pitchFamily="18" charset="2"/>
              </a:rPr>
              <a:t>return</a:t>
            </a:r>
            <a:r>
              <a:rPr lang="en-US" sz="1800" dirty="0">
                <a:sym typeface="Symbol" pitchFamily="18" charset="2"/>
              </a:rPr>
              <a:t> </a:t>
            </a:r>
            <a:r>
              <a:rPr lang="en-US" sz="1800" dirty="0" smtClean="0">
                <a:sym typeface="Symbol" pitchFamily="18" charset="2"/>
              </a:rPr>
              <a:t>FALSE     </a:t>
            </a:r>
            <a:endParaRPr lang="en-US" sz="1800" dirty="0">
              <a:sym typeface="Symbol" pitchFamily="18" charset="2"/>
            </a:endParaRPr>
          </a:p>
          <a:p>
            <a:pPr marL="457200" indent="-457200">
              <a:lnSpc>
                <a:spcPct val="150000"/>
              </a:lnSpc>
              <a:spcBef>
                <a:spcPts val="0"/>
              </a:spcBef>
              <a:buNone/>
            </a:pPr>
            <a:r>
              <a:rPr lang="en-US" sz="1800" dirty="0">
                <a:sym typeface="Symbol" pitchFamily="18" charset="2"/>
              </a:rPr>
              <a:t>	mid  (low + high)/2</a:t>
            </a:r>
          </a:p>
          <a:p>
            <a:pPr marL="457200" indent="-457200">
              <a:lnSpc>
                <a:spcPct val="150000"/>
              </a:lnSpc>
              <a:spcBef>
                <a:spcPts val="0"/>
              </a:spcBef>
              <a:buNone/>
            </a:pPr>
            <a:r>
              <a:rPr lang="en-US" sz="1800" dirty="0">
                <a:sym typeface="Symbol" pitchFamily="18" charset="2"/>
              </a:rPr>
              <a:t>	</a:t>
            </a:r>
            <a:r>
              <a:rPr lang="en-US" sz="1800" b="1" dirty="0">
                <a:sym typeface="Symbol" pitchFamily="18" charset="2"/>
              </a:rPr>
              <a:t>if</a:t>
            </a:r>
            <a:r>
              <a:rPr lang="en-US" sz="1800" dirty="0">
                <a:sym typeface="Symbol" pitchFamily="18" charset="2"/>
              </a:rPr>
              <a:t> x = A[mid]</a:t>
            </a:r>
          </a:p>
          <a:p>
            <a:pPr marL="457200" indent="-457200">
              <a:lnSpc>
                <a:spcPct val="150000"/>
              </a:lnSpc>
              <a:spcBef>
                <a:spcPts val="0"/>
              </a:spcBef>
              <a:buNone/>
            </a:pPr>
            <a:r>
              <a:rPr lang="en-US" sz="1800" dirty="0">
                <a:sym typeface="Symbol" pitchFamily="18" charset="2"/>
              </a:rPr>
              <a:t>		return TRUE</a:t>
            </a:r>
          </a:p>
          <a:p>
            <a:pPr marL="457200" indent="-457200">
              <a:lnSpc>
                <a:spcPct val="150000"/>
              </a:lnSpc>
              <a:spcBef>
                <a:spcPts val="0"/>
              </a:spcBef>
              <a:buNone/>
            </a:pPr>
            <a:r>
              <a:rPr lang="en-US" sz="1800" dirty="0">
                <a:sym typeface="Symbol" pitchFamily="18" charset="2"/>
              </a:rPr>
              <a:t>	</a:t>
            </a:r>
            <a:r>
              <a:rPr lang="en-US" sz="1800" b="1" dirty="0">
                <a:sym typeface="Symbol" pitchFamily="18" charset="2"/>
              </a:rPr>
              <a:t>if</a:t>
            </a:r>
            <a:r>
              <a:rPr lang="en-US" sz="1800" dirty="0">
                <a:sym typeface="Symbol" pitchFamily="18" charset="2"/>
              </a:rPr>
              <a:t> ( x &lt; A[mid] )</a:t>
            </a:r>
          </a:p>
          <a:p>
            <a:pPr marL="457200" indent="-457200">
              <a:lnSpc>
                <a:spcPct val="150000"/>
              </a:lnSpc>
              <a:spcBef>
                <a:spcPts val="0"/>
              </a:spcBef>
              <a:buNone/>
            </a:pPr>
            <a:r>
              <a:rPr lang="en-US" sz="1800" dirty="0">
                <a:sym typeface="Symbol" pitchFamily="18" charset="2"/>
              </a:rPr>
              <a:t>		BINARY-SEARCH (A, low, mid-1, x)</a:t>
            </a:r>
          </a:p>
          <a:p>
            <a:pPr marL="457200" indent="-457200">
              <a:lnSpc>
                <a:spcPct val="150000"/>
              </a:lnSpc>
              <a:spcBef>
                <a:spcPts val="0"/>
              </a:spcBef>
              <a:buNone/>
            </a:pPr>
            <a:r>
              <a:rPr lang="en-US" sz="1800" dirty="0">
                <a:sym typeface="Symbol" pitchFamily="18" charset="2"/>
              </a:rPr>
              <a:t>	</a:t>
            </a:r>
            <a:r>
              <a:rPr lang="en-US" sz="1800" b="1" dirty="0">
                <a:sym typeface="Symbol" pitchFamily="18" charset="2"/>
              </a:rPr>
              <a:t>if</a:t>
            </a:r>
            <a:r>
              <a:rPr lang="en-US" sz="1800" dirty="0">
                <a:sym typeface="Symbol" pitchFamily="18" charset="2"/>
              </a:rPr>
              <a:t> ( x &gt; A[mid] )</a:t>
            </a:r>
          </a:p>
          <a:p>
            <a:pPr marL="457200" indent="-457200">
              <a:lnSpc>
                <a:spcPct val="150000"/>
              </a:lnSpc>
              <a:spcBef>
                <a:spcPts val="0"/>
              </a:spcBef>
              <a:buNone/>
            </a:pPr>
            <a:r>
              <a:rPr lang="en-US" sz="1800" dirty="0">
                <a:sym typeface="Symbol" pitchFamily="18" charset="2"/>
              </a:rPr>
              <a:t> 		BINARY-SEARCH (A, mid+1, high, x)</a:t>
            </a:r>
          </a:p>
        </p:txBody>
      </p:sp>
    </p:spTree>
    <p:extLst>
      <p:ext uri="{BB962C8B-B14F-4D97-AF65-F5344CB8AC3E}">
        <p14:creationId xmlns:p14="http://schemas.microsoft.com/office/powerpoint/2010/main" val="8779362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57" y="151060"/>
            <a:ext cx="11761208" cy="6357315"/>
          </a:xfrm>
        </p:spPr>
        <p:txBody>
          <a:bodyPr>
            <a:normAutofit/>
          </a:bodyPr>
          <a:lstStyle/>
          <a:p>
            <a:pPr marL="0" indent="0">
              <a:lnSpc>
                <a:spcPct val="150000"/>
              </a:lnSpc>
              <a:buNone/>
            </a:pPr>
            <a:r>
              <a:rPr lang="en-US" b="1" dirty="0"/>
              <a:t>Recurrence equation example:</a:t>
            </a:r>
          </a:p>
          <a:p>
            <a:pPr marL="0" indent="0">
              <a:lnSpc>
                <a:spcPct val="150000"/>
              </a:lnSpc>
              <a:buNone/>
            </a:pPr>
            <a:endParaRPr lang="en-US" sz="1000" b="1" dirty="0"/>
          </a:p>
          <a:p>
            <a:pPr marL="0" indent="0">
              <a:lnSpc>
                <a:spcPct val="100000"/>
              </a:lnSpc>
              <a:spcBef>
                <a:spcPts val="0"/>
              </a:spcBef>
              <a:buNone/>
            </a:pPr>
            <a:r>
              <a:rPr lang="en-US" sz="2400" dirty="0"/>
              <a:t>Void fun (</a:t>
            </a:r>
            <a:r>
              <a:rPr lang="en-US" sz="2400" dirty="0" err="1"/>
              <a:t>int</a:t>
            </a:r>
            <a:r>
              <a:rPr lang="en-US" sz="2400" dirty="0"/>
              <a:t> n)                            T(n)….. Sum of all steps inside equation</a:t>
            </a:r>
          </a:p>
          <a:p>
            <a:pPr marL="0" indent="0">
              <a:lnSpc>
                <a:spcPct val="100000"/>
              </a:lnSpc>
              <a:spcBef>
                <a:spcPts val="0"/>
              </a:spcBef>
              <a:buNone/>
            </a:pPr>
            <a:r>
              <a:rPr lang="en-US" sz="2400" dirty="0"/>
              <a:t>{</a:t>
            </a:r>
          </a:p>
          <a:p>
            <a:pPr marL="0" indent="0">
              <a:lnSpc>
                <a:spcPct val="100000"/>
              </a:lnSpc>
              <a:spcBef>
                <a:spcPts val="0"/>
              </a:spcBef>
              <a:buNone/>
            </a:pPr>
            <a:r>
              <a:rPr lang="en-US" sz="2400" dirty="0"/>
              <a:t>      if (n &gt; 0 )                                  1    ……  constant time</a:t>
            </a:r>
          </a:p>
          <a:p>
            <a:pPr marL="0" indent="0">
              <a:lnSpc>
                <a:spcPct val="100000"/>
              </a:lnSpc>
              <a:spcBef>
                <a:spcPts val="0"/>
              </a:spcBef>
              <a:buNone/>
            </a:pPr>
            <a:r>
              <a:rPr lang="en-US" sz="2400" dirty="0"/>
              <a:t>       {</a:t>
            </a:r>
          </a:p>
          <a:p>
            <a:pPr marL="0" indent="0">
              <a:lnSpc>
                <a:spcPct val="100000"/>
              </a:lnSpc>
              <a:spcBef>
                <a:spcPts val="0"/>
              </a:spcBef>
              <a:buNone/>
            </a:pPr>
            <a:r>
              <a:rPr lang="en-US" sz="2400" dirty="0"/>
              <a:t>             print (n)                            1  ……  constant time</a:t>
            </a:r>
          </a:p>
          <a:p>
            <a:pPr marL="0" indent="0">
              <a:lnSpc>
                <a:spcPct val="100000"/>
              </a:lnSpc>
              <a:spcBef>
                <a:spcPts val="0"/>
              </a:spcBef>
              <a:buNone/>
            </a:pPr>
            <a:r>
              <a:rPr lang="en-US" sz="2400" dirty="0"/>
              <a:t>	fun (n-1)                           T(n-1)</a:t>
            </a:r>
          </a:p>
          <a:p>
            <a:pPr marL="0" indent="0">
              <a:lnSpc>
                <a:spcPct val="100000"/>
              </a:lnSpc>
              <a:spcBef>
                <a:spcPts val="0"/>
              </a:spcBef>
              <a:buNone/>
            </a:pPr>
            <a:r>
              <a:rPr lang="en-US" sz="2400" dirty="0"/>
              <a:t>       }</a:t>
            </a:r>
          </a:p>
          <a:p>
            <a:pPr marL="0" indent="0">
              <a:lnSpc>
                <a:spcPct val="100000"/>
              </a:lnSpc>
              <a:spcBef>
                <a:spcPts val="0"/>
              </a:spcBef>
              <a:buNone/>
            </a:pPr>
            <a:r>
              <a:rPr lang="en-US" sz="2400" dirty="0"/>
              <a:t>}</a:t>
            </a:r>
          </a:p>
          <a:p>
            <a:pPr marL="0" indent="0">
              <a:lnSpc>
                <a:spcPct val="150000"/>
              </a:lnSpc>
              <a:buNone/>
            </a:pPr>
            <a:r>
              <a:rPr lang="en-US" dirty="0"/>
              <a:t>T(n) = T(n-1) + 2 = 	 T(n-1) +  C</a:t>
            </a:r>
          </a:p>
        </p:txBody>
      </p:sp>
    </p:spTree>
    <p:extLst>
      <p:ext uri="{BB962C8B-B14F-4D97-AF65-F5344CB8AC3E}">
        <p14:creationId xmlns:p14="http://schemas.microsoft.com/office/powerpoint/2010/main" val="338244782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183" y="151060"/>
            <a:ext cx="10663410" cy="6357315"/>
          </a:xfrm>
        </p:spPr>
        <p:txBody>
          <a:bodyPr>
            <a:normAutofit/>
          </a:bodyPr>
          <a:lstStyle/>
          <a:p>
            <a:pPr marL="0" indent="0">
              <a:lnSpc>
                <a:spcPct val="150000"/>
              </a:lnSpc>
              <a:buNone/>
            </a:pPr>
            <a:r>
              <a:rPr lang="en-US" b="1" dirty="0"/>
              <a:t>Indirect Recurrence equation example:</a:t>
            </a:r>
          </a:p>
          <a:p>
            <a:pPr marL="0" indent="0">
              <a:lnSpc>
                <a:spcPct val="110000"/>
              </a:lnSpc>
              <a:spcBef>
                <a:spcPts val="0"/>
              </a:spcBef>
              <a:buNone/>
            </a:pPr>
            <a:r>
              <a:rPr lang="en-US" sz="2400" b="1" dirty="0"/>
              <a:t>fun</a:t>
            </a:r>
            <a:r>
              <a:rPr lang="en-US" sz="2400" dirty="0"/>
              <a:t> (---)</a:t>
            </a:r>
          </a:p>
          <a:p>
            <a:pPr marL="0" indent="0">
              <a:lnSpc>
                <a:spcPct val="110000"/>
              </a:lnSpc>
              <a:spcBef>
                <a:spcPts val="0"/>
              </a:spcBef>
              <a:buNone/>
            </a:pPr>
            <a:r>
              <a:rPr lang="en-US" sz="2400" dirty="0"/>
              <a:t>{</a:t>
            </a:r>
          </a:p>
          <a:p>
            <a:pPr marL="0" indent="0">
              <a:lnSpc>
                <a:spcPct val="110000"/>
              </a:lnSpc>
              <a:spcBef>
                <a:spcPts val="0"/>
              </a:spcBef>
              <a:buNone/>
            </a:pPr>
            <a:r>
              <a:rPr lang="en-US" sz="2400" dirty="0"/>
              <a:t>      ----</a:t>
            </a:r>
          </a:p>
          <a:p>
            <a:pPr marL="0" indent="0">
              <a:lnSpc>
                <a:spcPct val="110000"/>
              </a:lnSpc>
              <a:spcBef>
                <a:spcPts val="0"/>
              </a:spcBef>
              <a:buNone/>
            </a:pPr>
            <a:r>
              <a:rPr lang="en-US" sz="2400" dirty="0"/>
              <a:t>      </a:t>
            </a:r>
            <a:r>
              <a:rPr lang="en-US" sz="2400" dirty="0" err="1"/>
              <a:t>newfun</a:t>
            </a:r>
            <a:r>
              <a:rPr lang="en-US" sz="2400" dirty="0"/>
              <a:t>(---)</a:t>
            </a:r>
          </a:p>
          <a:p>
            <a:pPr marL="0" indent="0">
              <a:lnSpc>
                <a:spcPct val="110000"/>
              </a:lnSpc>
              <a:spcBef>
                <a:spcPts val="0"/>
              </a:spcBef>
              <a:buNone/>
            </a:pPr>
            <a:r>
              <a:rPr lang="en-US" sz="2400" dirty="0"/>
              <a:t>      ----</a:t>
            </a:r>
          </a:p>
          <a:p>
            <a:pPr marL="0" indent="0">
              <a:lnSpc>
                <a:spcPct val="110000"/>
              </a:lnSpc>
              <a:spcBef>
                <a:spcPts val="0"/>
              </a:spcBef>
              <a:buNone/>
            </a:pPr>
            <a:r>
              <a:rPr lang="en-US" sz="2400" dirty="0"/>
              <a:t>}</a:t>
            </a:r>
          </a:p>
          <a:p>
            <a:pPr marL="0" indent="0">
              <a:lnSpc>
                <a:spcPct val="110000"/>
              </a:lnSpc>
              <a:spcBef>
                <a:spcPts val="0"/>
              </a:spcBef>
              <a:buNone/>
            </a:pPr>
            <a:endParaRPr lang="en-US" sz="2400" dirty="0"/>
          </a:p>
          <a:p>
            <a:pPr marL="0" indent="0">
              <a:lnSpc>
                <a:spcPct val="110000"/>
              </a:lnSpc>
              <a:spcBef>
                <a:spcPts val="0"/>
              </a:spcBef>
              <a:buNone/>
            </a:pPr>
            <a:r>
              <a:rPr lang="en-US" sz="2400" b="1" dirty="0" err="1"/>
              <a:t>newfun</a:t>
            </a:r>
            <a:r>
              <a:rPr lang="en-US" sz="2400" dirty="0"/>
              <a:t> (---)</a:t>
            </a:r>
          </a:p>
          <a:p>
            <a:pPr marL="0" indent="0">
              <a:lnSpc>
                <a:spcPct val="110000"/>
              </a:lnSpc>
              <a:spcBef>
                <a:spcPts val="0"/>
              </a:spcBef>
              <a:buNone/>
            </a:pPr>
            <a:r>
              <a:rPr lang="en-US" sz="2400" dirty="0"/>
              <a:t>{</a:t>
            </a:r>
          </a:p>
          <a:p>
            <a:pPr marL="0" indent="0">
              <a:lnSpc>
                <a:spcPct val="110000"/>
              </a:lnSpc>
              <a:spcBef>
                <a:spcPts val="0"/>
              </a:spcBef>
              <a:buNone/>
            </a:pPr>
            <a:r>
              <a:rPr lang="en-US" sz="2400" dirty="0"/>
              <a:t>      ----</a:t>
            </a:r>
          </a:p>
          <a:p>
            <a:pPr marL="0" indent="0">
              <a:lnSpc>
                <a:spcPct val="110000"/>
              </a:lnSpc>
              <a:spcBef>
                <a:spcPts val="0"/>
              </a:spcBef>
              <a:buNone/>
            </a:pPr>
            <a:r>
              <a:rPr lang="en-US" sz="2400" dirty="0"/>
              <a:t>      fun(---)</a:t>
            </a:r>
          </a:p>
          <a:p>
            <a:pPr marL="0" indent="0">
              <a:lnSpc>
                <a:spcPct val="110000"/>
              </a:lnSpc>
              <a:spcBef>
                <a:spcPts val="0"/>
              </a:spcBef>
              <a:buNone/>
            </a:pPr>
            <a:r>
              <a:rPr lang="en-US" sz="2400" dirty="0"/>
              <a:t>      ----</a:t>
            </a:r>
          </a:p>
          <a:p>
            <a:pPr marL="0" indent="0">
              <a:lnSpc>
                <a:spcPct val="110000"/>
              </a:lnSpc>
              <a:spcBef>
                <a:spcPts val="0"/>
              </a:spcBef>
              <a:buNone/>
            </a:pPr>
            <a:r>
              <a:rPr lang="en-US" sz="2400" dirty="0"/>
              <a:t>}</a:t>
            </a:r>
          </a:p>
          <a:p>
            <a:pPr marL="0" indent="0">
              <a:lnSpc>
                <a:spcPct val="100000"/>
              </a:lnSpc>
              <a:buNone/>
            </a:pPr>
            <a:endParaRPr lang="en-US" sz="2400" dirty="0"/>
          </a:p>
        </p:txBody>
      </p:sp>
    </p:spTree>
    <p:extLst>
      <p:ext uri="{BB962C8B-B14F-4D97-AF65-F5344CB8AC3E}">
        <p14:creationId xmlns:p14="http://schemas.microsoft.com/office/powerpoint/2010/main" val="136458952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5" name="Rectangle 1027"/>
          <p:cNvSpPr>
            <a:spLocks noGrp="1" noChangeArrowheads="1"/>
          </p:cNvSpPr>
          <p:nvPr>
            <p:ph type="body" idx="1"/>
          </p:nvPr>
        </p:nvSpPr>
        <p:spPr>
          <a:xfrm>
            <a:off x="386508" y="415466"/>
            <a:ext cx="10515600" cy="4351338"/>
          </a:xfrm>
        </p:spPr>
        <p:txBody>
          <a:bodyPr/>
          <a:lstStyle/>
          <a:p>
            <a:pPr marL="0" indent="0" algn="ctr">
              <a:lnSpc>
                <a:spcPct val="150000"/>
              </a:lnSpc>
              <a:buNone/>
            </a:pPr>
            <a:r>
              <a:rPr lang="en-US" sz="3600" b="1" dirty="0"/>
              <a:t>Solving Recurrences</a:t>
            </a:r>
          </a:p>
          <a:p>
            <a:pPr>
              <a:lnSpc>
                <a:spcPct val="150000"/>
              </a:lnSpc>
            </a:pPr>
            <a:r>
              <a:rPr lang="en-US" dirty="0"/>
              <a:t>Substitution method</a:t>
            </a:r>
          </a:p>
          <a:p>
            <a:pPr>
              <a:lnSpc>
                <a:spcPct val="150000"/>
              </a:lnSpc>
            </a:pPr>
            <a:r>
              <a:rPr lang="en-US" dirty="0"/>
              <a:t>Master method / Master’s Theorem</a:t>
            </a:r>
          </a:p>
          <a:p>
            <a:pPr>
              <a:lnSpc>
                <a:spcPct val="150000"/>
              </a:lnSpc>
            </a:pPr>
            <a:r>
              <a:rPr lang="en-US" dirty="0"/>
              <a:t>Recursion Tree Method</a:t>
            </a:r>
          </a:p>
          <a:p>
            <a:pPr>
              <a:lnSpc>
                <a:spcPct val="150000"/>
              </a:lnSpc>
            </a:pPr>
            <a:r>
              <a:rPr lang="en-US" dirty="0"/>
              <a:t>Iteration method</a:t>
            </a:r>
            <a:r>
              <a:rPr lang="en-US" sz="1800" dirty="0"/>
              <a:t>…………….not in syllabus</a:t>
            </a:r>
          </a:p>
          <a:p>
            <a:pPr>
              <a:lnSpc>
                <a:spcPct val="150000"/>
              </a:lnSpc>
            </a:pPr>
            <a:endParaRPr lang="en-US" dirty="0"/>
          </a:p>
        </p:txBody>
      </p:sp>
    </p:spTree>
    <p:extLst>
      <p:ext uri="{BB962C8B-B14F-4D97-AF65-F5344CB8AC3E}">
        <p14:creationId xmlns:p14="http://schemas.microsoft.com/office/powerpoint/2010/main" val="250996698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1" y="315713"/>
            <a:ext cx="10515600" cy="1325563"/>
          </a:xfrm>
        </p:spPr>
        <p:txBody>
          <a:bodyPr/>
          <a:lstStyle/>
          <a:p>
            <a:r>
              <a:rPr lang="en-US" dirty="0">
                <a:latin typeface="Times" panose="02020603050405020304" pitchFamily="18" charset="0"/>
                <a:cs typeface="Times" panose="02020603050405020304" pitchFamily="18" charset="0"/>
              </a:rPr>
              <a:t>Substitution method</a:t>
            </a:r>
            <a:r>
              <a:rPr lang="en-US" dirty="0"/>
              <a:t/>
            </a:r>
            <a:br>
              <a:rPr lang="en-US" dirty="0"/>
            </a:br>
            <a:endParaRPr lang="en-IN"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1" y="1743869"/>
            <a:ext cx="5086350" cy="2732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594" y="4476751"/>
            <a:ext cx="4501356" cy="161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463" y="2119313"/>
            <a:ext cx="5797790"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6463" y="3110310"/>
            <a:ext cx="4824412" cy="956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553200" y="4914662"/>
            <a:ext cx="4514849" cy="523220"/>
          </a:xfrm>
          <a:prstGeom prst="rect">
            <a:avLst/>
          </a:prstGeom>
        </p:spPr>
        <p:txBody>
          <a:bodyPr wrap="square">
            <a:spAutoFit/>
          </a:bodyPr>
          <a:lstStyle/>
          <a:p>
            <a:r>
              <a:rPr lang="en-IN" sz="2800" dirty="0"/>
              <a:t>Time Complexity=O(n!)</a:t>
            </a:r>
          </a:p>
        </p:txBody>
      </p:sp>
    </p:spTree>
    <p:extLst>
      <p:ext uri="{BB962C8B-B14F-4D97-AF65-F5344CB8AC3E}">
        <p14:creationId xmlns:p14="http://schemas.microsoft.com/office/powerpoint/2010/main" val="15860152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pPr algn="ctr"/>
            <a:r>
              <a:rPr lang="en-US" b="1" dirty="0">
                <a:latin typeface="+mn-lt"/>
              </a:rPr>
              <a:t>Master’s method</a:t>
            </a:r>
          </a:p>
        </p:txBody>
      </p:sp>
      <p:sp>
        <p:nvSpPr>
          <p:cNvPr id="229379" name="Rectangle 3"/>
          <p:cNvSpPr>
            <a:spLocks noGrp="1" noChangeArrowheads="1"/>
          </p:cNvSpPr>
          <p:nvPr>
            <p:ph type="body" sz="half" idx="1"/>
          </p:nvPr>
        </p:nvSpPr>
        <p:spPr>
          <a:xfrm>
            <a:off x="727113" y="1214439"/>
            <a:ext cx="11160087" cy="5418137"/>
          </a:xfrm>
        </p:spPr>
        <p:txBody>
          <a:bodyPr>
            <a:normAutofit/>
          </a:bodyPr>
          <a:lstStyle/>
          <a:p>
            <a:pPr>
              <a:lnSpc>
                <a:spcPct val="90000"/>
              </a:lnSpc>
              <a:buFontTx/>
              <a:buNone/>
            </a:pPr>
            <a:r>
              <a:rPr lang="en-US" sz="2400" dirty="0"/>
              <a:t>					…….. where, </a:t>
            </a:r>
            <a:r>
              <a:rPr lang="en-US" sz="2400" dirty="0">
                <a:latin typeface="Comic Sans MS" pitchFamily="66" charset="0"/>
              </a:rPr>
              <a:t>a </a:t>
            </a:r>
            <a:r>
              <a:rPr lang="en-US" sz="2400" dirty="0">
                <a:latin typeface="Comic Sans MS" pitchFamily="66" charset="0"/>
                <a:cs typeface="Arial" charset="0"/>
              </a:rPr>
              <a:t>≥ 1</a:t>
            </a:r>
            <a:r>
              <a:rPr lang="en-US" sz="2400" dirty="0">
                <a:cs typeface="Arial" charset="0"/>
              </a:rPr>
              <a:t>,</a:t>
            </a:r>
            <a:r>
              <a:rPr lang="en-US" sz="2400" dirty="0">
                <a:latin typeface="Comic Sans MS" pitchFamily="66" charset="0"/>
                <a:cs typeface="Arial" charset="0"/>
              </a:rPr>
              <a:t> b &gt; 1</a:t>
            </a:r>
            <a:r>
              <a:rPr lang="en-US" sz="2400" dirty="0">
                <a:cs typeface="Arial" charset="0"/>
              </a:rPr>
              <a:t>, and </a:t>
            </a:r>
            <a:r>
              <a:rPr lang="en-US" sz="2400" dirty="0">
                <a:latin typeface="Comic Sans MS" pitchFamily="66" charset="0"/>
                <a:cs typeface="Arial" charset="0"/>
              </a:rPr>
              <a:t>f(n) &gt; 0</a:t>
            </a:r>
            <a:r>
              <a:rPr lang="en-US" sz="2400" dirty="0">
                <a:cs typeface="Arial" charset="0"/>
              </a:rPr>
              <a:t> </a:t>
            </a:r>
          </a:p>
          <a:p>
            <a:pPr>
              <a:lnSpc>
                <a:spcPct val="150000"/>
              </a:lnSpc>
              <a:spcBef>
                <a:spcPts val="0"/>
              </a:spcBef>
            </a:pPr>
            <a:endParaRPr lang="en-US" sz="1800" dirty="0"/>
          </a:p>
          <a:p>
            <a:pPr algn="just">
              <a:lnSpc>
                <a:spcPct val="150000"/>
              </a:lnSpc>
              <a:spcBef>
                <a:spcPts val="0"/>
              </a:spcBef>
            </a:pPr>
            <a:r>
              <a:rPr lang="en-US" sz="2000" b="1" dirty="0"/>
              <a:t>n</a:t>
            </a:r>
            <a:r>
              <a:rPr lang="en-US" sz="2000" dirty="0"/>
              <a:t> is the </a:t>
            </a:r>
            <a:r>
              <a:rPr lang="en-US" sz="2000" b="1" dirty="0"/>
              <a:t>size</a:t>
            </a:r>
            <a:r>
              <a:rPr lang="en-US" sz="2000" dirty="0"/>
              <a:t> of the problem.</a:t>
            </a:r>
          </a:p>
          <a:p>
            <a:pPr algn="just">
              <a:lnSpc>
                <a:spcPct val="150000"/>
              </a:lnSpc>
              <a:spcBef>
                <a:spcPts val="0"/>
              </a:spcBef>
            </a:pPr>
            <a:r>
              <a:rPr lang="en-US" sz="2000" b="1" dirty="0"/>
              <a:t>a</a:t>
            </a:r>
            <a:r>
              <a:rPr lang="en-US" sz="2000" dirty="0"/>
              <a:t> is the number of </a:t>
            </a:r>
            <a:r>
              <a:rPr lang="en-US" sz="2000" b="1" dirty="0" err="1"/>
              <a:t>subproblems</a:t>
            </a:r>
            <a:r>
              <a:rPr lang="en-US" sz="2000" dirty="0"/>
              <a:t> in the recursion. (</a:t>
            </a:r>
            <a:r>
              <a:rPr lang="en-US" sz="2000" dirty="0" err="1"/>
              <a:t>Subproblems</a:t>
            </a:r>
            <a:r>
              <a:rPr lang="en-US" sz="2000" dirty="0"/>
              <a:t> can not be in fraction)</a:t>
            </a:r>
          </a:p>
          <a:p>
            <a:pPr algn="just">
              <a:lnSpc>
                <a:spcPct val="150000"/>
              </a:lnSpc>
              <a:spcBef>
                <a:spcPts val="0"/>
              </a:spcBef>
            </a:pPr>
            <a:r>
              <a:rPr lang="en-US" sz="2000" b="1" dirty="0"/>
              <a:t>n/b</a:t>
            </a:r>
            <a:r>
              <a:rPr lang="en-US" sz="2000" dirty="0"/>
              <a:t> is the </a:t>
            </a:r>
            <a:r>
              <a:rPr lang="en-US" sz="2000" b="1" dirty="0"/>
              <a:t>size of each </a:t>
            </a:r>
            <a:r>
              <a:rPr lang="en-US" sz="2000" b="1" dirty="0" err="1"/>
              <a:t>subproblem</a:t>
            </a:r>
            <a:r>
              <a:rPr lang="en-US" sz="2000" dirty="0"/>
              <a:t>. (Here it is assumed that all </a:t>
            </a:r>
            <a:r>
              <a:rPr lang="en-US" sz="2000" dirty="0" err="1"/>
              <a:t>subproblems</a:t>
            </a:r>
            <a:r>
              <a:rPr lang="en-US" sz="2000" dirty="0"/>
              <a:t> are essentially the same size.)</a:t>
            </a:r>
          </a:p>
          <a:p>
            <a:pPr algn="just">
              <a:lnSpc>
                <a:spcPct val="150000"/>
              </a:lnSpc>
              <a:spcBef>
                <a:spcPts val="0"/>
              </a:spcBef>
            </a:pPr>
            <a:r>
              <a:rPr lang="en-US" sz="2000" b="1" dirty="0"/>
              <a:t>f (n)</a:t>
            </a:r>
            <a:r>
              <a:rPr lang="en-US" sz="2000" dirty="0"/>
              <a:t> is the </a:t>
            </a:r>
            <a:r>
              <a:rPr lang="en-US" sz="2000" b="1" dirty="0"/>
              <a:t>sum of the work done </a:t>
            </a:r>
            <a:r>
              <a:rPr lang="en-US" sz="2000" dirty="0"/>
              <a:t>outside the recursive calls, which includes the </a:t>
            </a:r>
            <a:r>
              <a:rPr lang="en-US" sz="2000" b="1" dirty="0"/>
              <a:t>sum of dividing the problem and the sum of combining the solutions to the </a:t>
            </a:r>
            <a:r>
              <a:rPr lang="en-US" sz="2000" b="1" dirty="0" err="1"/>
              <a:t>subproblems</a:t>
            </a:r>
            <a:r>
              <a:rPr lang="en-US" sz="2000" dirty="0"/>
              <a:t>. (f (n) can not be negative.)</a:t>
            </a:r>
          </a:p>
          <a:p>
            <a:pPr algn="just">
              <a:lnSpc>
                <a:spcPct val="150000"/>
              </a:lnSpc>
              <a:spcBef>
                <a:spcPts val="0"/>
              </a:spcBef>
            </a:pPr>
            <a:r>
              <a:rPr lang="en-US" sz="2000" dirty="0"/>
              <a:t>It is not possible always bound the function according to the requirement, so we make </a:t>
            </a:r>
            <a:r>
              <a:rPr lang="en-US" sz="2000" b="1" dirty="0"/>
              <a:t>three cases </a:t>
            </a:r>
            <a:r>
              <a:rPr lang="en-US" sz="2000" dirty="0"/>
              <a:t>which will tell us what kind of bound we can apply on the function.</a:t>
            </a:r>
          </a:p>
        </p:txBody>
      </p:sp>
      <p:graphicFrame>
        <p:nvGraphicFramePr>
          <p:cNvPr id="229380" name="Object 4"/>
          <p:cNvGraphicFramePr>
            <a:graphicFrameLocks noGrp="1" noChangeAspect="1"/>
          </p:cNvGraphicFramePr>
          <p:nvPr>
            <p:ph sz="half" idx="2"/>
            <p:extLst/>
          </p:nvPr>
        </p:nvGraphicFramePr>
        <p:xfrm>
          <a:off x="1084243" y="872170"/>
          <a:ext cx="2895600" cy="936625"/>
        </p:xfrm>
        <a:graphic>
          <a:graphicData uri="http://schemas.openxmlformats.org/presentationml/2006/ole">
            <mc:AlternateContent xmlns:mc="http://schemas.openxmlformats.org/markup-compatibility/2006">
              <mc:Choice xmlns:v="urn:schemas-microsoft-com:vml" Requires="v">
                <p:oleObj spid="_x0000_s15384" name="Equation" r:id="rId4" imgW="1333440" imgH="431640" progId="Equation.3">
                  <p:embed/>
                </p:oleObj>
              </mc:Choice>
              <mc:Fallback>
                <p:oleObj name="Equation" r:id="rId4" imgW="133344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43" y="872170"/>
                        <a:ext cx="28956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322850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Master Theorem</a:t>
            </a:r>
            <a:br>
              <a:rPr lang="en-IN" b="1" dirty="0"/>
            </a:br>
            <a:endParaRPr lang="en-IN" dirty="0"/>
          </a:p>
        </p:txBody>
      </p:sp>
      <p:sp>
        <p:nvSpPr>
          <p:cNvPr id="3" name="Content Placeholder 2"/>
          <p:cNvSpPr>
            <a:spLocks noGrp="1"/>
          </p:cNvSpPr>
          <p:nvPr>
            <p:ph idx="1"/>
          </p:nvPr>
        </p:nvSpPr>
        <p:spPr>
          <a:xfrm>
            <a:off x="602673" y="1080655"/>
            <a:ext cx="11333018" cy="5553508"/>
          </a:xfrm>
        </p:spPr>
        <p:txBody>
          <a:bodyPr/>
          <a:lstStyle/>
          <a:p>
            <a:pPr marL="0" indent="0">
              <a:buNone/>
            </a:pPr>
            <a:r>
              <a:rPr lang="en-IN" b="1" dirty="0" smtClean="0"/>
              <a:t>Recurrence </a:t>
            </a:r>
            <a:r>
              <a:rPr lang="en-IN" b="1" dirty="0"/>
              <a:t>Form</a:t>
            </a:r>
          </a:p>
          <a:p>
            <a:endParaRPr lang="en-IN" dirty="0"/>
          </a:p>
        </p:txBody>
      </p:sp>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79" y="4239491"/>
            <a:ext cx="4925162" cy="210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6463" y="685800"/>
            <a:ext cx="5113337"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250" y="3899479"/>
            <a:ext cx="5205413"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989" y="1818266"/>
            <a:ext cx="4712652" cy="23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23593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pPr algn="ctr"/>
            <a:r>
              <a:rPr lang="en-US" b="1" dirty="0">
                <a:latin typeface="+mn-lt"/>
              </a:rPr>
              <a:t>Master’s method</a:t>
            </a:r>
          </a:p>
        </p:txBody>
      </p:sp>
      <p:sp>
        <p:nvSpPr>
          <p:cNvPr id="229379" name="Rectangle 3"/>
          <p:cNvSpPr>
            <a:spLocks noGrp="1" noChangeArrowheads="1"/>
          </p:cNvSpPr>
          <p:nvPr>
            <p:ph type="body" sz="half" idx="1"/>
          </p:nvPr>
        </p:nvSpPr>
        <p:spPr>
          <a:xfrm>
            <a:off x="727113" y="1214439"/>
            <a:ext cx="11160087" cy="5418137"/>
          </a:xfrm>
        </p:spPr>
        <p:txBody>
          <a:bodyPr>
            <a:normAutofit/>
          </a:bodyPr>
          <a:lstStyle/>
          <a:p>
            <a:pPr>
              <a:lnSpc>
                <a:spcPct val="90000"/>
              </a:lnSpc>
              <a:buFontTx/>
              <a:buNone/>
            </a:pPr>
            <a:r>
              <a:rPr lang="en-US" sz="2400" dirty="0"/>
              <a:t>					…….. where, </a:t>
            </a:r>
            <a:r>
              <a:rPr lang="en-US" sz="2400" dirty="0">
                <a:latin typeface="Comic Sans MS" pitchFamily="66" charset="0"/>
              </a:rPr>
              <a:t>a </a:t>
            </a:r>
            <a:r>
              <a:rPr lang="en-US" sz="2400" dirty="0">
                <a:latin typeface="Comic Sans MS" pitchFamily="66" charset="0"/>
                <a:cs typeface="Arial" charset="0"/>
              </a:rPr>
              <a:t>≥ 1</a:t>
            </a:r>
            <a:r>
              <a:rPr lang="en-US" sz="2400" dirty="0">
                <a:cs typeface="Arial" charset="0"/>
              </a:rPr>
              <a:t>,</a:t>
            </a:r>
            <a:r>
              <a:rPr lang="en-US" sz="2400" dirty="0">
                <a:latin typeface="Comic Sans MS" pitchFamily="66" charset="0"/>
                <a:cs typeface="Arial" charset="0"/>
              </a:rPr>
              <a:t> b &gt; 1</a:t>
            </a:r>
            <a:r>
              <a:rPr lang="en-US" sz="2400" dirty="0">
                <a:cs typeface="Arial" charset="0"/>
              </a:rPr>
              <a:t>, and </a:t>
            </a:r>
            <a:r>
              <a:rPr lang="en-US" sz="2400" dirty="0">
                <a:latin typeface="Comic Sans MS" pitchFamily="66" charset="0"/>
                <a:cs typeface="Arial" charset="0"/>
              </a:rPr>
              <a:t>f(n) &gt; 0</a:t>
            </a:r>
            <a:r>
              <a:rPr lang="en-US" sz="2400" dirty="0">
                <a:cs typeface="Arial" charset="0"/>
              </a:rPr>
              <a:t> </a:t>
            </a:r>
          </a:p>
          <a:p>
            <a:pPr>
              <a:lnSpc>
                <a:spcPct val="150000"/>
              </a:lnSpc>
              <a:spcBef>
                <a:spcPts val="0"/>
              </a:spcBef>
            </a:pPr>
            <a:endParaRPr lang="en-US" sz="1800" dirty="0"/>
          </a:p>
          <a:p>
            <a:pPr algn="just">
              <a:lnSpc>
                <a:spcPct val="150000"/>
              </a:lnSpc>
              <a:spcBef>
                <a:spcPts val="0"/>
              </a:spcBef>
            </a:pPr>
            <a:r>
              <a:rPr lang="en-US" sz="2000" b="1" dirty="0"/>
              <a:t>n</a:t>
            </a:r>
            <a:r>
              <a:rPr lang="en-US" sz="2000" dirty="0"/>
              <a:t> is the </a:t>
            </a:r>
            <a:r>
              <a:rPr lang="en-US" sz="2000" b="1" dirty="0"/>
              <a:t>size</a:t>
            </a:r>
            <a:r>
              <a:rPr lang="en-US" sz="2000" dirty="0"/>
              <a:t> of the problem.</a:t>
            </a:r>
          </a:p>
          <a:p>
            <a:pPr algn="just">
              <a:lnSpc>
                <a:spcPct val="150000"/>
              </a:lnSpc>
              <a:spcBef>
                <a:spcPts val="0"/>
              </a:spcBef>
            </a:pPr>
            <a:r>
              <a:rPr lang="en-US" sz="2000" b="1" dirty="0"/>
              <a:t>a</a:t>
            </a:r>
            <a:r>
              <a:rPr lang="en-US" sz="2000" dirty="0"/>
              <a:t> is the number of </a:t>
            </a:r>
            <a:r>
              <a:rPr lang="en-US" sz="2000" b="1" dirty="0" err="1"/>
              <a:t>subproblems</a:t>
            </a:r>
            <a:r>
              <a:rPr lang="en-US" sz="2000" dirty="0"/>
              <a:t> in the recursion. (</a:t>
            </a:r>
            <a:r>
              <a:rPr lang="en-US" sz="2000" dirty="0" err="1"/>
              <a:t>Subproblems</a:t>
            </a:r>
            <a:r>
              <a:rPr lang="en-US" sz="2000" dirty="0"/>
              <a:t> can not be in fraction)</a:t>
            </a:r>
          </a:p>
          <a:p>
            <a:pPr algn="just">
              <a:lnSpc>
                <a:spcPct val="150000"/>
              </a:lnSpc>
              <a:spcBef>
                <a:spcPts val="0"/>
              </a:spcBef>
            </a:pPr>
            <a:r>
              <a:rPr lang="en-US" sz="2000" b="1" dirty="0"/>
              <a:t>n/b</a:t>
            </a:r>
            <a:r>
              <a:rPr lang="en-US" sz="2000" dirty="0"/>
              <a:t> is the </a:t>
            </a:r>
            <a:r>
              <a:rPr lang="en-US" sz="2000" b="1" dirty="0"/>
              <a:t>size of each </a:t>
            </a:r>
            <a:r>
              <a:rPr lang="en-US" sz="2000" b="1" dirty="0" err="1"/>
              <a:t>subproblem</a:t>
            </a:r>
            <a:r>
              <a:rPr lang="en-US" sz="2000" dirty="0"/>
              <a:t>. (Here it is assumed that all </a:t>
            </a:r>
            <a:r>
              <a:rPr lang="en-US" sz="2000" dirty="0" err="1"/>
              <a:t>subproblems</a:t>
            </a:r>
            <a:r>
              <a:rPr lang="en-US" sz="2000" dirty="0"/>
              <a:t> are essentially the same size.)</a:t>
            </a:r>
          </a:p>
          <a:p>
            <a:pPr algn="just">
              <a:lnSpc>
                <a:spcPct val="150000"/>
              </a:lnSpc>
              <a:spcBef>
                <a:spcPts val="0"/>
              </a:spcBef>
            </a:pPr>
            <a:r>
              <a:rPr lang="en-US" sz="2000" b="1" dirty="0"/>
              <a:t>f (n)</a:t>
            </a:r>
            <a:r>
              <a:rPr lang="en-US" sz="2000" dirty="0"/>
              <a:t> is the </a:t>
            </a:r>
            <a:r>
              <a:rPr lang="en-US" sz="2000" b="1" dirty="0"/>
              <a:t>sum of the work done </a:t>
            </a:r>
            <a:r>
              <a:rPr lang="en-US" sz="2000" dirty="0"/>
              <a:t>outside the recursive calls, which includes the </a:t>
            </a:r>
            <a:r>
              <a:rPr lang="en-US" sz="2000" b="1" dirty="0"/>
              <a:t>sum of dividing the problem and the sum of combining the solutions to the </a:t>
            </a:r>
            <a:r>
              <a:rPr lang="en-US" sz="2000" b="1" dirty="0" err="1"/>
              <a:t>subproblems</a:t>
            </a:r>
            <a:r>
              <a:rPr lang="en-US" sz="2000" dirty="0"/>
              <a:t>. (f (n) can not be negative.)</a:t>
            </a:r>
          </a:p>
          <a:p>
            <a:pPr algn="just">
              <a:lnSpc>
                <a:spcPct val="150000"/>
              </a:lnSpc>
              <a:spcBef>
                <a:spcPts val="0"/>
              </a:spcBef>
            </a:pPr>
            <a:r>
              <a:rPr lang="en-US" sz="2000" dirty="0"/>
              <a:t>It is not possible always bound the function according to the requirement, so we make </a:t>
            </a:r>
            <a:r>
              <a:rPr lang="en-US" sz="2000" b="1" dirty="0"/>
              <a:t>three cases </a:t>
            </a:r>
            <a:r>
              <a:rPr lang="en-US" sz="2000" dirty="0"/>
              <a:t>which will tell us what kind of bound we can apply on the function.</a:t>
            </a:r>
          </a:p>
        </p:txBody>
      </p:sp>
      <p:graphicFrame>
        <p:nvGraphicFramePr>
          <p:cNvPr id="229380" name="Object 4"/>
          <p:cNvGraphicFramePr>
            <a:graphicFrameLocks noGrp="1" noChangeAspect="1"/>
          </p:cNvGraphicFramePr>
          <p:nvPr>
            <p:ph sz="half" idx="2"/>
            <p:extLst/>
          </p:nvPr>
        </p:nvGraphicFramePr>
        <p:xfrm>
          <a:off x="1084243" y="872170"/>
          <a:ext cx="2895600" cy="936625"/>
        </p:xfrm>
        <a:graphic>
          <a:graphicData uri="http://schemas.openxmlformats.org/presentationml/2006/ole">
            <mc:AlternateContent xmlns:mc="http://schemas.openxmlformats.org/markup-compatibility/2006">
              <mc:Choice xmlns:v="urn:schemas-microsoft-com:vml" Requires="v">
                <p:oleObj spid="_x0000_s8335" name="Equation" r:id="rId4" imgW="1333440" imgH="431640" progId="Equation.3">
                  <p:embed/>
                </p:oleObj>
              </mc:Choice>
              <mc:Fallback>
                <p:oleObj name="Equation" r:id="rId4" imgW="133344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43" y="872170"/>
                        <a:ext cx="28956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67431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278814" y="77979"/>
            <a:ext cx="1980292" cy="692986"/>
          </a:xfrm>
        </p:spPr>
        <p:txBody>
          <a:bodyPr>
            <a:normAutofit/>
          </a:bodyPr>
          <a:lstStyle/>
          <a:p>
            <a:r>
              <a:rPr lang="en-US" sz="3600" b="1" dirty="0">
                <a:latin typeface="+mn-lt"/>
              </a:rPr>
              <a:t>Examples</a:t>
            </a:r>
          </a:p>
        </p:txBody>
      </p:sp>
      <p:pic>
        <p:nvPicPr>
          <p:cNvPr id="11378" name="Picture 1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315" y="949569"/>
            <a:ext cx="5376863" cy="122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79" name="Picture 1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446" y="2008172"/>
            <a:ext cx="5297732" cy="1913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81" name="Picture 1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316" y="3921369"/>
            <a:ext cx="5115718" cy="2127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82" name="Picture 1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4402" y="3725008"/>
            <a:ext cx="5189538"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8047" y="237391"/>
            <a:ext cx="4577250" cy="2083777"/>
          </a:xfrm>
          <a:prstGeom prst="rect">
            <a:avLst/>
          </a:prstGeom>
          <a:ln w="88900" cap="sq" cmpd="thickThin">
            <a:solidFill>
              <a:srgbClr val="000000"/>
            </a:solidFill>
            <a:prstDash val="solid"/>
            <a:miter lim="800000"/>
          </a:ln>
          <a:effectLst>
            <a:innerShdw blurRad="76200">
              <a:srgbClr val="000000"/>
            </a:innerShdw>
          </a:effectLst>
        </p:spPr>
        <p:style>
          <a:lnRef idx="2">
            <a:schemeClr val="accent5">
              <a:shade val="50000"/>
            </a:schemeClr>
          </a:lnRef>
          <a:fillRef idx="1">
            <a:schemeClr val="accent5"/>
          </a:fillRef>
          <a:effectRef idx="0">
            <a:schemeClr val="accent5"/>
          </a:effectRef>
          <a:fontRef idx="minor">
            <a:schemeClr val="lt1"/>
          </a:fontRef>
        </p:style>
      </p:pic>
    </p:spTree>
    <p:extLst>
      <p:ext uri="{BB962C8B-B14F-4D97-AF65-F5344CB8AC3E}">
        <p14:creationId xmlns:p14="http://schemas.microsoft.com/office/powerpoint/2010/main" val="126158197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Theorem Example Case -II</a:t>
            </a:r>
            <a:endParaRPr lang="en-US" dirty="0"/>
          </a:p>
        </p:txBody>
      </p:sp>
      <p:sp>
        <p:nvSpPr>
          <p:cNvPr id="3" name="Text Placeholder 2"/>
          <p:cNvSpPr>
            <a:spLocks noGrp="1"/>
          </p:cNvSpPr>
          <p:nvPr>
            <p:ph type="body" sz="half" idx="1"/>
          </p:nvPr>
        </p:nvSpPr>
        <p:spPr>
          <a:xfrm>
            <a:off x="467784" y="1214439"/>
            <a:ext cx="3416735" cy="5076825"/>
          </a:xfrm>
        </p:spPr>
        <p:txBody>
          <a:bodyPr/>
          <a:lstStyle/>
          <a:p>
            <a:pPr marL="0" indent="0">
              <a:buNone/>
            </a:pPr>
            <a:r>
              <a:rPr lang="en-US" sz="1800" dirty="0"/>
              <a:t>1</a:t>
            </a:r>
            <a:r>
              <a:rPr lang="en-US" dirty="0" smtClean="0"/>
              <a:t>. </a:t>
            </a:r>
            <a:endParaRPr lang="en-US" sz="2000" dirty="0" smtClean="0"/>
          </a:p>
          <a:p>
            <a:endParaRPr lang="en-US" dirty="0"/>
          </a:p>
        </p:txBody>
      </p:sp>
      <p:pic>
        <p:nvPicPr>
          <p:cNvPr id="6" name="Content Placeholder 5"/>
          <p:cNvPicPr>
            <a:picLocks noGrp="1" noChangeAspect="1"/>
          </p:cNvPicPr>
          <p:nvPr>
            <p:ph sz="half" idx="2"/>
          </p:nvPr>
        </p:nvPicPr>
        <p:blipFill>
          <a:blip r:embed="rId2"/>
          <a:stretch>
            <a:fillRect/>
          </a:stretch>
        </p:blipFill>
        <p:spPr>
          <a:xfrm>
            <a:off x="3884519" y="1120924"/>
            <a:ext cx="3267075" cy="1114425"/>
          </a:xfrm>
          <a:prstGeom prst="rect">
            <a:avLst/>
          </a:prstGeom>
        </p:spPr>
      </p:pic>
      <p:pic>
        <p:nvPicPr>
          <p:cNvPr id="5" name="Picture 4"/>
          <p:cNvPicPr>
            <a:picLocks noChangeAspect="1"/>
          </p:cNvPicPr>
          <p:nvPr/>
        </p:nvPicPr>
        <p:blipFill>
          <a:blip r:embed="rId3"/>
          <a:stretch>
            <a:fillRect/>
          </a:stretch>
        </p:blipFill>
        <p:spPr>
          <a:xfrm>
            <a:off x="424087" y="2030497"/>
            <a:ext cx="3017297" cy="2123067"/>
          </a:xfrm>
          <a:prstGeom prst="rect">
            <a:avLst/>
          </a:prstGeom>
        </p:spPr>
      </p:pic>
      <p:pic>
        <p:nvPicPr>
          <p:cNvPr id="7" name="Picture 6"/>
          <p:cNvPicPr>
            <a:picLocks noChangeAspect="1"/>
          </p:cNvPicPr>
          <p:nvPr/>
        </p:nvPicPr>
        <p:blipFill>
          <a:blip r:embed="rId4"/>
          <a:stretch>
            <a:fillRect/>
          </a:stretch>
        </p:blipFill>
        <p:spPr>
          <a:xfrm>
            <a:off x="3884519" y="2651919"/>
            <a:ext cx="3562350" cy="904875"/>
          </a:xfrm>
          <a:prstGeom prst="rect">
            <a:avLst/>
          </a:prstGeom>
        </p:spPr>
      </p:pic>
      <p:sp>
        <p:nvSpPr>
          <p:cNvPr id="9" name="TextBox 8"/>
          <p:cNvSpPr txBox="1"/>
          <p:nvPr/>
        </p:nvSpPr>
        <p:spPr>
          <a:xfrm>
            <a:off x="3884519" y="1214439"/>
            <a:ext cx="3807199" cy="369332"/>
          </a:xfrm>
          <a:prstGeom prst="rect">
            <a:avLst/>
          </a:prstGeom>
          <a:noFill/>
        </p:spPr>
        <p:txBody>
          <a:bodyPr wrap="square" rtlCol="0">
            <a:spAutoFit/>
          </a:bodyPr>
          <a:lstStyle/>
          <a:p>
            <a:r>
              <a:rPr lang="en-US" dirty="0" smtClean="0"/>
              <a:t>2.</a:t>
            </a:r>
            <a:endParaRPr lang="en-US" dirty="0"/>
          </a:p>
        </p:txBody>
      </p:sp>
      <p:sp>
        <p:nvSpPr>
          <p:cNvPr id="10" name="TextBox 9"/>
          <p:cNvSpPr txBox="1"/>
          <p:nvPr/>
        </p:nvSpPr>
        <p:spPr>
          <a:xfrm>
            <a:off x="7831567" y="1399105"/>
            <a:ext cx="3894268" cy="369332"/>
          </a:xfrm>
          <a:prstGeom prst="rect">
            <a:avLst/>
          </a:prstGeom>
          <a:noFill/>
        </p:spPr>
        <p:txBody>
          <a:bodyPr wrap="square" rtlCol="0">
            <a:spAutoFit/>
          </a:bodyPr>
          <a:lstStyle/>
          <a:p>
            <a:r>
              <a:rPr lang="en-US" dirty="0" smtClean="0"/>
              <a:t>3.</a:t>
            </a:r>
            <a:endParaRPr lang="en-US" dirty="0"/>
          </a:p>
        </p:txBody>
      </p:sp>
      <p:pic>
        <p:nvPicPr>
          <p:cNvPr id="11" name="Picture 10"/>
          <p:cNvPicPr>
            <a:picLocks noChangeAspect="1"/>
          </p:cNvPicPr>
          <p:nvPr/>
        </p:nvPicPr>
        <p:blipFill>
          <a:blip r:embed="rId5"/>
          <a:stretch>
            <a:fillRect/>
          </a:stretch>
        </p:blipFill>
        <p:spPr>
          <a:xfrm>
            <a:off x="8268988" y="1214439"/>
            <a:ext cx="3019425" cy="828675"/>
          </a:xfrm>
          <a:prstGeom prst="rect">
            <a:avLst/>
          </a:prstGeom>
        </p:spPr>
      </p:pic>
      <p:pic>
        <p:nvPicPr>
          <p:cNvPr id="12" name="Picture 11"/>
          <p:cNvPicPr>
            <a:picLocks noChangeAspect="1"/>
          </p:cNvPicPr>
          <p:nvPr/>
        </p:nvPicPr>
        <p:blipFill>
          <a:blip r:embed="rId6"/>
          <a:stretch>
            <a:fillRect/>
          </a:stretch>
        </p:blipFill>
        <p:spPr>
          <a:xfrm>
            <a:off x="7951259" y="2709068"/>
            <a:ext cx="3476625" cy="790575"/>
          </a:xfrm>
          <a:prstGeom prst="rect">
            <a:avLst/>
          </a:prstGeom>
        </p:spPr>
      </p:pic>
      <p:pic>
        <p:nvPicPr>
          <p:cNvPr id="13" name="Picture 12"/>
          <p:cNvPicPr>
            <a:picLocks noChangeAspect="1"/>
          </p:cNvPicPr>
          <p:nvPr/>
        </p:nvPicPr>
        <p:blipFill>
          <a:blip r:embed="rId7"/>
          <a:stretch>
            <a:fillRect/>
          </a:stretch>
        </p:blipFill>
        <p:spPr>
          <a:xfrm>
            <a:off x="928477" y="1121808"/>
            <a:ext cx="2790825" cy="923925"/>
          </a:xfrm>
          <a:prstGeom prst="rect">
            <a:avLst/>
          </a:prstGeom>
        </p:spPr>
      </p:pic>
      <p:pic>
        <p:nvPicPr>
          <p:cNvPr id="4" name="Picture 3"/>
          <p:cNvPicPr>
            <a:picLocks noChangeAspect="1"/>
          </p:cNvPicPr>
          <p:nvPr/>
        </p:nvPicPr>
        <p:blipFill>
          <a:blip r:embed="rId8"/>
          <a:stretch>
            <a:fillRect/>
          </a:stretch>
        </p:blipFill>
        <p:spPr>
          <a:xfrm>
            <a:off x="4327654" y="3556794"/>
            <a:ext cx="3171825" cy="1114425"/>
          </a:xfrm>
          <a:prstGeom prst="rect">
            <a:avLst/>
          </a:prstGeom>
        </p:spPr>
      </p:pic>
      <p:sp>
        <p:nvSpPr>
          <p:cNvPr id="8" name="Rectangle 7"/>
          <p:cNvSpPr/>
          <p:nvPr/>
        </p:nvSpPr>
        <p:spPr>
          <a:xfrm>
            <a:off x="4327654" y="4935916"/>
            <a:ext cx="6096000" cy="646331"/>
          </a:xfrm>
          <a:prstGeom prst="rect">
            <a:avLst/>
          </a:prstGeom>
        </p:spPr>
        <p:txBody>
          <a:bodyPr>
            <a:spAutoFit/>
          </a:bodyPr>
          <a:lstStyle/>
          <a:p>
            <a:r>
              <a:rPr lang="en-US" dirty="0"/>
              <a:t>k=1</a:t>
            </a:r>
          </a:p>
          <a:p>
            <a:r>
              <a:rPr lang="en-US" dirty="0" smtClean="0"/>
              <a:t>p=−1</a:t>
            </a:r>
            <a:endParaRPr lang="en-US" dirty="0"/>
          </a:p>
        </p:txBody>
      </p:sp>
      <p:pic>
        <p:nvPicPr>
          <p:cNvPr id="14" name="Picture 13"/>
          <p:cNvPicPr>
            <a:picLocks noChangeAspect="1"/>
          </p:cNvPicPr>
          <p:nvPr/>
        </p:nvPicPr>
        <p:blipFill>
          <a:blip r:embed="rId9"/>
          <a:stretch>
            <a:fillRect/>
          </a:stretch>
        </p:blipFill>
        <p:spPr>
          <a:xfrm>
            <a:off x="3285732" y="5838826"/>
            <a:ext cx="5004771" cy="904875"/>
          </a:xfrm>
          <a:prstGeom prst="rect">
            <a:avLst/>
          </a:prstGeom>
        </p:spPr>
      </p:pic>
      <p:pic>
        <p:nvPicPr>
          <p:cNvPr id="15" name="Picture 14"/>
          <p:cNvPicPr>
            <a:picLocks noChangeAspect="1"/>
          </p:cNvPicPr>
          <p:nvPr/>
        </p:nvPicPr>
        <p:blipFill>
          <a:blip r:embed="rId10"/>
          <a:stretch>
            <a:fillRect/>
          </a:stretch>
        </p:blipFill>
        <p:spPr>
          <a:xfrm>
            <a:off x="7532158" y="3494821"/>
            <a:ext cx="4314825" cy="1409700"/>
          </a:xfrm>
          <a:prstGeom prst="rect">
            <a:avLst/>
          </a:prstGeom>
        </p:spPr>
      </p:pic>
    </p:spTree>
    <p:extLst>
      <p:ext uri="{BB962C8B-B14F-4D97-AF65-F5344CB8AC3E}">
        <p14:creationId xmlns:p14="http://schemas.microsoft.com/office/powerpoint/2010/main" val="30791489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 Theorem Example Case -</a:t>
            </a:r>
            <a:r>
              <a:rPr lang="en-US" dirty="0" smtClean="0"/>
              <a:t>III</a:t>
            </a:r>
            <a:endParaRPr lang="en-US" dirty="0"/>
          </a:p>
        </p:txBody>
      </p:sp>
      <p:sp>
        <p:nvSpPr>
          <p:cNvPr id="3" name="Text Placeholder 2"/>
          <p:cNvSpPr>
            <a:spLocks noGrp="1"/>
          </p:cNvSpPr>
          <p:nvPr>
            <p:ph type="body" sz="half" idx="1"/>
          </p:nvPr>
        </p:nvSpPr>
        <p:spPr/>
        <p:txBody>
          <a:bodyPr/>
          <a:lstStyle/>
          <a:p>
            <a:pPr marL="0" indent="0">
              <a:buNone/>
            </a:pPr>
            <a:r>
              <a:rPr lang="en-US" dirty="0" smtClean="0"/>
              <a:t>1</a:t>
            </a:r>
            <a:endParaRPr lang="en-US" dirty="0"/>
          </a:p>
        </p:txBody>
      </p:sp>
      <p:sp>
        <p:nvSpPr>
          <p:cNvPr id="4" name="Content Placeholder 3"/>
          <p:cNvSpPr>
            <a:spLocks noGrp="1"/>
          </p:cNvSpPr>
          <p:nvPr>
            <p:ph sz="half" idx="2"/>
          </p:nvPr>
        </p:nvSpPr>
        <p:spPr/>
        <p:txBody>
          <a:bodyPr/>
          <a:lstStyle/>
          <a:p>
            <a:pPr marL="0" indent="0">
              <a:buNone/>
            </a:pPr>
            <a:r>
              <a:rPr lang="en-US" dirty="0" smtClean="0"/>
              <a:t>2</a:t>
            </a:r>
            <a:endParaRPr lang="en-US" dirty="0"/>
          </a:p>
        </p:txBody>
      </p:sp>
      <p:pic>
        <p:nvPicPr>
          <p:cNvPr id="5" name="Picture 4"/>
          <p:cNvPicPr>
            <a:picLocks noChangeAspect="1"/>
          </p:cNvPicPr>
          <p:nvPr/>
        </p:nvPicPr>
        <p:blipFill>
          <a:blip r:embed="rId2"/>
          <a:stretch>
            <a:fillRect/>
          </a:stretch>
        </p:blipFill>
        <p:spPr>
          <a:xfrm>
            <a:off x="1132741" y="744574"/>
            <a:ext cx="3314700" cy="1323975"/>
          </a:xfrm>
          <a:prstGeom prst="rect">
            <a:avLst/>
          </a:prstGeom>
        </p:spPr>
      </p:pic>
      <p:pic>
        <p:nvPicPr>
          <p:cNvPr id="6" name="Picture 5"/>
          <p:cNvPicPr>
            <a:picLocks noChangeAspect="1"/>
          </p:cNvPicPr>
          <p:nvPr/>
        </p:nvPicPr>
        <p:blipFill>
          <a:blip r:embed="rId3"/>
          <a:stretch>
            <a:fillRect/>
          </a:stretch>
        </p:blipFill>
        <p:spPr>
          <a:xfrm>
            <a:off x="1222282" y="2089132"/>
            <a:ext cx="3400425" cy="685800"/>
          </a:xfrm>
          <a:prstGeom prst="rect">
            <a:avLst/>
          </a:prstGeom>
        </p:spPr>
      </p:pic>
      <p:pic>
        <p:nvPicPr>
          <p:cNvPr id="7" name="Picture 6"/>
          <p:cNvPicPr>
            <a:picLocks noChangeAspect="1"/>
          </p:cNvPicPr>
          <p:nvPr/>
        </p:nvPicPr>
        <p:blipFill>
          <a:blip r:embed="rId4"/>
          <a:stretch>
            <a:fillRect/>
          </a:stretch>
        </p:blipFill>
        <p:spPr>
          <a:xfrm>
            <a:off x="6517541" y="949361"/>
            <a:ext cx="3276600" cy="914400"/>
          </a:xfrm>
          <a:prstGeom prst="rect">
            <a:avLst/>
          </a:prstGeom>
        </p:spPr>
      </p:pic>
      <p:pic>
        <p:nvPicPr>
          <p:cNvPr id="8" name="Picture 7"/>
          <p:cNvPicPr>
            <a:picLocks noChangeAspect="1"/>
          </p:cNvPicPr>
          <p:nvPr/>
        </p:nvPicPr>
        <p:blipFill>
          <a:blip r:embed="rId5"/>
          <a:stretch>
            <a:fillRect/>
          </a:stretch>
        </p:blipFill>
        <p:spPr>
          <a:xfrm>
            <a:off x="6284178" y="2370119"/>
            <a:ext cx="3743325" cy="809625"/>
          </a:xfrm>
          <a:prstGeom prst="rect">
            <a:avLst/>
          </a:prstGeom>
        </p:spPr>
      </p:pic>
      <p:pic>
        <p:nvPicPr>
          <p:cNvPr id="10" name="Picture 9"/>
          <p:cNvPicPr>
            <a:picLocks noChangeAspect="1"/>
          </p:cNvPicPr>
          <p:nvPr/>
        </p:nvPicPr>
        <p:blipFill>
          <a:blip r:embed="rId6"/>
          <a:stretch>
            <a:fillRect/>
          </a:stretch>
        </p:blipFill>
        <p:spPr>
          <a:xfrm>
            <a:off x="6626711" y="3453645"/>
            <a:ext cx="3167429" cy="1118355"/>
          </a:xfrm>
          <a:prstGeom prst="rect">
            <a:avLst/>
          </a:prstGeom>
        </p:spPr>
      </p:pic>
    </p:spTree>
    <p:extLst>
      <p:ext uri="{BB962C8B-B14F-4D97-AF65-F5344CB8AC3E}">
        <p14:creationId xmlns:p14="http://schemas.microsoft.com/office/powerpoint/2010/main" val="13233415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207096" y="108392"/>
            <a:ext cx="11715962" cy="6472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buFontTx/>
              <a:buNone/>
            </a:pPr>
            <a:r>
              <a:rPr lang="en-US" sz="2400" b="1" dirty="0" smtClean="0">
                <a:cs typeface="Arial" charset="0"/>
                <a:sym typeface="Symbol" pitchFamily="18" charset="2"/>
              </a:rPr>
              <a:t> </a:t>
            </a:r>
            <a:r>
              <a:rPr lang="en-IN" sz="2400" dirty="0"/>
              <a:t>Recursion Tree Method</a:t>
            </a:r>
            <a:endParaRPr lang="en-US" sz="2400" b="1" dirty="0">
              <a:cs typeface="Arial" charset="0"/>
              <a:sym typeface="Symbol" pitchFamily="18" charset="2"/>
            </a:endParaRPr>
          </a:p>
          <a:p>
            <a:pPr algn="just">
              <a:lnSpc>
                <a:spcPct val="150000"/>
              </a:lnSpc>
              <a:spcBef>
                <a:spcPts val="0"/>
              </a:spcBef>
              <a:buFontTx/>
              <a:buNone/>
            </a:pPr>
            <a:r>
              <a:rPr lang="en-US" sz="2000" dirty="0" smtClean="0">
                <a:cs typeface="Arial" charset="0"/>
                <a:sym typeface="Symbol" pitchFamily="18" charset="2"/>
              </a:rPr>
              <a:t>Draw </a:t>
            </a:r>
            <a:r>
              <a:rPr lang="en-US" sz="2000" dirty="0">
                <a:cs typeface="Arial" charset="0"/>
                <a:sym typeface="Symbol" pitchFamily="18" charset="2"/>
              </a:rPr>
              <a:t>recurrence tree and calculate time taken by each level.</a:t>
            </a:r>
          </a:p>
          <a:p>
            <a:pPr algn="just">
              <a:lnSpc>
                <a:spcPct val="150000"/>
              </a:lnSpc>
              <a:spcBef>
                <a:spcPts val="0"/>
              </a:spcBef>
              <a:buFontTx/>
              <a:buNone/>
            </a:pPr>
            <a:r>
              <a:rPr lang="en-US" sz="2000" dirty="0">
                <a:cs typeface="Arial" charset="0"/>
                <a:sym typeface="Symbol" pitchFamily="18" charset="2"/>
              </a:rPr>
              <a:t>Sum the work done by all the levels.</a:t>
            </a:r>
          </a:p>
          <a:p>
            <a:pPr algn="just">
              <a:lnSpc>
                <a:spcPct val="150000"/>
              </a:lnSpc>
              <a:spcBef>
                <a:spcPts val="0"/>
              </a:spcBef>
              <a:buFontTx/>
              <a:buNone/>
            </a:pPr>
            <a:r>
              <a:rPr lang="en-US" sz="2000" dirty="0">
                <a:cs typeface="Arial" charset="0"/>
                <a:sym typeface="Symbol" pitchFamily="18" charset="2"/>
              </a:rPr>
              <a:t>f(n) : time require to break n into 2 parts,         f(n) : always root node of tree</a:t>
            </a:r>
          </a:p>
          <a:p>
            <a:pPr marL="457200" indent="-457200" algn="just">
              <a:lnSpc>
                <a:spcPct val="150000"/>
              </a:lnSpc>
              <a:spcBef>
                <a:spcPts val="0"/>
              </a:spcBef>
              <a:buFontTx/>
              <a:buAutoNum type="arabicPeriod"/>
            </a:pPr>
            <a:r>
              <a:rPr lang="en-IN" sz="2000" dirty="0"/>
              <a:t>Recursion Tree Method is a pictorial representation of an iteration method which is in the form of a tree where at each level nodes are expanded.</a:t>
            </a:r>
          </a:p>
          <a:p>
            <a:pPr marL="457200" indent="-457200" algn="just">
              <a:lnSpc>
                <a:spcPct val="150000"/>
              </a:lnSpc>
              <a:spcBef>
                <a:spcPts val="0"/>
              </a:spcBef>
              <a:buFontTx/>
              <a:buAutoNum type="arabicPeriod"/>
            </a:pPr>
            <a:r>
              <a:rPr lang="en-IN" sz="2000" dirty="0"/>
              <a:t>It is useful when the divide &amp; Conquer algorithm is used.</a:t>
            </a:r>
          </a:p>
          <a:p>
            <a:pPr marL="457200" indent="-457200" algn="just">
              <a:lnSpc>
                <a:spcPct val="150000"/>
              </a:lnSpc>
              <a:spcBef>
                <a:spcPts val="0"/>
              </a:spcBef>
              <a:buFontTx/>
              <a:buAutoNum type="arabicPeriod"/>
            </a:pPr>
            <a:r>
              <a:rPr lang="en-IN" sz="2000" dirty="0"/>
              <a:t>It is sometimes difficult to come up with a good guess. In Recursion tree, each root and child represents the cost of a single </a:t>
            </a:r>
            <a:r>
              <a:rPr lang="en-IN" sz="2000" dirty="0" err="1"/>
              <a:t>subproblem</a:t>
            </a:r>
            <a:r>
              <a:rPr lang="en-IN" sz="2000" dirty="0"/>
              <a:t>.</a:t>
            </a:r>
          </a:p>
          <a:p>
            <a:pPr marL="457200" indent="-457200" algn="just">
              <a:lnSpc>
                <a:spcPct val="150000"/>
              </a:lnSpc>
              <a:spcBef>
                <a:spcPts val="0"/>
              </a:spcBef>
              <a:buFontTx/>
              <a:buAutoNum type="arabicPeriod"/>
            </a:pPr>
            <a:r>
              <a:rPr lang="en-IN" sz="2000" dirty="0"/>
              <a:t>We sum the costs within each of the levels of the tree to obtain a set of pre-level costs and then sum all pre-level costs to determine the total cost of all levels of the recursion.</a:t>
            </a:r>
          </a:p>
          <a:p>
            <a:pPr marL="457200" indent="-457200" algn="just">
              <a:lnSpc>
                <a:spcPct val="150000"/>
              </a:lnSpc>
              <a:spcBef>
                <a:spcPts val="0"/>
              </a:spcBef>
              <a:buFontTx/>
              <a:buAutoNum type="arabicPeriod"/>
            </a:pPr>
            <a:r>
              <a:rPr lang="en-IN" sz="2000" dirty="0"/>
              <a:t>A Recursion Tree is best used to generate a good guess, which can be verified by the Substitution Method.</a:t>
            </a:r>
          </a:p>
        </p:txBody>
      </p:sp>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8230" y="122246"/>
            <a:ext cx="2838450"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Straight Arrow Connector 13"/>
          <p:cNvCxnSpPr/>
          <p:nvPr/>
        </p:nvCxnSpPr>
        <p:spPr>
          <a:xfrm flipV="1">
            <a:off x="9566563" y="623607"/>
            <a:ext cx="41563" cy="84512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8980925" y="1468734"/>
            <a:ext cx="1573059" cy="369332"/>
          </a:xfrm>
          <a:prstGeom prst="rect">
            <a:avLst/>
          </a:prstGeom>
        </p:spPr>
        <p:txBody>
          <a:bodyPr wrap="none">
            <a:spAutoFit/>
          </a:bodyPr>
          <a:lstStyle/>
          <a:p>
            <a:r>
              <a:rPr lang="en-US" dirty="0">
                <a:cs typeface="Arial" charset="0"/>
                <a:sym typeface="Symbol" pitchFamily="18" charset="2"/>
              </a:rPr>
              <a:t>No. of children</a:t>
            </a:r>
            <a:endParaRPr lang="en-GB" dirty="0"/>
          </a:p>
        </p:txBody>
      </p:sp>
    </p:spTree>
    <p:extLst>
      <p:ext uri="{BB962C8B-B14F-4D97-AF65-F5344CB8AC3E}">
        <p14:creationId xmlns:p14="http://schemas.microsoft.com/office/powerpoint/2010/main" val="42579815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658" y="1020907"/>
            <a:ext cx="10036164" cy="359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a:spLocks noGrp="1" noChangeArrowheads="1"/>
          </p:cNvSpPr>
          <p:nvPr>
            <p:ph type="title"/>
          </p:nvPr>
        </p:nvSpPr>
        <p:spPr>
          <a:xfrm>
            <a:off x="865909" y="143454"/>
            <a:ext cx="2570018" cy="877454"/>
          </a:xfrm>
        </p:spPr>
        <p:txBody>
          <a:bodyPr>
            <a:normAutofit/>
          </a:bodyPr>
          <a:lstStyle/>
          <a:p>
            <a:r>
              <a:rPr lang="en-US" sz="2800" b="1" dirty="0">
                <a:latin typeface="+mn-lt"/>
              </a:rPr>
              <a:t>Examples</a:t>
            </a:r>
          </a:p>
        </p:txBody>
      </p:sp>
    </p:spTree>
    <p:extLst>
      <p:ext uri="{BB962C8B-B14F-4D97-AF65-F5344CB8AC3E}">
        <p14:creationId xmlns:p14="http://schemas.microsoft.com/office/powerpoint/2010/main" val="39260133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78" y="435986"/>
            <a:ext cx="11260368" cy="3734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59143" y="6181498"/>
            <a:ext cx="9230027" cy="461665"/>
          </a:xfrm>
          <a:prstGeom prst="rect">
            <a:avLst/>
          </a:prstGeom>
        </p:spPr>
        <p:txBody>
          <a:bodyPr wrap="none">
            <a:spAutoFit/>
          </a:bodyPr>
          <a:lstStyle/>
          <a:p>
            <a:r>
              <a:rPr lang="en-US" sz="2400" dirty="0">
                <a:cs typeface="Arial" charset="0"/>
                <a:sym typeface="Symbol" pitchFamily="18" charset="2"/>
              </a:rPr>
              <a:t>Expand the tree until it reaches the base condition of the recursion T(1). </a:t>
            </a:r>
            <a:endParaRPr lang="en-GB" sz="2400" dirty="0"/>
          </a:p>
        </p:txBody>
      </p:sp>
    </p:spTree>
    <p:extLst>
      <p:ext uri="{BB962C8B-B14F-4D97-AF65-F5344CB8AC3E}">
        <p14:creationId xmlns:p14="http://schemas.microsoft.com/office/powerpoint/2010/main" val="4215730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8862" y="282719"/>
            <a:ext cx="8085258" cy="5633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303" y="393555"/>
            <a:ext cx="2838450"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27845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0566" y="758537"/>
            <a:ext cx="8470764" cy="3190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29311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51878" y="341523"/>
            <a:ext cx="10826973" cy="5119630"/>
          </a:xfrm>
          <a:prstGeom prst="rect">
            <a:avLst/>
          </a:prstGeom>
        </p:spPr>
      </p:pic>
    </p:spTree>
    <p:extLst>
      <p:ext uri="{BB962C8B-B14F-4D97-AF65-F5344CB8AC3E}">
        <p14:creationId xmlns:p14="http://schemas.microsoft.com/office/powerpoint/2010/main" val="28960287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7" y="253710"/>
            <a:ext cx="10563225"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7387" y="4663785"/>
            <a:ext cx="180022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6182" y="5216235"/>
            <a:ext cx="4146375" cy="1129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63606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a:t>The recursion-tree method</a:t>
            </a:r>
          </a:p>
        </p:txBody>
      </p:sp>
      <p:sp>
        <p:nvSpPr>
          <p:cNvPr id="192515" name="Rectangle 3"/>
          <p:cNvSpPr>
            <a:spLocks noGrp="1" noChangeArrowheads="1"/>
          </p:cNvSpPr>
          <p:nvPr>
            <p:ph type="body" sz="half" idx="1"/>
          </p:nvPr>
        </p:nvSpPr>
        <p:spPr>
          <a:xfrm>
            <a:off x="1219200" y="2057400"/>
            <a:ext cx="9245600" cy="2743200"/>
          </a:xfrm>
          <a:noFill/>
          <a:ln w="38100">
            <a:solidFill>
              <a:schemeClr val="tx1"/>
            </a:solidFill>
          </a:ln>
        </p:spPr>
        <p:txBody>
          <a:bodyPr/>
          <a:lstStyle/>
          <a:p>
            <a:pPr marL="533400" indent="-533400">
              <a:lnSpc>
                <a:spcPct val="150000"/>
              </a:lnSpc>
              <a:buFontTx/>
              <a:buNone/>
            </a:pPr>
            <a:r>
              <a:rPr lang="en-US" sz="2400"/>
              <a:t>	Convert the recurrence into a tree:</a:t>
            </a:r>
          </a:p>
          <a:p>
            <a:pPr marL="914400" lvl="1" indent="-457200">
              <a:lnSpc>
                <a:spcPct val="150000"/>
              </a:lnSpc>
            </a:pPr>
            <a:r>
              <a:rPr lang="en-US" sz="2000"/>
              <a:t>Each node represents the cost incurred at various levels of recursion</a:t>
            </a:r>
          </a:p>
          <a:p>
            <a:pPr marL="914400" lvl="1" indent="-457200">
              <a:lnSpc>
                <a:spcPct val="150000"/>
              </a:lnSpc>
            </a:pPr>
            <a:r>
              <a:rPr lang="en-US" sz="2000"/>
              <a:t>Sum up the costs of all levels</a:t>
            </a:r>
          </a:p>
        </p:txBody>
      </p:sp>
      <p:sp>
        <p:nvSpPr>
          <p:cNvPr id="192516" name="Text Box 4"/>
          <p:cNvSpPr txBox="1">
            <a:spLocks noChangeArrowheads="1"/>
          </p:cNvSpPr>
          <p:nvPr/>
        </p:nvSpPr>
        <p:spPr bwMode="auto">
          <a:xfrm>
            <a:off x="2722033" y="5441951"/>
            <a:ext cx="4407040" cy="369332"/>
          </a:xfrm>
          <a:prstGeom prst="rect">
            <a:avLst/>
          </a:prstGeom>
          <a:noFill/>
          <a:ln w="9525">
            <a:noFill/>
            <a:miter lim="800000"/>
            <a:headEnd/>
            <a:tailEnd/>
          </a:ln>
          <a:effectLst/>
        </p:spPr>
        <p:txBody>
          <a:bodyPr wrap="none">
            <a:spAutoFit/>
          </a:bodyPr>
          <a:lstStyle/>
          <a:p>
            <a:r>
              <a:rPr lang="en-US"/>
              <a:t>Used to “guess” a solution for the recurrence</a:t>
            </a:r>
          </a:p>
        </p:txBody>
      </p:sp>
    </p:spTree>
    <p:extLst>
      <p:ext uri="{BB962C8B-B14F-4D97-AF65-F5344CB8AC3E}">
        <p14:creationId xmlns:p14="http://schemas.microsoft.com/office/powerpoint/2010/main" val="21745348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243814" y="1354386"/>
            <a:ext cx="4595912" cy="3294732"/>
          </a:xfrm>
          <a:prstGeom prst="rect">
            <a:avLst/>
          </a:prstGeom>
        </p:spPr>
      </p:pic>
      <p:sp>
        <p:nvSpPr>
          <p:cNvPr id="7" name="TextBox 6"/>
          <p:cNvSpPr txBox="1"/>
          <p:nvPr/>
        </p:nvSpPr>
        <p:spPr>
          <a:xfrm>
            <a:off x="429658" y="231354"/>
            <a:ext cx="4340646" cy="369332"/>
          </a:xfrm>
          <a:prstGeom prst="rect">
            <a:avLst/>
          </a:prstGeom>
          <a:noFill/>
        </p:spPr>
        <p:txBody>
          <a:bodyPr wrap="square" rtlCol="0">
            <a:spAutoFit/>
          </a:bodyPr>
          <a:lstStyle/>
          <a:p>
            <a:r>
              <a:rPr lang="en-US" dirty="0"/>
              <a:t>Example :</a:t>
            </a:r>
          </a:p>
        </p:txBody>
      </p:sp>
    </p:spTree>
    <p:extLst>
      <p:ext uri="{BB962C8B-B14F-4D97-AF65-F5344CB8AC3E}">
        <p14:creationId xmlns:p14="http://schemas.microsoft.com/office/powerpoint/2010/main" val="25878892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2943" y="1244389"/>
            <a:ext cx="11233985" cy="4010657"/>
          </a:xfrm>
          <a:prstGeom prst="rect">
            <a:avLst/>
          </a:prstGeom>
        </p:spPr>
      </p:pic>
    </p:spTree>
    <p:extLst>
      <p:ext uri="{BB962C8B-B14F-4D97-AF65-F5344CB8AC3E}">
        <p14:creationId xmlns:p14="http://schemas.microsoft.com/office/powerpoint/2010/main" val="41800018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19262" y="1557337"/>
            <a:ext cx="8753475" cy="3743325"/>
          </a:xfrm>
          <a:prstGeom prst="rect">
            <a:avLst/>
          </a:prstGeom>
        </p:spPr>
      </p:pic>
    </p:spTree>
    <p:extLst>
      <p:ext uri="{BB962C8B-B14F-4D97-AF65-F5344CB8AC3E}">
        <p14:creationId xmlns:p14="http://schemas.microsoft.com/office/powerpoint/2010/main" val="25006576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142781" y="76200"/>
            <a:ext cx="8229600" cy="762000"/>
          </a:xfrm>
        </p:spPr>
        <p:txBody>
          <a:bodyPr/>
          <a:lstStyle/>
          <a:p>
            <a:pPr eaLnBrk="1" hangingPunct="1"/>
            <a:r>
              <a:rPr lang="en-US" altLang="en-US" sz="3600" b="1" dirty="0">
                <a:latin typeface="+mn-lt"/>
              </a:rPr>
              <a:t>Divide-and-Conquer</a:t>
            </a:r>
          </a:p>
        </p:txBody>
      </p:sp>
      <p:sp>
        <p:nvSpPr>
          <p:cNvPr id="10243" name="Rectangle 3"/>
          <p:cNvSpPr>
            <a:spLocks noGrp="1" noChangeArrowheads="1"/>
          </p:cNvSpPr>
          <p:nvPr>
            <p:ph type="body" sz="half" idx="1"/>
          </p:nvPr>
        </p:nvSpPr>
        <p:spPr>
          <a:xfrm>
            <a:off x="598714" y="857480"/>
            <a:ext cx="11168743" cy="5695720"/>
          </a:xfrm>
        </p:spPr>
        <p:txBody>
          <a:bodyPr>
            <a:normAutofit lnSpcReduction="10000"/>
          </a:bodyPr>
          <a:lstStyle/>
          <a:p>
            <a:pPr algn="just" eaLnBrk="1" hangingPunct="1">
              <a:lnSpc>
                <a:spcPct val="150000"/>
              </a:lnSpc>
            </a:pPr>
            <a:r>
              <a:rPr lang="en-US" altLang="en-US" sz="2600" b="1" i="1" dirty="0"/>
              <a:t>Divide and Conquer</a:t>
            </a:r>
            <a:r>
              <a:rPr lang="en-US" altLang="en-US" sz="2600" dirty="0"/>
              <a:t> is a </a:t>
            </a:r>
            <a:r>
              <a:rPr lang="en-US" altLang="en-US" sz="2600" dirty="0">
                <a:solidFill>
                  <a:srgbClr val="0000FF"/>
                </a:solidFill>
              </a:rPr>
              <a:t>method of algorithm design</a:t>
            </a:r>
            <a:r>
              <a:rPr lang="en-US" altLang="en-US" sz="2600" dirty="0"/>
              <a:t> that has created such efficient algorithms as </a:t>
            </a:r>
            <a:r>
              <a:rPr lang="en-US" altLang="en-US" sz="2600" dirty="0">
                <a:solidFill>
                  <a:srgbClr val="008000"/>
                </a:solidFill>
              </a:rPr>
              <a:t>Merge Sort.</a:t>
            </a:r>
          </a:p>
          <a:p>
            <a:pPr algn="just" eaLnBrk="1" hangingPunct="1">
              <a:lnSpc>
                <a:spcPct val="150000"/>
              </a:lnSpc>
            </a:pPr>
            <a:r>
              <a:rPr lang="en-US" altLang="en-US" sz="2600" dirty="0"/>
              <a:t>three distinct steps:</a:t>
            </a:r>
          </a:p>
          <a:p>
            <a:pPr lvl="1" algn="just" eaLnBrk="1" hangingPunct="1">
              <a:lnSpc>
                <a:spcPct val="150000"/>
              </a:lnSpc>
            </a:pPr>
            <a:r>
              <a:rPr lang="en-US" altLang="en-US" sz="2600" b="1" dirty="0">
                <a:solidFill>
                  <a:srgbClr val="C52D4E"/>
                </a:solidFill>
              </a:rPr>
              <a:t>Divide</a:t>
            </a:r>
            <a:r>
              <a:rPr lang="en-US" altLang="en-US" sz="2600" dirty="0"/>
              <a:t>: If the input size is too large to deal with in a straightforward manner, divide the data into two or more disjoint subsets.</a:t>
            </a:r>
          </a:p>
          <a:p>
            <a:pPr lvl="1" algn="just" eaLnBrk="1" hangingPunct="1">
              <a:lnSpc>
                <a:spcPct val="150000"/>
              </a:lnSpc>
            </a:pPr>
            <a:r>
              <a:rPr lang="en-US" altLang="en-US" sz="2600" b="1" dirty="0">
                <a:solidFill>
                  <a:srgbClr val="C52D4E"/>
                </a:solidFill>
              </a:rPr>
              <a:t>Recur</a:t>
            </a:r>
            <a:r>
              <a:rPr lang="en-US" altLang="en-US" sz="2600" dirty="0"/>
              <a:t>: Use divide and conquer to solve the sub problems associated with the data subsets.</a:t>
            </a:r>
          </a:p>
          <a:p>
            <a:pPr lvl="1" algn="just" eaLnBrk="1" hangingPunct="1">
              <a:lnSpc>
                <a:spcPct val="150000"/>
              </a:lnSpc>
            </a:pPr>
            <a:r>
              <a:rPr lang="en-US" altLang="en-US" sz="2600" b="1" dirty="0">
                <a:solidFill>
                  <a:srgbClr val="C52D4E"/>
                </a:solidFill>
              </a:rPr>
              <a:t>Conquer</a:t>
            </a:r>
            <a:r>
              <a:rPr lang="en-US" altLang="en-US" sz="2600" dirty="0"/>
              <a:t>: Take the solutions to the sub problems and “merge” these solutions into a solution for the original problem.</a:t>
            </a:r>
          </a:p>
        </p:txBody>
      </p:sp>
    </p:spTree>
    <p:extLst>
      <p:ext uri="{BB962C8B-B14F-4D97-AF65-F5344CB8AC3E}">
        <p14:creationId xmlns:p14="http://schemas.microsoft.com/office/powerpoint/2010/main" val="17622653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1839685" y="205978"/>
            <a:ext cx="7598229" cy="807244"/>
          </a:xfrm>
        </p:spPr>
        <p:txBody>
          <a:bodyPr/>
          <a:lstStyle/>
          <a:p>
            <a:r>
              <a:rPr lang="en-US" b="1" dirty="0">
                <a:latin typeface="+mn-lt"/>
              </a:rPr>
              <a:t>Divide-and-conquer Technique</a:t>
            </a:r>
          </a:p>
        </p:txBody>
      </p:sp>
      <p:sp>
        <p:nvSpPr>
          <p:cNvPr id="281606" name="Oval 6"/>
          <p:cNvSpPr>
            <a:spLocks noChangeArrowheads="1"/>
          </p:cNvSpPr>
          <p:nvPr/>
        </p:nvSpPr>
        <p:spPr bwMode="auto">
          <a:xfrm>
            <a:off x="7086600" y="2362200"/>
            <a:ext cx="2286000" cy="838200"/>
          </a:xfrm>
          <a:prstGeom prst="ellipse">
            <a:avLst/>
          </a:prstGeom>
          <a:solidFill>
            <a:schemeClr val="accent1"/>
          </a:solidFill>
          <a:ln w="12700">
            <a:solidFill>
              <a:srgbClr val="FF0000"/>
            </a:solidFill>
            <a:round/>
            <a:headEnd type="none" w="sm" len="sm"/>
            <a:tailEnd type="none" w="sm" len="sm"/>
          </a:ln>
          <a:effectLst/>
        </p:spPr>
        <p:txBody>
          <a:bodyPr wrap="none" anchor="ctr"/>
          <a:lstStyle/>
          <a:p>
            <a:r>
              <a:rPr lang="en-US" b="1">
                <a:solidFill>
                  <a:schemeClr val="bg2"/>
                </a:solidFill>
              </a:rPr>
              <a:t>subproblem 2 </a:t>
            </a:r>
          </a:p>
          <a:p>
            <a:r>
              <a:rPr lang="en-US" b="1">
                <a:solidFill>
                  <a:schemeClr val="bg2"/>
                </a:solidFill>
              </a:rPr>
              <a:t>of size </a:t>
            </a:r>
            <a:r>
              <a:rPr lang="en-US" b="1" i="1">
                <a:solidFill>
                  <a:schemeClr val="bg2"/>
                </a:solidFill>
              </a:rPr>
              <a:t>n</a:t>
            </a:r>
            <a:r>
              <a:rPr lang="en-US" b="1">
                <a:solidFill>
                  <a:schemeClr val="bg2"/>
                </a:solidFill>
              </a:rPr>
              <a:t>/2</a:t>
            </a:r>
          </a:p>
        </p:txBody>
      </p:sp>
      <p:sp>
        <p:nvSpPr>
          <p:cNvPr id="281607" name="Oval 7"/>
          <p:cNvSpPr>
            <a:spLocks noChangeArrowheads="1"/>
          </p:cNvSpPr>
          <p:nvPr/>
        </p:nvSpPr>
        <p:spPr bwMode="auto">
          <a:xfrm>
            <a:off x="2743200" y="2362200"/>
            <a:ext cx="2286000" cy="838200"/>
          </a:xfrm>
          <a:prstGeom prst="ellipse">
            <a:avLst/>
          </a:prstGeom>
          <a:solidFill>
            <a:schemeClr val="accent1"/>
          </a:solidFill>
          <a:ln w="12700">
            <a:solidFill>
              <a:srgbClr val="FF0000"/>
            </a:solidFill>
            <a:round/>
            <a:headEnd type="none" w="sm" len="sm"/>
            <a:tailEnd type="none" w="sm" len="sm"/>
          </a:ln>
          <a:effectLst/>
        </p:spPr>
        <p:txBody>
          <a:bodyPr wrap="none" anchor="ctr"/>
          <a:lstStyle/>
          <a:p>
            <a:r>
              <a:rPr lang="en-US" b="1">
                <a:solidFill>
                  <a:schemeClr val="bg2"/>
                </a:solidFill>
              </a:rPr>
              <a:t>subproblem 1 </a:t>
            </a:r>
          </a:p>
          <a:p>
            <a:r>
              <a:rPr lang="en-US" b="1">
                <a:solidFill>
                  <a:schemeClr val="bg2"/>
                </a:solidFill>
              </a:rPr>
              <a:t>of size </a:t>
            </a:r>
            <a:r>
              <a:rPr lang="en-US" b="1" i="1">
                <a:solidFill>
                  <a:schemeClr val="bg2"/>
                </a:solidFill>
              </a:rPr>
              <a:t>n</a:t>
            </a:r>
            <a:r>
              <a:rPr lang="en-US" b="1">
                <a:solidFill>
                  <a:schemeClr val="bg2"/>
                </a:solidFill>
              </a:rPr>
              <a:t>/2</a:t>
            </a:r>
          </a:p>
        </p:txBody>
      </p:sp>
      <p:sp>
        <p:nvSpPr>
          <p:cNvPr id="281608" name="Rectangle 8"/>
          <p:cNvSpPr>
            <a:spLocks noChangeArrowheads="1"/>
          </p:cNvSpPr>
          <p:nvPr/>
        </p:nvSpPr>
        <p:spPr bwMode="auto">
          <a:xfrm>
            <a:off x="2743200" y="3657600"/>
            <a:ext cx="2286000" cy="685800"/>
          </a:xfrm>
          <a:prstGeom prst="rect">
            <a:avLst/>
          </a:prstGeom>
          <a:solidFill>
            <a:schemeClr val="accent1"/>
          </a:solidFill>
          <a:ln w="12700">
            <a:solidFill>
              <a:srgbClr val="FF0000"/>
            </a:solidFill>
            <a:miter lim="800000"/>
            <a:headEnd type="none" w="sm" len="sm"/>
            <a:tailEnd type="none" w="sm" len="sm"/>
          </a:ln>
          <a:effectLst/>
        </p:spPr>
        <p:txBody>
          <a:bodyPr wrap="none" anchor="ctr"/>
          <a:lstStyle/>
          <a:p>
            <a:r>
              <a:rPr lang="en-US" sz="1600" b="1">
                <a:solidFill>
                  <a:schemeClr val="bg2"/>
                </a:solidFill>
              </a:rPr>
              <a:t>a solution to </a:t>
            </a:r>
          </a:p>
          <a:p>
            <a:r>
              <a:rPr lang="en-US" sz="1600" b="1">
                <a:solidFill>
                  <a:schemeClr val="bg2"/>
                </a:solidFill>
              </a:rPr>
              <a:t>subproblem 1</a:t>
            </a:r>
            <a:endParaRPr lang="en-US"/>
          </a:p>
        </p:txBody>
      </p:sp>
      <p:sp>
        <p:nvSpPr>
          <p:cNvPr id="281609" name="Rectangle 9"/>
          <p:cNvSpPr>
            <a:spLocks noChangeArrowheads="1"/>
          </p:cNvSpPr>
          <p:nvPr/>
        </p:nvSpPr>
        <p:spPr bwMode="auto">
          <a:xfrm>
            <a:off x="4953000" y="5410200"/>
            <a:ext cx="2286000" cy="685800"/>
          </a:xfrm>
          <a:prstGeom prst="rect">
            <a:avLst/>
          </a:prstGeom>
          <a:solidFill>
            <a:schemeClr val="accent1"/>
          </a:solidFill>
          <a:ln w="12700">
            <a:solidFill>
              <a:srgbClr val="FF0000"/>
            </a:solidFill>
            <a:miter lim="800000"/>
            <a:headEnd type="none" w="sm" len="sm"/>
            <a:tailEnd type="none" w="sm" len="sm"/>
          </a:ln>
          <a:effectLst/>
        </p:spPr>
        <p:txBody>
          <a:bodyPr wrap="none" anchor="ctr"/>
          <a:lstStyle/>
          <a:p>
            <a:r>
              <a:rPr lang="en-US" sz="1600" b="1">
                <a:solidFill>
                  <a:schemeClr val="bg2"/>
                </a:solidFill>
              </a:rPr>
              <a:t>a solution to</a:t>
            </a:r>
          </a:p>
          <a:p>
            <a:r>
              <a:rPr lang="en-US" sz="1600" b="1">
                <a:solidFill>
                  <a:schemeClr val="bg2"/>
                </a:solidFill>
              </a:rPr>
              <a:t>the original problem</a:t>
            </a:r>
            <a:endParaRPr lang="en-US"/>
          </a:p>
        </p:txBody>
      </p:sp>
      <p:sp>
        <p:nvSpPr>
          <p:cNvPr id="281610" name="Rectangle 10"/>
          <p:cNvSpPr>
            <a:spLocks noChangeArrowheads="1"/>
          </p:cNvSpPr>
          <p:nvPr/>
        </p:nvSpPr>
        <p:spPr bwMode="auto">
          <a:xfrm>
            <a:off x="7086600" y="3657600"/>
            <a:ext cx="2286000" cy="685800"/>
          </a:xfrm>
          <a:prstGeom prst="rect">
            <a:avLst/>
          </a:prstGeom>
          <a:solidFill>
            <a:schemeClr val="accent1"/>
          </a:solidFill>
          <a:ln w="12700">
            <a:solidFill>
              <a:srgbClr val="FF0000"/>
            </a:solidFill>
            <a:miter lim="800000"/>
            <a:headEnd type="none" w="sm" len="sm"/>
            <a:tailEnd type="none" w="sm" len="sm"/>
          </a:ln>
          <a:effectLst/>
        </p:spPr>
        <p:txBody>
          <a:bodyPr wrap="none" anchor="ctr"/>
          <a:lstStyle/>
          <a:p>
            <a:r>
              <a:rPr lang="en-US" sz="1600" b="1">
                <a:solidFill>
                  <a:schemeClr val="bg2"/>
                </a:solidFill>
              </a:rPr>
              <a:t>a solution to </a:t>
            </a:r>
          </a:p>
          <a:p>
            <a:r>
              <a:rPr lang="en-US" sz="1600" b="1">
                <a:solidFill>
                  <a:schemeClr val="bg2"/>
                </a:solidFill>
              </a:rPr>
              <a:t>subproblem 2</a:t>
            </a:r>
            <a:endParaRPr lang="en-US"/>
          </a:p>
        </p:txBody>
      </p:sp>
      <p:sp>
        <p:nvSpPr>
          <p:cNvPr id="281611" name="Line 11"/>
          <p:cNvSpPr>
            <a:spLocks noChangeShapeType="1"/>
          </p:cNvSpPr>
          <p:nvPr/>
        </p:nvSpPr>
        <p:spPr bwMode="auto">
          <a:xfrm flipH="1">
            <a:off x="4191000" y="2057400"/>
            <a:ext cx="1447800" cy="304800"/>
          </a:xfrm>
          <a:prstGeom prst="line">
            <a:avLst/>
          </a:prstGeom>
          <a:noFill/>
          <a:ln w="12700">
            <a:solidFill>
              <a:srgbClr val="FF0000"/>
            </a:solidFill>
            <a:round/>
            <a:headEnd type="none" w="sm" len="sm"/>
            <a:tailEnd type="triangle" w="sm" len="sm"/>
          </a:ln>
          <a:effectLst/>
        </p:spPr>
        <p:txBody>
          <a:bodyPr wrap="none" anchor="ctr"/>
          <a:lstStyle/>
          <a:p>
            <a:endParaRPr lang="en-US"/>
          </a:p>
        </p:txBody>
      </p:sp>
      <p:sp>
        <p:nvSpPr>
          <p:cNvPr id="281612" name="Line 12"/>
          <p:cNvSpPr>
            <a:spLocks noChangeShapeType="1"/>
          </p:cNvSpPr>
          <p:nvPr/>
        </p:nvSpPr>
        <p:spPr bwMode="auto">
          <a:xfrm>
            <a:off x="6477000" y="2057400"/>
            <a:ext cx="1524000" cy="304800"/>
          </a:xfrm>
          <a:prstGeom prst="line">
            <a:avLst/>
          </a:prstGeom>
          <a:noFill/>
          <a:ln w="12700">
            <a:solidFill>
              <a:srgbClr val="FF0000"/>
            </a:solidFill>
            <a:round/>
            <a:headEnd type="none" w="sm" len="sm"/>
            <a:tailEnd type="triangle" w="sm" len="sm"/>
          </a:ln>
          <a:effectLst/>
        </p:spPr>
        <p:txBody>
          <a:bodyPr wrap="none" anchor="ctr"/>
          <a:lstStyle/>
          <a:p>
            <a:endParaRPr lang="en-US"/>
          </a:p>
        </p:txBody>
      </p:sp>
      <p:sp>
        <p:nvSpPr>
          <p:cNvPr id="281604" name="Oval 4"/>
          <p:cNvSpPr>
            <a:spLocks noChangeArrowheads="1"/>
          </p:cNvSpPr>
          <p:nvPr/>
        </p:nvSpPr>
        <p:spPr bwMode="auto">
          <a:xfrm>
            <a:off x="4648200" y="1295400"/>
            <a:ext cx="2667000" cy="838200"/>
          </a:xfrm>
          <a:prstGeom prst="ellipse">
            <a:avLst/>
          </a:prstGeom>
          <a:solidFill>
            <a:schemeClr val="accent1"/>
          </a:solidFill>
          <a:ln w="12700">
            <a:solidFill>
              <a:srgbClr val="FF0000"/>
            </a:solidFill>
            <a:round/>
            <a:headEnd type="none" w="sm" len="sm"/>
            <a:tailEnd type="none" w="sm" len="sm"/>
          </a:ln>
          <a:effectLst/>
        </p:spPr>
        <p:txBody>
          <a:bodyPr wrap="none" anchor="ctr"/>
          <a:lstStyle/>
          <a:p>
            <a:r>
              <a:rPr lang="en-US" b="1" dirty="0">
                <a:solidFill>
                  <a:schemeClr val="bg2"/>
                </a:solidFill>
              </a:rPr>
              <a:t>a problem of size </a:t>
            </a:r>
            <a:r>
              <a:rPr lang="en-US" b="1" i="1" dirty="0">
                <a:solidFill>
                  <a:schemeClr val="bg2"/>
                </a:solidFill>
              </a:rPr>
              <a:t>n</a:t>
            </a:r>
            <a:endParaRPr lang="en-US" b="1" dirty="0">
              <a:solidFill>
                <a:schemeClr val="bg2"/>
              </a:solidFill>
            </a:endParaRPr>
          </a:p>
        </p:txBody>
      </p:sp>
      <p:sp>
        <p:nvSpPr>
          <p:cNvPr id="281613" name="Line 13"/>
          <p:cNvSpPr>
            <a:spLocks noChangeShapeType="1"/>
          </p:cNvSpPr>
          <p:nvPr/>
        </p:nvSpPr>
        <p:spPr bwMode="auto">
          <a:xfrm>
            <a:off x="3810000" y="3200400"/>
            <a:ext cx="0" cy="457200"/>
          </a:xfrm>
          <a:prstGeom prst="line">
            <a:avLst/>
          </a:prstGeom>
          <a:noFill/>
          <a:ln w="12700">
            <a:solidFill>
              <a:srgbClr val="FF0000"/>
            </a:solidFill>
            <a:round/>
            <a:headEnd type="none" w="sm" len="sm"/>
            <a:tailEnd type="triangle" w="sm" len="sm"/>
          </a:ln>
          <a:effectLst/>
        </p:spPr>
        <p:txBody>
          <a:bodyPr wrap="none" anchor="ctr"/>
          <a:lstStyle/>
          <a:p>
            <a:endParaRPr lang="en-US"/>
          </a:p>
        </p:txBody>
      </p:sp>
      <p:sp>
        <p:nvSpPr>
          <p:cNvPr id="281614" name="Line 14"/>
          <p:cNvSpPr>
            <a:spLocks noChangeShapeType="1"/>
          </p:cNvSpPr>
          <p:nvPr/>
        </p:nvSpPr>
        <p:spPr bwMode="auto">
          <a:xfrm>
            <a:off x="8229600" y="3200400"/>
            <a:ext cx="0" cy="457200"/>
          </a:xfrm>
          <a:prstGeom prst="line">
            <a:avLst/>
          </a:prstGeom>
          <a:noFill/>
          <a:ln w="12700">
            <a:solidFill>
              <a:srgbClr val="FF0000"/>
            </a:solidFill>
            <a:round/>
            <a:headEnd type="none" w="sm" len="sm"/>
            <a:tailEnd type="triangle" w="sm" len="sm"/>
          </a:ln>
          <a:effectLst/>
        </p:spPr>
        <p:txBody>
          <a:bodyPr wrap="none" anchor="ctr"/>
          <a:lstStyle/>
          <a:p>
            <a:endParaRPr lang="en-US"/>
          </a:p>
        </p:txBody>
      </p:sp>
      <p:sp>
        <p:nvSpPr>
          <p:cNvPr id="281615" name="Line 15"/>
          <p:cNvSpPr>
            <a:spLocks noChangeShapeType="1"/>
          </p:cNvSpPr>
          <p:nvPr/>
        </p:nvSpPr>
        <p:spPr bwMode="auto">
          <a:xfrm>
            <a:off x="3810000" y="4343400"/>
            <a:ext cx="0" cy="533400"/>
          </a:xfrm>
          <a:prstGeom prst="line">
            <a:avLst/>
          </a:prstGeom>
          <a:noFill/>
          <a:ln w="12700">
            <a:solidFill>
              <a:srgbClr val="FF0000"/>
            </a:solidFill>
            <a:round/>
            <a:headEnd type="none" w="sm" len="sm"/>
            <a:tailEnd type="none" w="sm" len="sm"/>
          </a:ln>
          <a:effectLst/>
        </p:spPr>
        <p:txBody>
          <a:bodyPr wrap="none" anchor="ctr"/>
          <a:lstStyle/>
          <a:p>
            <a:endParaRPr lang="en-US"/>
          </a:p>
        </p:txBody>
      </p:sp>
      <p:sp>
        <p:nvSpPr>
          <p:cNvPr id="281616" name="Line 16"/>
          <p:cNvSpPr>
            <a:spLocks noChangeShapeType="1"/>
          </p:cNvSpPr>
          <p:nvPr/>
        </p:nvSpPr>
        <p:spPr bwMode="auto">
          <a:xfrm>
            <a:off x="8229600" y="4343400"/>
            <a:ext cx="0" cy="533400"/>
          </a:xfrm>
          <a:prstGeom prst="line">
            <a:avLst/>
          </a:prstGeom>
          <a:noFill/>
          <a:ln w="12700">
            <a:solidFill>
              <a:srgbClr val="FF0000"/>
            </a:solidFill>
            <a:round/>
            <a:headEnd type="none" w="sm" len="sm"/>
            <a:tailEnd type="none" w="sm" len="sm"/>
          </a:ln>
          <a:effectLst/>
        </p:spPr>
        <p:txBody>
          <a:bodyPr wrap="none" anchor="ctr"/>
          <a:lstStyle/>
          <a:p>
            <a:endParaRPr lang="en-US"/>
          </a:p>
        </p:txBody>
      </p:sp>
      <p:sp>
        <p:nvSpPr>
          <p:cNvPr id="281617" name="Line 17"/>
          <p:cNvSpPr>
            <a:spLocks noChangeShapeType="1"/>
          </p:cNvSpPr>
          <p:nvPr/>
        </p:nvSpPr>
        <p:spPr bwMode="auto">
          <a:xfrm>
            <a:off x="3810000" y="4876800"/>
            <a:ext cx="4419600" cy="0"/>
          </a:xfrm>
          <a:prstGeom prst="line">
            <a:avLst/>
          </a:prstGeom>
          <a:noFill/>
          <a:ln w="12700">
            <a:solidFill>
              <a:srgbClr val="FF0000"/>
            </a:solidFill>
            <a:round/>
            <a:headEnd type="none" w="sm" len="sm"/>
            <a:tailEnd type="none" w="sm" len="sm"/>
          </a:ln>
          <a:effectLst/>
        </p:spPr>
        <p:txBody>
          <a:bodyPr wrap="none" anchor="ctr"/>
          <a:lstStyle/>
          <a:p>
            <a:endParaRPr lang="en-US"/>
          </a:p>
        </p:txBody>
      </p:sp>
      <p:sp>
        <p:nvSpPr>
          <p:cNvPr id="281618" name="Line 18"/>
          <p:cNvSpPr>
            <a:spLocks noChangeShapeType="1"/>
          </p:cNvSpPr>
          <p:nvPr/>
        </p:nvSpPr>
        <p:spPr bwMode="auto">
          <a:xfrm>
            <a:off x="6096000" y="4876800"/>
            <a:ext cx="0" cy="533400"/>
          </a:xfrm>
          <a:prstGeom prst="line">
            <a:avLst/>
          </a:prstGeom>
          <a:noFill/>
          <a:ln w="12700">
            <a:solidFill>
              <a:srgbClr val="FF0000"/>
            </a:solidFill>
            <a:round/>
            <a:headEnd type="none" w="sm" len="sm"/>
            <a:tailEnd type="triangle" w="sm" len="sm"/>
          </a:ln>
          <a:effectLst/>
        </p:spPr>
        <p:txBody>
          <a:bodyPr wrap="none" anchor="ctr"/>
          <a:lstStyle/>
          <a:p>
            <a:endParaRPr lang="en-US"/>
          </a:p>
        </p:txBody>
      </p:sp>
    </p:spTree>
    <p:extLst>
      <p:ext uri="{BB962C8B-B14F-4D97-AF65-F5344CB8AC3E}">
        <p14:creationId xmlns:p14="http://schemas.microsoft.com/office/powerpoint/2010/main" val="19391853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981200" y="3657601"/>
            <a:ext cx="8686800" cy="523875"/>
          </a:xfrm>
          <a:prstGeom prst="rect">
            <a:avLst/>
          </a:prstGeom>
          <a:noFill/>
          <a:ln w="9525">
            <a:noFill/>
            <a:miter lim="800000"/>
            <a:headEnd/>
            <a:tailEnd/>
          </a:ln>
        </p:spPr>
        <p:txBody>
          <a:bodyPr anchor="ctr">
            <a:spAutoFit/>
          </a:bodyPr>
          <a:lstStyle/>
          <a:p>
            <a:r>
              <a:rPr lang="en-US" sz="2800" b="1">
                <a:latin typeface="Times New Roman" pitchFamily="18" charset="0"/>
                <a:cs typeface="Times New Roman" pitchFamily="18" charset="0"/>
              </a:rPr>
              <a:t>    </a:t>
            </a:r>
            <a:endParaRPr lang="en-US" sz="2800">
              <a:latin typeface="Times New Roman" pitchFamily="18" charset="0"/>
              <a:cs typeface="Times New Roman" pitchFamily="18" charset="0"/>
            </a:endParaRPr>
          </a:p>
        </p:txBody>
      </p:sp>
      <p:sp>
        <p:nvSpPr>
          <p:cNvPr id="11267" name="Title 6"/>
          <p:cNvSpPr>
            <a:spLocks noGrp="1"/>
          </p:cNvSpPr>
          <p:nvPr>
            <p:ph type="ctrTitle"/>
          </p:nvPr>
        </p:nvSpPr>
        <p:spPr>
          <a:xfrm>
            <a:off x="805543" y="359229"/>
            <a:ext cx="9100457" cy="609600"/>
          </a:xfrm>
        </p:spPr>
        <p:txBody>
          <a:bodyPr>
            <a:normAutofit fontScale="90000"/>
          </a:bodyPr>
          <a:lstStyle/>
          <a:p>
            <a:r>
              <a:rPr lang="en-US" b="1" dirty="0">
                <a:latin typeface="+mn-lt"/>
              </a:rPr>
              <a:t>Divide &amp; Conquer Algorithm</a:t>
            </a:r>
          </a:p>
        </p:txBody>
      </p:sp>
      <p:sp>
        <p:nvSpPr>
          <p:cNvPr id="8" name="Subtitle 7"/>
          <p:cNvSpPr>
            <a:spLocks noGrp="1"/>
          </p:cNvSpPr>
          <p:nvPr>
            <p:ph type="subTitle" idx="1"/>
          </p:nvPr>
        </p:nvSpPr>
        <p:spPr>
          <a:xfrm>
            <a:off x="2057399" y="1143000"/>
            <a:ext cx="9720943" cy="5105400"/>
          </a:xfrm>
        </p:spPr>
        <p:txBody>
          <a:bodyPr/>
          <a:lstStyle/>
          <a:p>
            <a:pPr marL="514350" indent="-514350" algn="l">
              <a:buFont typeface="Arial" pitchFamily="34" charset="0"/>
              <a:buAutoNum type="arabicPeriod"/>
              <a:defRPr/>
            </a:pPr>
            <a:r>
              <a:rPr lang="en-US" dirty="0" err="1"/>
              <a:t>Algo</a:t>
            </a:r>
            <a:r>
              <a:rPr lang="en-US" dirty="0"/>
              <a:t> D and C(P)</a:t>
            </a:r>
          </a:p>
          <a:p>
            <a:pPr marL="514350" indent="-514350" algn="l">
              <a:buFont typeface="Arial" pitchFamily="34" charset="0"/>
              <a:buAutoNum type="arabicPeriod"/>
              <a:defRPr/>
            </a:pPr>
            <a:r>
              <a:rPr lang="en-US" dirty="0"/>
              <a:t>{</a:t>
            </a:r>
          </a:p>
          <a:p>
            <a:pPr marL="514350" indent="-514350" algn="l">
              <a:buFont typeface="Arial" pitchFamily="34" charset="0"/>
              <a:buAutoNum type="arabicPeriod"/>
              <a:defRPr/>
            </a:pPr>
            <a:r>
              <a:rPr lang="en-US" dirty="0"/>
              <a:t>        If small (P) then return S(P)</a:t>
            </a:r>
          </a:p>
          <a:p>
            <a:pPr marL="514350" indent="-514350" algn="l">
              <a:buFont typeface="Arial" pitchFamily="34" charset="0"/>
              <a:buAutoNum type="arabicPeriod"/>
              <a:defRPr/>
            </a:pPr>
            <a:r>
              <a:rPr lang="en-US" dirty="0"/>
              <a:t>        else</a:t>
            </a:r>
          </a:p>
          <a:p>
            <a:pPr marL="514350" indent="-514350" algn="l">
              <a:buFont typeface="Arial" pitchFamily="34" charset="0"/>
              <a:buAutoNum type="arabicPeriod"/>
              <a:defRPr/>
            </a:pPr>
            <a:r>
              <a:rPr lang="en-US" dirty="0"/>
              <a:t>        {</a:t>
            </a:r>
          </a:p>
          <a:p>
            <a:pPr marL="514350" indent="-514350" algn="l">
              <a:buFont typeface="Arial" pitchFamily="34" charset="0"/>
              <a:buAutoNum type="arabicPeriod"/>
              <a:defRPr/>
            </a:pPr>
            <a:r>
              <a:rPr lang="en-US" dirty="0"/>
              <a:t>             Divide P into smaller instances P</a:t>
            </a:r>
            <a:r>
              <a:rPr lang="en-US" baseline="-25000" dirty="0"/>
              <a:t>1</a:t>
            </a:r>
            <a:r>
              <a:rPr lang="en-US" dirty="0"/>
              <a:t>,P</a:t>
            </a:r>
            <a:r>
              <a:rPr lang="en-US" baseline="-25000" dirty="0"/>
              <a:t>2</a:t>
            </a:r>
            <a:r>
              <a:rPr lang="en-US" dirty="0"/>
              <a:t> ….P</a:t>
            </a:r>
            <a:r>
              <a:rPr lang="en-US" baseline="-25000" dirty="0"/>
              <a:t>k</a:t>
            </a:r>
            <a:r>
              <a:rPr lang="en-US" dirty="0"/>
              <a:t> , k&gt;=1</a:t>
            </a:r>
          </a:p>
          <a:p>
            <a:pPr marL="514350" indent="-514350" algn="l">
              <a:buFont typeface="Arial" pitchFamily="34" charset="0"/>
              <a:buAutoNum type="arabicPeriod"/>
              <a:defRPr/>
            </a:pPr>
            <a:r>
              <a:rPr lang="en-US" dirty="0"/>
              <a:t>             Apply D and C to each of these problem </a:t>
            </a:r>
          </a:p>
          <a:p>
            <a:pPr marL="514350" indent="-514350" algn="l">
              <a:buFont typeface="Arial" pitchFamily="34" charset="0"/>
              <a:buAutoNum type="arabicPeriod"/>
              <a:defRPr/>
            </a:pPr>
            <a:r>
              <a:rPr lang="en-US" dirty="0"/>
              <a:t>             Return combine (D and C(P</a:t>
            </a:r>
            <a:r>
              <a:rPr lang="en-US" baseline="-25000" dirty="0"/>
              <a:t>1</a:t>
            </a:r>
            <a:r>
              <a:rPr lang="en-US" dirty="0"/>
              <a:t>), D and C(P</a:t>
            </a:r>
            <a:r>
              <a:rPr lang="en-US" baseline="-25000" dirty="0"/>
              <a:t>2</a:t>
            </a:r>
            <a:r>
              <a:rPr lang="en-US" dirty="0"/>
              <a:t>)…D and C(P</a:t>
            </a:r>
            <a:r>
              <a:rPr lang="en-US" baseline="-25000" dirty="0"/>
              <a:t>k</a:t>
            </a:r>
            <a:r>
              <a:rPr lang="en-US" dirty="0"/>
              <a:t> );</a:t>
            </a:r>
          </a:p>
          <a:p>
            <a:pPr marL="514350" indent="-514350" algn="l">
              <a:buFont typeface="Arial" pitchFamily="34" charset="0"/>
              <a:buAutoNum type="arabicPeriod"/>
              <a:defRPr/>
            </a:pPr>
            <a:r>
              <a:rPr lang="en-US" dirty="0"/>
              <a:t>         }</a:t>
            </a:r>
          </a:p>
          <a:p>
            <a:pPr marL="514350" indent="-514350" algn="l">
              <a:buFont typeface="Arial" pitchFamily="34" charset="0"/>
              <a:buAutoNum type="arabicPeriod"/>
              <a:defRPr/>
            </a:pPr>
            <a:r>
              <a:rPr lang="en-US" dirty="0"/>
              <a:t>}</a:t>
            </a:r>
          </a:p>
          <a:p>
            <a:pPr marL="514350" indent="-514350" algn="l">
              <a:defRPr/>
            </a:pPr>
            <a:endParaRPr lang="en-US" baseline="-25000" dirty="0"/>
          </a:p>
          <a:p>
            <a:pPr marL="514350" indent="-514350" algn="l">
              <a:buFont typeface="Arial" pitchFamily="34" charset="0"/>
              <a:buAutoNum type="arabicPeriod"/>
              <a:defRPr/>
            </a:pPr>
            <a:endParaRPr lang="en-US" dirty="0"/>
          </a:p>
          <a:p>
            <a:pPr marL="514350" indent="-514350">
              <a:defRPr/>
            </a:pPr>
            <a:endParaRPr lang="en-US" dirty="0"/>
          </a:p>
        </p:txBody>
      </p:sp>
    </p:spTree>
    <p:extLst>
      <p:ext uri="{BB962C8B-B14F-4D97-AF65-F5344CB8AC3E}">
        <p14:creationId xmlns:p14="http://schemas.microsoft.com/office/powerpoint/2010/main" val="3073008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63061" y="0"/>
            <a:ext cx="6905056" cy="6867127"/>
          </a:xfrm>
          <a:prstGeom prst="rect">
            <a:avLst/>
          </a:prstGeom>
          <a:ln>
            <a:solidFill>
              <a:schemeClr val="accent1"/>
            </a:solidFill>
          </a:ln>
        </p:spPr>
      </p:pic>
      <p:sp>
        <p:nvSpPr>
          <p:cNvPr id="3" name="TextBox 2"/>
          <p:cNvSpPr txBox="1"/>
          <p:nvPr/>
        </p:nvSpPr>
        <p:spPr>
          <a:xfrm>
            <a:off x="152398" y="74159"/>
            <a:ext cx="2764972" cy="457201"/>
          </a:xfrm>
          <a:prstGeom prst="rect">
            <a:avLst/>
          </a:prstGeom>
          <a:noFill/>
        </p:spPr>
        <p:txBody>
          <a:bodyPr wrap="square" rtlCol="0">
            <a:spAutoFit/>
          </a:bodyPr>
          <a:lstStyle/>
          <a:p>
            <a:r>
              <a:rPr lang="en-US" sz="2400" b="1" dirty="0">
                <a:solidFill>
                  <a:srgbClr val="0070C0"/>
                </a:solidFill>
              </a:rPr>
              <a:t>Min-Max Algorithm</a:t>
            </a:r>
            <a:endParaRPr lang="en-IN" sz="2400" b="1" dirty="0">
              <a:solidFill>
                <a:srgbClr val="0070C0"/>
              </a:solidFill>
            </a:endParaRPr>
          </a:p>
        </p:txBody>
      </p:sp>
    </p:spTree>
    <p:extLst>
      <p:ext uri="{BB962C8B-B14F-4D97-AF65-F5344CB8AC3E}">
        <p14:creationId xmlns:p14="http://schemas.microsoft.com/office/powerpoint/2010/main" val="1460417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200400" y="76200"/>
            <a:ext cx="5029200" cy="990600"/>
          </a:xfrm>
        </p:spPr>
        <p:txBody>
          <a:bodyPr/>
          <a:lstStyle/>
          <a:p>
            <a:pPr eaLnBrk="1" hangingPunct="1"/>
            <a:r>
              <a:rPr lang="en-US" altLang="en-US" sz="4000" b="1" dirty="0">
                <a:latin typeface="+mn-lt"/>
              </a:rPr>
              <a:t>Merge-Sort</a:t>
            </a:r>
          </a:p>
        </p:txBody>
      </p:sp>
      <p:sp>
        <p:nvSpPr>
          <p:cNvPr id="13315" name="Rectangle 3"/>
          <p:cNvSpPr>
            <a:spLocks noGrp="1" noChangeArrowheads="1"/>
          </p:cNvSpPr>
          <p:nvPr>
            <p:ph type="body" sz="half" idx="1"/>
          </p:nvPr>
        </p:nvSpPr>
        <p:spPr>
          <a:xfrm>
            <a:off x="348343" y="990600"/>
            <a:ext cx="11691257" cy="5486400"/>
          </a:xfrm>
        </p:spPr>
        <p:txBody>
          <a:bodyPr>
            <a:normAutofit/>
          </a:bodyPr>
          <a:lstStyle/>
          <a:p>
            <a:pPr algn="just">
              <a:lnSpc>
                <a:spcPct val="150000"/>
              </a:lnSpc>
              <a:spcBef>
                <a:spcPts val="0"/>
              </a:spcBef>
            </a:pPr>
            <a:r>
              <a:rPr lang="en-US" altLang="en-US" dirty="0"/>
              <a:t>Algorithm:</a:t>
            </a:r>
          </a:p>
          <a:p>
            <a:pPr lvl="1" algn="just">
              <a:lnSpc>
                <a:spcPct val="150000"/>
              </a:lnSpc>
              <a:spcBef>
                <a:spcPts val="0"/>
              </a:spcBef>
            </a:pPr>
            <a:r>
              <a:rPr lang="en-US" altLang="en-US" b="1" dirty="0">
                <a:solidFill>
                  <a:srgbClr val="C52D4E"/>
                </a:solidFill>
              </a:rPr>
              <a:t>Divide</a:t>
            </a:r>
            <a:r>
              <a:rPr lang="en-US" altLang="en-US" dirty="0"/>
              <a:t>: If S has at leas two elements (nothing needs to be done if S has zero or one elements), remove all the elements from S and put them into two sequences, S</a:t>
            </a:r>
            <a:r>
              <a:rPr lang="en-US" altLang="en-US" baseline="-25000" dirty="0"/>
              <a:t>1</a:t>
            </a:r>
            <a:r>
              <a:rPr lang="en-US" altLang="en-US" dirty="0"/>
              <a:t> and S</a:t>
            </a:r>
            <a:r>
              <a:rPr lang="en-US" altLang="en-US" baseline="-25000" dirty="0"/>
              <a:t>2</a:t>
            </a:r>
            <a:r>
              <a:rPr lang="en-US" altLang="en-US" dirty="0"/>
              <a:t>, each containing about half of the elements of S. (i.e. S</a:t>
            </a:r>
            <a:r>
              <a:rPr lang="en-US" altLang="en-US" baseline="-25000" dirty="0"/>
              <a:t>1</a:t>
            </a:r>
            <a:r>
              <a:rPr lang="en-US" altLang="en-US" dirty="0"/>
              <a:t> contains the first </a:t>
            </a:r>
            <a:r>
              <a:rPr lang="en-US" altLang="en-US" dirty="0">
                <a:sym typeface="Symbol" pitchFamily="18" charset="2"/>
              </a:rPr>
              <a:t></a:t>
            </a:r>
            <a:r>
              <a:rPr lang="en-US" altLang="en-US" dirty="0"/>
              <a:t>n/2</a:t>
            </a:r>
            <a:r>
              <a:rPr lang="en-US" altLang="en-US" dirty="0">
                <a:sym typeface="Symbol" pitchFamily="18" charset="2"/>
              </a:rPr>
              <a:t> </a:t>
            </a:r>
            <a:r>
              <a:rPr lang="en-US" altLang="en-US" dirty="0"/>
              <a:t>elements and S</a:t>
            </a:r>
            <a:r>
              <a:rPr lang="en-US" altLang="en-US" baseline="-25000" dirty="0"/>
              <a:t>2</a:t>
            </a:r>
            <a:r>
              <a:rPr lang="en-US" altLang="en-US" dirty="0"/>
              <a:t> contains the remaining </a:t>
            </a:r>
            <a:r>
              <a:rPr lang="en-US" altLang="en-US" dirty="0">
                <a:sym typeface="Symbol" pitchFamily="18" charset="2"/>
              </a:rPr>
              <a:t></a:t>
            </a:r>
            <a:r>
              <a:rPr lang="en-US" altLang="en-US" dirty="0"/>
              <a:t>n/2</a:t>
            </a:r>
            <a:r>
              <a:rPr lang="en-US" altLang="en-US" dirty="0">
                <a:sym typeface="Symbol" pitchFamily="18" charset="2"/>
              </a:rPr>
              <a:t></a:t>
            </a:r>
            <a:r>
              <a:rPr lang="en-US" altLang="en-US" dirty="0"/>
              <a:t> elements.</a:t>
            </a:r>
          </a:p>
          <a:p>
            <a:pPr lvl="1" algn="just">
              <a:lnSpc>
                <a:spcPct val="150000"/>
              </a:lnSpc>
              <a:spcBef>
                <a:spcPts val="0"/>
              </a:spcBef>
            </a:pPr>
            <a:r>
              <a:rPr lang="en-US" altLang="en-US" b="1" dirty="0">
                <a:solidFill>
                  <a:srgbClr val="C52D4E"/>
                </a:solidFill>
              </a:rPr>
              <a:t>Recur</a:t>
            </a:r>
            <a:r>
              <a:rPr lang="en-US" altLang="en-US" dirty="0"/>
              <a:t>: Recursive sort sequences S</a:t>
            </a:r>
            <a:r>
              <a:rPr lang="en-US" altLang="en-US" baseline="-25000" dirty="0"/>
              <a:t>1</a:t>
            </a:r>
            <a:r>
              <a:rPr lang="en-US" altLang="en-US" dirty="0"/>
              <a:t> and S</a:t>
            </a:r>
            <a:r>
              <a:rPr lang="en-US" altLang="en-US" baseline="-25000" dirty="0"/>
              <a:t>2</a:t>
            </a:r>
            <a:r>
              <a:rPr lang="en-US" altLang="en-US" dirty="0"/>
              <a:t>.</a:t>
            </a:r>
          </a:p>
          <a:p>
            <a:pPr lvl="1" algn="just">
              <a:lnSpc>
                <a:spcPct val="150000"/>
              </a:lnSpc>
              <a:spcBef>
                <a:spcPts val="0"/>
              </a:spcBef>
            </a:pPr>
            <a:r>
              <a:rPr lang="en-US" altLang="en-US" b="1" dirty="0">
                <a:solidFill>
                  <a:srgbClr val="C52D4E"/>
                </a:solidFill>
              </a:rPr>
              <a:t>Conquer</a:t>
            </a:r>
            <a:r>
              <a:rPr lang="en-US" altLang="en-US" dirty="0"/>
              <a:t>: Put back the elements into S by merging the sorted sequences S</a:t>
            </a:r>
            <a:r>
              <a:rPr lang="en-US" altLang="en-US" baseline="-25000" dirty="0"/>
              <a:t>1</a:t>
            </a:r>
            <a:r>
              <a:rPr lang="en-US" altLang="en-US" dirty="0"/>
              <a:t> and S</a:t>
            </a:r>
            <a:r>
              <a:rPr lang="en-US" altLang="en-US" baseline="-25000" dirty="0"/>
              <a:t>2</a:t>
            </a:r>
            <a:r>
              <a:rPr lang="en-US" altLang="en-US" dirty="0"/>
              <a:t> into a unique sorted sequence.</a:t>
            </a:r>
          </a:p>
        </p:txBody>
      </p:sp>
    </p:spTree>
    <p:extLst>
      <p:ext uri="{BB962C8B-B14F-4D97-AF65-F5344CB8AC3E}">
        <p14:creationId xmlns:p14="http://schemas.microsoft.com/office/powerpoint/2010/main" val="417534794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4914" y="533401"/>
            <a:ext cx="9612086" cy="4154984"/>
          </a:xfrm>
          <a:prstGeom prst="rect">
            <a:avLst/>
          </a:prstGeom>
        </p:spPr>
        <p:txBody>
          <a:bodyPr wrap="square">
            <a:spAutoFit/>
          </a:bodyPr>
          <a:lstStyle/>
          <a:p>
            <a:pPr algn="ctr">
              <a:lnSpc>
                <a:spcPct val="150000"/>
              </a:lnSpc>
            </a:pPr>
            <a:r>
              <a:rPr lang="en-US" altLang="en-US" sz="3200" b="1" dirty="0"/>
              <a:t>Merge-Sort Algorithm</a:t>
            </a:r>
          </a:p>
          <a:p>
            <a:pPr algn="ctr">
              <a:lnSpc>
                <a:spcPct val="150000"/>
              </a:lnSpc>
            </a:pPr>
            <a:endParaRPr lang="en-US" sz="2400" dirty="0"/>
          </a:p>
          <a:p>
            <a:pPr marL="342900" indent="-342900" algn="just">
              <a:lnSpc>
                <a:spcPct val="150000"/>
              </a:lnSpc>
              <a:buFont typeface="Arial" panose="020B0604020202020204" pitchFamily="34" charset="0"/>
              <a:buChar char="•"/>
            </a:pPr>
            <a:r>
              <a:rPr lang="en-US" sz="2400" b="1" dirty="0"/>
              <a:t>Divide</a:t>
            </a:r>
            <a:r>
              <a:rPr lang="en-US" sz="2400" dirty="0"/>
              <a:t>: Divide the n-element sequence to be sorted into two subsequences of n=2 elements each. </a:t>
            </a:r>
          </a:p>
          <a:p>
            <a:pPr marL="342900" indent="-342900" algn="just">
              <a:lnSpc>
                <a:spcPct val="150000"/>
              </a:lnSpc>
              <a:buFont typeface="Arial" panose="020B0604020202020204" pitchFamily="34" charset="0"/>
              <a:buChar char="•"/>
            </a:pPr>
            <a:r>
              <a:rPr lang="en-US" sz="2400" b="1" dirty="0"/>
              <a:t>Conquer</a:t>
            </a:r>
            <a:r>
              <a:rPr lang="en-US" sz="2400" dirty="0"/>
              <a:t>: Sort the two subsequences recursively using merge sort. </a:t>
            </a:r>
          </a:p>
          <a:p>
            <a:pPr marL="342900" indent="-342900" algn="just">
              <a:lnSpc>
                <a:spcPct val="150000"/>
              </a:lnSpc>
              <a:buFont typeface="Arial" panose="020B0604020202020204" pitchFamily="34" charset="0"/>
              <a:buChar char="•"/>
            </a:pPr>
            <a:r>
              <a:rPr lang="en-US" sz="2400" b="1" dirty="0"/>
              <a:t>Combine</a:t>
            </a:r>
            <a:r>
              <a:rPr lang="en-US" sz="2400" dirty="0"/>
              <a:t>: Merge the two sorted subsequences to produce the sorted answer</a:t>
            </a:r>
          </a:p>
        </p:txBody>
      </p:sp>
    </p:spTree>
    <p:extLst>
      <p:ext uri="{BB962C8B-B14F-4D97-AF65-F5344CB8AC3E}">
        <p14:creationId xmlns:p14="http://schemas.microsoft.com/office/powerpoint/2010/main" val="36033310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429000" y="0"/>
            <a:ext cx="4953000" cy="990600"/>
          </a:xfrm>
        </p:spPr>
        <p:txBody>
          <a:bodyPr/>
          <a:lstStyle/>
          <a:p>
            <a:pPr eaLnBrk="1" hangingPunct="1"/>
            <a:r>
              <a:rPr lang="en-US" altLang="en-US" sz="4000" b="1" dirty="0">
                <a:latin typeface="+mn-lt"/>
              </a:rPr>
              <a:t>Merge-Sort</a:t>
            </a:r>
          </a:p>
        </p:txBody>
      </p:sp>
      <p:sp>
        <p:nvSpPr>
          <p:cNvPr id="13315" name="Rectangle 3"/>
          <p:cNvSpPr>
            <a:spLocks noGrp="1" noChangeArrowheads="1"/>
          </p:cNvSpPr>
          <p:nvPr>
            <p:ph type="body" sz="half" idx="1"/>
          </p:nvPr>
        </p:nvSpPr>
        <p:spPr>
          <a:xfrm>
            <a:off x="947056" y="1121229"/>
            <a:ext cx="10417629" cy="3810000"/>
          </a:xfrm>
        </p:spPr>
        <p:txBody>
          <a:bodyPr>
            <a:noAutofit/>
          </a:bodyPr>
          <a:lstStyle/>
          <a:p>
            <a:pPr algn="just">
              <a:lnSpc>
                <a:spcPct val="150000"/>
              </a:lnSpc>
              <a:spcBef>
                <a:spcPts val="0"/>
              </a:spcBef>
            </a:pPr>
            <a:r>
              <a:rPr lang="en-US" altLang="en-US" dirty="0"/>
              <a:t>Merge Sort Tree:</a:t>
            </a:r>
          </a:p>
          <a:p>
            <a:pPr lvl="1" algn="just">
              <a:lnSpc>
                <a:spcPct val="150000"/>
              </a:lnSpc>
              <a:spcBef>
                <a:spcPts val="0"/>
              </a:spcBef>
            </a:pPr>
            <a:r>
              <a:rPr lang="en-US" altLang="en-US" dirty="0"/>
              <a:t>Take a binary tree T</a:t>
            </a:r>
          </a:p>
          <a:p>
            <a:pPr lvl="1" algn="just">
              <a:lnSpc>
                <a:spcPct val="150000"/>
              </a:lnSpc>
              <a:spcBef>
                <a:spcPts val="0"/>
              </a:spcBef>
            </a:pPr>
            <a:r>
              <a:rPr lang="en-US" altLang="en-US" dirty="0"/>
              <a:t>Each node of T represents a recursive call of the merge sort algorithm.</a:t>
            </a:r>
          </a:p>
          <a:p>
            <a:pPr lvl="1" algn="just">
              <a:lnSpc>
                <a:spcPct val="150000"/>
              </a:lnSpc>
              <a:spcBef>
                <a:spcPts val="0"/>
              </a:spcBef>
            </a:pPr>
            <a:r>
              <a:rPr lang="en-US" altLang="en-US" dirty="0"/>
              <a:t>We associate with each node v of T a the set of input passed to the invocation v represents.</a:t>
            </a:r>
          </a:p>
          <a:p>
            <a:pPr lvl="1" algn="just">
              <a:lnSpc>
                <a:spcPct val="150000"/>
              </a:lnSpc>
              <a:spcBef>
                <a:spcPts val="0"/>
              </a:spcBef>
            </a:pPr>
            <a:r>
              <a:rPr lang="en-US" altLang="en-US" dirty="0"/>
              <a:t>The external nodes are associated with individual elements of S, upon which no recursion is called.</a:t>
            </a:r>
          </a:p>
        </p:txBody>
      </p:sp>
    </p:spTree>
    <p:extLst>
      <p:ext uri="{BB962C8B-B14F-4D97-AF65-F5344CB8AC3E}">
        <p14:creationId xmlns:p14="http://schemas.microsoft.com/office/powerpoint/2010/main" val="56347231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90257" y="239486"/>
            <a:ext cx="7772400" cy="914400"/>
          </a:xfrm>
        </p:spPr>
        <p:txBody>
          <a:bodyPr/>
          <a:lstStyle/>
          <a:p>
            <a:r>
              <a:rPr lang="en-US" b="1" dirty="0">
                <a:latin typeface="+mn-lt"/>
              </a:rPr>
              <a:t>Merge Sort</a:t>
            </a:r>
          </a:p>
        </p:txBody>
      </p:sp>
      <p:pic>
        <p:nvPicPr>
          <p:cNvPr id="56322" name="Picture 2"/>
          <p:cNvPicPr>
            <a:picLocks noChangeAspect="1" noChangeArrowheads="1"/>
          </p:cNvPicPr>
          <p:nvPr/>
        </p:nvPicPr>
        <p:blipFill>
          <a:blip r:embed="rId2"/>
          <a:srcRect/>
          <a:stretch>
            <a:fillRect/>
          </a:stretch>
        </p:blipFill>
        <p:spPr bwMode="auto">
          <a:xfrm>
            <a:off x="2286001" y="1643064"/>
            <a:ext cx="7696199" cy="4452937"/>
          </a:xfrm>
          <a:prstGeom prst="rect">
            <a:avLst/>
          </a:prstGeom>
          <a:noFill/>
          <a:ln w="9525">
            <a:noFill/>
            <a:miter lim="800000"/>
            <a:headEnd/>
            <a:tailEnd/>
          </a:ln>
          <a:effectLst/>
        </p:spPr>
      </p:pic>
    </p:spTree>
    <p:extLst>
      <p:ext uri="{BB962C8B-B14F-4D97-AF65-F5344CB8AC3E}">
        <p14:creationId xmlns:p14="http://schemas.microsoft.com/office/powerpoint/2010/main" val="363024016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228600"/>
            <a:ext cx="7010400" cy="914400"/>
          </a:xfrm>
        </p:spPr>
        <p:txBody>
          <a:bodyPr/>
          <a:lstStyle/>
          <a:p>
            <a:r>
              <a:rPr lang="en-US" dirty="0"/>
              <a:t>Merge Sort</a:t>
            </a:r>
          </a:p>
        </p:txBody>
      </p:sp>
      <p:pic>
        <p:nvPicPr>
          <p:cNvPr id="57346" name="Picture 2"/>
          <p:cNvPicPr>
            <a:picLocks noChangeAspect="1" noChangeArrowheads="1"/>
          </p:cNvPicPr>
          <p:nvPr/>
        </p:nvPicPr>
        <p:blipFill>
          <a:blip r:embed="rId2"/>
          <a:srcRect/>
          <a:stretch>
            <a:fillRect/>
          </a:stretch>
        </p:blipFill>
        <p:spPr bwMode="auto">
          <a:xfrm>
            <a:off x="2357438" y="1295400"/>
            <a:ext cx="8081962" cy="4724400"/>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3751200" y="6754320"/>
              <a:ext cx="192960" cy="31320"/>
            </p14:xfrm>
          </p:contentPart>
        </mc:Choice>
        <mc:Fallback xmlns="">
          <p:pic>
            <p:nvPicPr>
              <p:cNvPr id="3" name="Ink 2"/>
              <p:cNvPicPr/>
              <p:nvPr/>
            </p:nvPicPr>
            <p:blipFill>
              <a:blip r:embed="rId4"/>
              <a:stretch>
                <a:fillRect/>
              </a:stretch>
            </p:blipFill>
            <p:spPr>
              <a:xfrm>
                <a:off x="3741840" y="6744960"/>
                <a:ext cx="211680" cy="50040"/>
              </a:xfrm>
              <a:prstGeom prst="rect">
                <a:avLst/>
              </a:prstGeom>
            </p:spPr>
          </p:pic>
        </mc:Fallback>
      </mc:AlternateContent>
    </p:spTree>
    <p:extLst>
      <p:ext uri="{BB962C8B-B14F-4D97-AF65-F5344CB8AC3E}">
        <p14:creationId xmlns:p14="http://schemas.microsoft.com/office/powerpoint/2010/main" val="156179725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971800" y="120650"/>
            <a:ext cx="5562600" cy="1066800"/>
          </a:xfrm>
        </p:spPr>
        <p:txBody>
          <a:bodyPr/>
          <a:lstStyle/>
          <a:p>
            <a:pPr eaLnBrk="1" hangingPunct="1"/>
            <a:r>
              <a:rPr lang="en-US" altLang="en-US" sz="3600" b="1" dirty="0">
                <a:latin typeface="+mn-lt"/>
              </a:rPr>
              <a:t>Merge-Sort</a:t>
            </a:r>
          </a:p>
        </p:txBody>
      </p:sp>
      <p:pic>
        <p:nvPicPr>
          <p:cNvPr id="14339" name="Picture 3"/>
          <p:cNvPicPr>
            <a:picLocks noChangeAspect="1" noChangeArrowheads="1"/>
          </p:cNvPicPr>
          <p:nvPr/>
        </p:nvPicPr>
        <p:blipFill>
          <a:blip r:embed="rId2"/>
          <a:srcRect/>
          <a:stretch>
            <a:fillRect/>
          </a:stretch>
        </p:blipFill>
        <p:spPr bwMode="auto">
          <a:xfrm>
            <a:off x="1593774" y="990600"/>
            <a:ext cx="8769245" cy="4800600"/>
          </a:xfrm>
          <a:prstGeom prst="rect">
            <a:avLst/>
          </a:prstGeom>
          <a:noFill/>
          <a:ln w="9525">
            <a:noFill/>
            <a:miter lim="800000"/>
            <a:headEnd/>
            <a:tailEnd/>
          </a:ln>
        </p:spPr>
      </p:pic>
    </p:spTree>
    <p:extLst>
      <p:ext uri="{BB962C8B-B14F-4D97-AF65-F5344CB8AC3E}">
        <p14:creationId xmlns:p14="http://schemas.microsoft.com/office/powerpoint/2010/main" val="186107095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536104" y="76201"/>
            <a:ext cx="6598372" cy="6629399"/>
          </a:xfrm>
          <a:prstGeom prst="rect">
            <a:avLst/>
          </a:prstGeom>
        </p:spPr>
      </p:pic>
      <p:sp>
        <p:nvSpPr>
          <p:cNvPr id="2" name="Rectangle 1"/>
          <p:cNvSpPr/>
          <p:nvPr/>
        </p:nvSpPr>
        <p:spPr>
          <a:xfrm>
            <a:off x="9978288" y="434226"/>
            <a:ext cx="1267911" cy="369332"/>
          </a:xfrm>
          <a:prstGeom prst="rect">
            <a:avLst/>
          </a:prstGeom>
        </p:spPr>
        <p:txBody>
          <a:bodyPr wrap="none">
            <a:spAutoFit/>
          </a:bodyPr>
          <a:lstStyle/>
          <a:p>
            <a:r>
              <a:rPr lang="en-US" altLang="en-US" b="1" dirty="0"/>
              <a:t>Merge-Sort</a:t>
            </a:r>
            <a:endParaRPr lang="en-IN" dirty="0"/>
          </a:p>
        </p:txBody>
      </p:sp>
    </p:spTree>
    <p:extLst>
      <p:ext uri="{BB962C8B-B14F-4D97-AF65-F5344CB8AC3E}">
        <p14:creationId xmlns:p14="http://schemas.microsoft.com/office/powerpoint/2010/main" val="293161850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408715" y="76201"/>
            <a:ext cx="3026228" cy="566056"/>
          </a:xfrm>
        </p:spPr>
        <p:txBody>
          <a:bodyPr>
            <a:normAutofit fontScale="90000"/>
          </a:bodyPr>
          <a:lstStyle/>
          <a:p>
            <a:pPr eaLnBrk="1" hangingPunct="1"/>
            <a:r>
              <a:rPr lang="en-US" altLang="en-US" sz="4000" b="1" dirty="0">
                <a:latin typeface="+mn-lt"/>
              </a:rPr>
              <a:t>Quick-Sort</a:t>
            </a:r>
          </a:p>
        </p:txBody>
      </p:sp>
      <p:sp>
        <p:nvSpPr>
          <p:cNvPr id="730115" name="Rectangle 3"/>
          <p:cNvSpPr>
            <a:spLocks noGrp="1" noChangeArrowheads="1"/>
          </p:cNvSpPr>
          <p:nvPr>
            <p:ph type="body" sz="half" idx="1"/>
          </p:nvPr>
        </p:nvSpPr>
        <p:spPr>
          <a:xfrm>
            <a:off x="261257" y="642257"/>
            <a:ext cx="11680372" cy="6008914"/>
          </a:xfrm>
        </p:spPr>
        <p:txBody>
          <a:bodyPr rtlCol="0">
            <a:normAutofit fontScale="92500" lnSpcReduction="10000"/>
          </a:bodyPr>
          <a:lstStyle/>
          <a:p>
            <a:pPr>
              <a:lnSpc>
                <a:spcPct val="150000"/>
              </a:lnSpc>
              <a:defRPr/>
            </a:pPr>
            <a:r>
              <a:rPr lang="en-US" altLang="en-US" sz="2400" dirty="0"/>
              <a:t>Another divide-and-conquer sorting algorithm</a:t>
            </a:r>
          </a:p>
          <a:p>
            <a:pPr>
              <a:lnSpc>
                <a:spcPct val="150000"/>
              </a:lnSpc>
              <a:defRPr/>
            </a:pPr>
            <a:r>
              <a:rPr lang="en-US" altLang="en-US" sz="2400" dirty="0"/>
              <a:t>To understand quick-sort, let’s look at a high-level description of the algorithm</a:t>
            </a:r>
          </a:p>
          <a:p>
            <a:pPr>
              <a:lnSpc>
                <a:spcPct val="150000"/>
              </a:lnSpc>
              <a:buClr>
                <a:schemeClr val="accent2"/>
              </a:buClr>
              <a:buNone/>
              <a:defRPr/>
            </a:pPr>
            <a:r>
              <a:rPr lang="en-US" altLang="en-US" sz="2400" dirty="0"/>
              <a:t>1)</a:t>
            </a:r>
            <a:r>
              <a:rPr lang="en-US" altLang="en-US" sz="2400" b="1" dirty="0">
                <a:solidFill>
                  <a:schemeClr val="accent2"/>
                </a:solidFill>
              </a:rPr>
              <a:t> </a:t>
            </a:r>
            <a:r>
              <a:rPr lang="en-US" altLang="en-US" sz="2400" b="1" dirty="0">
                <a:solidFill>
                  <a:srgbClr val="008000"/>
                </a:solidFill>
              </a:rPr>
              <a:t>Divide</a:t>
            </a:r>
            <a:r>
              <a:rPr lang="en-US" altLang="en-US" sz="2400" dirty="0">
                <a:solidFill>
                  <a:srgbClr val="008000"/>
                </a:solidFill>
              </a:rPr>
              <a:t> </a:t>
            </a:r>
            <a:r>
              <a:rPr lang="en-US" altLang="en-US" sz="2400" dirty="0"/>
              <a:t>: If the sequence S has 2 or more elements, select an element x from S to be your </a:t>
            </a:r>
            <a:r>
              <a:rPr lang="en-US" altLang="en-US" sz="2400" b="1" dirty="0">
                <a:solidFill>
                  <a:srgbClr val="D43E39"/>
                </a:solidFill>
              </a:rPr>
              <a:t>pivot</a:t>
            </a:r>
            <a:r>
              <a:rPr lang="en-US" altLang="en-US" sz="2400" dirty="0"/>
              <a:t>. Any arbitrary element, like the last, will do. Remove all the elements of S and divide them into 3 sequences:</a:t>
            </a:r>
          </a:p>
          <a:p>
            <a:pPr lvl="1">
              <a:lnSpc>
                <a:spcPct val="150000"/>
              </a:lnSpc>
              <a:buNone/>
              <a:defRPr/>
            </a:pPr>
            <a:r>
              <a:rPr lang="en-US" altLang="en-US" sz="2000" dirty="0"/>
              <a:t>L, holds S’s elements less than x</a:t>
            </a:r>
          </a:p>
          <a:p>
            <a:pPr lvl="1">
              <a:lnSpc>
                <a:spcPct val="150000"/>
              </a:lnSpc>
              <a:buNone/>
              <a:defRPr/>
            </a:pPr>
            <a:r>
              <a:rPr lang="en-US" altLang="en-US" sz="2000" dirty="0"/>
              <a:t>E, holds S’s elements equal to x</a:t>
            </a:r>
          </a:p>
          <a:p>
            <a:pPr lvl="1">
              <a:lnSpc>
                <a:spcPct val="150000"/>
              </a:lnSpc>
              <a:buNone/>
              <a:defRPr/>
            </a:pPr>
            <a:r>
              <a:rPr lang="en-US" altLang="en-US" sz="2000" dirty="0"/>
              <a:t>G, holds S’s elements greater than x</a:t>
            </a:r>
          </a:p>
          <a:p>
            <a:pPr>
              <a:lnSpc>
                <a:spcPct val="150000"/>
              </a:lnSpc>
              <a:buClr>
                <a:schemeClr val="accent2"/>
              </a:buClr>
              <a:buNone/>
              <a:defRPr/>
            </a:pPr>
            <a:r>
              <a:rPr lang="en-US" altLang="en-US" sz="2400" dirty="0"/>
              <a:t>2) </a:t>
            </a:r>
            <a:r>
              <a:rPr lang="en-US" altLang="en-US" sz="2400" b="1" dirty="0">
                <a:solidFill>
                  <a:srgbClr val="008000"/>
                </a:solidFill>
              </a:rPr>
              <a:t>Recurse</a:t>
            </a:r>
            <a:r>
              <a:rPr lang="en-US" altLang="en-US" sz="2400" dirty="0"/>
              <a:t>: Recursively sort L and G</a:t>
            </a:r>
          </a:p>
          <a:p>
            <a:pPr>
              <a:lnSpc>
                <a:spcPct val="150000"/>
              </a:lnSpc>
              <a:buClr>
                <a:schemeClr val="accent2"/>
              </a:buClr>
              <a:buNone/>
              <a:defRPr/>
            </a:pPr>
            <a:r>
              <a:rPr lang="en-US" altLang="en-US" sz="2400" dirty="0"/>
              <a:t>3) </a:t>
            </a:r>
            <a:r>
              <a:rPr lang="en-US" altLang="en-US" sz="2400" b="1" dirty="0">
                <a:solidFill>
                  <a:srgbClr val="008000"/>
                </a:solidFill>
              </a:rPr>
              <a:t>Conquer</a:t>
            </a:r>
            <a:r>
              <a:rPr lang="en-US" altLang="en-US" sz="2400" dirty="0"/>
              <a:t>: Finally, to put elements back into S in order, first inserts the elements of L, then those of E, and those of G.</a:t>
            </a:r>
          </a:p>
        </p:txBody>
      </p:sp>
    </p:spTree>
    <p:extLst>
      <p:ext uri="{BB962C8B-B14F-4D97-AF65-F5344CB8AC3E}">
        <p14:creationId xmlns:p14="http://schemas.microsoft.com/office/powerpoint/2010/main" val="31232889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743200" y="152400"/>
            <a:ext cx="4212771" cy="1012371"/>
          </a:xfrm>
        </p:spPr>
        <p:txBody>
          <a:bodyPr>
            <a:normAutofit/>
          </a:bodyPr>
          <a:lstStyle/>
          <a:p>
            <a:pPr eaLnBrk="1" hangingPunct="1"/>
            <a:r>
              <a:rPr lang="en-US" altLang="en-US" sz="3600" b="1" dirty="0">
                <a:latin typeface="+mn-lt"/>
              </a:rPr>
              <a:t>Idea of Quick Sort</a:t>
            </a:r>
          </a:p>
        </p:txBody>
      </p:sp>
      <p:sp>
        <p:nvSpPr>
          <p:cNvPr id="20483" name="Rectangle 3"/>
          <p:cNvSpPr>
            <a:spLocks noGrp="1" noChangeArrowheads="1"/>
          </p:cNvSpPr>
          <p:nvPr>
            <p:ph type="body" sz="half" idx="1"/>
          </p:nvPr>
        </p:nvSpPr>
        <p:spPr>
          <a:xfrm>
            <a:off x="707571" y="1981200"/>
            <a:ext cx="5693229" cy="4267200"/>
          </a:xfrm>
        </p:spPr>
        <p:txBody>
          <a:bodyPr>
            <a:normAutofit lnSpcReduction="10000"/>
          </a:bodyPr>
          <a:lstStyle/>
          <a:p>
            <a:pPr eaLnBrk="1" hangingPunct="1">
              <a:lnSpc>
                <a:spcPct val="90000"/>
              </a:lnSpc>
              <a:buFontTx/>
              <a:buNone/>
            </a:pPr>
            <a:r>
              <a:rPr lang="en-US" altLang="en-US" sz="2400" dirty="0"/>
              <a:t>1) </a:t>
            </a:r>
            <a:r>
              <a:rPr lang="en-US" altLang="en-US" sz="2400" b="1" dirty="0"/>
              <a:t>Select</a:t>
            </a:r>
            <a:r>
              <a:rPr lang="en-US" altLang="en-US" sz="2400" dirty="0"/>
              <a:t>: pick an element</a:t>
            </a:r>
          </a:p>
          <a:p>
            <a:pPr eaLnBrk="1" hangingPunct="1">
              <a:lnSpc>
                <a:spcPct val="90000"/>
              </a:lnSpc>
              <a:buFontTx/>
              <a:buNone/>
            </a:pPr>
            <a:endParaRPr lang="en-US" altLang="en-US" sz="2400" dirty="0"/>
          </a:p>
          <a:p>
            <a:pPr eaLnBrk="1" hangingPunct="1">
              <a:lnSpc>
                <a:spcPct val="90000"/>
              </a:lnSpc>
              <a:buFontTx/>
              <a:buNone/>
            </a:pPr>
            <a:endParaRPr lang="en-US" altLang="en-US" sz="2400" dirty="0"/>
          </a:p>
          <a:p>
            <a:pPr eaLnBrk="1" hangingPunct="1">
              <a:lnSpc>
                <a:spcPct val="90000"/>
              </a:lnSpc>
              <a:buFontTx/>
              <a:buNone/>
            </a:pPr>
            <a:endParaRPr lang="en-US" altLang="en-US" sz="2400" dirty="0"/>
          </a:p>
          <a:p>
            <a:pPr eaLnBrk="1" hangingPunct="1">
              <a:lnSpc>
                <a:spcPct val="90000"/>
              </a:lnSpc>
              <a:buFontTx/>
              <a:buNone/>
            </a:pPr>
            <a:r>
              <a:rPr lang="en-US" altLang="en-US" sz="2400" dirty="0"/>
              <a:t>2</a:t>
            </a:r>
            <a:r>
              <a:rPr lang="en-US" altLang="en-US" sz="2400" b="1" dirty="0"/>
              <a:t>) Divide</a:t>
            </a:r>
            <a:r>
              <a:rPr lang="en-US" altLang="en-US" sz="2400" dirty="0"/>
              <a:t>: rearrange elements so that </a:t>
            </a:r>
            <a:r>
              <a:rPr lang="en-US" altLang="en-US" sz="2400" dirty="0">
                <a:solidFill>
                  <a:srgbClr val="329439"/>
                </a:solidFill>
              </a:rPr>
              <a:t>x </a:t>
            </a:r>
            <a:r>
              <a:rPr lang="en-US" altLang="en-US" sz="2400" dirty="0"/>
              <a:t>goes to its</a:t>
            </a:r>
            <a:r>
              <a:rPr lang="en-US" altLang="en-US" sz="2400" dirty="0">
                <a:solidFill>
                  <a:srgbClr val="329439"/>
                </a:solidFill>
              </a:rPr>
              <a:t> final  position E</a:t>
            </a:r>
          </a:p>
          <a:p>
            <a:pPr eaLnBrk="1" hangingPunct="1">
              <a:lnSpc>
                <a:spcPct val="90000"/>
              </a:lnSpc>
              <a:buFontTx/>
              <a:buNone/>
            </a:pPr>
            <a:endParaRPr lang="en-US" altLang="en-US" sz="2400" dirty="0">
              <a:solidFill>
                <a:srgbClr val="329439"/>
              </a:solidFill>
            </a:endParaRPr>
          </a:p>
          <a:p>
            <a:pPr eaLnBrk="1" hangingPunct="1">
              <a:lnSpc>
                <a:spcPct val="90000"/>
              </a:lnSpc>
              <a:buFontTx/>
              <a:buNone/>
            </a:pPr>
            <a:r>
              <a:rPr lang="en-US" altLang="en-US" sz="2400" dirty="0"/>
              <a:t>3) </a:t>
            </a:r>
            <a:r>
              <a:rPr lang="en-US" altLang="en-US" sz="2400" b="1" dirty="0" err="1"/>
              <a:t>Recurse</a:t>
            </a:r>
            <a:r>
              <a:rPr lang="en-US" altLang="en-US" sz="2400" b="1" dirty="0"/>
              <a:t> and Conquer</a:t>
            </a:r>
            <a:r>
              <a:rPr lang="en-US" altLang="en-US" sz="2400" dirty="0"/>
              <a:t>: recursively sort</a:t>
            </a:r>
            <a:endParaRPr lang="en-US" altLang="en-US" sz="2000" dirty="0"/>
          </a:p>
          <a:p>
            <a:pPr eaLnBrk="1" hangingPunct="1">
              <a:lnSpc>
                <a:spcPct val="90000"/>
              </a:lnSpc>
              <a:buFontTx/>
              <a:buNone/>
            </a:pPr>
            <a:endParaRPr lang="en-US" altLang="en-US" sz="2000" dirty="0"/>
          </a:p>
          <a:p>
            <a:pPr eaLnBrk="1" hangingPunct="1">
              <a:lnSpc>
                <a:spcPct val="90000"/>
              </a:lnSpc>
              <a:buFontTx/>
              <a:buNone/>
            </a:pPr>
            <a:r>
              <a:rPr lang="en-US" altLang="en-US" sz="2000" dirty="0"/>
              <a:t>		</a:t>
            </a:r>
          </a:p>
        </p:txBody>
      </p:sp>
      <p:pic>
        <p:nvPicPr>
          <p:cNvPr id="20484" name="Picture 4"/>
          <p:cNvPicPr>
            <a:picLocks noGrp="1" noChangeAspect="1" noChangeArrowheads="1"/>
          </p:cNvPicPr>
          <p:nvPr>
            <p:ph sz="half" idx="2"/>
          </p:nvPr>
        </p:nvPicPr>
        <p:blipFill>
          <a:blip r:embed="rId2"/>
          <a:srcRect/>
          <a:stretch>
            <a:fillRect/>
          </a:stretch>
        </p:blipFill>
        <p:spPr>
          <a:xfrm>
            <a:off x="6781800" y="1295400"/>
            <a:ext cx="2057400" cy="5410200"/>
          </a:xfrm>
          <a:noFill/>
        </p:spPr>
      </p:pic>
    </p:spTree>
    <p:extLst>
      <p:ext uri="{BB962C8B-B14F-4D97-AF65-F5344CB8AC3E}">
        <p14:creationId xmlns:p14="http://schemas.microsoft.com/office/powerpoint/2010/main" val="37165681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895600" y="0"/>
            <a:ext cx="7772400" cy="1143000"/>
          </a:xfrm>
        </p:spPr>
        <p:txBody>
          <a:bodyPr/>
          <a:lstStyle/>
          <a:p>
            <a:pPr eaLnBrk="1" hangingPunct="1"/>
            <a:r>
              <a:rPr lang="en-US" altLang="en-US"/>
              <a:t>Quick-Sort Tree</a:t>
            </a:r>
          </a:p>
        </p:txBody>
      </p:sp>
      <p:pic>
        <p:nvPicPr>
          <p:cNvPr id="21507" name="Picture 3"/>
          <p:cNvPicPr>
            <a:picLocks noGrp="1" noChangeAspect="1" noChangeArrowheads="1"/>
          </p:cNvPicPr>
          <p:nvPr>
            <p:ph sz="half" idx="2"/>
          </p:nvPr>
        </p:nvPicPr>
        <p:blipFill>
          <a:blip r:embed="rId2"/>
          <a:srcRect/>
          <a:stretch>
            <a:fillRect/>
          </a:stretch>
        </p:blipFill>
        <p:spPr>
          <a:xfrm>
            <a:off x="3505200" y="914401"/>
            <a:ext cx="4724400" cy="2830513"/>
          </a:xfrm>
          <a:noFill/>
        </p:spPr>
      </p:pic>
      <p:pic>
        <p:nvPicPr>
          <p:cNvPr id="732164" name="Picture 4"/>
          <p:cNvPicPr>
            <a:picLocks noChangeAspect="1" noChangeArrowheads="1"/>
          </p:cNvPicPr>
          <p:nvPr/>
        </p:nvPicPr>
        <p:blipFill>
          <a:blip r:embed="rId3"/>
          <a:srcRect/>
          <a:stretch>
            <a:fillRect/>
          </a:stretch>
        </p:blipFill>
        <p:spPr bwMode="auto">
          <a:xfrm>
            <a:off x="3657600" y="3886201"/>
            <a:ext cx="4446588" cy="2513013"/>
          </a:xfrm>
          <a:prstGeom prst="rect">
            <a:avLst/>
          </a:prstGeom>
          <a:noFill/>
          <a:ln w="9525">
            <a:noFill/>
            <a:miter lim="800000"/>
            <a:headEnd/>
            <a:tailEnd/>
          </a:ln>
        </p:spPr>
      </p:pic>
    </p:spTree>
    <p:extLst>
      <p:ext uri="{BB962C8B-B14F-4D97-AF65-F5344CB8AC3E}">
        <p14:creationId xmlns:p14="http://schemas.microsoft.com/office/powerpoint/2010/main" val="248105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32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743200" y="76200"/>
            <a:ext cx="7772400" cy="1143000"/>
          </a:xfrm>
        </p:spPr>
        <p:txBody>
          <a:bodyPr/>
          <a:lstStyle/>
          <a:p>
            <a:pPr eaLnBrk="1" hangingPunct="1"/>
            <a:r>
              <a:rPr lang="en-US" altLang="en-US" dirty="0"/>
              <a:t>In-Place Quick-Sort</a:t>
            </a:r>
          </a:p>
        </p:txBody>
      </p:sp>
      <p:sp>
        <p:nvSpPr>
          <p:cNvPr id="733187" name="Rectangle 3"/>
          <p:cNvSpPr>
            <a:spLocks noChangeArrowheads="1"/>
          </p:cNvSpPr>
          <p:nvPr/>
        </p:nvSpPr>
        <p:spPr bwMode="auto">
          <a:xfrm>
            <a:off x="1905001" y="1752601"/>
            <a:ext cx="7032625" cy="396875"/>
          </a:xfrm>
          <a:prstGeom prst="rect">
            <a:avLst/>
          </a:prstGeom>
          <a:noFill/>
          <a:ln w="9525">
            <a:noFill/>
            <a:miter lim="800000"/>
            <a:headEnd/>
            <a:tailEnd/>
          </a:ln>
        </p:spPr>
        <p:txBody>
          <a:bodyPr wrap="none">
            <a:spAutoFit/>
          </a:bodyPr>
          <a:lstStyle/>
          <a:p>
            <a:pPr eaLnBrk="0" hangingPunct="0"/>
            <a:r>
              <a:rPr lang="en-US" altLang="en-US" sz="2000">
                <a:latin typeface="Times"/>
              </a:rPr>
              <a:t>Divide step: l scans the sequence from the left, and r from the right.</a:t>
            </a:r>
          </a:p>
        </p:txBody>
      </p:sp>
      <p:sp>
        <p:nvSpPr>
          <p:cNvPr id="733188" name="Rectangle 4"/>
          <p:cNvSpPr>
            <a:spLocks noChangeArrowheads="1"/>
          </p:cNvSpPr>
          <p:nvPr/>
        </p:nvSpPr>
        <p:spPr bwMode="auto">
          <a:xfrm>
            <a:off x="1905000" y="3200401"/>
            <a:ext cx="8763000" cy="701675"/>
          </a:xfrm>
          <a:prstGeom prst="rect">
            <a:avLst/>
          </a:prstGeom>
          <a:noFill/>
          <a:ln w="9525">
            <a:noFill/>
            <a:miter lim="800000"/>
            <a:headEnd/>
            <a:tailEnd/>
          </a:ln>
        </p:spPr>
        <p:txBody>
          <a:bodyPr>
            <a:spAutoFit/>
          </a:bodyPr>
          <a:lstStyle/>
          <a:p>
            <a:pPr eaLnBrk="0" hangingPunct="0"/>
            <a:r>
              <a:rPr lang="en-US" altLang="en-US" sz="2000">
                <a:latin typeface="Times"/>
              </a:rPr>
              <a:t>A swap is performed when l is at an element larger than the pivot and r is at one smaller than the pivot.</a:t>
            </a:r>
          </a:p>
        </p:txBody>
      </p:sp>
      <p:pic>
        <p:nvPicPr>
          <p:cNvPr id="733189" name="Picture 5"/>
          <p:cNvPicPr>
            <a:picLocks noChangeAspect="1" noChangeArrowheads="1"/>
          </p:cNvPicPr>
          <p:nvPr/>
        </p:nvPicPr>
        <p:blipFill>
          <a:blip r:embed="rId2"/>
          <a:srcRect/>
          <a:stretch>
            <a:fillRect/>
          </a:stretch>
        </p:blipFill>
        <p:spPr bwMode="auto">
          <a:xfrm>
            <a:off x="2514600" y="2057400"/>
            <a:ext cx="6743700" cy="1193800"/>
          </a:xfrm>
          <a:prstGeom prst="rect">
            <a:avLst/>
          </a:prstGeom>
          <a:noFill/>
          <a:ln w="9525">
            <a:noFill/>
            <a:miter lim="800000"/>
            <a:headEnd/>
            <a:tailEnd/>
          </a:ln>
        </p:spPr>
      </p:pic>
      <p:pic>
        <p:nvPicPr>
          <p:cNvPr id="733190" name="Picture 6"/>
          <p:cNvPicPr>
            <a:picLocks noChangeAspect="1" noChangeArrowheads="1"/>
          </p:cNvPicPr>
          <p:nvPr/>
        </p:nvPicPr>
        <p:blipFill>
          <a:blip r:embed="rId3"/>
          <a:srcRect/>
          <a:stretch>
            <a:fillRect/>
          </a:stretch>
        </p:blipFill>
        <p:spPr bwMode="auto">
          <a:xfrm>
            <a:off x="4343400" y="3505200"/>
            <a:ext cx="6324600" cy="3144838"/>
          </a:xfrm>
          <a:prstGeom prst="rect">
            <a:avLst/>
          </a:prstGeom>
          <a:noFill/>
          <a:ln w="9525">
            <a:noFill/>
            <a:miter lim="800000"/>
            <a:headEnd/>
            <a:tailEnd/>
          </a:ln>
        </p:spPr>
      </p:pic>
    </p:spTree>
    <p:extLst>
      <p:ext uri="{BB962C8B-B14F-4D97-AF65-F5344CB8AC3E}">
        <p14:creationId xmlns:p14="http://schemas.microsoft.com/office/powerpoint/2010/main" val="155050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3187"/>
                                        </p:tgtEl>
                                        <p:attrNameLst>
                                          <p:attrName>style.visibility</p:attrName>
                                        </p:attrNameLst>
                                      </p:cBhvr>
                                      <p:to>
                                        <p:strVal val="visible"/>
                                      </p:to>
                                    </p:set>
                                    <p:anim calcmode="lin" valueType="num">
                                      <p:cBhvr additive="base">
                                        <p:cTn id="7" dur="500" fill="hold"/>
                                        <p:tgtEl>
                                          <p:spTgt spid="733187"/>
                                        </p:tgtEl>
                                        <p:attrNameLst>
                                          <p:attrName>ppt_x</p:attrName>
                                        </p:attrNameLst>
                                      </p:cBhvr>
                                      <p:tavLst>
                                        <p:tav tm="0">
                                          <p:val>
                                            <p:strVal val="0-#ppt_w/2"/>
                                          </p:val>
                                        </p:tav>
                                        <p:tav tm="100000">
                                          <p:val>
                                            <p:strVal val="#ppt_x"/>
                                          </p:val>
                                        </p:tav>
                                      </p:tavLst>
                                    </p:anim>
                                    <p:anim calcmode="lin" valueType="num">
                                      <p:cBhvr additive="base">
                                        <p:cTn id="8" dur="500" fill="hold"/>
                                        <p:tgtEl>
                                          <p:spTgt spid="7331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33189"/>
                                        </p:tgtEl>
                                        <p:attrNameLst>
                                          <p:attrName>style.visibility</p:attrName>
                                        </p:attrNameLst>
                                      </p:cBhvr>
                                      <p:to>
                                        <p:strVal val="visible"/>
                                      </p:to>
                                    </p:set>
                                    <p:anim calcmode="lin" valueType="num">
                                      <p:cBhvr additive="base">
                                        <p:cTn id="13" dur="500" fill="hold"/>
                                        <p:tgtEl>
                                          <p:spTgt spid="733189"/>
                                        </p:tgtEl>
                                        <p:attrNameLst>
                                          <p:attrName>ppt_x</p:attrName>
                                        </p:attrNameLst>
                                      </p:cBhvr>
                                      <p:tavLst>
                                        <p:tav tm="0">
                                          <p:val>
                                            <p:strVal val="1+#ppt_w/2"/>
                                          </p:val>
                                        </p:tav>
                                        <p:tav tm="100000">
                                          <p:val>
                                            <p:strVal val="#ppt_x"/>
                                          </p:val>
                                        </p:tav>
                                      </p:tavLst>
                                    </p:anim>
                                    <p:anim calcmode="lin" valueType="num">
                                      <p:cBhvr additive="base">
                                        <p:cTn id="14" dur="500" fill="hold"/>
                                        <p:tgtEl>
                                          <p:spTgt spid="73318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33188"/>
                                        </p:tgtEl>
                                        <p:attrNameLst>
                                          <p:attrName>style.visibility</p:attrName>
                                        </p:attrNameLst>
                                      </p:cBhvr>
                                      <p:to>
                                        <p:strVal val="visible"/>
                                      </p:to>
                                    </p:set>
                                    <p:anim calcmode="lin" valueType="num">
                                      <p:cBhvr additive="base">
                                        <p:cTn id="19" dur="500" fill="hold"/>
                                        <p:tgtEl>
                                          <p:spTgt spid="733188"/>
                                        </p:tgtEl>
                                        <p:attrNameLst>
                                          <p:attrName>ppt_x</p:attrName>
                                        </p:attrNameLst>
                                      </p:cBhvr>
                                      <p:tavLst>
                                        <p:tav tm="0">
                                          <p:val>
                                            <p:strVal val="0-#ppt_w/2"/>
                                          </p:val>
                                        </p:tav>
                                        <p:tav tm="100000">
                                          <p:val>
                                            <p:strVal val="#ppt_x"/>
                                          </p:val>
                                        </p:tav>
                                      </p:tavLst>
                                    </p:anim>
                                    <p:anim calcmode="lin" valueType="num">
                                      <p:cBhvr additive="base">
                                        <p:cTn id="20" dur="500" fill="hold"/>
                                        <p:tgtEl>
                                          <p:spTgt spid="7331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733190"/>
                                        </p:tgtEl>
                                        <p:attrNameLst>
                                          <p:attrName>style.visibility</p:attrName>
                                        </p:attrNameLst>
                                      </p:cBhvr>
                                      <p:to>
                                        <p:strVal val="visible"/>
                                      </p:to>
                                    </p:set>
                                    <p:anim calcmode="lin" valueType="num">
                                      <p:cBhvr additive="base">
                                        <p:cTn id="25" dur="500" fill="hold"/>
                                        <p:tgtEl>
                                          <p:spTgt spid="733190"/>
                                        </p:tgtEl>
                                        <p:attrNameLst>
                                          <p:attrName>ppt_x</p:attrName>
                                        </p:attrNameLst>
                                      </p:cBhvr>
                                      <p:tavLst>
                                        <p:tav tm="0">
                                          <p:val>
                                            <p:strVal val="1+#ppt_w/2"/>
                                          </p:val>
                                        </p:tav>
                                        <p:tav tm="100000">
                                          <p:val>
                                            <p:strVal val="#ppt_x"/>
                                          </p:val>
                                        </p:tav>
                                      </p:tavLst>
                                    </p:anim>
                                    <p:anim calcmode="lin" valueType="num">
                                      <p:cBhvr additive="base">
                                        <p:cTn id="26" dur="500" fill="hold"/>
                                        <p:tgtEl>
                                          <p:spTgt spid="7331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7" grpId="0" autoUpdateAnimBg="0"/>
      <p:bldP spid="733188"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t>In Place Quick Sort (cont’d)</a:t>
            </a:r>
          </a:p>
        </p:txBody>
      </p:sp>
      <p:pic>
        <p:nvPicPr>
          <p:cNvPr id="23555" name="Picture 3"/>
          <p:cNvPicPr>
            <a:picLocks noChangeAspect="1" noChangeArrowheads="1"/>
          </p:cNvPicPr>
          <p:nvPr/>
        </p:nvPicPr>
        <p:blipFill>
          <a:blip r:embed="rId2"/>
          <a:srcRect/>
          <a:stretch>
            <a:fillRect/>
          </a:stretch>
        </p:blipFill>
        <p:spPr bwMode="auto">
          <a:xfrm>
            <a:off x="3352800" y="914400"/>
            <a:ext cx="4775200" cy="3665538"/>
          </a:xfrm>
          <a:prstGeom prst="rect">
            <a:avLst/>
          </a:prstGeom>
          <a:noFill/>
          <a:ln w="9525">
            <a:noFill/>
            <a:miter lim="800000"/>
            <a:headEnd/>
            <a:tailEnd/>
          </a:ln>
        </p:spPr>
      </p:pic>
      <p:sp>
        <p:nvSpPr>
          <p:cNvPr id="23556" name="Rectangle 4"/>
          <p:cNvSpPr>
            <a:spLocks noChangeArrowheads="1"/>
          </p:cNvSpPr>
          <p:nvPr/>
        </p:nvSpPr>
        <p:spPr bwMode="auto">
          <a:xfrm>
            <a:off x="2286000" y="4800600"/>
            <a:ext cx="5089920" cy="369332"/>
          </a:xfrm>
          <a:prstGeom prst="rect">
            <a:avLst/>
          </a:prstGeom>
          <a:noFill/>
          <a:ln w="9525">
            <a:noFill/>
            <a:miter lim="800000"/>
            <a:headEnd/>
            <a:tailEnd/>
          </a:ln>
        </p:spPr>
        <p:txBody>
          <a:bodyPr wrap="none">
            <a:spAutoFit/>
          </a:bodyPr>
          <a:lstStyle/>
          <a:p>
            <a:pPr eaLnBrk="0" hangingPunct="0"/>
            <a:r>
              <a:rPr lang="en-US" altLang="en-US">
                <a:latin typeface="Times"/>
              </a:rPr>
              <a:t>A final swap with the pivot completes the divide step</a:t>
            </a:r>
          </a:p>
        </p:txBody>
      </p:sp>
      <p:sp>
        <p:nvSpPr>
          <p:cNvPr id="23557" name="Picture 5"/>
          <p:cNvSpPr>
            <a:spLocks noChangeAspect="1" noChangeArrowheads="1"/>
          </p:cNvSpPr>
          <p:nvPr/>
        </p:nvSpPr>
        <p:spPr bwMode="auto">
          <a:xfrm>
            <a:off x="2438400" y="5334000"/>
            <a:ext cx="6870700" cy="1041400"/>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39401902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D:\McGraw-Hill Projects\Cormen\algorithms\quicksort.gif">
            <a:extLst>
              <a:ext uri="{FF2B5EF4-FFF2-40B4-BE49-F238E27FC236}">
                <a16:creationId xmlns="" xmlns:a16="http://schemas.microsoft.com/office/drawing/2014/main" id="{77693DA4-6143-43CC-9820-D10CF40D5333}"/>
              </a:ext>
            </a:extLst>
          </p:cNvPr>
          <p:cNvPicPr>
            <a:picLocks noChangeAspect="1" noChangeArrowheads="1"/>
          </p:cNvPicPr>
          <p:nvPr/>
        </p:nvPicPr>
        <p:blipFill>
          <a:blip r:embed="rId2"/>
          <a:srcRect/>
          <a:stretch>
            <a:fillRect/>
          </a:stretch>
        </p:blipFill>
        <p:spPr bwMode="auto">
          <a:xfrm>
            <a:off x="5166445" y="1522707"/>
            <a:ext cx="6395883" cy="2669626"/>
          </a:xfrm>
          <a:prstGeom prst="rect">
            <a:avLst/>
          </a:prstGeom>
          <a:noFill/>
          <a:ln w="9525">
            <a:solidFill>
              <a:schemeClr val="accent1"/>
            </a:solidFill>
            <a:miter lim="800000"/>
            <a:headEnd/>
            <a:tailEnd/>
          </a:ln>
        </p:spPr>
      </p:pic>
      <p:sp>
        <p:nvSpPr>
          <p:cNvPr id="2" name="Rectangle 1">
            <a:extLst>
              <a:ext uri="{FF2B5EF4-FFF2-40B4-BE49-F238E27FC236}">
                <a16:creationId xmlns="" xmlns:a16="http://schemas.microsoft.com/office/drawing/2014/main" id="{2EA64986-7AB7-4A18-B65D-D2EC4308BAB9}"/>
              </a:ext>
            </a:extLst>
          </p:cNvPr>
          <p:cNvSpPr/>
          <p:nvPr/>
        </p:nvSpPr>
        <p:spPr>
          <a:xfrm>
            <a:off x="698099" y="351231"/>
            <a:ext cx="2704668" cy="1323439"/>
          </a:xfrm>
          <a:prstGeom prst="rect">
            <a:avLst/>
          </a:prstGeom>
        </p:spPr>
        <p:txBody>
          <a:bodyPr wrap="square">
            <a:spAutoFit/>
          </a:bodyPr>
          <a:lstStyle/>
          <a:p>
            <a:r>
              <a:rPr lang="en-US" altLang="en-US" sz="4000" b="1" dirty="0"/>
              <a:t>Quick-Sort Algorithm</a:t>
            </a:r>
          </a:p>
        </p:txBody>
      </p:sp>
      <p:sp>
        <p:nvSpPr>
          <p:cNvPr id="3" name="Rectangle 2"/>
          <p:cNvSpPr/>
          <p:nvPr/>
        </p:nvSpPr>
        <p:spPr>
          <a:xfrm>
            <a:off x="354767" y="1966916"/>
            <a:ext cx="6096000" cy="3970318"/>
          </a:xfrm>
          <a:prstGeom prst="rect">
            <a:avLst/>
          </a:prstGeom>
        </p:spPr>
        <p:txBody>
          <a:bodyPr>
            <a:spAutoFit/>
          </a:bodyPr>
          <a:lstStyle/>
          <a:p>
            <a:r>
              <a:rPr lang="en-US" dirty="0">
                <a:latin typeface="Times" panose="02020603050405020304" pitchFamily="18" charset="0"/>
                <a:cs typeface="Times" panose="02020603050405020304" pitchFamily="18" charset="0"/>
              </a:rPr>
              <a:t>Partition(A, p, r)</a:t>
            </a:r>
          </a:p>
          <a:p>
            <a:r>
              <a:rPr lang="en-US" dirty="0">
                <a:latin typeface="Times" panose="02020603050405020304" pitchFamily="18" charset="0"/>
                <a:cs typeface="Times" panose="02020603050405020304" pitchFamily="18" charset="0"/>
              </a:rPr>
              <a:t>x = A[r]        // pivot</a:t>
            </a:r>
          </a:p>
          <a:p>
            <a:r>
              <a:rPr lang="en-US" dirty="0" err="1">
                <a:latin typeface="Times" panose="02020603050405020304" pitchFamily="18" charset="0"/>
                <a:cs typeface="Times" panose="02020603050405020304" pitchFamily="18" charset="0"/>
              </a:rPr>
              <a:t>i</a:t>
            </a:r>
            <a:r>
              <a:rPr lang="en-US" dirty="0">
                <a:latin typeface="Times" panose="02020603050405020304" pitchFamily="18" charset="0"/>
                <a:cs typeface="Times" panose="02020603050405020304" pitchFamily="18" charset="0"/>
              </a:rPr>
              <a:t> = p - 1</a:t>
            </a:r>
          </a:p>
          <a:p>
            <a:endParaRPr lang="en-US" dirty="0">
              <a:latin typeface="Times" panose="02020603050405020304" pitchFamily="18" charset="0"/>
              <a:cs typeface="Times" panose="02020603050405020304" pitchFamily="18" charset="0"/>
            </a:endParaRPr>
          </a:p>
          <a:p>
            <a:r>
              <a:rPr lang="en-US" dirty="0">
                <a:latin typeface="Times" panose="02020603050405020304" pitchFamily="18" charset="0"/>
                <a:cs typeface="Times" panose="02020603050405020304" pitchFamily="18" charset="0"/>
              </a:rPr>
              <a:t>for j = p to r </a:t>
            </a:r>
            <a:r>
              <a:rPr lang="en-US" dirty="0" smtClean="0">
                <a:latin typeface="Times" panose="02020603050405020304" pitchFamily="18" charset="0"/>
                <a:cs typeface="Times" panose="02020603050405020304" pitchFamily="18" charset="0"/>
              </a:rPr>
              <a:t>– 1</a:t>
            </a:r>
          </a:p>
          <a:p>
            <a:r>
              <a:rPr lang="en-US" dirty="0">
                <a:latin typeface="Times" panose="02020603050405020304" pitchFamily="18" charset="0"/>
                <a:cs typeface="Times" panose="02020603050405020304" pitchFamily="18" charset="0"/>
              </a:rPr>
              <a:t>{</a:t>
            </a:r>
          </a:p>
          <a:p>
            <a:r>
              <a:rPr lang="en-US" dirty="0">
                <a:latin typeface="Times" panose="02020603050405020304" pitchFamily="18" charset="0"/>
                <a:cs typeface="Times" panose="02020603050405020304" pitchFamily="18" charset="0"/>
              </a:rPr>
              <a:t>    if A[j] ≤ </a:t>
            </a:r>
            <a:r>
              <a:rPr lang="en-US" dirty="0" smtClean="0">
                <a:latin typeface="Times" panose="02020603050405020304" pitchFamily="18" charset="0"/>
                <a:cs typeface="Times" panose="02020603050405020304" pitchFamily="18" charset="0"/>
              </a:rPr>
              <a:t>x</a:t>
            </a:r>
          </a:p>
          <a:p>
            <a:r>
              <a:rPr lang="en-US" dirty="0">
                <a:latin typeface="Times" panose="02020603050405020304" pitchFamily="18" charset="0"/>
                <a:cs typeface="Times" panose="02020603050405020304" pitchFamily="18" charset="0"/>
              </a:rPr>
              <a:t>{</a:t>
            </a:r>
          </a:p>
          <a:p>
            <a:r>
              <a:rPr lang="en-US" dirty="0">
                <a:latin typeface="Times" panose="02020603050405020304" pitchFamily="18" charset="0"/>
                <a:cs typeface="Times" panose="02020603050405020304" pitchFamily="18" charset="0"/>
              </a:rPr>
              <a:t>        </a:t>
            </a:r>
            <a:r>
              <a:rPr lang="en-US" dirty="0" err="1">
                <a:latin typeface="Times" panose="02020603050405020304" pitchFamily="18" charset="0"/>
                <a:cs typeface="Times" panose="02020603050405020304" pitchFamily="18" charset="0"/>
              </a:rPr>
              <a:t>i</a:t>
            </a:r>
            <a:r>
              <a:rPr lang="en-US" dirty="0">
                <a:latin typeface="Times" panose="02020603050405020304" pitchFamily="18" charset="0"/>
                <a:cs typeface="Times" panose="02020603050405020304" pitchFamily="18" charset="0"/>
              </a:rPr>
              <a:t> = </a:t>
            </a:r>
            <a:r>
              <a:rPr lang="en-US" dirty="0" err="1">
                <a:latin typeface="Times" panose="02020603050405020304" pitchFamily="18" charset="0"/>
                <a:cs typeface="Times" panose="02020603050405020304" pitchFamily="18" charset="0"/>
              </a:rPr>
              <a:t>i</a:t>
            </a:r>
            <a:r>
              <a:rPr lang="en-US" dirty="0">
                <a:latin typeface="Times" panose="02020603050405020304" pitchFamily="18" charset="0"/>
                <a:cs typeface="Times" panose="02020603050405020304" pitchFamily="18" charset="0"/>
              </a:rPr>
              <a:t> + 1</a:t>
            </a:r>
          </a:p>
          <a:p>
            <a:r>
              <a:rPr lang="en-US" dirty="0">
                <a:latin typeface="Times" panose="02020603050405020304" pitchFamily="18" charset="0"/>
                <a:cs typeface="Times" panose="02020603050405020304" pitchFamily="18" charset="0"/>
              </a:rPr>
              <a:t>        exchange A[</a:t>
            </a:r>
            <a:r>
              <a:rPr lang="en-US" dirty="0" err="1">
                <a:latin typeface="Times" panose="02020603050405020304" pitchFamily="18" charset="0"/>
                <a:cs typeface="Times" panose="02020603050405020304" pitchFamily="18" charset="0"/>
              </a:rPr>
              <a:t>i</a:t>
            </a:r>
            <a:r>
              <a:rPr lang="en-US" dirty="0">
                <a:latin typeface="Times" panose="02020603050405020304" pitchFamily="18" charset="0"/>
                <a:cs typeface="Times" panose="02020603050405020304" pitchFamily="18" charset="0"/>
              </a:rPr>
              <a:t>] &amp; A[j]</a:t>
            </a:r>
          </a:p>
          <a:p>
            <a:r>
              <a:rPr lang="en-US" dirty="0" smtClean="0">
                <a:latin typeface="Times" panose="02020603050405020304" pitchFamily="18" charset="0"/>
                <a:cs typeface="Times" panose="02020603050405020304" pitchFamily="18" charset="0"/>
              </a:rPr>
              <a:t>}</a:t>
            </a:r>
          </a:p>
          <a:p>
            <a:r>
              <a:rPr lang="en-US" dirty="0">
                <a:latin typeface="Times" panose="02020603050405020304" pitchFamily="18" charset="0"/>
                <a:cs typeface="Times" panose="02020603050405020304" pitchFamily="18" charset="0"/>
              </a:rPr>
              <a:t>}</a:t>
            </a:r>
          </a:p>
          <a:p>
            <a:r>
              <a:rPr lang="en-US" dirty="0">
                <a:latin typeface="Times" panose="02020603050405020304" pitchFamily="18" charset="0"/>
                <a:cs typeface="Times" panose="02020603050405020304" pitchFamily="18" charset="0"/>
              </a:rPr>
              <a:t>exchange A[i+1] &amp; A[r]</a:t>
            </a:r>
          </a:p>
          <a:p>
            <a:r>
              <a:rPr lang="en-US" dirty="0">
                <a:latin typeface="Times" panose="02020603050405020304" pitchFamily="18" charset="0"/>
                <a:cs typeface="Times" panose="02020603050405020304" pitchFamily="18" charset="0"/>
              </a:rPr>
              <a:t>return </a:t>
            </a:r>
            <a:r>
              <a:rPr lang="en-US" dirty="0" err="1">
                <a:latin typeface="Times" panose="02020603050405020304" pitchFamily="18" charset="0"/>
                <a:cs typeface="Times" panose="02020603050405020304" pitchFamily="18" charset="0"/>
              </a:rPr>
              <a:t>i</a:t>
            </a:r>
            <a:r>
              <a:rPr lang="en-US" dirty="0">
                <a:latin typeface="Times" panose="02020603050405020304" pitchFamily="18" charset="0"/>
                <a:cs typeface="Times" panose="02020603050405020304" pitchFamily="18" charset="0"/>
              </a:rPr>
              <a:t> + 1</a:t>
            </a:r>
          </a:p>
        </p:txBody>
      </p:sp>
    </p:spTree>
    <p:extLst>
      <p:ext uri="{BB962C8B-B14F-4D97-AF65-F5344CB8AC3E}">
        <p14:creationId xmlns:p14="http://schemas.microsoft.com/office/powerpoint/2010/main" val="379023109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524000" y="1"/>
            <a:ext cx="9144000" cy="646331"/>
          </a:xfrm>
          <a:prstGeom prst="rect">
            <a:avLst/>
          </a:prstGeom>
          <a:noFill/>
          <a:ln w="9525">
            <a:noFill/>
            <a:miter lim="800000"/>
            <a:headEnd/>
            <a:tailEnd/>
          </a:ln>
        </p:spPr>
        <p:txBody>
          <a:bodyPr>
            <a:spAutoFit/>
          </a:bodyPr>
          <a:lstStyle/>
          <a:p>
            <a:pPr algn="ctr">
              <a:spcBef>
                <a:spcPct val="20000"/>
              </a:spcBef>
            </a:pPr>
            <a:r>
              <a:rPr lang="en-US" sz="900" b="1"/>
              <a:t>Copyright </a:t>
            </a:r>
            <a:r>
              <a:rPr lang="en-US" sz="900" b="1">
                <a:cs typeface="Arial" pitchFamily="34" charset="0"/>
              </a:rPr>
              <a:t>© The McGraw-Hill Companies, Inc. Permission required for reproduction or display.</a:t>
            </a:r>
            <a:endParaRPr lang="en-US" sz="900" b="1"/>
          </a:p>
          <a:p>
            <a:pPr>
              <a:spcBef>
                <a:spcPct val="50000"/>
              </a:spcBef>
            </a:pPr>
            <a:endParaRPr lang="en-US">
              <a:latin typeface="Calibri" pitchFamily="34" charset="0"/>
            </a:endParaRPr>
          </a:p>
        </p:txBody>
      </p:sp>
      <p:pic>
        <p:nvPicPr>
          <p:cNvPr id="26627" name="Picture 6" descr="D:\McGraw-Hill Projects\Cormen\images\fig7-1.gif"/>
          <p:cNvPicPr>
            <a:picLocks noChangeAspect="1" noChangeArrowheads="1"/>
          </p:cNvPicPr>
          <p:nvPr/>
        </p:nvPicPr>
        <p:blipFill>
          <a:blip r:embed="rId2"/>
          <a:srcRect/>
          <a:stretch>
            <a:fillRect/>
          </a:stretch>
        </p:blipFill>
        <p:spPr bwMode="auto">
          <a:xfrm>
            <a:off x="3276600" y="304800"/>
            <a:ext cx="5570538" cy="6553200"/>
          </a:xfrm>
          <a:prstGeom prst="rect">
            <a:avLst/>
          </a:prstGeom>
          <a:noFill/>
          <a:ln w="9525">
            <a:noFill/>
            <a:miter lim="800000"/>
            <a:headEnd/>
            <a:tailEnd/>
          </a:ln>
        </p:spPr>
      </p:pic>
    </p:spTree>
    <p:extLst>
      <p:ext uri="{BB962C8B-B14F-4D97-AF65-F5344CB8AC3E}">
        <p14:creationId xmlns:p14="http://schemas.microsoft.com/office/powerpoint/2010/main" val="47817760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1524000" y="1"/>
            <a:ext cx="9144000" cy="646331"/>
          </a:xfrm>
          <a:prstGeom prst="rect">
            <a:avLst/>
          </a:prstGeom>
          <a:noFill/>
          <a:ln w="9525">
            <a:noFill/>
            <a:miter lim="800000"/>
            <a:headEnd/>
            <a:tailEnd/>
          </a:ln>
        </p:spPr>
        <p:txBody>
          <a:bodyPr>
            <a:spAutoFit/>
          </a:bodyPr>
          <a:lstStyle/>
          <a:p>
            <a:pPr algn="ctr">
              <a:spcBef>
                <a:spcPct val="20000"/>
              </a:spcBef>
            </a:pPr>
            <a:r>
              <a:rPr lang="en-US" sz="900" b="1"/>
              <a:t>Copyright </a:t>
            </a:r>
            <a:r>
              <a:rPr lang="en-US" sz="900" b="1">
                <a:cs typeface="Arial" pitchFamily="34" charset="0"/>
              </a:rPr>
              <a:t>© The McGraw-Hill Companies, Inc. Permission required for reproduction or display.</a:t>
            </a:r>
            <a:endParaRPr lang="en-US" sz="900" b="1"/>
          </a:p>
          <a:p>
            <a:pPr>
              <a:spcBef>
                <a:spcPct val="50000"/>
              </a:spcBef>
            </a:pPr>
            <a:endParaRPr lang="en-US">
              <a:latin typeface="Calibri" pitchFamily="34" charset="0"/>
            </a:endParaRPr>
          </a:p>
        </p:txBody>
      </p:sp>
      <p:pic>
        <p:nvPicPr>
          <p:cNvPr id="27651" name="Picture 6" descr="D:\McGraw-Hill Projects\Cormen\images\fig7-2.gif"/>
          <p:cNvPicPr>
            <a:picLocks noChangeAspect="1" noChangeArrowheads="1"/>
          </p:cNvPicPr>
          <p:nvPr/>
        </p:nvPicPr>
        <p:blipFill>
          <a:blip r:embed="rId2"/>
          <a:srcRect/>
          <a:stretch>
            <a:fillRect/>
          </a:stretch>
        </p:blipFill>
        <p:spPr bwMode="auto">
          <a:xfrm>
            <a:off x="1676400" y="2192338"/>
            <a:ext cx="8839200" cy="2684462"/>
          </a:xfrm>
          <a:prstGeom prst="rect">
            <a:avLst/>
          </a:prstGeom>
          <a:noFill/>
          <a:ln w="9525">
            <a:noFill/>
            <a:miter lim="800000"/>
            <a:headEnd/>
            <a:tailEnd/>
          </a:ln>
        </p:spPr>
      </p:pic>
    </p:spTree>
    <p:extLst>
      <p:ext uri="{BB962C8B-B14F-4D97-AF65-F5344CB8AC3E}">
        <p14:creationId xmlns:p14="http://schemas.microsoft.com/office/powerpoint/2010/main" val="40584800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1524000" y="1"/>
            <a:ext cx="9144000" cy="646331"/>
          </a:xfrm>
          <a:prstGeom prst="rect">
            <a:avLst/>
          </a:prstGeom>
          <a:noFill/>
          <a:ln w="9525">
            <a:noFill/>
            <a:miter lim="800000"/>
            <a:headEnd/>
            <a:tailEnd/>
          </a:ln>
        </p:spPr>
        <p:txBody>
          <a:bodyPr>
            <a:spAutoFit/>
          </a:bodyPr>
          <a:lstStyle/>
          <a:p>
            <a:pPr algn="ctr">
              <a:spcBef>
                <a:spcPct val="20000"/>
              </a:spcBef>
            </a:pPr>
            <a:r>
              <a:rPr lang="en-US" sz="900" b="1"/>
              <a:t>Copyright </a:t>
            </a:r>
            <a:r>
              <a:rPr lang="en-US" sz="900" b="1">
                <a:cs typeface="Arial" pitchFamily="34" charset="0"/>
              </a:rPr>
              <a:t>© The McGraw-Hill Companies, Inc. Permission required for reproduction or display.</a:t>
            </a:r>
            <a:endParaRPr lang="en-US" sz="900" b="1"/>
          </a:p>
          <a:p>
            <a:pPr>
              <a:spcBef>
                <a:spcPct val="50000"/>
              </a:spcBef>
            </a:pPr>
            <a:endParaRPr lang="en-US">
              <a:latin typeface="Calibri" pitchFamily="34" charset="0"/>
            </a:endParaRPr>
          </a:p>
        </p:txBody>
      </p:sp>
      <p:pic>
        <p:nvPicPr>
          <p:cNvPr id="28675" name="Picture 6" descr="D:\McGraw-Hill Projects\Cormen\images\fig7-3.gif"/>
          <p:cNvPicPr>
            <a:picLocks noChangeAspect="1" noChangeArrowheads="1"/>
          </p:cNvPicPr>
          <p:nvPr/>
        </p:nvPicPr>
        <p:blipFill>
          <a:blip r:embed="rId2"/>
          <a:srcRect/>
          <a:stretch>
            <a:fillRect/>
          </a:stretch>
        </p:blipFill>
        <p:spPr bwMode="auto">
          <a:xfrm>
            <a:off x="1676400" y="233364"/>
            <a:ext cx="8839200" cy="6618287"/>
          </a:xfrm>
          <a:prstGeom prst="rect">
            <a:avLst/>
          </a:prstGeom>
          <a:noFill/>
          <a:ln w="9525">
            <a:noFill/>
            <a:miter lim="800000"/>
            <a:headEnd/>
            <a:tailEnd/>
          </a:ln>
        </p:spPr>
      </p:pic>
    </p:spTree>
    <p:extLst>
      <p:ext uri="{BB962C8B-B14F-4D97-AF65-F5344CB8AC3E}">
        <p14:creationId xmlns:p14="http://schemas.microsoft.com/office/powerpoint/2010/main" val="77839396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6127" y="394856"/>
            <a:ext cx="7303199" cy="4524315"/>
          </a:xfrm>
          <a:prstGeom prst="rect">
            <a:avLst/>
          </a:prstGeom>
        </p:spPr>
        <p:txBody>
          <a:bodyPr wrap="square">
            <a:spAutoFit/>
          </a:bodyPr>
          <a:lstStyle/>
          <a:p>
            <a:endParaRPr lang="en-IN" dirty="0" smtClean="0"/>
          </a:p>
          <a:p>
            <a:r>
              <a:rPr lang="en-US" sz="3600" b="1" dirty="0" err="1" smtClean="0">
                <a:solidFill>
                  <a:srgbClr val="FF0000"/>
                </a:solidFill>
              </a:rPr>
              <a:t>Karatsuba</a:t>
            </a:r>
            <a:r>
              <a:rPr lang="en-US" sz="3600" b="1" dirty="0" smtClean="0">
                <a:solidFill>
                  <a:srgbClr val="FF0000"/>
                </a:solidFill>
              </a:rPr>
              <a:t> Algorithm</a:t>
            </a:r>
          </a:p>
          <a:p>
            <a:endParaRPr lang="en-US" b="1" dirty="0" smtClean="0"/>
          </a:p>
          <a:p>
            <a:endParaRPr lang="en-US" b="1" dirty="0"/>
          </a:p>
          <a:p>
            <a:pPr marL="285750" indent="-285750">
              <a:lnSpc>
                <a:spcPct val="200000"/>
              </a:lnSpc>
              <a:buFont typeface="Arial" panose="020B0604020202020204" pitchFamily="34" charset="0"/>
              <a:buChar char="•"/>
            </a:pPr>
            <a:r>
              <a:rPr lang="en-US" b="1" dirty="0"/>
              <a:t>Easy Way to Multiply Big </a:t>
            </a:r>
            <a:r>
              <a:rPr lang="en-US" b="1" dirty="0" smtClean="0"/>
              <a:t>Numbers</a:t>
            </a:r>
            <a:endParaRPr lang="en-US" b="1" dirty="0"/>
          </a:p>
          <a:p>
            <a:pPr marL="285750" indent="-285750">
              <a:lnSpc>
                <a:spcPct val="200000"/>
              </a:lnSpc>
              <a:buFont typeface="Arial" panose="020B0604020202020204" pitchFamily="34" charset="0"/>
              <a:buChar char="•"/>
            </a:pPr>
            <a:r>
              <a:rPr lang="en-US" dirty="0" err="1"/>
              <a:t>Karatsuba</a:t>
            </a:r>
            <a:r>
              <a:rPr lang="en-US" dirty="0"/>
              <a:t> is a fast multiplication method</a:t>
            </a:r>
            <a:r>
              <a:rPr lang="en-US" dirty="0" smtClean="0"/>
              <a:t>.</a:t>
            </a:r>
          </a:p>
          <a:p>
            <a:pPr marL="285750" indent="-285750">
              <a:lnSpc>
                <a:spcPct val="200000"/>
              </a:lnSpc>
              <a:buFont typeface="Arial" panose="020B0604020202020204" pitchFamily="34" charset="0"/>
              <a:buChar char="•"/>
            </a:pPr>
            <a:r>
              <a:rPr lang="en-US" dirty="0" smtClean="0"/>
              <a:t>It </a:t>
            </a:r>
            <a:r>
              <a:rPr lang="en-US" dirty="0"/>
              <a:t>is used to multiply big numbers</a:t>
            </a:r>
            <a:r>
              <a:rPr lang="en-US" dirty="0" smtClean="0"/>
              <a:t>.</a:t>
            </a:r>
          </a:p>
          <a:p>
            <a:pPr marL="285750" indent="-285750">
              <a:lnSpc>
                <a:spcPct val="200000"/>
              </a:lnSpc>
              <a:buFont typeface="Arial" panose="020B0604020202020204" pitchFamily="34" charset="0"/>
              <a:buChar char="•"/>
            </a:pPr>
            <a:r>
              <a:rPr lang="en-US" dirty="0" smtClean="0"/>
              <a:t>It </a:t>
            </a:r>
            <a:r>
              <a:rPr lang="en-US" dirty="0"/>
              <a:t>is faster than normal multiplication</a:t>
            </a:r>
            <a:r>
              <a:rPr lang="en-US" dirty="0" smtClean="0"/>
              <a:t>.</a:t>
            </a:r>
          </a:p>
          <a:p>
            <a:pPr marL="285750" indent="-285750">
              <a:lnSpc>
                <a:spcPct val="200000"/>
              </a:lnSpc>
              <a:buFont typeface="Arial" panose="020B0604020202020204" pitchFamily="34" charset="0"/>
              <a:buChar char="•"/>
            </a:pPr>
            <a:r>
              <a:rPr lang="en-US" dirty="0" err="1"/>
              <a:t>Karatsuba</a:t>
            </a:r>
            <a:r>
              <a:rPr lang="en-US" dirty="0"/>
              <a:t> algorithm was invented </a:t>
            </a:r>
            <a:r>
              <a:rPr lang="en-US" dirty="0" smtClean="0"/>
              <a:t>by Anatoly </a:t>
            </a:r>
            <a:r>
              <a:rPr lang="en-US" dirty="0" err="1" smtClean="0"/>
              <a:t>Karatsuba</a:t>
            </a:r>
            <a:r>
              <a:rPr lang="en-US" dirty="0" smtClean="0"/>
              <a:t> in </a:t>
            </a:r>
            <a:r>
              <a:rPr lang="en-US" dirty="0"/>
              <a:t>1960.</a:t>
            </a:r>
          </a:p>
          <a:p>
            <a:endParaRPr lang="en-IN" dirty="0"/>
          </a:p>
        </p:txBody>
      </p:sp>
    </p:spTree>
    <p:extLst>
      <p:ext uri="{BB962C8B-B14F-4D97-AF65-F5344CB8AC3E}">
        <p14:creationId xmlns:p14="http://schemas.microsoft.com/office/powerpoint/2010/main" val="25658409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4627" y="758536"/>
            <a:ext cx="8489373" cy="6047809"/>
          </a:xfrm>
          <a:prstGeom prst="rect">
            <a:avLst/>
          </a:prstGeom>
        </p:spPr>
        <p:txBody>
          <a:bodyPr wrap="square">
            <a:spAutoFit/>
          </a:bodyPr>
          <a:lstStyle/>
          <a:p>
            <a:r>
              <a:rPr lang="en-US" b="1" dirty="0"/>
              <a:t>Problem with Normal Method</a:t>
            </a:r>
          </a:p>
          <a:p>
            <a:pPr>
              <a:lnSpc>
                <a:spcPct val="150000"/>
              </a:lnSpc>
            </a:pPr>
            <a:r>
              <a:rPr lang="en-US" dirty="0"/>
              <a:t>Example:</a:t>
            </a:r>
          </a:p>
          <a:p>
            <a:pPr>
              <a:lnSpc>
                <a:spcPct val="150000"/>
              </a:lnSpc>
            </a:pPr>
            <a:r>
              <a:rPr lang="en-US" dirty="0"/>
              <a:t>1234 × 5678</a:t>
            </a:r>
          </a:p>
          <a:p>
            <a:pPr>
              <a:lnSpc>
                <a:spcPct val="150000"/>
              </a:lnSpc>
            </a:pPr>
            <a:r>
              <a:rPr lang="en-US" dirty="0"/>
              <a:t>Normal method needs </a:t>
            </a:r>
            <a:r>
              <a:rPr lang="en-US" b="1" dirty="0"/>
              <a:t>4 multiplications</a:t>
            </a:r>
            <a:r>
              <a:rPr lang="en-US" dirty="0"/>
              <a:t> when we split numbers.</a:t>
            </a:r>
          </a:p>
          <a:p>
            <a:pPr>
              <a:lnSpc>
                <a:spcPct val="150000"/>
              </a:lnSpc>
            </a:pPr>
            <a:r>
              <a:rPr lang="en-US" dirty="0"/>
              <a:t>More digits = More calculations = More </a:t>
            </a:r>
            <a:r>
              <a:rPr lang="en-US" dirty="0" smtClean="0"/>
              <a:t>time</a:t>
            </a:r>
          </a:p>
          <a:p>
            <a:pPr>
              <a:lnSpc>
                <a:spcPct val="150000"/>
              </a:lnSpc>
            </a:pPr>
            <a:endParaRPr lang="en-US" dirty="0"/>
          </a:p>
          <a:p>
            <a:pPr>
              <a:lnSpc>
                <a:spcPct val="150000"/>
              </a:lnSpc>
            </a:pPr>
            <a:r>
              <a:rPr lang="en-US" dirty="0" err="1"/>
              <a:t>Karatsuba</a:t>
            </a:r>
            <a:r>
              <a:rPr lang="en-US" dirty="0"/>
              <a:t> reduces:</a:t>
            </a:r>
          </a:p>
          <a:p>
            <a:pPr>
              <a:lnSpc>
                <a:spcPct val="150000"/>
              </a:lnSpc>
            </a:pPr>
            <a:r>
              <a:rPr lang="en-US" dirty="0" smtClean="0"/>
              <a:t> </a:t>
            </a:r>
            <a:r>
              <a:rPr lang="en-US" dirty="0"/>
              <a:t>4 multiplications</a:t>
            </a:r>
            <a:br>
              <a:rPr lang="en-US" dirty="0"/>
            </a:br>
            <a:r>
              <a:rPr lang="en-US" dirty="0" smtClean="0"/>
              <a:t> </a:t>
            </a:r>
            <a:r>
              <a:rPr lang="en-US" dirty="0"/>
              <a:t>3 </a:t>
            </a:r>
            <a:r>
              <a:rPr lang="en-US" dirty="0" smtClean="0"/>
              <a:t>multiplications</a:t>
            </a:r>
          </a:p>
          <a:p>
            <a:pPr>
              <a:lnSpc>
                <a:spcPct val="150000"/>
              </a:lnSpc>
            </a:pPr>
            <a:endParaRPr lang="en-US" dirty="0"/>
          </a:p>
          <a:p>
            <a:pPr>
              <a:lnSpc>
                <a:spcPct val="150000"/>
              </a:lnSpc>
            </a:pPr>
            <a:r>
              <a:rPr lang="en-US" dirty="0"/>
              <a:t>It uses </a:t>
            </a:r>
            <a:r>
              <a:rPr lang="en-US" b="1" dirty="0"/>
              <a:t>Divide and Conquer</a:t>
            </a:r>
            <a:r>
              <a:rPr lang="en-US" dirty="0"/>
              <a:t> method.</a:t>
            </a:r>
          </a:p>
          <a:p>
            <a:pPr>
              <a:lnSpc>
                <a:spcPct val="150000"/>
              </a:lnSpc>
            </a:pPr>
            <a:r>
              <a:rPr lang="en-US" dirty="0"/>
              <a:t>Step 1: Split numbers into two parts</a:t>
            </a:r>
            <a:br>
              <a:rPr lang="en-US" dirty="0"/>
            </a:br>
            <a:r>
              <a:rPr lang="en-US" dirty="0"/>
              <a:t>Step 2: Multiply smartly</a:t>
            </a:r>
            <a:br>
              <a:rPr lang="en-US" dirty="0"/>
            </a:br>
            <a:r>
              <a:rPr lang="en-US" dirty="0"/>
              <a:t>Step 3: Combine the result</a:t>
            </a:r>
          </a:p>
          <a:p>
            <a:endParaRPr lang="en-US" dirty="0"/>
          </a:p>
        </p:txBody>
      </p:sp>
    </p:spTree>
    <p:extLst>
      <p:ext uri="{BB962C8B-B14F-4D97-AF65-F5344CB8AC3E}">
        <p14:creationId xmlns:p14="http://schemas.microsoft.com/office/powerpoint/2010/main" val="30266236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2445" y="561109"/>
            <a:ext cx="8281555" cy="4524315"/>
          </a:xfrm>
          <a:prstGeom prst="rect">
            <a:avLst/>
          </a:prstGeom>
        </p:spPr>
        <p:txBody>
          <a:bodyPr wrap="square">
            <a:spAutoFit/>
          </a:bodyPr>
          <a:lstStyle/>
          <a:p>
            <a:r>
              <a:rPr lang="en-IN" dirty="0"/>
              <a:t>Multiply</a:t>
            </a:r>
            <a:r>
              <a:rPr lang="en-IN" dirty="0" smtClean="0"/>
              <a:t>:</a:t>
            </a:r>
          </a:p>
          <a:p>
            <a:r>
              <a:rPr lang="en-IN" dirty="0"/>
              <a:t/>
            </a:r>
            <a:br>
              <a:rPr lang="en-IN" dirty="0"/>
            </a:br>
            <a:r>
              <a:rPr lang="en-IN" dirty="0"/>
              <a:t>1234 × </a:t>
            </a:r>
            <a:r>
              <a:rPr lang="en-IN" dirty="0" smtClean="0"/>
              <a:t>5678</a:t>
            </a:r>
          </a:p>
          <a:p>
            <a:endParaRPr lang="en-IN" dirty="0"/>
          </a:p>
          <a:p>
            <a:r>
              <a:rPr lang="en-IN" dirty="0"/>
              <a:t>Split numbers:</a:t>
            </a:r>
          </a:p>
          <a:p>
            <a:r>
              <a:rPr lang="en-IN" dirty="0"/>
              <a:t>1234 → 12 and 34</a:t>
            </a:r>
            <a:br>
              <a:rPr lang="en-IN" dirty="0"/>
            </a:br>
            <a:r>
              <a:rPr lang="en-IN" dirty="0"/>
              <a:t>5678 → 56 and </a:t>
            </a:r>
            <a:r>
              <a:rPr lang="en-IN" dirty="0" smtClean="0"/>
              <a:t>78</a:t>
            </a:r>
          </a:p>
          <a:p>
            <a:endParaRPr lang="en-IN" dirty="0"/>
          </a:p>
          <a:p>
            <a:r>
              <a:rPr lang="en-IN" dirty="0"/>
              <a:t>Now calculate:</a:t>
            </a:r>
          </a:p>
          <a:p>
            <a:r>
              <a:rPr lang="en-IN" dirty="0"/>
              <a:t>z₀ = 34 × 78</a:t>
            </a:r>
            <a:br>
              <a:rPr lang="en-IN" dirty="0"/>
            </a:br>
            <a:r>
              <a:rPr lang="en-IN" dirty="0"/>
              <a:t>z₂ = 12 × 56</a:t>
            </a:r>
            <a:br>
              <a:rPr lang="en-IN" dirty="0"/>
            </a:br>
            <a:r>
              <a:rPr lang="en-IN" dirty="0"/>
              <a:t>z₁ = (12+34) × (56+78</a:t>
            </a:r>
            <a:r>
              <a:rPr lang="en-IN" dirty="0" smtClean="0"/>
              <a:t>)</a:t>
            </a:r>
          </a:p>
          <a:p>
            <a:endParaRPr lang="en-IN" dirty="0"/>
          </a:p>
          <a:p>
            <a:r>
              <a:rPr lang="en-IN" dirty="0"/>
              <a:t>Final formula:</a:t>
            </a:r>
          </a:p>
          <a:p>
            <a:r>
              <a:rPr lang="en-IN" dirty="0"/>
              <a:t>Answer = z₂ × 10² + (z₁ − z₂ − z₀) × 10 + z₀</a:t>
            </a:r>
          </a:p>
          <a:p>
            <a:r>
              <a:rPr lang="en-IN" dirty="0"/>
              <a:t>Final Answer = 7006652 ✅</a:t>
            </a:r>
          </a:p>
        </p:txBody>
      </p:sp>
    </p:spTree>
    <p:extLst>
      <p:ext uri="{BB962C8B-B14F-4D97-AF65-F5344CB8AC3E}">
        <p14:creationId xmlns:p14="http://schemas.microsoft.com/office/powerpoint/2010/main" val="2728728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6973" y="550718"/>
            <a:ext cx="6961909" cy="5355312"/>
          </a:xfrm>
          <a:prstGeom prst="rect">
            <a:avLst/>
          </a:prstGeom>
        </p:spPr>
        <p:txBody>
          <a:bodyPr wrap="square">
            <a:spAutoFit/>
          </a:bodyPr>
          <a:lstStyle/>
          <a:p>
            <a:r>
              <a:rPr lang="en-US" b="1" dirty="0" smtClean="0"/>
              <a:t>Advantage </a:t>
            </a:r>
          </a:p>
          <a:p>
            <a:endParaRPr lang="en-US" b="1" dirty="0" smtClean="0"/>
          </a:p>
          <a:p>
            <a:pPr>
              <a:lnSpc>
                <a:spcPct val="150000"/>
              </a:lnSpc>
            </a:pPr>
            <a:r>
              <a:rPr lang="en-US" b="1" dirty="0" smtClean="0"/>
              <a:t>Normal </a:t>
            </a:r>
            <a:r>
              <a:rPr lang="en-US" b="1" dirty="0"/>
              <a:t>Method → O(n²)</a:t>
            </a:r>
            <a:br>
              <a:rPr lang="en-US" b="1" dirty="0"/>
            </a:br>
            <a:r>
              <a:rPr lang="en-US" b="1" dirty="0" err="1"/>
              <a:t>Karatsuba</a:t>
            </a:r>
            <a:r>
              <a:rPr lang="en-US" b="1" dirty="0"/>
              <a:t> → O(n¹·</a:t>
            </a:r>
            <a:r>
              <a:rPr lang="en-US" b="1"/>
              <a:t>⁵⁸⁵</a:t>
            </a:r>
            <a:r>
              <a:rPr lang="en-US" b="1" smtClean="0"/>
              <a:t>)</a:t>
            </a:r>
          </a:p>
          <a:p>
            <a:pPr>
              <a:lnSpc>
                <a:spcPct val="150000"/>
              </a:lnSpc>
            </a:pPr>
            <a:endParaRPr lang="en-US" b="1" dirty="0"/>
          </a:p>
          <a:p>
            <a:pPr marL="285750" indent="-285750">
              <a:lnSpc>
                <a:spcPct val="150000"/>
              </a:lnSpc>
              <a:buFont typeface="Arial" panose="020B0604020202020204" pitchFamily="34" charset="0"/>
              <a:buChar char="•"/>
            </a:pPr>
            <a:r>
              <a:rPr lang="en-US" dirty="0"/>
              <a:t>Less </a:t>
            </a:r>
            <a:r>
              <a:rPr lang="en-US" dirty="0" smtClean="0"/>
              <a:t>multiplications</a:t>
            </a:r>
          </a:p>
          <a:p>
            <a:pPr marL="285750" indent="-285750">
              <a:lnSpc>
                <a:spcPct val="150000"/>
              </a:lnSpc>
              <a:buFont typeface="Arial" panose="020B0604020202020204" pitchFamily="34" charset="0"/>
              <a:buChar char="•"/>
            </a:pPr>
            <a:r>
              <a:rPr lang="en-US" dirty="0" smtClean="0"/>
              <a:t>More speed</a:t>
            </a:r>
          </a:p>
          <a:p>
            <a:pPr marL="285750" indent="-285750">
              <a:lnSpc>
                <a:spcPct val="150000"/>
              </a:lnSpc>
              <a:buFont typeface="Arial" panose="020B0604020202020204" pitchFamily="34" charset="0"/>
              <a:buChar char="•"/>
            </a:pPr>
            <a:r>
              <a:rPr lang="en-US" dirty="0" smtClean="0"/>
              <a:t>Better </a:t>
            </a:r>
            <a:r>
              <a:rPr lang="en-US" dirty="0"/>
              <a:t>for large </a:t>
            </a:r>
            <a:r>
              <a:rPr lang="en-US" dirty="0" smtClean="0"/>
              <a:t>numbers </a:t>
            </a:r>
          </a:p>
          <a:p>
            <a:pPr>
              <a:lnSpc>
                <a:spcPct val="150000"/>
              </a:lnSpc>
            </a:pPr>
            <a:endParaRPr lang="en-US" dirty="0" smtClean="0"/>
          </a:p>
          <a:p>
            <a:r>
              <a:rPr lang="en-US" b="1" dirty="0" smtClean="0"/>
              <a:t>Application</a:t>
            </a:r>
          </a:p>
          <a:p>
            <a:endParaRPr lang="en-US" b="1" dirty="0" smtClean="0"/>
          </a:p>
          <a:p>
            <a:pPr marL="285750" indent="-285750">
              <a:lnSpc>
                <a:spcPct val="150000"/>
              </a:lnSpc>
              <a:buFont typeface="Arial" panose="020B0604020202020204" pitchFamily="34" charset="0"/>
              <a:buChar char="•"/>
            </a:pPr>
            <a:r>
              <a:rPr lang="en-US" dirty="0" smtClean="0"/>
              <a:t>Cryptography</a:t>
            </a:r>
          </a:p>
          <a:p>
            <a:pPr marL="285750" indent="-285750">
              <a:lnSpc>
                <a:spcPct val="150000"/>
              </a:lnSpc>
              <a:buFont typeface="Arial" panose="020B0604020202020204" pitchFamily="34" charset="0"/>
              <a:buChar char="•"/>
            </a:pPr>
            <a:r>
              <a:rPr lang="en-US" dirty="0" smtClean="0"/>
              <a:t>Large </a:t>
            </a:r>
            <a:r>
              <a:rPr lang="en-US" dirty="0"/>
              <a:t>number </a:t>
            </a:r>
            <a:r>
              <a:rPr lang="en-US" dirty="0" smtClean="0"/>
              <a:t>calculations</a:t>
            </a:r>
          </a:p>
          <a:p>
            <a:pPr marL="285750" indent="-285750">
              <a:lnSpc>
                <a:spcPct val="150000"/>
              </a:lnSpc>
              <a:buFont typeface="Arial" panose="020B0604020202020204" pitchFamily="34" charset="0"/>
              <a:buChar char="•"/>
            </a:pPr>
            <a:r>
              <a:rPr lang="en-US" dirty="0" smtClean="0"/>
              <a:t>Computer </a:t>
            </a:r>
            <a:r>
              <a:rPr lang="en-US" dirty="0"/>
              <a:t>algorithms</a:t>
            </a:r>
          </a:p>
        </p:txBody>
      </p:sp>
    </p:spTree>
    <p:extLst>
      <p:ext uri="{BB962C8B-B14F-4D97-AF65-F5344CB8AC3E}">
        <p14:creationId xmlns:p14="http://schemas.microsoft.com/office/powerpoint/2010/main" val="42604233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4550" y="290456"/>
            <a:ext cx="10316583" cy="6110344"/>
          </a:xfrm>
          <a:prstGeom prst="rect">
            <a:avLst/>
          </a:prstGeom>
        </p:spPr>
      </p:pic>
    </p:spTree>
    <p:extLst>
      <p:ext uri="{BB962C8B-B14F-4D97-AF65-F5344CB8AC3E}">
        <p14:creationId xmlns:p14="http://schemas.microsoft.com/office/powerpoint/2010/main" val="22825815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6974" y="515040"/>
            <a:ext cx="9253313" cy="5993336"/>
          </a:xfrm>
          <a:prstGeom prst="rect">
            <a:avLst/>
          </a:prstGeom>
        </p:spPr>
      </p:pic>
    </p:spTree>
    <p:extLst>
      <p:ext uri="{BB962C8B-B14F-4D97-AF65-F5344CB8AC3E}">
        <p14:creationId xmlns:p14="http://schemas.microsoft.com/office/powerpoint/2010/main" val="690878869"/>
      </p:ext>
    </p:extLst>
  </p:cSld>
  <p:clrMapOvr>
    <a:masterClrMapping/>
  </p:clrMapOvr>
</p:sld>
</file>

<file path=ppt/theme/theme1.xml><?xml version="1.0" encoding="utf-8"?>
<a:theme xmlns:a="http://schemas.openxmlformats.org/drawingml/2006/main" name="Office Theme">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9548</TotalTime>
  <Words>3364</Words>
  <Application>Microsoft Office PowerPoint</Application>
  <PresentationFormat>Widescreen</PresentationFormat>
  <Paragraphs>655</Paragraphs>
  <Slides>107</Slides>
  <Notes>27</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107</vt:i4>
      </vt:variant>
    </vt:vector>
  </HeadingPairs>
  <TitlesOfParts>
    <vt:vector size="121" baseType="lpstr">
      <vt:lpstr>宋体</vt:lpstr>
      <vt:lpstr>Arial</vt:lpstr>
      <vt:lpstr>Calibri</vt:lpstr>
      <vt:lpstr>Calibri Light</vt:lpstr>
      <vt:lpstr>Comic Sans MS</vt:lpstr>
      <vt:lpstr>SimHei</vt:lpstr>
      <vt:lpstr>Symbol</vt:lpstr>
      <vt:lpstr>Tahoma</vt:lpstr>
      <vt:lpstr>Times</vt:lpstr>
      <vt:lpstr>Times New Roman</vt:lpstr>
      <vt:lpstr>Wingdings</vt:lpstr>
      <vt:lpstr>Office Theme</vt:lpstr>
      <vt:lpstr>Equation</vt:lpstr>
      <vt:lpstr>משוואה</vt:lpstr>
      <vt:lpstr>PowerPoint Presentation</vt:lpstr>
      <vt:lpstr>PowerPoint Presentation</vt:lpstr>
      <vt:lpstr>PowerPoint Presentation</vt:lpstr>
      <vt:lpstr>Text Books: </vt:lpstr>
      <vt:lpstr>Reference Books: </vt:lpstr>
      <vt:lpstr>PowerPoint Presentation</vt:lpstr>
      <vt:lpstr>PowerPoint Presentation</vt:lpstr>
      <vt:lpstr>PowerPoint Presentation</vt:lpstr>
      <vt:lpstr>PowerPoint Presentation</vt:lpstr>
      <vt:lpstr>PowerPoint Presentation</vt:lpstr>
      <vt:lpstr>Algorithm</vt:lpstr>
      <vt:lpstr>Concept of Algorithm</vt:lpstr>
      <vt:lpstr>Definitions of Algorithm</vt:lpstr>
      <vt:lpstr>PowerPoint Presentation</vt:lpstr>
      <vt:lpstr>Basic Issues Related to Algorithms</vt:lpstr>
      <vt:lpstr>Analysis of Algorithms</vt:lpstr>
      <vt:lpstr>What is an algorithm? (Properties)</vt:lpstr>
      <vt:lpstr>Algorithm Designing Methods / Design Techniques</vt:lpstr>
      <vt:lpstr>PowerPoint Presentation</vt:lpstr>
      <vt:lpstr>PowerPoint Presentation</vt:lpstr>
      <vt:lpstr>PowerPoint Presentation</vt:lpstr>
      <vt:lpstr>PowerPoint Presentation</vt:lpstr>
      <vt:lpstr>PowerPoint Presentation</vt:lpstr>
      <vt:lpstr>Introduction to Analysis of Algorithm</vt:lpstr>
      <vt:lpstr> Algorithm Analysis</vt:lpstr>
      <vt:lpstr>Space Complexity</vt:lpstr>
      <vt:lpstr>Time Complexity</vt:lpstr>
      <vt:lpstr>Basic Matrix Multiplication</vt:lpstr>
      <vt:lpstr>Divide and Conquer Matrix Multiply</vt:lpstr>
      <vt:lpstr>Strassens’s Matrix Multiplication</vt:lpstr>
      <vt:lpstr>Strassen’s matrix multiplication</vt:lpstr>
      <vt:lpstr>PowerPoint Presentation</vt:lpstr>
      <vt:lpstr>Strassen’s matrix multiplication</vt:lpstr>
      <vt:lpstr>Strassens’s Matrix Multiplication</vt:lpstr>
      <vt:lpstr>PowerPoint Presentation</vt:lpstr>
      <vt:lpstr>PowerPoint Presentation</vt:lpstr>
      <vt:lpstr>PowerPoint Presentation</vt:lpstr>
      <vt:lpstr>Asymptotic Notation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Insertion Sort</vt:lpstr>
      <vt:lpstr>PowerPoint Presentation</vt:lpstr>
      <vt:lpstr>PowerPoint Presentation</vt:lpstr>
      <vt:lpstr>PowerPoint Presentation</vt:lpstr>
      <vt:lpstr>PowerPoint Presentation</vt:lpstr>
      <vt:lpstr> Recurrences    A recurrence is just a way of describing a problem using smaller versions of the same problem. Instead of writing a direct formula, we say:  “To solve a big input, first solve smaller inputs — then combine their results.”  So the time (or work) needed for size n depends on the time needed for smaller sizes.    </vt:lpstr>
      <vt:lpstr>PowerPoint Presentation</vt:lpstr>
      <vt:lpstr>PowerPoint Presentation</vt:lpstr>
      <vt:lpstr>PowerPoint Presentation</vt:lpstr>
      <vt:lpstr>PowerPoint Presentation</vt:lpstr>
      <vt:lpstr>Substitution method </vt:lpstr>
      <vt:lpstr>Master’s method</vt:lpstr>
      <vt:lpstr>Master Theorem </vt:lpstr>
      <vt:lpstr>Master’s method</vt:lpstr>
      <vt:lpstr>Examples</vt:lpstr>
      <vt:lpstr>Master Theorem Example Case -II</vt:lpstr>
      <vt:lpstr>Master Theorem Example Case -III</vt:lpstr>
      <vt:lpstr>PowerPoint Presentation</vt:lpstr>
      <vt:lpstr>Examples</vt:lpstr>
      <vt:lpstr>PowerPoint Presentation</vt:lpstr>
      <vt:lpstr>PowerPoint Presentation</vt:lpstr>
      <vt:lpstr>PowerPoint Presentation</vt:lpstr>
      <vt:lpstr>PowerPoint Presentation</vt:lpstr>
      <vt:lpstr>PowerPoint Presentation</vt:lpstr>
      <vt:lpstr>The recursion-tree method</vt:lpstr>
      <vt:lpstr>PowerPoint Presentation</vt:lpstr>
      <vt:lpstr>PowerPoint Presentation</vt:lpstr>
      <vt:lpstr>PowerPoint Presentation</vt:lpstr>
      <vt:lpstr>Divide-and-Conquer</vt:lpstr>
      <vt:lpstr>Divide-and-conquer Technique</vt:lpstr>
      <vt:lpstr>Divide &amp; Conquer Algorithm</vt:lpstr>
      <vt:lpstr>PowerPoint Presentation</vt:lpstr>
      <vt:lpstr>Merge-Sort</vt:lpstr>
      <vt:lpstr>PowerPoint Presentation</vt:lpstr>
      <vt:lpstr>Merge-Sort</vt:lpstr>
      <vt:lpstr>Merge Sort</vt:lpstr>
      <vt:lpstr>Merge Sort</vt:lpstr>
      <vt:lpstr>Merge-Sort</vt:lpstr>
      <vt:lpstr>PowerPoint Presentation</vt:lpstr>
      <vt:lpstr>Quick-Sort</vt:lpstr>
      <vt:lpstr>Idea of Quick Sort</vt:lpstr>
      <vt:lpstr>Quick-Sort Tree</vt:lpstr>
      <vt:lpstr>In-Place Quick-Sort</vt:lpstr>
      <vt:lpstr>In Place Quick Sort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AOA</dc:title>
  <dc:creator>RCPIT</dc:creator>
  <cp:lastModifiedBy>RCPIT</cp:lastModifiedBy>
  <cp:revision>262</cp:revision>
  <dcterms:created xsi:type="dcterms:W3CDTF">2022-03-09T08:14:56Z</dcterms:created>
  <dcterms:modified xsi:type="dcterms:W3CDTF">2026-02-23T04:19:11Z</dcterms:modified>
</cp:coreProperties>
</file>