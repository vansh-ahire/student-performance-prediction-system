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7" r:id="rId3"/>
    <p:sldId id="318" r:id="rId4"/>
    <p:sldId id="306" r:id="rId5"/>
    <p:sldId id="307" r:id="rId6"/>
    <p:sldId id="308" r:id="rId7"/>
    <p:sldId id="309" r:id="rId8"/>
    <p:sldId id="310" r:id="rId9"/>
    <p:sldId id="311" r:id="rId10"/>
    <p:sldId id="312" r:id="rId11"/>
    <p:sldId id="313" r:id="rId12"/>
    <p:sldId id="314" r:id="rId13"/>
    <p:sldId id="315" r:id="rId14"/>
    <p:sldId id="316" r:id="rId15"/>
    <p:sldId id="324" r:id="rId16"/>
    <p:sldId id="325" r:id="rId17"/>
    <p:sldId id="326" r:id="rId18"/>
    <p:sldId id="327" r:id="rId19"/>
    <p:sldId id="328" r:id="rId20"/>
    <p:sldId id="329" r:id="rId21"/>
    <p:sldId id="319" r:id="rId22"/>
    <p:sldId id="321" r:id="rId23"/>
    <p:sldId id="322" r:id="rId24"/>
    <p:sldId id="320" r:id="rId25"/>
    <p:sldId id="323" r:id="rId26"/>
    <p:sldId id="259" r:id="rId27"/>
    <p:sldId id="260" r:id="rId28"/>
    <p:sldId id="330" r:id="rId29"/>
    <p:sldId id="336" r:id="rId30"/>
    <p:sldId id="337" r:id="rId31"/>
    <p:sldId id="338" r:id="rId32"/>
    <p:sldId id="331" r:id="rId33"/>
    <p:sldId id="332" r:id="rId34"/>
    <p:sldId id="333" r:id="rId35"/>
    <p:sldId id="334"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 id="357" r:id="rId54"/>
    <p:sldId id="358" r:id="rId55"/>
    <p:sldId id="359" r:id="rId56"/>
    <p:sldId id="360" r:id="rId57"/>
    <p:sldId id="361" r:id="rId58"/>
    <p:sldId id="363" r:id="rId59"/>
    <p:sldId id="366" r:id="rId60"/>
    <p:sldId id="367" r:id="rId61"/>
    <p:sldId id="368" r:id="rId62"/>
    <p:sldId id="369" r:id="rId63"/>
    <p:sldId id="370" r:id="rId64"/>
    <p:sldId id="371" r:id="rId65"/>
    <p:sldId id="372" r:id="rId66"/>
    <p:sldId id="365"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85" r:id="rId80"/>
    <p:sldId id="386" r:id="rId81"/>
    <p:sldId id="387" r:id="rId82"/>
    <p:sldId id="388" r:id="rId83"/>
    <p:sldId id="389" r:id="rId84"/>
    <p:sldId id="390" r:id="rId85"/>
    <p:sldId id="391" r:id="rId86"/>
    <p:sldId id="392" r:id="rId87"/>
    <p:sldId id="393" r:id="rId88"/>
    <p:sldId id="394" r:id="rId89"/>
    <p:sldId id="395" r:id="rId90"/>
    <p:sldId id="396" r:id="rId91"/>
    <p:sldId id="397" r:id="rId92"/>
    <p:sldId id="398" r:id="rId93"/>
    <p:sldId id="399" r:id="rId94"/>
    <p:sldId id="400" r:id="rId95"/>
    <p:sldId id="401" r:id="rId96"/>
    <p:sldId id="402" r:id="rId97"/>
    <p:sldId id="403" r:id="rId98"/>
    <p:sldId id="404" r:id="rId99"/>
    <p:sldId id="406" r:id="rId100"/>
    <p:sldId id="407" r:id="rId101"/>
    <p:sldId id="405" r:id="rId102"/>
    <p:sldId id="364" r:id="rId103"/>
    <p:sldId id="408" r:id="rId104"/>
    <p:sldId id="409" r:id="rId105"/>
    <p:sldId id="410"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9" d="100"/>
          <a:sy n="89" d="100"/>
        </p:scale>
        <p:origin x="61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3-03-28T07:32:16.328"/>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5232 9812,'0'0,"-6"3,6-3,-15 13,-4 13,-16 17,-2 12,2 12,0 7,9 2,9-2,10-3,15-9,7-12,9-14,6-13,7-13,3-15,3-13,-3-9,2-8,-5-8,-2-5,-3-4,-1-8,-4-1,-6-2,-6 3,-8 2,-10 7,-4 5,-10 7,-5 6,-3 12,-7 7,-8 12,-5 14,-3 11,-4 15,-3 11</inkml:trace>
  <inkml:trace contextRef="#ctx0" brushRef="#br1" timeOffset="3475.052">5368 9750,'0'0,"-7"-3,-5 2,-9 4,-7 9,-8 13,-5 11,-3 13,-1 9,2 5,4 2,8 3,10-5,9-1,8-2,12-4,7-5,7-12,8-6,2-14,3-11,6-12,1-10,3-10,-1-13,-2-6,1-9,-7-7,-4-5,-9 2,-7-4,-6 3,-9 1,-6-3,-8 10,-5 10,-5 6,-3 10,-2 8,-5 8,-3 7,0 12,-6 11,-3 12,0 11,-2 15,2 9,3 6,6 4,13 2,7-8</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3-03-28T07:57:04.461"/>
    </inkml:context>
    <inkml:brush xml:id="br0">
      <inkml:brushProperty name="width" value="0.05292" units="cm"/>
      <inkml:brushProperty name="height" value="0.05292" units="cm"/>
      <inkml:brushProperty name="color" value="#FF0000"/>
    </inkml:brush>
  </inkml:definitions>
  <inkml:trace contextRef="#ctx0" brushRef="#br0">2266 16268,'0'0,"0"0,0-3,-6-1,-17 8,-13 6,-12 11,-14 14,-2 10,-2 10,-2 11,6 5,12 4,13 0,12-5,14 1,18-12,10-10,14-11,9-9,3-11,4-8,5-12,0-6,-4-6,-8-3,-8-3,-10-1,-12 1,-10-1,-16 1,-10 4,-12 5,-5 6,-12 5,-1 7,-4 7,5 0,55-14,-48 13</inkml:trace>
  <inkml:trace contextRef="#ctx0" brushRef="#br0" timeOffset="281.181">2548 15684,'0'0,"0"0,0 4,-2 11,1 12,-2 12,3 10,3 6,1 1,4 1,2-1,-2 2,-2-6,-6-52,-1 42</inkml:trace>
  <inkml:trace contextRef="#ctx0" brushRef="#br0" timeOffset="812.3">2340 16042,'0'0,"4"-2,15-5,11-6,19-2,5-3,7 0,-2-3,-3 0,-9-1,-3 0,-9-3,-6 3,-13-3,-3 0,-13 1,-2 0,2 24,-11-18,1 4,-9 12,2 12,4 9,1 17,8 10,4 8,4 9,5 2,1-3,0-2,-1-3,1-7,-10-50,6 43,-6-43,5 30,-5-30,6 17,-3-13,0-19,4-17,-1-8,0-2,5 0,4 10,2 11,8 9,2 13,4 10,3 8,3 11,3 7,-5 7,-1 3,0 5,-3 0,-2 1</inkml:trace>
  <inkml:trace contextRef="#ctx0" brushRef="#br0" timeOffset="1280.949">3713 16954,'0'0,"23"1,23 3,19 2,32-2,14-3,-2 3,5-7,-4 0,-15-3,-6-2,-14-4,-15-2,-19-3,-15-4,-20-6,-16-5,-19-5,-8 1,-6 3,3 6,40 27,-35-22,9 7,23 6,21 7,22 10,13 6,14 9,4 8,0 7,-9 3,-10 5,-14-5,-17 2,-18-1,-13 3,-22 3,-11 2,-11-1,-11 2,-6-4</inkml:trace>
  <inkml:trace contextRef="#ctx0" brushRef="#br0" timeOffset="3540.567">6188 16518,'0'0,"-9"4,-14 1,-14 11,-14 5,-6 11,-3 8,2 5,11 5,7 9,12-2,10 1,17-5,15-8,15-5,14-9,11-6,4-6,7-10,2-10,1-5,-6-8,-4-6,-5-8,-12-4,-12-9,-13-6,-16-4,-6-4,-17 0,-11 0,-3 5,-11 7,-10 4,-1 8,-3 5,9 9,4 6,8 7,6 9,9 10,7 11,9 10,11 4</inkml:trace>
  <inkml:trace contextRef="#ctx0" brushRef="#br0" timeOffset="3935.2879">8294 16458,'0'0,"-2"13,-2 15,-1 22,-4 13,-1 11,6 6,1 0,1-6,5-5,3-8,1-7,0-6,4-4,6-13</inkml:trace>
  <inkml:trace contextRef="#ctx0" brushRef="#br0" timeOffset="4638.327">10387 16742,'0'0,"0"-6,2-8,5-7,7-8,4 5,3-2,5 6,2 8,2 6,4 8,2 14,-1 6,-6 6,-10 8,-9 2,-8-2,-13-1,-10-5,-10-4,-1-5,-1-5,33-16,-33 9,33-9,-27 7,9-2,14 2,15 5,15 4,9 6,9 8,3 6,-2 9,-3 3,-12-1,-8-2,-11-3,-10-8,-8-2,-13-5,-10-6,-12-7,-18-9,-11-11,-12-15,-11-5</inkml:trace>
  <inkml:trace contextRef="#ctx0" brushRef="#br0" timeOffset="6321.593">12706 16668,'0'0,"-9"0,-8 1,-9 6,-10 5,36-12,-39 16,8 8,15 11,9 1,16 3,17 4,8 2,10 3,6 1,-6 2,1-3,-5-1,-11-9,-11-4,-9-3,-12-3,-10-6,-8-4,-10-6,-15-8,-6-6,-3-8,1-11</inkml:trace>
  <inkml:trace contextRef="#ctx0" brushRef="#br0" timeOffset="6493.422">12645 16736,'0'0,"14"-1,22 0,22 3,13-3,15 6,8-1</inkml:trace>
  <inkml:trace contextRef="#ctx0" brushRef="#br0" timeOffset="6930.825">14181 16888,'0'0,"-10"10,-9 10,-6 10,-6 10,3 8,8-1,13 2,16-3,15-6,12-1,9-5,8-8,8-7,3-8,2-5,-2-7,-1-7,-8-7,-4-6,-13-7,-7-5,-8-7,-12-3,-11-3,-10 0,-12 2,-12 3,-12 2,-10 8,-8 4,-4 9,2 8,7 11,2 10,5 8,10 4</inkml:trace>
  <inkml:trace contextRef="#ctx0" brushRef="#br0" timeOffset="8452.247">16559 16797,'0'0,"0"0,-4 7,-10 14,-5 10,-5 6,-5 6,1 5,4-1,3-1,9-5,6-2,8-6,6-6,10-5,5-6,10-6,8-5,3-4,5-5,-3-1,1-8,-1-6,-6-5,-4-1,-36 25,29-26,-29 26,22-24,-22 24,13-18,-13 18,8-13,-8 9,-7 13,-4 12,-1 10,1 7,4 11,2 2,4-1,4-1,3-3,4-8,1-5,9-11,9-13</inkml:trace>
  <inkml:trace contextRef="#ctx0" brushRef="#br0" timeOffset="8904.778">17615 16949,'0'0,"3"-8,11-6,0-7,12-2,12 5,4 8,4 13,1 10,-2 13,-11 7,-8 5,-9 3,-10 1,-12-6,-8-1,-7-9,-1-5,21-21,-26 12,26-12,-24 11,24-11,-17 9,12 1,22 5,13 6,10 4,11 6,3 10,-5 8,-3 1,-10 5,-15-4,-10-3,-12-8,-16-5,-17-2,-16-8,-22-9,-23-11,-25-11</inkml:trace>
  <inkml:trace contextRef="#ctx0" brushRef="#br0" timeOffset="90414.935">19041 17290,'0'0,"-14"3,-10 7,-9 10,-26 4,-8 9,-7 6,-8 5,-2 0,-2 9,-7 6,-4 3,1 5,-3 2,-1 3,0 3,4 2,6-4,8 1,11-5,9-3,12-13,11-2,15-8,24-43,-17 35</inkml:trace>
  <inkml:trace contextRef="#ctx0" brushRef="#br0" timeOffset="90946.203">19390 17479,'0'0,"-7"0,7 0,-18 9,-10 4,-20 6,-7 8,-11 6,-9 1,-5 6,-5 4,-6 3,-1 5,-2 3,-1 4,0 3,2 3,1 1,5 3,2-5,8 0,7-3,5-3,3-3,8 0,4-5,4-4,8-3,7-7,31-36,-29 26,29-26,-23 22,23-22,-18 14</inkml:trace>
  <inkml:trace contextRef="#ctx0" brushRef="#br0" timeOffset="97227.579">19058 17367,'0'0,"0"0,0 0,1 0,-1 0,3-4,-3 4,7-4,-7 4,9-5,-9 5,9-3,-9 3,10-2,-10 2,12 3,-12-3,12 5,-12-5,11 6,-11-6,13 9,-13-9,9 5,-9-5,6 6,-6-6,1 8,-2 0,1-8,-6 11,0-4,6-7,-10 16,0-2,-2 1,12-15,-12 16,12-16,-15 18,-4-1,-4 5,2 0,-1 0,-1-3,3-4,-1 2,1 0,-1 2,0-5,1 2,2 4,-3-5,21-15,-19 18,1 3,-4 0,3-3,-4 3,23-21,-21 21,-3-3,-3 5,4-4,-1 1,1-1,-1-1,3 5,-1-1,-1-1,1-3,0 3,0-3,-1 2,1-1,1 1,-2 3,0 1,1-2,-2 0,4 1,-1-3,2 0,19-20,-22 18,4-2,18-16,-22 18,3-1,19-17,-20 21,20-21,-16 14,16-14,-15 11,15-11,-11 6,11-6,-8 4,8-4,-6 0,6 0,-4 0,4 0,-3 0,3 0,-1 0,1 0,-1 0,1 0,0 0,0 0,0 0,0 0,0 1,0-1,0 0,0 0,1 0,-1 0,1-1,-1 1,0 0,0 0,0 0,0 0,1-1,-1 1,3-1,-3 1,1 0,-1 0,2 1,-2-1,1 1,-1-1,2 2,-2-2,0 2,0-2,1 2,-1-2,1 2,-1-2,0 1,0-1,1 1,-1-1,0 0,0 0,0 0,0 0,0 0,0 0,0 0,0 0,0 0,0 0,0 0,0 0,-1 0,1 0,-4 1,4-1,-4 0,4 0,-5 0,5 0,-4 0,4 0,-6 0,6 0,-4-2,4 2,-4-3,4 3,-3-1,3 1,-2-1,2 1,0-2,0 2,0 0,0 0,0 0,0 0,-1-1,1 1,-1 0,1 0,0 0,0 0,1 0,-1 0,4-1,-4 1,8-3,2-6</inkml:trace>
  <inkml:trace contextRef="#ctx0" brushRef="#br0" timeOffset="104140.48">25503 5011,'0'0,"0"0,3 6,3 17,4 4,5 12,2 5,4 6,0 6,1 3,-3 10,-2-4,-10-4,-1-5,-6-56,-3 43,3-43,-3 25,-5-17,-8-20,-2-15,-5-10,-1-13,6-9,2-9,0-8,3-3,8-6,8 0,4 6,8 11,5 17,6 7,4 15,0 7,6 8,0 5,-3 6,-33 3,30 3,-6 10,-5 10,-13 10,-10 6,-13 7,-9 7,-5 2,-5 8</inkml:trace>
  <inkml:trace contextRef="#ctx0" brushRef="#br0" timeOffset="104734.12">25924 4978,'0'0,"-12"18,-7 12,0 13,4 2,9-9,9-7,6-10,2-17,4-9,-4-13,-1-8,0-6,-3-8,-3-4,2-1,-6 47,2-39,-2 39,3-28,5 15,6 17,2 12,3 5,1 3,3 0,5-3,-4-4,4-6,0-9,0-8,-1-8,-2-13,-4-10,-2-8,0-10,-8-9,-2-8,-1-5,-4-5,-3 3,1 10,2 15,-4 54,-3-44,3 44,-3-27,1 11,2 18,5 13,-6 15,5 11,6 10,5 6,5 6,4 3,5 9,-3 1</inkml:trace>
  <inkml:trace contextRef="#ctx0" brushRef="#br0" timeOffset="105218.698">26262 4634,'0'0,"8"-13,15-7,12-14,20-3,4-9,-2 0,-9-3,-11 2,-18 6,-19 41,11-35,-11 35,2-24,-2 24,-1-15,-1 12,3 20,6 15,0 15,5 2,0 7,1 2,1 0,-1-6,-1 0,3-11,-15-41,12 33,-12-33,9 22,-3-11,-3-17,-6-15,0-13,0-9,1-6,2 49,1-42,-1 42,4-33,5 16,7 17,2 12,1 14,2 5,1 7,-2 1,0 8,-1-1</inkml:trace>
  <inkml:trace contextRef="#ctx0" brushRef="#br0" timeOffset="105966.315">27503 4753,'0'0,"0"0,1 6,3 14,3 6,2 7,0 9,0-1,2 6,-3 0,1 1,1-5,-10-43,6 43,1-7,-7-36,3 37,-2-6,-1 2,1-6,-1-27,0 26,0-26,3 21,7-6</inkml:trace>
  <inkml:trace contextRef="#ctx0" brushRef="#br0" timeOffset="106278.697">28021 5123,'0'0,"11"-5,11-3,11-2,18 0,7 0,7 4,-1 2,-8 0,1 1,-10 0,-7-2,-6 3,-34 2,30-3,-30 3,25 0,1 0,-26 0,27 1,-3-2</inkml:trace>
  <inkml:trace contextRef="#ctx0" brushRef="#br0" timeOffset="106890.831">29076 4429,'0'0,"2"6,-1 9,-3 12,-5 13,-2 9,-8 7,5 3,-4-1,7-5,1-4,3-9,5-40,-3 32,5-6,-2-26,10 20,6-8,10-12,8-7,0-4,-1-4,-1-6,-2 1,-2-4,-28 24,23-28,-3-1,-10-2,-10 31,3-28,-3 28,-4-25,4 25,-8-19,8 19,-12-14,2 11,1 16,-3 14,4 5,2 10,3 0,4 3,-2 1,4 4,1-7,3-1,3-6,3-6,5-5,0-7,6-9</inkml:trace>
  <inkml:trace contextRef="#ctx0" brushRef="#br0" timeOffset="107125.153">29626 4818,'0'0,"0"0,3 0,8 0,14-2,12 2,9 0,6 1,-3 1,3 2,0 1,0-2,4-4,1-1</inkml:trace>
  <inkml:trace contextRef="#ctx0" brushRef="#br0" timeOffset="107665.592">30687 4614,'0'0,"-2"-5,1-7,-1-3,3-5,2-6,2 0,-5 26,9-23,8 5,9 6,7 9,2 9,1 8,-2 6,-1 7,-7 1,-9 3,-4-1,-13 3,-13-1,-4-7,17-25,-23 24,23-24,-24 18,24-18,-16 13,10-4,16-2,12-6,9 0,7 0,0-1,1 6,-2 7,-6 3,-31-16,28 22,-6 3,-9 4,-7-2,-5 1,-8-2,-5-1,-8-1,-5 0,-5 2,-10-1,-6-2,-4-1,-1-5,51-17</inkml:trace>
  <inkml:trace contextRef="#ctx0" brushRef="#br0" timeOffset="107899.908">31544 5019,'0'0,"12"-1,8 0,20 2,13 1,10 5,10 2,3 3,4-6</inkml:trace>
  <inkml:trace contextRef="#ctx0" brushRef="#br0" timeOffset="108352.919">32478 4841,'0'0,"7"-5,5-7,8-2,10-1,2 2,8 2,-3 8,4 3,-4 5,0 4,-8 5,-4 8,-7 4,-8 8,-7 5,-9 6,-13 3,-8-2,-10 0,-2-2,-7-6,7-5,1-7,38-26,-32 24,11-7,21-17,-1 12,15-3,24-2,12-3,5-3,9 2,-5 1,0-2,-7 1,-8-1,-44-2,42 1,-5-7,-11-9</inkml:trace>
  <inkml:trace contextRef="#ctx0" brushRef="#br0" timeOffset="108524.752">33189 5203,'0'0,"6"0,11 1,12 2,16 1,4-3,-49-1</inkml:trace>
  <inkml:trace contextRef="#ctx0" brushRef="#br0" timeOffset="109622.535">27573 6539,'0'0,"0"0,0 0,0 0,2 1,1 11,7 6,-1 9,5 11,-1 4,9 6,-6 5,2 6,-9 0,2 1,-3-3,-3-7,1-4,-2-3,-2-9,-1-5,-1-29,1 29,-1-29,2 26,-2-26,1 20,1-12,0-19</inkml:trace>
  <inkml:trace contextRef="#ctx0" brushRef="#br0" timeOffset="109950.634">28278 6987,'0'0,"11"-1,11-4,9-4,15-2,8-2,0 2,4 1,-6 3,-6 0,-46 7,39-7,-39 7,32-4,-32 4,22-3,-22 3,14-2,-14 2,6-1,-6 1,1 2</inkml:trace>
  <inkml:trace contextRef="#ctx0" brushRef="#br0" timeOffset="110382.053">29121 6480,'0'0,"0"0,-4 3,-4 2,0 7,-1 3,2 5,5 2,9 3,4-1,8-4,5-3,2 1,4-5,0 1,-2 1,-1 0,-27-15,29 17,-1 2,-28-19,27 24,-6 1,-5 0,-8 0,-7-1,-7-2,-5 0,-4-3,-5 2,-4-3,-3 1,-3-1,-3-4,0-5,33-9</inkml:trace>
  <inkml:trace contextRef="#ctx0" brushRef="#br0" timeOffset="110600.82">29158 6508,'0'0,"0"0,7-5,17-9,11-5,25 1,7 2,6 4,-2 5,-1 7,-3 1,-9 2</inkml:trace>
  <inkml:trace contextRef="#ctx0" brushRef="#br0" timeOffset="110850.707">29851 6900,'0'0,"12"1,13-3,18-1,16 0,13 2,10 1,5 0,-5-2,0-2,-10-10</inkml:trace>
  <inkml:trace contextRef="#ctx0" brushRef="#br0" timeOffset="111225.621">30730 6442,'0'0,"10"-1,17-5,11 3,12 2,8 4,-5-1,-6 7,-9 1,-12 6,-4 2,-5 6,-3 1,-3 8,-5 9,0 5,-3 9,-6 4,0 3,1 9,-2 2,-3 0,0 2,-4-2,2-1,-2-8,5-6,0-9,-1-7,7-43,-6 33,3-13,-5-23,-2-14</inkml:trace>
  <inkml:trace contextRef="#ctx0" brushRef="#br0" timeOffset="111431.761">30776 7132,'0'0,"9"-10,12-5,22-3,20-1,11 1,15 3,9 6,1 6,-1 0,-3 1,-5-2,-12-2,-11-8</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3-03-29T08:41:38.168"/>
    </inkml:context>
    <inkml:brush xml:id="br0">
      <inkml:brushProperty name="width" value="0.05292" units="cm"/>
      <inkml:brushProperty name="height" value="0.05292" units="cm"/>
      <inkml:brushProperty name="color" value="#FF0000"/>
    </inkml:brush>
  </inkml:definitions>
  <inkml:trace contextRef="#ctx0" brushRef="#br0">1071 16077,'0'0,"3"6,-3-6,6 15,3 10,-1 11,1 4,0 5,-6 4,0 0,1 0,-3-3,-1 1,3-7,-3-40,1 35,4-4,-5-31,4 29,-4-29,8 21,3-10,-1-15,6-10,0-9</inkml:trace>
  <inkml:trace contextRef="#ctx0" brushRef="#br0" timeOffset="247.414">1359 16367,'0'0,"6"-3,14-6,5-1,6-1,9 0,-1 0,5 2,3 1,0-1,-3 3,-2 1,-5 1,-37 4,35-2,-35 2,29-1,-29 1,23-1,-7-1,-16 2,11-7</inkml:trace>
  <inkml:trace contextRef="#ctx0" brushRef="#br0" timeOffset="987.477">2282 15925,'0'0,"9"5,-1 7,-2 8,-3 12,-5 7,-8 8,-7 7,0 3,-2 2,0-3,3-4,6-6,6-6,5-4,9-6,5-2,5-5,6-1,7-7,6 0,5-6,3-9,0-2,5-6,-2-7,-3-2,-3-3,-3-1,-5-5,-8 0,-2 2,-6-3,-7-1,-6 3,-4 0,-3 25,-3-22,3 22,-4-20,4 20,-9-16,-1 5,3 11,1 8,6 7,1 6,1 8,1 2,3 2,2 3,-1 0,1 0,3-1,-4-2,1-2,0-4,-8-27,9 27,0-2,-9-25,4 27,-4-27,7 22,-7-22,5 18,-5-18,4 13,-4-13,0 7,0-7,0 4,0-4,0 1,0-1,0 0,0 0,1 0,-2-5,1 5,-6-14,6 14</inkml:trace>
  <inkml:trace contextRef="#ctx0" brushRef="#br0" timeOffset="1736.504">3464 16541,'0'0,"0"0,0 0,-5 0,5 0,-7 2,7-2,-10 2,10-2,-6 1,2 0,12 2,7-2,11-2,6 1,4-2,8-1,7 2,7 0,4 3,4-1,-4 4,-2-1,-6 2,-2-2,-52-4,45 5,-45-5,38 6,-38-6,27 5,-27-5,19 3,-19-3,10 2,-10-2,0 1,-4-5</inkml:trace>
  <inkml:trace contextRef="#ctx0" brushRef="#br0" timeOffset="2407.366">4716 16382,'0'0,"2"-7,2-12,4-6,1-5,6-4,5-2,3 10,6 2,3 4,7 6,6 8,5 6,1 7,0 12,-4 5,-6 6,-8 5,-7 3,-7 0,-13 1,-6-5,-12-1,-4-2,-8-6,-2-4,-5-5,4-4,-5-4,3-1,1-3,28-4,-26 1,26-1,-23-4,23 4,-13-3,15-1,17 3,12 6,10 7,5 5,2 6,1 6,2 3,-6 3,-5-1,-5 0,-9-4,-9-3,-7-2,-8-2,-8-3,-6-2,-8-4,-3 0,-8-1,-3-3,-1-4,-2-1,2-3,35-2,-32-2,8-2,6-7,11-3,15-7,17 1</inkml:trace>
  <inkml:trace contextRef="#ctx0" brushRef="#br0" timeOffset="2739.437">5985 16781,'0'0,"0"0,0-2,7-3,6-1,13 0,9 2,9 2,8 5,11-1,2 4,3 3,5 2,-6 0,-1 2,-10-1,-7-1,-49-11,38 7,-10-3,-5-1,-23-3,22 1</inkml:trace>
  <inkml:trace contextRef="#ctx0" brushRef="#br0" timeOffset="3341.349">7264 16704,'0'0,"4"-7,0-10,0-3,3-8,1-2,3 2,6-2,1 2,9 3,4 3,4 6,11 8,2 4,3 4,6 12,1 2,-1 9,-1 4,-7 5,-10 3,-12 1,-8 2,-14 3,-12 1,-10 0,-7-3,-4-3,1-7,-3-3,-1-4,1-2,30-20,-31 15,5 2,26-17,-22 16,22-16,-14 14,9-1,19 0,11-1,11-1,8 2,8-2,5-2,5 1,0 0,0 0,-2-1,-3 0,-7-2,-50-7,43 5,-8-2,-35-3,28-1,-6-6,-4-7,-18 14</inkml:trace>
  <inkml:trace contextRef="#ctx0" brushRef="#br0" timeOffset="3657.654">8763 16967,'0'0,"9"1,8-1,12 0,10 1,4 3,2 2,0 1,-2 1,-7-1,1-2,-37-5,29 5,-29-5,25 2,-25-2,23 2,-23-2,17-1</inkml:trace>
  <inkml:trace contextRef="#ctx0" brushRef="#br0" timeOffset="4096.596">9525 16720,'0'0,"13"1,9 0,7-1,17 6,6 0,-2 1,-1-1,-4 2,-8-4,-37-4,34 4,-34-4,24 2,-8-4,-16-6</inkml:trace>
  <inkml:trace contextRef="#ctx0" brushRef="#br0" timeOffset="4544.594">9665 16684,'0'0,"0"0,-5 1,-7 5,-6 4,-4 5,-2 3,1 2,2 2,4 0,0 0,3 3,14-25,-11 23,-1-2,12-21,-5 23,5-4,0-19,7 17,7-3,9 1,7-4,1 1,0 0,2 2,0 1,1 4,0 2,-3 6,-6-1,-7 4,-2-1,-9 1,-4 1,-2-4,-8 1,-5-2,-4-1,-7-3,-2-2,-6-6,1-3,-3-5,3-4,-1-6,1-3,5-6,8-6</inkml:trace>
  <inkml:trace contextRef="#ctx0" brushRef="#br0" timeOffset="4845.476">10210 17124,'0'0,"8"0,11-3,11 4,15 1,8 4,10 0,3 6,6-2,4 2,-3-2,-5-9,-3-2,-8-7,-12-6</inkml:trace>
  <inkml:trace contextRef="#ctx0" brushRef="#br0" timeOffset="5215.419">11008 16863,'0'0,"-3"-8,3 8,2-14,3-2,6-1,10 0,10 10,5 4,9 5,2 4,-1 6,-2 3,-44-15,41 15,-7 5,-7 6,-9 2,-6 3,-11 0,-6 3,-10 6,-4 4,-11 5,1 0,-1 4,3-3,1 1,1 0,9-3,-1-6,8-2,1-3,8-37,-9 34,3-1,6-33,-6 30,3-9,1-13,2-8</inkml:trace>
  <inkml:trace contextRef="#ctx0" brushRef="#br0" timeOffset="5478.432">10940 17306,'0'0,"9"0,10 0,16 2,19 5,10 0,7 12,3 2,1 2,-1-1,-5 3,-9-3,-8-2,-11-7,-41-13,32 13,-32-13,23 9,-14-12</inkml:trace>
  <inkml:trace contextRef="#ctx0" brushRef="#br0" timeOffset="7203.863">1540 15664,'0'0,"0"0,-3 5,3 7,1 3,7 2,6-2,5 0,3-2,6-1,0 0,1-1,-7 2,-4 1,-7 4,-7-2,-11 1,-8 4,-8-3,-9 0,-4-2,0-2,-3-1,1-2,5-6</inkml:trace>
  <inkml:trace contextRef="#ctx0" brushRef="#br0" timeOffset="7388.754">1557 15604,'0'0,"9"0,7-4,13-2,11 1,1 0,8 6,-3 3,9 0</inkml:trace>
  <inkml:trace contextRef="#ctx0" brushRef="#br0" timeOffset="7736.653">3270 15865,'0'0,"0"0,6-1,11 1,9 1,11-1,6 0,6 0,5 0,3-2,0 2,-3-1</inkml:trace>
  <inkml:trace contextRef="#ctx0" brushRef="#br0" timeOffset="8091.058">3873 15822,'0'0,"0"0,0 0,1-6,-1 6,2-11,-2 11,1-14,6-1,11 0,1 4,5 5,1 10,-4 6,-21-10,15 16,-6 4,-9 9,-6 0,-10 1,-4 0,-5-3,25-27,-24 22,24-22,-18 19,18-19,-13 17,13-6,19-3,13-4,14-4,6-7,6 2,6-1,2-1,2 0</inkml:trace>
  <inkml:trace contextRef="#ctx0" brushRef="#br0" timeOffset="8454.503">5924 16054,'0'0,"14"-4,11 0,7 3,13 0,8 4,2 2,-1 2,0-1</inkml:trace>
  <inkml:trace contextRef="#ctx0" brushRef="#br0" timeOffset="8887.001">6416 15947,'0'0,"0"0,6-1,9-3,10 0,7 3,4 2,-2 7,0 5,-10 3,-4 3,-9 1,-8 1,-9 0,-11 4,-7-1,-8-2,2-3,2-2,28-17,-30 15,30-15,-26 13,26-13,-18 10,6 2,16 2,7-1,14-2,9 1,9-2,5 2,-2-2,-4 1,-42-11,39 11,-39-11,28 10,-8-1,-14-5,-12 0</inkml:trace>
  <inkml:trace contextRef="#ctx0" brushRef="#br0" timeOffset="10196.734">8449 16264,'0'0,"16"2,11 0,13 5,12 2,0 1,-4 1,-5-6,-43-5,40 2</inkml:trace>
  <inkml:trace contextRef="#ctx0" brushRef="#br0" timeOffset="10379.787">8937 16159,'0'0,"0"0,0 6,0 8,0 12,0 11,-2 9,0 8,-3 2,-2 4,-6 0,4-4</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3-03-29T08:42:02.96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
  </inkml:definitions>
  <inkml:trace contextRef="#ctx0" brushRef="#br0">10427 16456,'0'0,"0"0,-3-6,3 6,-5-17,4-3,2-3,4-1,10 5,6 6,7 8,5 5,2 4,0 5,-35-9,32 14,-7 3,-7 4,-18-21,8 21,-10 0,-12 2,-1-2,-3 0,6 1,6 0,3 3,7 3,5-3,5 5,-3-2,-3 0,-2-1,-6 0,-11-6,-11 4,-17-5,-19 2,-13 0,-14 3</inkml:trace>
  <inkml:trace contextRef="#ctx0" brushRef="#br0" timeOffset="6144.899">27736 19049,'0'0,"0"0,0 0,1 0,-1 0,1 0,-1 0,1 0,-1 0,0 0,0 0,0 0,0 0,-3 0,3 0,-4 0,4 0,-5 0,-1 0</inkml:trace>
  <inkml:trace contextRef="#ctx0" brushRef="#br1" timeOffset="-30674.405">19488 13428,'0'0,"-15"-5,-7-2,-12 3,-21 6,-10 11,-7 8,2 11,7 7,7 4,14-1,14 7,13-1,11-1,7-5,13-9,2-10,10-9,4-10,5-11,5-7,2-10,6-8,7-6,1-7,0 0,3-4,0 1,-5 6,2 13,-2 13,-7 9,-6 12,-4 9,-7 5,-6 9,-9 0,-9 5,-10 1,-4 2,-7-2,-8-1,-5-7,-5-7,-7-5,-6-8,-4-11,1-7,1-4,4-4,5-3,5-10,13 2,12-10,14 8,17 2</inkml:trace>
  <inkml:trace contextRef="#ctx0" brushRef="#br1" timeOffset="-30105.794">21371 13528,'0'0,"-5"-6,-10-5,-8 2,-21 4,-11 7,-3 14,5 8,7 8,9 5,11 2,11 1,8-1,13-1,10-7,4-7,4-10,0-7,5-9,4-10,-1-7,5-8,0-7,0-5,0-7,6 0,2 3,6 10,7 10,6 14,-1 11,-2 11,-9 6,-10 5,-12 2,-6 4,-15 0,-5 1,-8 0,-9 0,-7-5,-11-9,-6-6,-5-4,-5-12,-3-5,0-4,1-7,2-2,0-8,-2-1,1-3</inkml:trace>
  <inkml:trace contextRef="#ctx0" brushRef="#br1" timeOffset="-29249.785">19525 13269,'0'0,"-28"11,-20 14,-21 21,-11 14,-6 8,14 7,10 7,23 3,14-6,22-4,15-14,21-9,7-19,19-9,15-18,10-13,9-14,3-9,-3-11,-4-6,-9-8,-13-6,-11-5,-12-7,-12-4,-13-1,-16 8,-12 3,-19 13,-10 10,-16 14,-11 10,-15 15,-7 8,-4 14,0 9,8 7,8 13,8 10,10 7,16 5,8 8,16 1,17-10,14-9,13-10,16-10,10-12,12-11,11-6,3-13,-1-11,-1-7,-6-11,-5-6,-9-4,-12-6,-10-2,-19-3,-16-3,-13-4,-14 4,-17 5,-10 10,-9 7,-8 17,-8 12,-2 12,-5 13,-2 14,0 8,3 14,9 12,9 6,18 8,17 4</inkml:trace>
  <inkml:trace contextRef="#ctx0" brushRef="#br1" timeOffset="-28531.849">23131 13348,'0'0,"-22"9,-18 13,-14 13,0 11,1 5,16 4,19 2,19-4,10-7,15-7,7-11,1-11,4-9,0-8,-2-10,6-10,1-9,2-8,0-9,-2-4,-1-1,1 5,1 8,3 14,-1 16,3 14,-7 12,-5 13,-12 0,-7 4,-15 3,-10 0,-9-2,-10 0,-8-7,-5-8,-2-9,-8-7,1-12,-2-7,-2-9,5-2,7-8,7-5,15-3,13-9,15-1,21 4,17 11,17 12,15 15</inkml:trace>
  <inkml:trace contextRef="#ctx0" brushRef="#br1" timeOffset="-27998.92">25605 13527,'0'0,"-13"0,-19 6,-18 7,-25 12,-6 11,7 6,10 7,17 0,25-7,12-6,14-9,12-9,6-8,1-8,5-11,8-8,7-10,2-7,6-6,5-1,-1 0,0 5,2 12,-1 11,-1 15,-10 17,-8 10,-7 7,-10 4,-10 1,-4-1,-14-4,-8-5,-6-8,-3-6,-5-10,-2-9,-6-16,-6-8,-2-8,5-7,4-1,11-3,14 0,19-1,21 6,23 5,23 14</inkml:trace>
  <inkml:trace contextRef="#ctx0" brushRef="#br1" timeOffset="-27448.037">27832 13452,'0'0,"-12"0,-16 6,-16 6,-24 8,-4 13,6 9,12 11,16 3,21-1,17-11,13-7,11-10,3-12,8-6,-4-12,3-10,3-7,-2-12,4-6,-4-6,-1-7,4-2,5 1,2 7,-2 14,5 13,0 16,0 18,-2 15,-3 10,-7 12,-9 4,-10-7,-10-2,-13-5,-9-11,-8-11,-6-7,-3-11,-2-12,-3-7,-3-10,-3-8,8-3,3-5,13-4,9-3,21 1,18 11,17 11,16 10,18 9</inkml:trace>
  <inkml:trace contextRef="#ctx0" brushRef="#br1" timeOffset="-26881.899">30169 13508,'0'0,"-22"1,-24 8,-17 13,-16 14,-3 15,19 15,16 0,22-4,25-8,17-13,10-12,7-9,2-9,7-12,0-6,9-7,0-6,4-6,1-9,1-5,0-3,3 0,-3 11,-2 13,0 16,-7 15,-1 14,-7 7,-6 6,-10 1,-12-1,-11 0,-7-5,-11-2,-13-6,-10-6,-7-6,-7-9,-1-8,1-13,4-8,6-7,14-6,10-6,20-7,18-5,23 0,23 2,22 8,16 12</inkml:trace>
  <inkml:trace contextRef="#ctx0" brushRef="#br1" timeOffset="-26336.894">32443 13451,'0'0,"-7"-7,-14 0,-16 3,-22 7,-11 11,-2 19,-1 15,7 13,12 6,18 2,21-10,19-13,12-15,6-15,2-12,7-9,-1-10,2-7,5-6,3-6,0-6,6-6,5-2,7-1,4 11,2 18,-3 17,-3 15,-2 15,-8 14,-7 9,-7 7,-9 2,-11-1,-13-7,-10-9,-10-10,-8-12,-7-14,-3-9,-2-12,0-14,3-11,-2-16,3-5,3-8,7-2,13 0,12 3,15 9,10 18,-25 41</inkml:trace>
  <inkml:trace contextRef="#ctx0" brushRef="#br1" timeOffset="-23926.832">1943 5367,'0'0,"-11"18,-8 21,-7 20,-6 22,3 11,15-2,9-9,17-12,17-18,12-21,8-16,7-19,5-14,-2-16,-5-16,-2-8,-6-3,-14-4,-16 1,-9 7,-19-1,-15 3,-15 4,-10 4,-9 10,-3 12,-4 19,-1 15,1 17,7 13,2 13,10 5,10 3</inkml:trace>
  <inkml:trace contextRef="#ctx0" brushRef="#br1" timeOffset="-22739.686">6541 1078,'0'0,"-8"14,-10 18,4 15,8 8,15-3,18-4,10-14,4-10,-2-9,-3-10,-6-11,0-8,-4-10,0-3,1-11,-1-2,2-3,8-7,6 0,6 4,11 4,3 9,-2 8,-3 11,-9 8,-48 6,40 2,-10 5,-14 9,-14 5,-16 3,-21 3,-15 1,-11-1,-8-4,2-4,6-8,5-11,14-6,10-11,10-3,11-5,8-5,13-4</inkml:trace>
  <inkml:trace contextRef="#ctx0" brushRef="#br1" timeOffset="-21451.381">14140 571,'0'0,"0"0,-7-5,-14 0,-11 6,-7 6,-4 2,0 8,3 3,11 6,8 3,9 2,15 2,13 5,20-5,11-6,13 0,6-10,-2-8,-5-4,-7-10,-6-3,-4-7,-4-5,-1 4,-3-4,-2-3,-2 2,3-1,4 0,-1 2,2 7,-2 2,-2 5,-1 3,-2 6,-1 2,-1 5,-3 5,-26-15,24 18,-7 4,-4 5,-10-4,-11-3,-10-4,-15-5,-9-5,-8-1,-7-4,2 0,1-7,1-2,4-3,7 3,5-9,37 17,-27-20,27 20,-21-18,9-2</inkml:trace>
  <inkml:trace contextRef="#ctx0" brushRef="#br1" timeOffset="-20225.267">20460 6647,'0'0,"-8"-6,-17-3,-20 4,-24 5,-9 12,-10 16,2 12,9 9,17 5,13 6,17-3,22-6,11-8,8-10,10-12,12-10,8-7,9-14,10-5,3-9,10-11,3-4,5-7,5-7,6 2,-3 4,7 8,-12 14,-6 16,-11 17,-9 11,-15 10,-12 7,-10 4,-14 4,-10 0,-9-3,-13-2,-10-7,-13-6,-13-6,-5-10,-8-11,2-15,3-13,6-10,5-9,11-5,5-4,14-3,14-1,13 3,12 1</inkml:trace>
  <inkml:trace contextRef="#ctx0" brushRef="#br1" timeOffset="-19291.457">15436 10503,'0'0,"-10"-3,-18 8,-16 8,-23 15,-5 15,-1 12,8 9,11 9,18-4,13-1,16-8,10-11,13-13,11-12,6-14,1-13,9-13,4-12,6-9,6-6,1-4,5-7,2-4,2 2,1 5,4 16,-3 16,-9 16,-7 19,-11 9,-16 9,-12 6,-13 4,-13-2,-9 0,-12-3,-8-3,-16-11,-2-7,-1-12,-2-12,9-10,6-8,10-9,9-8,10-11,9-8,10-10,9-7,4 3,8 12</inkml:trace>
  <inkml:trace contextRef="#ctx0" brushRef="#br1" timeOffset="-18086.1489">6394 11446,'0'0,"-15"-2,-13 2,-13 8,-17 11,-13 17,-3 19,1 19,7 7,17 2,15-4,19-3,17-9,11-12,10-7,6-13,3-14,1-9,3-12,-1-17,-1-10,4-14,-2-12,5-8,5-5,5-4,6 3,6 6,-1 11,7 14,3 13,-8 13,-6 16,-7 4,-9 10,-12 6,-8 6,-7 6,-12 4,-10 4,-13 2,-13-2,-9-5,-10-9,-6-11,-4-7,-2-10,2-10,2-9,9-12,6-12,10-11,12-11,6-10,8-1,12 6,-3 66,10-55,-10 55</inkml:trace>
  <inkml:trace contextRef="#ctx0" brushRef="#br0" timeOffset="-12894.69">7039 522,'0'0,"0"0,0 0,-3 8,-4-2,-6 10,-4 6,-3 14,-7 9,-2 16,0 10,-3 8,-2 8,5 4,0 10,-2 6,3 3,3 0,-2-5,8-8,9-15,8-14,12-18</inkml:trace>
  <inkml:trace contextRef="#ctx0" brushRef="#br0" timeOffset="-12361.811">7852 356,'0'0,"-6"6,-7 5,-4 11,-14 9,-7 11,-6 7,-12 8,-2 9,5 3,6 5,6 0,12 3,16-7,12-6,15-16,14-12,4-10,4-13,3-6,-3-8,-5-8,-5-6,-3-3,-10-5,-2-1,-7-2,-8-3,-10 6,-4 5,-9 8,-8 4,-3 13,-8 7,-8 7,3 9,1 5,2 0,48-35</inkml:trace>
  <inkml:trace contextRef="#ctx0" brushRef="#br0" timeOffset="-10099.766">11153 6836,'0'0,"0"0,-7 0,-19 12,-14 7,-9 11,-6 7,1 6,7 5,7-1,8 0,10-5,10-3,12-39,-3 34,10-5,9-10,5-10,2-10,4-10,-1-6,5-8,4-5,-3 0,2-5,4-3,0-2,4 0,5-2,7 6,-2 10,0 9,1 12,-11 9,-4 9,-7 8,-11 4,-6-1,-8 2,-8-1,-12 0,-4 0,-10-1,-13-5,-3-2,1-9,-2-6,7-4,6-8,4-4,5-8,11-2,5-6,7-4,5-8</inkml:trace>
  <inkml:trace contextRef="#ctx0" brushRef="#br0" timeOffset="-9864.651">11307 6584,'0'0,"-8"14,-2 10,-7 22,-5 13,-3 13,3 10,-2 9,-3 5,-6 8,2 6,2-2,4-15,12-23,13-23</inkml:trace>
  <inkml:trace contextRef="#ctx0" brushRef="#br0" timeOffset="-9545.99">11757 6902,'0'0,"0"0,0 0,0 0,0 5,2 4,5 6,5 1,11 10,3 3,9 3,1 2,-3 1,-4-2,-29-33,20 33,-8-2,-12 1,-14-3,-13-7,-7 2,-12-2,-2-4,-3-7</inkml:trace>
  <inkml:trace contextRef="#ctx0" brushRef="#br0" timeOffset="-9373.015">11971 6794,'0'0,"15"-5,20-2,16 3,16 5,8 1</inkml:trace>
  <inkml:trace contextRef="#ctx0" brushRef="#br0" timeOffset="-8615.604">6587 11025,'0'0,"0"8,-1 8,2 17,-3 15,-4 15,-4 16,-3 7,2 12,2 8,-3 3,6 4,-2-2,-3-10,1-12,-1-13,-2-13,2-12,1-10,10-41,-10 36,3-6,7-30,-10 25,10-25,-6 19,6-19,-4 12,-2-12</inkml:trace>
  <inkml:trace contextRef="#ctx0" brushRef="#br0" timeOffset="-8113.325">7329 11961,'0'0,"-7"10,-9 5,1 4,-4 9,3 1,4 2,7-2,7 1,11-1,5-1,5 1,6-2,2-3,-3-1,-2 0,-2 0,-4 1,-7 0,-8-2,-3 1,-13 1,-4 1,-13 0,-5 4,-6-5,-6-2,-1-4,-3-11</inkml:trace>
  <inkml:trace contextRef="#ctx0" brushRef="#br0" timeOffset="-7929.5">7410 11918,'0'0,"16"-6,18 0,15 1,17 2,6 5</inkml:trace>
  <inkml:trace contextRef="#ctx0" brushRef="#br0" timeOffset="-3957.184">20920 14245,'0'0,"0"0,-3 0,-9-2,-9 6,-4 3,-8 4,2 10,-6 6,2 6,0 5,3 4,-2 2,14-2,-2 3,14-7,2-4,11 1,6-4,10-4,2-5,6-3,2-7,0-7,4-4,-5-7,-2-4,-28 10,22-11,-3-6,-7-5,-11 0,-9 1,-4 1,-12 7,-8 2,-4 5,-2 5,-4 7,-1 4,1 4,2 3</inkml:trace>
  <inkml:trace contextRef="#ctx0" brushRef="#br0" timeOffset="-635.038">22542 14305,'0'0,"0"0,0 0,0 0,1 0,8-2,10-2,9-1,9 1,7 2,1 3,-3 3,-2-3,-40-1,34 3,-34-3,27 1,-11 1,-16-2</inkml:trace>
  <inkml:trace contextRef="#ctx0" brushRef="#br0" timeOffset="-218.356">22560 14285,'0'0,"-4"5,-1 6,-1 4,-2 6,0 4,2 1,1 0,5-26,-6 25,2-2,4-23,-3 22,3-22,0 18,3-7,-3-11,9 5,8-5,4-3,7-3,7 2,0 1,2 4,2 3,-39-4,40 9,-7 4,-2 8,-31-21,21 22,-9 2,-7 3,-5-27,-3 28,-11-3,-11-1,-5-6,-7-6,-8-6,-6-3,-2-5</inkml:trace>
  <inkml:trace contextRef="#ctx0" brushRef="#br0" timeOffset="98106.111">21095 14350,'0'0,"0"0,-1 0,-4 5,-12 6,-6 4,-6 8,-10 3,-2 8,-5 4,-4 5,-2 2,5 3,-4-4,5-1,7-6,6-7,5 0,28-30,-23 26,5-2,18-24,-17 19,17-19,-10 14,10-14,-7 11,7-11</inkml:trace>
  <inkml:trace contextRef="#ctx0" brushRef="#br0" timeOffset="105258.599">20635 15152,'0'0,"0"0,5-5,5-8,6 3,6-3,5 0,4 8,1 3,-1 3,-8 7,-2 3,-2 1,-12 5,-2 0,-4 3,-8 0,-5 1,-5 0,-3-3,-2-5,22-13,-24 10,24-10,-22 11,22-11,-16 9,6-4,11-1,11 0,10 1,8 2,1 1,5 0,-5 8,-5 0,-1 3,-25-19,19 24,-7 2,-13 2,-7-1,-12-8,-11-1,-8-4,-4-4,-6 1,-8-3,2 1,2-5,53-4</inkml:trace>
  <inkml:trace contextRef="#ctx0" brushRef="#br0" timeOffset="105659.905">21188 15026,'0'0,"0"0,-2 1,-6 5,-9 8,-11 9,-5 10,-4 7,-8 7,3 4,-3 5,-3 4,0 0,-1-3,3-2,5-2,6-7,6-1,0-6,5-4,24-35,-17 26,17-26,-16 22,14-12</inkml:trace>
  <inkml:trace contextRef="#ctx0" brushRef="#br0" timeOffset="117837.69">23036 14089,'0'0,"2"6,-4 10,-6 7,-7 11,-5 10,-9 5,-8 3,-1 7,-9 2,0 4,-3 1,2-3,1-4,8-7,-1-4,8-5,4-6,7-3,21-34,-18 30,18-30,-14 25,14-25,-11 19,11-19</inkml:trace>
  <inkml:trace contextRef="#ctx0" brushRef="#br0" timeOffset="172415.588">31910 9885,'0'0,"9"-6,3-5,4-6,8-3,11 0,5 5,11 4,3 5,9 6,0 4,3 7,0 6,-2 3,-10 7,-9 5,-8 5,-9 4,-12 7,-1 3,-7 8,-5 3,3 7,2-1,-4 6,4-1,0 4,7 0,-2 4,-3-9,-3-11</inkml:trace>
  <inkml:trace contextRef="#ctx0" brushRef="#br0" timeOffset="172600.198">32249 10397,'0'0,"7"-7,19-8,27-4,24 1,31 4,21 4,21 10,12 8</inkml:trace>
  <inkml:trace contextRef="#ctx0" brushRef="#br0" timeOffset="173619.126">18619 9861,'0'0,"0"0,-1 4,1 18,-3 11,-4 12,0 15,-3 15,-12 19,1 20,-4 22,-8 28,-2 21,7 27,0 20,13 6</inkml:trace>
  <inkml:trace contextRef="#ctx0" brushRef="#br0" timeOffset="174544.448">30395 10419,'0'0,"16"0,25-1,20 1,32 0,18 7,9 2,1 6,0 4,-9-2,-17-1,-26-8</inkml:trace>
  <inkml:trace contextRef="#ctx0" brushRef="#br0" timeOffset="175023.695">28946 10067,'0'0,"-7"3,-6 9,-6 7,-5 6,-4 2,5 2,7 1,5-3,7-1,17-2,7 2,22 1,12 2,9 1,6 0,-3 1,-10 0,-12-2,-44-29,31 25,-16 0,-18 1,-15-2,-13-2,-18 0,-10 0,-11-3,-8 2,-3-4,4-2,2-6,13-11</inkml:trace>
  <inkml:trace contextRef="#ctx0" brushRef="#br0" timeOffset="175193.072">28888 10015,'0'0,"28"-8,30-5,27 2,24 2,8 7</inkml:trace>
  <inkml:trace contextRef="#ctx0" brushRef="#br0" timeOffset="178843.25">30792 9510,'0'0,"0"-6,2-6,3-5,3-3,6 2,1-1,6 8,11 5,6 5,-2 2,-3 6,-5 6,-12 4,-12 1,-4 5,-13-2,-11 1,-10-1,-4 0,38-21,-37 15,37-15,-27 18,12-1,20 2,21-3,18 0,5 5,6-1,-2 2,-8 1,-45-23,32 24,-8-3,-14 2,-17-2,-14-2,-26-3,-17 4,-26 5,-22 9,-27 15</inkml:trace>
  <inkml:trace contextRef="#ctx0" brushRef="#br0" timeOffset="188874.122">27977 10605,'0'0,"-25"0,-26 3,-27-3,-26 6,-12-3,-3 3,7-1,5 0,18-2,18-1,71-2,-54 1,54-1,-34 0,19 0,18-4,13 1,9 0,-25 3,31 1</inkml:trace>
  <inkml:trace contextRef="#ctx0" brushRef="#br0" timeOffset="189390.9529">26082 10458,'0'0,"7"-8,12-7,12-6,19 1,10 3,0 11,-3 11,-6 10,-22 13,-12 10,-21 12,-20 12,-14 7,-13 1,-8 4,-5-2,1-8,5-8,8-8,50-48,-38 41,38-41,-25 31,16-5,19-7,21-13,15-7,16-7,13-2,5 0,5 1,0 2,-8 3,-8 4,-15-1,-54 1,41 2,-41-2,27 3,-27-3,14 3,-14 3,-16 7,-14-3</inkml:trace>
  <inkml:trace contextRef="#ctx0" brushRef="#br0" timeOffset="189892.558">25585 10696,'0'0,"0"0,0 0,0 1,-1-1,-5 7,-9 0,-10 0,-19 3,-19-2,-18 0,-16 1,-16 4,-11-2,-7 3,1 2,5 8,10-2,12-1,14 0,6-2,14-3,7-3,7-2,6-4,13 0,36-7,-30 6,30-6,-28 5,28-5,-19 3,19-3,-13 1</inkml:trace>
  <inkml:trace contextRef="#ctx0" brushRef="#br0" timeOffset="193229.027">26930 9649,'0'0,"0"0,10-1,25-4,26 4,16-1,10 5,4-3</inkml:trace>
  <inkml:trace contextRef="#ctx0" brushRef="#br0" timeOffset="193414.0509">27569 9329,'0'0,"3"10,5 7,4 18,-4 11,6 13,-6 17,1 12,-7 17</inkml:trace>
  <inkml:trace contextRef="#ctx0" brushRef="#br0" timeOffset="197033.3939">33516 18242,'0'0,"0"6,-2 6,-9 9,-18 9,-10 7,-17 7,-22 11,-22 2,-19 2,-28 1,-26 4,-31 1,-40 0</inkml:trace>
  <inkml:trace contextRef="#ctx0" brushRef="#br0" timeOffset="198220.8809">19898 18455,'0'0,"0"0,0 0,-1-1,1 1,0-2,0 2,-1 0,1 0,-2 0,2 0,-2-1,2 1,0 0,0 0,-1 1,1-1,0 3,0-3,-2 2,-4 2,-13 11,-6 3,-14 14,-12 12,-13 20,-15 21,-19 28,-6 28</inkml:trace>
  <inkml:trace contextRef="#ctx0" brushRef="#br0" timeOffset="202403.8829">28331 18335,'0'0,"-8"8,-13 7,-9 14,-17 12,-9 10,-6 8,-3 5,0 1,4 5,6-3,2-8,3-1,6-5,2-7,1-17,3-29,1 0,5 0</inkml:trace>
  <inkml:trace contextRef="#ctx0" brushRef="#br0" timeOffset="203337.5039">21834 18209,'0'0,"6"-9,3-7,3-5,-12 21,17-25,2-2,-19 27,20-26,-20 26,17-22,-17 22,13-18,-13 18,7-10,-7 7,-12 15,-7 7,-10 7,-6 4,-7 11,-3 3,-2 4,-4 9,-7 7,-2 5,-4 9,-5 11,-1 5,1 5,2 4,4 1</inkml:trace>
  <inkml:trace contextRef="#ctx0" brushRef="#br0" timeOffset="208093.508">23149 10482,'0'0,"0"-11,-6-4,-3-12,7-6,2 1,5 4,13 1,13 6,8 9,9 3,11 9,-3 9,0 5,-7 8,-12 8,-14-1,-10 5,-13 10,-6-4,-8-3,-10 4,-3-8,1-3,26-30,-23 30,11-4,10 0,12-5,17-3,9-2,10 0,8 0,-1 2,0 0,-7 2,-46-20,36 21,-14-1,-9 3,-22 4,-9-2,-21 4,-19 7,-17 6,-17 11,-26 10,-19 21</inkml:trace>
  <inkml:trace contextRef="#ctx0" brushRef="#br0" timeOffset="-211707.117">22954 10793,'0'0,"-15"-2,-17-2,-17-1,-23 1,-11 2,-8 1,-6 4,-8 0,-1 3,3 3,9 1,14-1,80-9,-62 11,11-2,51-9,-38 8,38-8,-21 6,21-6,-14 4,14-4,-5-2,7 0,-2 2,10-3,-10 3,13 0</inkml:trace>
  <inkml:trace contextRef="#ctx0" brushRef="#br0" timeOffset="-210645.293">19020 10720,'0'0,"0"0,-7-2,7 2,-7-4,7 4,-6-2,1 1,8-5,8 3,9-6,12 1,6-3,9 1,2 0,5 0,5 2,-1 0,-4 0,-6 1,-3 1,-45 6,36-5,-36 5,28-3,-28 3,24 0,-6 6,-7 7,-6 5,-9 8,-9 5,-10 11,-6-1</inkml:trace>
  <inkml:trace contextRef="#ctx0" brushRef="#br0" timeOffset="-186002.8209">21478 7317,'0'0,"0"0,0 0,4-5,-3-6,-5-8,4 19,-5-23,-6-3,-6-5,3 3,2 1,12 27,-8-24,10 2,10 5,16 7,4 4,12 12,4 2,5 3,-3 7,-3 5,-9 1,-7 3,-11 8,-9-4,-11 4,-7 0,-12 5,-8-4,-5-1,-2-4,2-4,32-27,-35 19,35-19,-27 13,27-13,-19 10,16-5,22 1,17-1,15 3,3 1,5 5,1 0,-3 8,-6 2,-9 1,-7 2,-13 0,-15-2,-11 3,-11 1,-9-1,-21 3,-8 2,-19 0,-16 4,-25 5,-37 8</inkml:trace>
  <inkml:trace contextRef="#ctx0" brushRef="#br0" timeOffset="-167719.942">14770 244,'0'0,"0"0,0 0,0 0,-4 7,-1 11,-1 1,-2 10,-5 9,-7 6,-8 14,-15 11,-6 7,-3 3,5 2,9-6,8-11,6-1,6-9,7-5,6-7,5-6,4-9,4-1,10-12,13-9</inkml:trace>
  <inkml:trace contextRef="#ctx0" brushRef="#br0" timeOffset="-167403.34">15336 681,'0'0,"-5"8,-9 15,0 3,1 7,9 4,7 2,19-11,17-3,16-4,13-8,7-1,0 2,-9-5,-66-9,51 8,-51-8,37 7,-19 7,-21 1,-17 9,-14 3,-15 1,-8-1,-4 7</inkml:trace>
  <inkml:trace contextRef="#ctx0" brushRef="#br0" timeOffset="-167240.4889">15418 688,'0'0,"13"-8,13-6,15-13,23-1,12-2,9 1</inkml:trace>
  <inkml:trace contextRef="#ctx0" brushRef="#br0" timeOffset="-166970.847">15884 445,'0'0,"-3"7,-6 10,-5 10,-3 11,-2 9,-5 13,-2 9,-4 13,-2 7,2 10,-5 6,0 8,5 1,3-3,8-3</inkml:trace>
  <inkml:trace contextRef="#ctx0" brushRef="#br0" timeOffset="-166538.3889">16384 1042,'0'0,"2"-5,-3-6,0-9,3 1,6 2,7-2,11 3,10 2,6 5,8 5,-1 2,-3 16,-6 3,-7 5,-5 9,-12 6,-11 7,-14 9,-17 10,-11 5,-10-3,-8-1,1-11,54-53,-43 41,43-41,-31 25,17-12,27-13,25-10,21-8,21-3,18-3,7-2,-1 1</inkml:trace>
  <inkml:trace contextRef="#ctx0" brushRef="#br0" timeOffset="-166297.149">16989 807,'0'0,"-11"9,-4 15,-10 19,-9 14,-4 15,-9 11,-5 11,-1 11,-1 14,4 12,7 6,3 5</inkml:trace>
  <inkml:trace contextRef="#ctx0" brushRef="#br0" timeOffset="-165842.5639">17567 1012,'0'0,"-4"12,-8 16,-5 21,-5 7,3 6,4 0,9-3,13-5,16-7,15-11,11-15,8-16,4-7,-1-16,-1-8,-6-10,-3-7,-1-6,-9-9,-7 3,-7 1,-9 2,-14 4,-11 9,-11 5,-17 8,-18 9,-24 15,-15 4,-7 16,-4 10,12 7</inkml:trace>
  <inkml:trace contextRef="#ctx0" brushRef="#br0" timeOffset="-145469.682">15319 10755,'0'0,"-5"27,-2 20,-7 17,-6 13,-3 7,4-10,-1-7,6-4,5-6,-7-1,4-4,4-2,-2-6,10-44,-4 40</inkml:trace>
  <inkml:trace contextRef="#ctx0" brushRef="#br0" timeOffset="-145068.502">15982 11019,'0'0,"-4"17,-8 12,-2 18,-7 15,-5 25,3 4,-1 0,5-5,2-11,11-16,9-11,6-18,11-10,6-13,4-5,10-10,-1-9,-1-7,4-5,-8-5,-3-1,-31 35,28-30,-28 30,22-22,-5 9,-5 13,-1 20,-2 15,-1 17,1 22,2 12,-5 17,-7 21,-9 7</inkml:trace>
  <inkml:trace contextRef="#ctx0" brushRef="#br0" timeOffset="-106506.348">7810 751,'0'0,"-10"1,-5 5,-6 5,-3 3,1 4,2 1,0 3,2 3,-2 4,-5 2,-5 9,-9 6,-6 0,-5 7,-4-1,4-3,9-2,1-8,13-5,8-7,0-2,20-25,-12 24,4 0,8-24,-2 25,2-2,11-6,5-5,12-14</inkml:trace>
  <inkml:trace contextRef="#ctx0" brushRef="#br0" timeOffset="-105297.0619">8419 774,'0'0,"0"0,0 0,2-2,-2 2,5 0,-5 0,7-1,-7 1,6-2,-6 2,3 0,-3 0,3-1,-3 1,0-5,0 5,-3-6,3 6,-3-11,2-4,6-6,11 0,9 2,14 1,10 4,5 2,5 5,-4 7,-7 1,-48-1,40 6,-12 5,-15 6,-8 6,-14 3,-9 3,-11 2,-6 2,0-3,2-1,33-29,-30 23,13-4,15-6,11-2,12-5,12 1,5-2,-1-2,-37-3,40 4,-5 4,-35-8,29 11,-29-11,23 14,-13 6,-9 1,-11 1,-10 0,-10 1,-8-5,-7 1,-10 3,-12-1,-13 6,1 0,0-2</inkml:trace>
  <inkml:trace contextRef="#ctx0" brushRef="#br0" timeOffset="-104762.954">9051 499,'0'0,"0"0,0 0,0 2,0-2,0 1,0 3,-6 5,-4 6,1 3,-6 8,-2 2,-4 11,-2 4,-9 11,-8 13,-4 6,-8 9,-8 10,0 2,-3-2,3 4,5-6,14-8,41-82,-28 68</inkml:trace>
  <inkml:trace contextRef="#ctx0" brushRef="#br0" timeOffset="-104461.9659">9288 615,'0'0,"0"0,9 6,4 10,1 5,1 10,2 6,-2 8,-7 3,-1 10,1 11,2 13,-1 7,2 15,-1 13</inkml:trace>
  <inkml:trace contextRef="#ctx0" brushRef="#br0" timeOffset="-100041.995">12360 6354,'0'0,"0"0,-2 5,-7 24,-11 12,-7 19,-12 15,-9 11,-4 8,-2 5,0 9,-1 7,3-3,2-9,5-10,10-14,9-15,7-11,7-6,7-10,3-8,2-29,5 24,6-7,14-21</inkml:trace>
  <inkml:trace contextRef="#ctx0" brushRef="#br0" timeOffset="-99571.684">12570 6800,'0'0,"0"0,3-7,11-5,9-6,8-2,14 4,5 11,1 5,-2 10,-9 8,-10 4,-12 3,-16 6,-8 0,-11 3,-14 4,-7-4,-8-2,7-2,39-30,-31 24,10-3,16-2,15-1,16-3,10-5,9 2,9 3,-7 1,-9 2,-2 4,-15 1,-15-2,-6-1,-14 3,-17 0,-15 3,-14 3,-15-1,-12-2,-11-1,-5-9</inkml:trace>
  <inkml:trace contextRef="#ctx0" brushRef="#br0" timeOffset="-99239.95">11680 6892,'0'0,"5"-7,9-10,22-6,14-3,19 6,13 2,6 9</inkml:trace>
  <inkml:trace contextRef="#ctx0" brushRef="#br0" timeOffset="-76221.711">25702 11673,'0'0,"14"-2,15-6,15-5,30-4,15-2,6-2,8 0,4 2,0 2,4 3,-4 1,-6 4,-15 0,-13 5,-16 1,-57 3,45-3,-19 5,-20 4</inkml:trace>
  <inkml:trace contextRef="#ctx0" brushRef="#br0" timeOffset="-75942.9319">25750 11795,'0'0,"0"0,5-2,19-6,22-4,19-3,18 0,16-3,12 4,8-4,2 3,-10 5,-7-5,-7 6,-18 4,-18 3,-61 2,46-1,-16 9,-23 8</inkml:trace>
  <inkml:trace contextRef="#ctx0" brushRef="#br0" timeOffset="-68401.299">18829 9455,'0'0,"0"0,0-11,1-16,13-4,4-6,11-3,8-4,10 2,9 1,9 1,9 1,9 4,5 8,6 4,5 8,9 5,4 6,7 7,0 7,2 1,2 7,0 1,1-5,1-2,-1-5,2 0,2-13,6-4,6-8,8-7,2-5,4-2,3-8,1-1,-2-4,-3-1,-11 4,-12 3,-14 3,-17 6,-13 9,-15 10,-9 5,-6 12,-4 8,-9 8,-4 6,2 1,0-2,13 0,3-9,15-4,13-8,12-6,13-4,14-4,11-3,7-3,4-3,2-4,-2-2,-4-6,1-6,-1-6,0-1,-1-3,-2-3,1 0,-1 1,6 1,7 4,7 7,10 8,5 11,1 13,-3 8,-6 14,-9 10,-8 8,-11 8,-8 8,-16 8,-8 3,-13 5,-17 2,-17 1,-21-3,-17-1,-24-8,-25-10,-19-12</inkml:trace>
  <inkml:trace contextRef="#ctx0" brushRef="#br0" timeOffset="-67815.172">26226 6932,'0'0,"-22"10,-18 16,-24 15,-8 10,-6 16,4 5,9 4,14 5,19-4,18-4,18-7,21-6,10-7,15-11,16-6,14-10,11-9,15-7,7-5,3-15,1-5,-3-10,-8-12,-13-11,-19-13,-13-10,-18-5,-15-3,-18-2,-13 6,-9 6,-16 5,-7 5,-14 8,-5 2,-9 8,-9 9,-1 11,-6 10,-2 11,-6 15,-1 12,-1 9,2 15,3 15,6 8,13 11</inkml:trace>
  <inkml:trace contextRef="#ctx0" brushRef="#br0" timeOffset="-22375.397">20578 10072,'0'0,"0"0,1 4,-3 16,-5 16,-8 14,-4 15,-10 15,-7 7,-4 10,-2-1,4-1,0-13,38-82,-30 69,12-21,18-48,-4 37,10-17,26-16,7-15,13-7,8-12,8-11,-2 1,1 4,0 8,-6 12,-9 14,-3 9,-8 10,-3 10,-6 15,-7 18,-9 23,5 24,-10 22,-13 33,-13 28,-21 22</inkml:trace>
  <inkml:trace contextRef="#ctx0" brushRef="#br2" timeOffset="-3843.989">10569 13631,'0'0,"0"0,0 0,0 6,0-6,-2 9,2-9,-1 9,-3-3,1-10,-1-13,1-9,0-9,-4-5,3-7,1 2,0 2,5 0,6 7,9 7,6 7,7 8,14 8,14 6,13 4,8 10,6 5,1 2,-1 3,-4-3,-8-2,-8-2,-65-17,58 10,-58-10,43 8,-43-8,28 4,-15-3,-19 1,-13 1,-10 1,-7 4,0 5,1 8,-1 9,9 9,3 14,3 12,6 16,4 16,1 11,5 7,2 0,2-3,-1-3,-2-9,-1-12,-3-9,0-10,-3-10,-1-11,12-48,-11 42,-3-10,-2-11,3-16,-2-18,-5-12</inkml:trace>
  <inkml:trace contextRef="#ctx0" brushRef="#br2" timeOffset="-3558.682">10785 14290,'0'0,"19"-3,25 3,27 4,33 3,8 6,10 3,-5 2,-4 3,-12-4,-16-1,-17 0,-15-4,-53-12,43 7,-43-7,28 9,-12-5,-26-7</inkml:trace>
  <inkml:trace contextRef="#ctx0" brushRef="#br2" timeOffset="-2123.947">1236 13399,'0'0,"0"0,0 0,2 1,-7 8,-8 11,-4 8,-9 3,1 6,-1-3,3-6,23-28,-17 25,17-25,-15 18,11-11,8-13,8-13,2-10,4-7,0-4,1-4,0-5,-7-1,2-1,-2 2,-2 6,-10 43,10-35,-10 35,6-26,-2 12,-2 18,-1 12,-1 15,0 13,0 15,3 8,2 11,1 9,6 6,1-1,1-1,4-5,-5-5,7-10,-5-9,-1-7,-2-9,-12-46,7 38,-7-38,3 32,-6-3,-10-8,-9-5,-8-3,-6-5,-8-2,1-2,-5 3,6-1,0 3,3 1,2 1,37-11,-32 11,32-11,-28 11,12-2,12-5,13-3,14-4,13-5,14-3,10 0,5-2,3 1,0-2,-3 4,-4 1,-61 9,49-6,-49 6,42-3,-16 0,-26 3</inkml:trace>
  <inkml:trace contextRef="#ctx0" brushRef="#br2" timeOffset="-1036.1489">9203 14115,'0'0,"12"0,14-3,15-2,20 0,13 1,7 0,5 1,4 5,-1 2,-3-3,-8 3,-5 2,-14 0,-13 1,-46-7,37 6,-10 1,-21-1</inkml:trace>
  <inkml:trace contextRef="#ctx0" brushRef="#br2" timeOffset="21552.051">8092 13461,'0'0,"0"0,3 0,8-3,12 1,14-2,7 1,13 3,11-3,0 1,6 6,-2-1,-4-1,-11 0,-7 2,-50-4,40 3,-19 3,-17-3</inkml:trace>
  <inkml:trace contextRef="#ctx0" brushRef="#br2" timeOffset="22220.966">8112 13457,'0'0,"6"7,-3 7,1 6,-2 9,-4 5,-3 5,-1 2,-2 6,-2 2,-1-4,-5 0,2 0,-4-6,5-2,13-37,-10 32,0-3,10-29,-6 25,6-25,-9 19,7-9,6-10,6-6,4-3,11-4,9 2,6 5,6 2,6 5,1 2,2 5,0 2,-4 5,-6 1,2 6,-10 3,-3 3,-3 1,-7 6,-8 0,1 3,-7 1,-6 0,-8 1,-3-3,-5-1,-6-2,-4 1,-5-3,-5 1,-10-5,-4-6,-3-3,-1-6,-9-5,-1-3,-1 2,0-4,2 0,5-3,6 1,6-2,42 1,-34-4,34 4,-29-3,29 3</inkml:trace>
  <inkml:trace contextRef="#ctx0" brushRef="#br2" timeOffset="28405.2">9452 13414,'0'0,"0"-7,-3-4,3-6,0 17,3-20,4 2,8 2,5 5,5 5,4 9,4 5,0 5,1 3,-5 5,-6 1,-10 3,-7 1,-7 0,-7 0,-7-3,-3-6,-3-3,21-14,-27 12,1-3,26-9,-26 6,26-6,-20 1,9-6,14-2,15 2,4 4,12 1,6 7,-2 8,0 1,-5 2,-33-18,25 19,-9 3,-11 1,-10-1,-13-4,-9-1,-9-4,-8 0,-11-3,-9 3,-8-4</inkml:trace>
  <inkml:trace contextRef="#ctx0" brushRef="#br2" timeOffset="65228.238">7685 14012,'0'0,"0"0,0 0,5 0,2 1,-7-1,-2 2,-10 5,-12-3,-16 0,-11-1,-7 0,-8-3,-8-1,-2-3,-2-1,-4 0,-1-2,2 2,7 3,6 0,10 0,12 4,46-2,-41 0,8-1,33 1,-28-1,28 1,-18-2,18 2</inkml:trace>
  <inkml:trace contextRef="#ctx0" brushRef="#br2" timeOffset="67142.728">5475 13665,'0'0,"2"-11,1-7,1-6,13-2,7-2,6 7,10 3,10 5,-1 7,0 3,6 3,-7 7,-6 6,-8 2,-6 10,-6 5,-7 6,-5 6,-8 0,-6 4,-9 2,-6-2,-7-2,-3 2,-8-5,-3 0,-6 1,-3-3,4-2,-1-1,1-1,2-3,43-32,-40 29,3-3,37-26,-35 24,35-24,-25 17,11-3,14-7,14 0,12-3,16-3,10 0,6 1,6-4,-1 4,-3-2,-2 1,-5 1,-3 2,0 0,-8 0,-1 0,-41-4,35 4,-35-4,31 6,-31-6,22 6,-9 4,-16 3,-20-3</inkml:trace>
  <inkml:trace contextRef="#ctx0" brushRef="#br2" timeOffset="71306.1">6761 13582,'0'0,"0"0,0 0,-2 0,2 0,2 0,7-3,11-4,9 1,8 2,0 1,2 2,0-1,-7 1,-32 1,32 1,-32-1,29 1,-29-1,21 1,-21-1,16 0,-16 0,9 0,-9 0</inkml:trace>
  <inkml:trace contextRef="#ctx0" brushRef="#br2" timeOffset="71654.027">7252 13186,'0'0,"0"0,0 0,0 0,2 5,0 10,0 4,1 5,-1 8,1 2,-1 2,-2 2,0 1,1-1,-2 2,2 0,2-4,0 0,-3-36,1 29,-1-29,5 26,-5-26,6 21,-6-21,6 13</inkml:trace>
  <inkml:trace contextRef="#ctx0" brushRef="#br2" timeOffset="76195.168">5175 13944,'0'0,"0"0,0 0,2 0,-2 0,1 0,-9 0,-13-1,-10-3,-7 1,-5 0,-6 6,0-3,4 3,-3-1,3 1,-2-1,11 0,1 1,35-3,-29 3,29-3,-26 4,26-4,-19 2,19-2,-16 1,16-1,-7 1,7-1,-3 0,6-1</inkml:trace>
  <inkml:trace contextRef="#ctx0" brushRef="#br2" timeOffset="126936.005">3654 13514,'0'0,"-7"-3,3-7,1-6,3 16,0-20,4-3,14-4,5 8,7 1,8 9,4 6,5 8,0 5,-4 10,-5 6,-8 6,-7 6,-10 4,-7 1,-4-2,-11-3,-6-1,-6-5,-3-4,-3-4,0-5,1-3,26-16,-25 10,25-10,-23 6,23-6,-16-1,12-5,13-5,13-1,9 9,9 3,4 6,1 6,-4 3,-5 4,-5 0,-11 6,-7 0,-7 0,-4 3,-4-2,-8 0,-2-1,-8 0,-8-1,-6-3,-3 1,-4-1,-7-2,-7-5,5-4,-4-3,-3-4,4-4</inkml:trace>
  <inkml:trace contextRef="#ctx0" brushRef="#br2" timeOffset="130472.644">4453 13303,'0'0,"0"0,0 0,-2 0,2 0,0 0,6 0,13-2,9 0,8 0,8-1,-4 2,-1-1,-4 1,-4 1,-31 0,25 1,-25-1,24 0,-24 0,22 2,-22-2</inkml:trace>
  <inkml:trace contextRef="#ctx0" brushRef="#br2" timeOffset="130927.381">4920 13174,'0'0,"0"0,1-6,5-5,6 0,9-2,1 3,6 2,2 8,-5 5,1 4,-5 6,-4 2,-5 2,-7 4,-2 2,-9 0,0 0,-8 0,-1-1,-4-3,0 0,-4-2,-1-3,1 2,23-18,-22 16,22-16,-21 15,21-15,-15 11,15-11,-10 7,14-3,17-6,6 1,6-1,3 0,-3-5,-33 7,29-4,-29 4,25-3,-25 3,17 0,-8 4,-14 4</inkml:trace>
  <inkml:trace contextRef="#ctx0" brushRef="#br2" timeOffset="143586.54">33015 18291,'0'0,"-14"-10,-17-4,-15-4,-25-1,-12 4,-13 5,-1 11,-5 10,5 7,4 9,8 6,5 10,8 2,8 5,11 1,9 2,14 2,9 2,10 2,11 1,13 2,14-1,18 0,8-2,14-21,11-38,-2 0,6 0,7 0,-2 0,5 0,1 0,-4 0,-7 0,-3 0,-8 0,-6-35,-6-6,-7-1,-9-2,-9-5,-8-4,-8 1,-9-5,-9-1,-6 2,-10-1,-12 1,-12 6,-12 5,-13 6,-12 10,-11 5,-12 10,-9 14,-7 17,-7 19</inkml:trace>
  <inkml:trace contextRef="#ctx0" brushRef="#br2" timeOffset="196356.54">3579 13744,'0'0,"0"0,0 0,6 0,-2-3,-9 4,-13 0,-14 2,-17 2,-13 1,-3-2,-9 2,0 3,6-4,-1 3,7-4,10 1,7-3,45-2,-39 2,39-2,-29 0,29 0,-18 1,18-1</inkml:trace>
  <inkml:trace contextRef="#ctx0" brushRef="#br2" timeOffset="197006.54">2467 13437,'0'0,"0"7,-7 10,-2 10,-8 9,-3 7,-1 2,1 1,0 2,7-7,13-41,-11 37,11-6,6-5,9-6,11-9,6-3,4-7,6-6,-3-6,-3 0,-4-3,-2-1,-30 15,25-17,-25 17,20-17,-20 17,13-17,-13 17,0-15,0 15,-7-12,-8 5,1 8,0 10,3 6,4 8,5 2,4 6,-1 1,4 1,2-2,2 2,-4-2,3-6,-8-27,6 25,-6-25,4 23,-4-23,4 20,-4-20,6 14,-6-14,0 10,0-5,0-5,0-4,-7-6,-3-5</inkml:trace>
  <inkml:trace contextRef="#ctx0" brushRef="#br2" timeOffset="198486.54">2731 13223,'0'0,"0"0,6-3,14-2,5 3,4-3,6 3,1 1,-36 1,33 0,0 2,-2 0,-31-2,27 4,-3-1,-24-3,23 1</inkml:trace>
  <inkml:trace contextRef="#ctx0" brushRef="#br2" timeOffset="198996.539">3170 13093,'0'0,"0"0,1-6,4-5,-5 11,6-15,3-2,-9 17,14-15,4 2,3 5,-21 8,20-1,0 4,-5 9,-15-12,14 17,-8 7,-9 5,-3-1,-2-2,8-26,-11 25,-6-3,2-2,15-20,-23 18,23-18,-17 16,17-16,-19 14,9-4,10-10,0 7,13-7,10-2,5-3,6-2,-34 7,34-9,-3 3,-2 1,-29 5,28-4,-28 4,22-5,-22 5,13-5,-5 4,-11 5,-5-1,-11 4</inkml:trace>
  <inkml:trace contextRef="#ctx0" brushRef="#br2" timeOffset="204876.539">2208 13782,'0'0,"0"0,0 0,1-3,-1 3,2-3,-5-1,-8 8,-6-2,-8 2,-1 0,-9 2,1-1,0 2,-1-2,-2 2,2 0,0 2,2 1,0-1,1 1,3 0,3-1,0-1,26-8,-22 10,-1-4,1-2,22-4,-19 3,19-3,-20 3,20-3,-20 0,20 0,-18 0,18 0,-14-2,14 2,-10-3,10 3,-6-4,6 4,-6-1,6 1,-2-2,2 2,0-1,0 1,0-1,0 1,0 0</inkml:trace>
  <inkml:trace contextRef="#ctx0" brushRef="#br2" timeOffset="212826.539">1725 13062,'0'0,"0"0,6-1,14-6,3 1,6 0,-29 6,28-4,-28 4,29-2,-29 2,27 3,-27-3,19 3</inkml:trace>
  <inkml:trace contextRef="#ctx0" brushRef="#br2" timeOffset="213286.54">1702 13069,'0'0,"0"0,-3 6,3-6,-9 11,3 5,-8 4,7 1,-5 1,12-22,-11 21,11-21,-11 23,11-23,-10 20,10-20,-7 20,7-20,-4 12,2-9,8-6,7-5,6-1,3 3,-22 6,29-6,1 7,5 5,-6 6,0 1,-6 2,-7 2,-16-17,11 19,-2 2,-9-21,1 26,-4 1,-8-3,-5-1,-4-4,-2-4,-4-4,-9 1,-2-4,-2 1,-2-4</inkml:trace>
  <inkml:trace contextRef="#ctx0" brushRef="#br2" timeOffset="-211440.1889">11291 14121,'0'0,"0"0,6-1,12-1,23 0,9 0,43 0,11 2,-1 6,0-2,-2 6,-13 1,-12-1,-8-2,-68-8,56 7,-56-7,40 4,-17-1,-24-2,-23 2</inkml:trace>
  <inkml:trace contextRef="#ctx0" brushRef="#br2" timeOffset="-211250.1889">11402 14380,'0'0,"9"1,10 4,13-2,26 2,14 1,15 0,4 0,7-3,-4 0</inkml:trace>
  <inkml:trace contextRef="#ctx0" brushRef="#br2" timeOffset="-210770.19">12721 14049,'0'0,"0"0,3-8,2-8,10-7,12 4,7 4,7 10,5 10,3 9,1 7,-6 9,-8 1,-14 1,-5 1,-19 0,-9-1,-15 1,-1-3,-9-4,-1-5,-2-5,39-16,-33 14,33-14,-28 12,9 1,14 2,13 2,18-1,11 5,8 3,7 7,2 6,-7 5,-11-1,-14 3,-16-2,-22-1,-23 6,-22-1,-37 1,-34 3,-40 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863558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06378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0670E1-EA57-44F2-9935-96B86330167A}"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264744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B0670E1-EA57-44F2-9935-96B86330167A}"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655726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B0670E1-EA57-44F2-9935-96B86330167A}"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113424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B0670E1-EA57-44F2-9935-96B86330167A}"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044829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0670E1-EA57-44F2-9935-96B86330167A}" type="datetimeFigureOut">
              <a:rPr lang="en-IN" smtClean="0"/>
              <a:t>06-04-2026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798996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0670E1-EA57-44F2-9935-96B86330167A}"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419539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0670E1-EA57-44F2-9935-96B86330167A}"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929285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58688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6702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0670E1-EA57-44F2-9935-96B86330167A}" type="datetimeFigureOut">
              <a:rPr lang="en-IN" smtClean="0"/>
              <a:t>06-04-2026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3B7FB-32AC-493E-BB5D-E745649194F9}" type="slidenum">
              <a:rPr lang="en-IN" smtClean="0"/>
              <a:t>‹#›</a:t>
            </a:fld>
            <a:endParaRPr lang="en-IN"/>
          </a:p>
        </p:txBody>
      </p:sp>
    </p:spTree>
    <p:extLst>
      <p:ext uri="{BB962C8B-B14F-4D97-AF65-F5344CB8AC3E}">
        <p14:creationId xmlns:p14="http://schemas.microsoft.com/office/powerpoint/2010/main" val="1547288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youtube.com/watch?v=prx1psByp7U"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47.emf"/><Relationship Id="rId4" Type="http://schemas.openxmlformats.org/officeDocument/2006/relationships/customXml" Target="../ink/ink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emf"/><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customXml" Target="../ink/ink4.xml"/><Relationship Id="rId5" Type="http://schemas.openxmlformats.org/officeDocument/2006/relationships/image" Target="../media/image50.emf"/><Relationship Id="rId4" Type="http://schemas.openxmlformats.org/officeDocument/2006/relationships/customXml" Target="../ink/ink3.xml"/></Relationships>
</file>

<file path=ppt/slides/_rels/slide9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600" dirty="0">
                <a:solidFill>
                  <a:srgbClr val="FF0000"/>
                </a:solidFill>
                <a:latin typeface="Times New Roman" panose="02020603050405020304" pitchFamily="18" charset="0"/>
                <a:cs typeface="Times New Roman" panose="02020603050405020304" pitchFamily="18" charset="0"/>
              </a:rPr>
              <a:t>UNIT –</a:t>
            </a:r>
            <a:r>
              <a:rPr lang="en-US" sz="6600" dirty="0" smtClean="0">
                <a:solidFill>
                  <a:srgbClr val="FF0000"/>
                </a:solidFill>
                <a:latin typeface="Times New Roman" panose="02020603050405020304" pitchFamily="18" charset="0"/>
                <a:cs typeface="Times New Roman" panose="02020603050405020304" pitchFamily="18" charset="0"/>
              </a:rPr>
              <a:t>III</a:t>
            </a:r>
            <a:r>
              <a:rPr lang="en-US" sz="6600" dirty="0" smtClean="0"/>
              <a:t/>
            </a:r>
            <a:br>
              <a:rPr lang="en-US" sz="6600" dirty="0" smtClean="0"/>
            </a:br>
            <a:r>
              <a:rPr lang="en-IN" sz="6600" dirty="0">
                <a:solidFill>
                  <a:srgbClr val="FF0000"/>
                </a:solidFill>
                <a:latin typeface="Times New Roman" panose="02020603050405020304" pitchFamily="18" charset="0"/>
                <a:cs typeface="Times New Roman" panose="02020603050405020304" pitchFamily="18" charset="0"/>
              </a:rPr>
              <a:t>Dynamic Programming</a:t>
            </a:r>
            <a:r>
              <a:rPr lang="en-IN" sz="6600" b="1" dirty="0"/>
              <a:t/>
            </a:r>
            <a:br>
              <a:rPr lang="en-IN" sz="6600" b="1" dirty="0"/>
            </a:br>
            <a:endParaRPr lang="en-IN" sz="6600" dirty="0"/>
          </a:p>
        </p:txBody>
      </p:sp>
    </p:spTree>
    <p:extLst>
      <p:ext uri="{BB962C8B-B14F-4D97-AF65-F5344CB8AC3E}">
        <p14:creationId xmlns:p14="http://schemas.microsoft.com/office/powerpoint/2010/main" val="412308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Dynamic programming</a:t>
            </a:r>
            <a:endParaRPr lang="en-US" dirty="0"/>
          </a:p>
        </p:txBody>
      </p:sp>
      <p:pic>
        <p:nvPicPr>
          <p:cNvPr id="4" name="Content Placeholder 3"/>
          <p:cNvPicPr>
            <a:picLocks noGrp="1" noChangeAspect="1"/>
          </p:cNvPicPr>
          <p:nvPr>
            <p:ph idx="1"/>
          </p:nvPr>
        </p:nvPicPr>
        <p:blipFill>
          <a:blip r:embed="rId2"/>
          <a:stretch>
            <a:fillRect/>
          </a:stretch>
        </p:blipFill>
        <p:spPr>
          <a:xfrm>
            <a:off x="548640" y="2110581"/>
            <a:ext cx="11306287" cy="4483857"/>
          </a:xfrm>
          <a:prstGeom prst="rect">
            <a:avLst/>
          </a:prstGeom>
        </p:spPr>
      </p:pic>
    </p:spTree>
    <p:extLst>
      <p:ext uri="{BB962C8B-B14F-4D97-AF65-F5344CB8AC3E}">
        <p14:creationId xmlns:p14="http://schemas.microsoft.com/office/powerpoint/2010/main" val="151715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182881"/>
            <a:ext cx="10715513" cy="6489336"/>
          </a:xfrm>
          <a:prstGeom prst="rect">
            <a:avLst/>
          </a:prstGeom>
        </p:spPr>
      </p:pic>
    </p:spTree>
    <p:extLst>
      <p:ext uri="{BB962C8B-B14F-4D97-AF65-F5344CB8AC3E}">
        <p14:creationId xmlns:p14="http://schemas.microsoft.com/office/powerpoint/2010/main" val="835196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5400" b="1" dirty="0">
                <a:latin typeface="+mn-lt"/>
              </a:rPr>
              <a:t>Dynamic programming</a:t>
            </a:r>
          </a:p>
        </p:txBody>
      </p:sp>
      <p:sp>
        <p:nvSpPr>
          <p:cNvPr id="3" name="Content Placeholder 2"/>
          <p:cNvSpPr>
            <a:spLocks noGrp="1"/>
          </p:cNvSpPr>
          <p:nvPr>
            <p:ph idx="1"/>
          </p:nvPr>
        </p:nvSpPr>
        <p:spPr>
          <a:xfrm>
            <a:off x="607868" y="1555462"/>
            <a:ext cx="10976264" cy="4351338"/>
          </a:xfrm>
        </p:spPr>
        <p:txBody>
          <a:bodyPr>
            <a:normAutofit/>
          </a:bodyPr>
          <a:lstStyle/>
          <a:p>
            <a:pPr algn="just">
              <a:lnSpc>
                <a:spcPct val="150000"/>
              </a:lnSpc>
            </a:pPr>
            <a:r>
              <a:rPr lang="en-US" dirty="0"/>
              <a:t>Typically used for Optimization Problem.</a:t>
            </a:r>
          </a:p>
          <a:p>
            <a:pPr algn="just">
              <a:lnSpc>
                <a:spcPct val="150000"/>
              </a:lnSpc>
            </a:pPr>
            <a:r>
              <a:rPr lang="en-US" dirty="0"/>
              <a:t>Dynamic programming, like the divide-and-conquer method, solves problems by</a:t>
            </a:r>
            <a:r>
              <a:rPr lang="en-IN" dirty="0"/>
              <a:t> </a:t>
            </a:r>
            <a:r>
              <a:rPr lang="en-US" dirty="0"/>
              <a:t>combining the solutions to </a:t>
            </a:r>
            <a:r>
              <a:rPr lang="en-US" dirty="0" err="1"/>
              <a:t>subproblems</a:t>
            </a:r>
            <a:r>
              <a:rPr lang="en-US" dirty="0"/>
              <a:t>.</a:t>
            </a:r>
          </a:p>
          <a:p>
            <a:pPr algn="just">
              <a:lnSpc>
                <a:spcPct val="150000"/>
              </a:lnSpc>
            </a:pPr>
            <a:r>
              <a:rPr lang="en-US" dirty="0"/>
              <a:t>A dynamic-programming algorithm solves each </a:t>
            </a:r>
            <a:r>
              <a:rPr lang="en-US" dirty="0" err="1"/>
              <a:t>subproblem</a:t>
            </a:r>
            <a:r>
              <a:rPr lang="en-US" dirty="0"/>
              <a:t> just once and then saves its answer in a table.</a:t>
            </a:r>
            <a:endParaRPr lang="en-IN" dirty="0"/>
          </a:p>
        </p:txBody>
      </p:sp>
    </p:spTree>
    <p:extLst>
      <p:ext uri="{BB962C8B-B14F-4D97-AF65-F5344CB8AC3E}">
        <p14:creationId xmlns:p14="http://schemas.microsoft.com/office/powerpoint/2010/main" val="48675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230"/>
          </a:xfrm>
        </p:spPr>
        <p:txBody>
          <a:bodyPr/>
          <a:lstStyle/>
          <a:p>
            <a:r>
              <a:rPr lang="en-US" b="1" dirty="0"/>
              <a:t>Dynamic Programming</a:t>
            </a:r>
          </a:p>
        </p:txBody>
      </p:sp>
      <p:pic>
        <p:nvPicPr>
          <p:cNvPr id="4" name="Content Placeholder 3"/>
          <p:cNvPicPr>
            <a:picLocks noGrp="1" noChangeAspect="1"/>
          </p:cNvPicPr>
          <p:nvPr>
            <p:ph idx="1"/>
          </p:nvPr>
        </p:nvPicPr>
        <p:blipFill>
          <a:blip r:embed="rId2"/>
          <a:stretch>
            <a:fillRect/>
          </a:stretch>
        </p:blipFill>
        <p:spPr>
          <a:xfrm>
            <a:off x="1078174" y="1296537"/>
            <a:ext cx="9962866" cy="4680093"/>
          </a:xfrm>
          <a:prstGeom prst="rect">
            <a:avLst/>
          </a:prstGeom>
        </p:spPr>
      </p:pic>
    </p:spTree>
    <p:extLst>
      <p:ext uri="{BB962C8B-B14F-4D97-AF65-F5344CB8AC3E}">
        <p14:creationId xmlns:p14="http://schemas.microsoft.com/office/powerpoint/2010/main" val="3836999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23832" y="675737"/>
            <a:ext cx="9416955" cy="2244883"/>
          </a:xfrm>
          <a:prstGeom prst="rect">
            <a:avLst/>
          </a:prstGeom>
        </p:spPr>
      </p:pic>
    </p:spTree>
    <p:extLst>
      <p:ext uri="{BB962C8B-B14F-4D97-AF65-F5344CB8AC3E}">
        <p14:creationId xmlns:p14="http://schemas.microsoft.com/office/powerpoint/2010/main" val="1810761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4935"/>
          </a:xfrm>
        </p:spPr>
        <p:txBody>
          <a:bodyPr/>
          <a:lstStyle/>
          <a:p>
            <a:r>
              <a:rPr lang="en-US" dirty="0"/>
              <a:t>Steps in Dynamic Programming</a:t>
            </a:r>
          </a:p>
        </p:txBody>
      </p:sp>
      <p:pic>
        <p:nvPicPr>
          <p:cNvPr id="4" name="Content Placeholder 3"/>
          <p:cNvPicPr>
            <a:picLocks noGrp="1" noChangeAspect="1"/>
          </p:cNvPicPr>
          <p:nvPr>
            <p:ph idx="1"/>
          </p:nvPr>
        </p:nvPicPr>
        <p:blipFill>
          <a:blip r:embed="rId2"/>
          <a:stretch>
            <a:fillRect/>
          </a:stretch>
        </p:blipFill>
        <p:spPr>
          <a:xfrm>
            <a:off x="1105468" y="1378425"/>
            <a:ext cx="9280477" cy="4331440"/>
          </a:xfrm>
          <a:prstGeom prst="rect">
            <a:avLst/>
          </a:prstGeom>
        </p:spPr>
      </p:pic>
    </p:spTree>
    <p:extLst>
      <p:ext uri="{BB962C8B-B14F-4D97-AF65-F5344CB8AC3E}">
        <p14:creationId xmlns:p14="http://schemas.microsoft.com/office/powerpoint/2010/main" val="1755715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mn-lt"/>
              </a:rPr>
              <a:t>Elements of Dynamic Programming</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IN" dirty="0"/>
              <a:t>Optimal Substructure</a:t>
            </a:r>
          </a:p>
          <a:p>
            <a:pPr marL="514350" indent="-514350">
              <a:buFont typeface="+mj-lt"/>
              <a:buAutoNum type="arabicPeriod"/>
            </a:pPr>
            <a:r>
              <a:rPr lang="en-IN" dirty="0"/>
              <a:t>Overlapping </a:t>
            </a:r>
            <a:r>
              <a:rPr lang="en-IN" dirty="0" err="1"/>
              <a:t>Subproblems</a:t>
            </a:r>
            <a:endParaRPr lang="en-IN" dirty="0"/>
          </a:p>
          <a:p>
            <a:pPr marL="514350" indent="-514350">
              <a:buFont typeface="+mj-lt"/>
              <a:buAutoNum type="arabicPeriod"/>
            </a:pPr>
            <a:r>
              <a:rPr lang="en-IN" dirty="0" err="1" smtClean="0"/>
              <a:t>Memoization</a:t>
            </a:r>
            <a:endParaRPr lang="en-IN" dirty="0"/>
          </a:p>
          <a:p>
            <a:pPr marL="514350" indent="-514350">
              <a:buFont typeface="+mj-lt"/>
              <a:buAutoNum type="arabicPeriod"/>
            </a:pPr>
            <a:r>
              <a:rPr lang="en-IN" dirty="0"/>
              <a:t>Reconstruction of Optimal Solution</a:t>
            </a:r>
          </a:p>
          <a:p>
            <a:pPr marL="0" indent="0">
              <a:buNone/>
            </a:pPr>
            <a:endParaRPr lang="en-IN" dirty="0"/>
          </a:p>
        </p:txBody>
      </p:sp>
    </p:spTree>
    <p:extLst>
      <p:ext uri="{BB962C8B-B14F-4D97-AF65-F5344CB8AC3E}">
        <p14:creationId xmlns:p14="http://schemas.microsoft.com/office/powerpoint/2010/main" val="147998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3991"/>
          </a:xfrm>
        </p:spPr>
        <p:txBody>
          <a:bodyPr/>
          <a:lstStyle/>
          <a:p>
            <a:r>
              <a:rPr lang="en-US" dirty="0"/>
              <a:t>Elements of Dynamic Programming</a:t>
            </a:r>
          </a:p>
        </p:txBody>
      </p:sp>
      <p:pic>
        <p:nvPicPr>
          <p:cNvPr id="4" name="Content Placeholder 3"/>
          <p:cNvPicPr>
            <a:picLocks noGrp="1" noChangeAspect="1"/>
          </p:cNvPicPr>
          <p:nvPr>
            <p:ph idx="1"/>
          </p:nvPr>
        </p:nvPicPr>
        <p:blipFill>
          <a:blip r:embed="rId2"/>
          <a:stretch>
            <a:fillRect/>
          </a:stretch>
        </p:blipFill>
        <p:spPr>
          <a:xfrm>
            <a:off x="985265" y="1119115"/>
            <a:ext cx="9564454" cy="1910687"/>
          </a:xfrm>
          <a:prstGeom prst="rect">
            <a:avLst/>
          </a:prstGeom>
        </p:spPr>
      </p:pic>
      <p:pic>
        <p:nvPicPr>
          <p:cNvPr id="5" name="Picture 4"/>
          <p:cNvPicPr>
            <a:picLocks noChangeAspect="1"/>
          </p:cNvPicPr>
          <p:nvPr/>
        </p:nvPicPr>
        <p:blipFill>
          <a:blip r:embed="rId3"/>
          <a:stretch>
            <a:fillRect/>
          </a:stretch>
        </p:blipFill>
        <p:spPr>
          <a:xfrm>
            <a:off x="985265" y="3029802"/>
            <a:ext cx="9564454" cy="3289111"/>
          </a:xfrm>
          <a:prstGeom prst="rect">
            <a:avLst/>
          </a:prstGeom>
        </p:spPr>
      </p:pic>
    </p:spTree>
    <p:extLst>
      <p:ext uri="{BB962C8B-B14F-4D97-AF65-F5344CB8AC3E}">
        <p14:creationId xmlns:p14="http://schemas.microsoft.com/office/powerpoint/2010/main" val="822751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92072" y="545910"/>
            <a:ext cx="9621671" cy="2797791"/>
          </a:xfrm>
          <a:prstGeom prst="rect">
            <a:avLst/>
          </a:prstGeom>
        </p:spPr>
      </p:pic>
    </p:spTree>
    <p:extLst>
      <p:ext uri="{BB962C8B-B14F-4D97-AF65-F5344CB8AC3E}">
        <p14:creationId xmlns:p14="http://schemas.microsoft.com/office/powerpoint/2010/main" val="3788738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65798" y="328475"/>
            <a:ext cx="10079706" cy="3028873"/>
          </a:xfrm>
          <a:prstGeom prst="rect">
            <a:avLst/>
          </a:prstGeom>
        </p:spPr>
      </p:pic>
    </p:spTree>
    <p:extLst>
      <p:ext uri="{BB962C8B-B14F-4D97-AF65-F5344CB8AC3E}">
        <p14:creationId xmlns:p14="http://schemas.microsoft.com/office/powerpoint/2010/main" val="5468367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172" y="365126"/>
            <a:ext cx="10515600" cy="1325563"/>
          </a:xfrm>
        </p:spPr>
        <p:txBody>
          <a:bodyPr/>
          <a:lstStyle/>
          <a:p>
            <a:r>
              <a:rPr dirty="0">
                <a:solidFill>
                  <a:srgbClr val="FF0000"/>
                </a:solidFill>
              </a:rPr>
              <a:t>Where Dynamic Programming is Used</a:t>
            </a:r>
          </a:p>
        </p:txBody>
      </p:sp>
      <p:sp>
        <p:nvSpPr>
          <p:cNvPr id="3" name="Content Placeholder 2"/>
          <p:cNvSpPr>
            <a:spLocks noGrp="1"/>
          </p:cNvSpPr>
          <p:nvPr>
            <p:ph idx="1"/>
          </p:nvPr>
        </p:nvSpPr>
        <p:spPr/>
        <p:txBody>
          <a:bodyPr/>
          <a:lstStyle/>
          <a:p>
            <a:pPr marL="0" indent="0">
              <a:buNone/>
            </a:pPr>
            <a:r>
              <a:rPr dirty="0"/>
              <a:t>• Shortest path problems</a:t>
            </a:r>
          </a:p>
          <a:p>
            <a:pPr marL="0" indent="0">
              <a:buNone/>
            </a:pPr>
            <a:r>
              <a:rPr dirty="0"/>
              <a:t>• Fibonacci series</a:t>
            </a:r>
          </a:p>
          <a:p>
            <a:pPr marL="0" indent="0">
              <a:buNone/>
            </a:pPr>
            <a:r>
              <a:rPr dirty="0"/>
              <a:t>• Knapsack problem</a:t>
            </a:r>
          </a:p>
          <a:p>
            <a:pPr marL="0" indent="0">
              <a:buNone/>
            </a:pPr>
            <a:r>
              <a:rPr dirty="0"/>
              <a:t>• Matrix chain multiplication</a:t>
            </a:r>
          </a:p>
          <a:p>
            <a:pPr marL="0" indent="0">
              <a:buNone/>
            </a:pPr>
            <a:r>
              <a:rPr dirty="0"/>
              <a:t>• Resource optimization problems</a:t>
            </a:r>
          </a:p>
        </p:txBody>
      </p:sp>
    </p:spTree>
    <p:extLst>
      <p:ext uri="{BB962C8B-B14F-4D97-AF65-F5344CB8AC3E}">
        <p14:creationId xmlns:p14="http://schemas.microsoft.com/office/powerpoint/2010/main" val="3203903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Principle of Optimality</a:t>
            </a:r>
          </a:p>
        </p:txBody>
      </p:sp>
      <p:sp>
        <p:nvSpPr>
          <p:cNvPr id="3" name="Content Placeholder 2"/>
          <p:cNvSpPr>
            <a:spLocks noGrp="1"/>
          </p:cNvSpPr>
          <p:nvPr>
            <p:ph idx="1"/>
          </p:nvPr>
        </p:nvSpPr>
        <p:spPr/>
        <p:txBody>
          <a:bodyPr/>
          <a:lstStyle/>
          <a:p>
            <a:pPr algn="just"/>
            <a:r>
              <a:rPr dirty="0" smtClean="0"/>
              <a:t>Proposed </a:t>
            </a:r>
            <a:r>
              <a:rPr dirty="0"/>
              <a:t>by Richard Bellman.</a:t>
            </a:r>
          </a:p>
          <a:p>
            <a:pPr algn="just"/>
            <a:r>
              <a:rPr dirty="0" smtClean="0"/>
              <a:t>It </a:t>
            </a:r>
            <a:r>
              <a:rPr dirty="0"/>
              <a:t>states that an optimal solution contains optimal solutions of </a:t>
            </a:r>
            <a:r>
              <a:rPr lang="en-US" dirty="0" smtClean="0"/>
              <a:t>      </a:t>
            </a:r>
            <a:r>
              <a:rPr dirty="0" err="1" smtClean="0"/>
              <a:t>subproblems</a:t>
            </a:r>
            <a:r>
              <a:rPr dirty="0"/>
              <a:t>.</a:t>
            </a:r>
          </a:p>
          <a:p>
            <a:pPr algn="just"/>
            <a:r>
              <a:rPr dirty="0" smtClean="0"/>
              <a:t>If </a:t>
            </a:r>
            <a:r>
              <a:rPr dirty="0"/>
              <a:t>we solve smaller problems optimally, we can build the optimal solution for the larger problem.</a:t>
            </a:r>
          </a:p>
          <a:p>
            <a:pPr algn="just"/>
            <a:r>
              <a:rPr dirty="0" smtClean="0"/>
              <a:t>This </a:t>
            </a:r>
            <a:r>
              <a:rPr dirty="0"/>
              <a:t>property allows dynamic programming to work efficiently.</a:t>
            </a:r>
          </a:p>
        </p:txBody>
      </p:sp>
    </p:spTree>
    <p:extLst>
      <p:ext uri="{BB962C8B-B14F-4D97-AF65-F5344CB8AC3E}">
        <p14:creationId xmlns:p14="http://schemas.microsoft.com/office/powerpoint/2010/main" val="1953868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Fibonacci Series</a:t>
            </a:r>
          </a:p>
        </p:txBody>
      </p:sp>
      <p:sp>
        <p:nvSpPr>
          <p:cNvPr id="3" name="Content Placeholder 2"/>
          <p:cNvSpPr>
            <a:spLocks noGrp="1"/>
          </p:cNvSpPr>
          <p:nvPr>
            <p:ph idx="1"/>
          </p:nvPr>
        </p:nvSpPr>
        <p:spPr/>
        <p:txBody>
          <a:bodyPr/>
          <a:lstStyle/>
          <a:p>
            <a:r>
              <a:rPr dirty="0"/>
              <a:t>Fibonacci Formula:</a:t>
            </a:r>
          </a:p>
          <a:p>
            <a:pPr marL="0" indent="0">
              <a:buNone/>
            </a:pPr>
            <a:r>
              <a:rPr lang="en-US" dirty="0" smtClean="0"/>
              <a:t>   </a:t>
            </a:r>
            <a:r>
              <a:rPr dirty="0" smtClean="0"/>
              <a:t>F(n</a:t>
            </a:r>
            <a:r>
              <a:rPr dirty="0"/>
              <a:t>) = F(n-1) + F(n-2)</a:t>
            </a:r>
          </a:p>
          <a:p>
            <a:endParaRPr dirty="0"/>
          </a:p>
          <a:p>
            <a:r>
              <a:rPr dirty="0"/>
              <a:t>Example:</a:t>
            </a:r>
          </a:p>
          <a:p>
            <a:pPr marL="0" indent="0">
              <a:buNone/>
            </a:pPr>
            <a:r>
              <a:rPr lang="en-US" dirty="0" smtClean="0"/>
              <a:t>   </a:t>
            </a:r>
            <a:r>
              <a:rPr dirty="0" smtClean="0"/>
              <a:t>F(5</a:t>
            </a:r>
            <a:r>
              <a:rPr dirty="0"/>
              <a:t>) = F(4) + F(3)</a:t>
            </a:r>
          </a:p>
          <a:p>
            <a:pPr marL="0" indent="0">
              <a:buNone/>
            </a:pPr>
            <a:r>
              <a:rPr lang="en-US" dirty="0" smtClean="0"/>
              <a:t>   </a:t>
            </a:r>
            <a:r>
              <a:rPr dirty="0" smtClean="0"/>
              <a:t>F(4</a:t>
            </a:r>
            <a:r>
              <a:rPr dirty="0"/>
              <a:t>) = F(3) + F(2)</a:t>
            </a:r>
          </a:p>
          <a:p>
            <a:r>
              <a:rPr dirty="0" err="1"/>
              <a:t>Subproblems</a:t>
            </a:r>
            <a:r>
              <a:rPr dirty="0"/>
              <a:t> like F(3) appear many times.</a:t>
            </a:r>
          </a:p>
          <a:p>
            <a:r>
              <a:rPr dirty="0"/>
              <a:t>Dynamic Programming stores the result and reuses it.</a:t>
            </a:r>
          </a:p>
        </p:txBody>
      </p:sp>
    </p:spTree>
    <p:extLst>
      <p:ext uri="{BB962C8B-B14F-4D97-AF65-F5344CB8AC3E}">
        <p14:creationId xmlns:p14="http://schemas.microsoft.com/office/powerpoint/2010/main" val="3378338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365125"/>
            <a:ext cx="10515600" cy="5811837"/>
          </a:xfrm>
          <a:prstGeom prst="rect">
            <a:avLst/>
          </a:prstGeom>
        </p:spPr>
      </p:pic>
    </p:spTree>
    <p:extLst>
      <p:ext uri="{BB962C8B-B14F-4D97-AF65-F5344CB8AC3E}">
        <p14:creationId xmlns:p14="http://schemas.microsoft.com/office/powerpoint/2010/main" val="46092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t="7056"/>
          <a:stretch/>
        </p:blipFill>
        <p:spPr>
          <a:xfrm>
            <a:off x="838200" y="763792"/>
            <a:ext cx="10515599" cy="5251245"/>
          </a:xfrm>
          <a:prstGeom prst="rect">
            <a:avLst/>
          </a:prstGeom>
        </p:spPr>
      </p:pic>
    </p:spTree>
    <p:extLst>
      <p:ext uri="{BB962C8B-B14F-4D97-AF65-F5344CB8AC3E}">
        <p14:creationId xmlns:p14="http://schemas.microsoft.com/office/powerpoint/2010/main" val="1933859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79699" y="365125"/>
            <a:ext cx="11220226" cy="6197040"/>
          </a:xfrm>
          <a:prstGeom prst="rect">
            <a:avLst/>
          </a:prstGeom>
        </p:spPr>
      </p:pic>
    </p:spTree>
    <p:extLst>
      <p:ext uri="{BB962C8B-B14F-4D97-AF65-F5344CB8AC3E}">
        <p14:creationId xmlns:p14="http://schemas.microsoft.com/office/powerpoint/2010/main" val="2391102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838200" y="2196306"/>
            <a:ext cx="10833847" cy="3609975"/>
          </a:xfrm>
          <a:prstGeom prst="rect">
            <a:avLst/>
          </a:prstGeom>
        </p:spPr>
      </p:pic>
      <p:pic>
        <p:nvPicPr>
          <p:cNvPr id="4" name="Picture 3"/>
          <p:cNvPicPr>
            <a:picLocks noChangeAspect="1"/>
          </p:cNvPicPr>
          <p:nvPr/>
        </p:nvPicPr>
        <p:blipFill rotWithShape="1">
          <a:blip r:embed="rId3"/>
          <a:srcRect t="36247"/>
          <a:stretch/>
        </p:blipFill>
        <p:spPr>
          <a:xfrm>
            <a:off x="838200" y="223744"/>
            <a:ext cx="10618694" cy="1608324"/>
          </a:xfrm>
          <a:prstGeom prst="rect">
            <a:avLst/>
          </a:prstGeom>
        </p:spPr>
      </p:pic>
    </p:spTree>
    <p:extLst>
      <p:ext uri="{BB962C8B-B14F-4D97-AF65-F5344CB8AC3E}">
        <p14:creationId xmlns:p14="http://schemas.microsoft.com/office/powerpoint/2010/main" val="266502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745864" y="3700631"/>
            <a:ext cx="10607936" cy="2761026"/>
          </a:xfrm>
          <a:prstGeom prst="rect">
            <a:avLst/>
          </a:prstGeom>
        </p:spPr>
      </p:pic>
      <p:pic>
        <p:nvPicPr>
          <p:cNvPr id="4" name="Picture 3"/>
          <p:cNvPicPr>
            <a:picLocks noChangeAspect="1"/>
          </p:cNvPicPr>
          <p:nvPr/>
        </p:nvPicPr>
        <p:blipFill>
          <a:blip r:embed="rId3"/>
          <a:stretch>
            <a:fillRect/>
          </a:stretch>
        </p:blipFill>
        <p:spPr>
          <a:xfrm>
            <a:off x="745864" y="0"/>
            <a:ext cx="10607936" cy="3514725"/>
          </a:xfrm>
          <a:prstGeom prst="rect">
            <a:avLst/>
          </a:prstGeom>
        </p:spPr>
      </p:pic>
    </p:spTree>
    <p:extLst>
      <p:ext uri="{BB962C8B-B14F-4D97-AF65-F5344CB8AC3E}">
        <p14:creationId xmlns:p14="http://schemas.microsoft.com/office/powerpoint/2010/main" val="3375464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88489" y="365125"/>
            <a:ext cx="10757647" cy="5811838"/>
          </a:xfrm>
          <a:prstGeom prst="rect">
            <a:avLst/>
          </a:prstGeom>
        </p:spPr>
      </p:pic>
    </p:spTree>
    <p:extLst>
      <p:ext uri="{BB962C8B-B14F-4D97-AF65-F5344CB8AC3E}">
        <p14:creationId xmlns:p14="http://schemas.microsoft.com/office/powerpoint/2010/main" val="2811141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coin change problem dynamic programming</a:t>
            </a:r>
          </a:p>
        </p:txBody>
      </p:sp>
      <p:pic>
        <p:nvPicPr>
          <p:cNvPr id="4" name="Content Placeholder 3"/>
          <p:cNvPicPr>
            <a:picLocks noGrp="1" noChangeAspect="1"/>
          </p:cNvPicPr>
          <p:nvPr>
            <p:ph idx="1"/>
          </p:nvPr>
        </p:nvPicPr>
        <p:blipFill>
          <a:blip r:embed="rId2"/>
          <a:stretch>
            <a:fillRect/>
          </a:stretch>
        </p:blipFill>
        <p:spPr>
          <a:xfrm>
            <a:off x="1228389" y="1326114"/>
            <a:ext cx="5905500" cy="1911938"/>
          </a:xfrm>
          <a:prstGeom prst="rect">
            <a:avLst/>
          </a:prstGeom>
        </p:spPr>
      </p:pic>
      <p:pic>
        <p:nvPicPr>
          <p:cNvPr id="6" name="Picture 5"/>
          <p:cNvPicPr>
            <a:picLocks noChangeAspect="1"/>
          </p:cNvPicPr>
          <p:nvPr/>
        </p:nvPicPr>
        <p:blipFill>
          <a:blip r:embed="rId3"/>
          <a:stretch>
            <a:fillRect/>
          </a:stretch>
        </p:blipFill>
        <p:spPr>
          <a:xfrm>
            <a:off x="570155" y="3399416"/>
            <a:ext cx="10240720" cy="2834696"/>
          </a:xfrm>
          <a:prstGeom prst="rect">
            <a:avLst/>
          </a:prstGeom>
        </p:spPr>
      </p:pic>
    </p:spTree>
    <p:extLst>
      <p:ext uri="{BB962C8B-B14F-4D97-AF65-F5344CB8AC3E}">
        <p14:creationId xmlns:p14="http://schemas.microsoft.com/office/powerpoint/2010/main" val="1342497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723859" y="365125"/>
            <a:ext cx="10629941" cy="5811838"/>
          </a:xfrm>
          <a:prstGeom prst="rect">
            <a:avLst/>
          </a:prstGeom>
        </p:spPr>
      </p:pic>
    </p:spTree>
    <p:extLst>
      <p:ext uri="{BB962C8B-B14F-4D97-AF65-F5344CB8AC3E}">
        <p14:creationId xmlns:p14="http://schemas.microsoft.com/office/powerpoint/2010/main" val="2248754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365125"/>
            <a:ext cx="10515600" cy="5826125"/>
          </a:xfrm>
          <a:prstGeom prst="rect">
            <a:avLst/>
          </a:prstGeom>
        </p:spPr>
      </p:pic>
    </p:spTree>
    <p:extLst>
      <p:ext uri="{BB962C8B-B14F-4D97-AF65-F5344CB8AC3E}">
        <p14:creationId xmlns:p14="http://schemas.microsoft.com/office/powerpoint/2010/main" val="1909614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07108" y="365126"/>
            <a:ext cx="10546692" cy="5916612"/>
          </a:xfrm>
          <a:prstGeom prst="rect">
            <a:avLst/>
          </a:prstGeom>
        </p:spPr>
      </p:pic>
    </p:spTree>
    <p:extLst>
      <p:ext uri="{BB962C8B-B14F-4D97-AF65-F5344CB8AC3E}">
        <p14:creationId xmlns:p14="http://schemas.microsoft.com/office/powerpoint/2010/main" val="189935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95350" y="365125"/>
            <a:ext cx="10401300" cy="5868987"/>
          </a:xfrm>
          <a:prstGeom prst="rect">
            <a:avLst/>
          </a:prstGeom>
        </p:spPr>
      </p:pic>
    </p:spTree>
    <p:extLst>
      <p:ext uri="{BB962C8B-B14F-4D97-AF65-F5344CB8AC3E}">
        <p14:creationId xmlns:p14="http://schemas.microsoft.com/office/powerpoint/2010/main" val="4187271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0/1 Knapsack Problem</a:t>
            </a:r>
            <a:r>
              <a:rPr lang="en-US" sz="3600" dirty="0">
                <a:solidFill>
                  <a:srgbClr val="FF0000"/>
                </a:solidFill>
              </a:rPr>
              <a:t> using </a:t>
            </a:r>
            <a:r>
              <a:rPr lang="en-US" sz="3600" b="1" dirty="0">
                <a:solidFill>
                  <a:srgbClr val="FF0000"/>
                </a:solidFill>
              </a:rPr>
              <a:t>Dynamic Programming</a:t>
            </a:r>
            <a:r>
              <a:rPr lang="en-US" sz="3600" dirty="0">
                <a:solidFill>
                  <a:srgbClr val="FF0000"/>
                </a:solidFill>
              </a:rPr>
              <a:t>.</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580914" y="1294322"/>
            <a:ext cx="5604733" cy="3393444"/>
          </a:xfrm>
          <a:prstGeom prst="rect">
            <a:avLst/>
          </a:prstGeom>
        </p:spPr>
      </p:pic>
      <p:pic>
        <p:nvPicPr>
          <p:cNvPr id="6" name="Content Placeholder 3"/>
          <p:cNvPicPr>
            <a:picLocks noChangeAspect="1"/>
          </p:cNvPicPr>
          <p:nvPr/>
        </p:nvPicPr>
        <p:blipFill>
          <a:blip r:embed="rId3"/>
          <a:stretch>
            <a:fillRect/>
          </a:stretch>
        </p:blipFill>
        <p:spPr>
          <a:xfrm>
            <a:off x="5120640" y="2205317"/>
            <a:ext cx="7071360" cy="4476872"/>
          </a:xfrm>
          <a:prstGeom prst="rect">
            <a:avLst/>
          </a:prstGeom>
        </p:spPr>
      </p:pic>
    </p:spTree>
    <p:extLst>
      <p:ext uri="{BB962C8B-B14F-4D97-AF65-F5344CB8AC3E}">
        <p14:creationId xmlns:p14="http://schemas.microsoft.com/office/powerpoint/2010/main" val="3643787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4149377923"/>
              </p:ext>
            </p:extLst>
          </p:nvPr>
        </p:nvGraphicFramePr>
        <p:xfrm>
          <a:off x="462578" y="946122"/>
          <a:ext cx="3216536" cy="1737360"/>
        </p:xfrm>
        <a:graphic>
          <a:graphicData uri="http://schemas.openxmlformats.org/drawingml/2006/table">
            <a:tbl>
              <a:tblPr/>
              <a:tblGrid>
                <a:gridCol w="1071582"/>
                <a:gridCol w="1072477"/>
                <a:gridCol w="1072477"/>
              </a:tblGrid>
              <a:tr h="0">
                <a:tc>
                  <a:txBody>
                    <a:bodyPr/>
                    <a:lstStyle/>
                    <a:p>
                      <a:r>
                        <a:rPr lang="en-US" dirty="0"/>
                        <a:t>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Profit (p)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Weight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0" name="TextBox 9"/>
          <p:cNvSpPr txBox="1"/>
          <p:nvPr/>
        </p:nvSpPr>
        <p:spPr>
          <a:xfrm>
            <a:off x="903643" y="376518"/>
            <a:ext cx="1789272" cy="461665"/>
          </a:xfrm>
          <a:prstGeom prst="rect">
            <a:avLst/>
          </a:prstGeom>
          <a:noFill/>
        </p:spPr>
        <p:txBody>
          <a:bodyPr wrap="none" rtlCol="0">
            <a:spAutoFit/>
          </a:bodyPr>
          <a:lstStyle/>
          <a:p>
            <a:r>
              <a:rPr lang="en-US" sz="2400" dirty="0" smtClean="0"/>
              <a:t>Capacity C=6</a:t>
            </a:r>
            <a:endParaRPr lang="en-US" sz="2400" dirty="0"/>
          </a:p>
        </p:txBody>
      </p:sp>
      <p:graphicFrame>
        <p:nvGraphicFramePr>
          <p:cNvPr id="11" name="Table 10"/>
          <p:cNvGraphicFramePr>
            <a:graphicFrameLocks noGrp="1"/>
          </p:cNvGraphicFramePr>
          <p:nvPr>
            <p:extLst>
              <p:ext uri="{D42A27DB-BD31-4B8C-83A1-F6EECF244321}">
                <p14:modId xmlns:p14="http://schemas.microsoft.com/office/powerpoint/2010/main" val="3000758399"/>
              </p:ext>
            </p:extLst>
          </p:nvPr>
        </p:nvGraphicFramePr>
        <p:xfrm>
          <a:off x="4432150" y="914399"/>
          <a:ext cx="6921648" cy="5411095"/>
        </p:xfrm>
        <a:graphic>
          <a:graphicData uri="http://schemas.openxmlformats.org/drawingml/2006/table">
            <a:tbl>
              <a:tblPr/>
              <a:tblGrid>
                <a:gridCol w="865206"/>
                <a:gridCol w="865206"/>
                <a:gridCol w="865206"/>
                <a:gridCol w="865206"/>
                <a:gridCol w="865206"/>
                <a:gridCol w="865206"/>
                <a:gridCol w="865206"/>
                <a:gridCol w="865206"/>
              </a:tblGrid>
              <a:tr h="1082219">
                <a:tc>
                  <a:txBody>
                    <a:bodyPr/>
                    <a:lstStyle/>
                    <a:p>
                      <a:r>
                        <a:rPr lang="en-US" dirty="0" err="1"/>
                        <a:t>i</a:t>
                      </a:r>
                      <a:r>
                        <a:rPr lang="en-US" dirty="0"/>
                        <a:t> \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2219">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2219">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2219">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82219">
                <a:tc>
                  <a:txBody>
                    <a:bodyPr/>
                    <a:lstStyle/>
                    <a:p>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Rectangle 11"/>
          <p:cNvSpPr/>
          <p:nvPr/>
        </p:nvSpPr>
        <p:spPr>
          <a:xfrm>
            <a:off x="4641671" y="607350"/>
            <a:ext cx="1083117" cy="400110"/>
          </a:xfrm>
          <a:prstGeom prst="rect">
            <a:avLst/>
          </a:prstGeom>
        </p:spPr>
        <p:txBody>
          <a:bodyPr wrap="none">
            <a:spAutoFit/>
          </a:bodyPr>
          <a:lstStyle/>
          <a:p>
            <a:r>
              <a:rPr lang="en-US" sz="2000" dirty="0"/>
              <a:t>DP Table</a:t>
            </a:r>
          </a:p>
        </p:txBody>
      </p:sp>
    </p:spTree>
    <p:extLst>
      <p:ext uri="{BB962C8B-B14F-4D97-AF65-F5344CB8AC3E}">
        <p14:creationId xmlns:p14="http://schemas.microsoft.com/office/powerpoint/2010/main" val="27301859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199" y="263524"/>
            <a:ext cx="4067287" cy="2425887"/>
          </a:xfrm>
          <a:prstGeom prst="rect">
            <a:avLst/>
          </a:prstGeom>
        </p:spPr>
      </p:pic>
      <p:graphicFrame>
        <p:nvGraphicFramePr>
          <p:cNvPr id="5" name="Content Placeholder 4"/>
          <p:cNvGraphicFramePr>
            <a:graphicFrameLocks noGrp="1"/>
          </p:cNvGraphicFramePr>
          <p:nvPr>
            <p:ph idx="1"/>
            <p:extLst>
              <p:ext uri="{D42A27DB-BD31-4B8C-83A1-F6EECF244321}">
                <p14:modId xmlns:p14="http://schemas.microsoft.com/office/powerpoint/2010/main" val="2499284361"/>
              </p:ext>
            </p:extLst>
          </p:nvPr>
        </p:nvGraphicFramePr>
        <p:xfrm>
          <a:off x="838200" y="2904014"/>
          <a:ext cx="10515600" cy="3141786"/>
        </p:xfrm>
        <a:graphic>
          <a:graphicData uri="http://schemas.openxmlformats.org/drawingml/2006/table">
            <a:tbl>
              <a:tblPr/>
              <a:tblGrid>
                <a:gridCol w="1051560"/>
                <a:gridCol w="1051560"/>
                <a:gridCol w="1051560"/>
                <a:gridCol w="1051560"/>
                <a:gridCol w="1051560"/>
                <a:gridCol w="1051560"/>
                <a:gridCol w="1051560"/>
                <a:gridCol w="1051560"/>
                <a:gridCol w="1051560"/>
                <a:gridCol w="1051560"/>
              </a:tblGrid>
              <a:tr h="523631">
                <a:tc>
                  <a:txBody>
                    <a:bodyPr/>
                    <a:lstStyle/>
                    <a:p>
                      <a:r>
                        <a:rPr lang="en-US" dirty="0" err="1"/>
                        <a:t>i</a:t>
                      </a:r>
                      <a:r>
                        <a:rPr lang="en-US" dirty="0"/>
                        <a:t> \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3631">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3631">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3631">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3631">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3631">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2329333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6845" y="358308"/>
            <a:ext cx="8915400" cy="523220"/>
          </a:xfrm>
          <a:prstGeom prst="rect">
            <a:avLst/>
          </a:prstGeom>
          <a:noFill/>
        </p:spPr>
        <p:txBody>
          <a:bodyPr wrap="square" rtlCol="0">
            <a:spAutoFit/>
          </a:bodyPr>
          <a:lstStyle/>
          <a:p>
            <a:r>
              <a:rPr lang="en-US" sz="2800" b="1" dirty="0"/>
              <a:t>Matrix Chain Multiplication using Dynamic Programming</a:t>
            </a:r>
          </a:p>
        </p:txBody>
      </p:sp>
      <p:sp>
        <p:nvSpPr>
          <p:cNvPr id="6" name="Rectangle 5"/>
          <p:cNvSpPr/>
          <p:nvPr/>
        </p:nvSpPr>
        <p:spPr>
          <a:xfrm>
            <a:off x="228601" y="978917"/>
            <a:ext cx="11774026" cy="240065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t>The task is to find the most efficient way to multiply these matrices together such that the total number of element multiplications is minimum</a:t>
            </a:r>
            <a:r>
              <a:rPr lang="en-US" sz="2000" dirty="0" smtClean="0"/>
              <a:t>.</a:t>
            </a:r>
          </a:p>
          <a:p>
            <a:pPr marL="342900" indent="-342900" algn="just">
              <a:lnSpc>
                <a:spcPct val="150000"/>
              </a:lnSpc>
              <a:buFont typeface="Arial" panose="020B0604020202020204" pitchFamily="34" charset="0"/>
              <a:buChar char="•"/>
            </a:pPr>
            <a:r>
              <a:rPr lang="en-US" sz="2000" dirty="0"/>
              <a:t>Note that in the matrix-chain multiplication problem, we are not actually multiplying matrices. Our goal </a:t>
            </a:r>
            <a:r>
              <a:rPr lang="en-US" sz="2000" dirty="0" smtClean="0"/>
              <a:t>is only </a:t>
            </a:r>
            <a:r>
              <a:rPr lang="en-US" sz="2000" dirty="0"/>
              <a:t>to determine an order for multiplying matrices that has the lowest cost.</a:t>
            </a:r>
            <a:endParaRPr lang="en-IN" sz="2000" dirty="0"/>
          </a:p>
          <a:p>
            <a:pPr marL="342900" indent="-34290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2706349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35380" y="98535"/>
            <a:ext cx="8291946" cy="461665"/>
          </a:xfrm>
          <a:prstGeom prst="rect">
            <a:avLst/>
          </a:prstGeom>
          <a:noFill/>
        </p:spPr>
        <p:txBody>
          <a:bodyPr wrap="square" rtlCol="0">
            <a:spAutoFit/>
          </a:bodyPr>
          <a:lstStyle/>
          <a:p>
            <a:r>
              <a:rPr lang="en-US" sz="2400" b="1" dirty="0"/>
              <a:t>Matrix Chain Multiplication using Dynamic Programming</a:t>
            </a:r>
          </a:p>
        </p:txBody>
      </p:sp>
      <p:sp>
        <p:nvSpPr>
          <p:cNvPr id="5" name="Rectangle 4"/>
          <p:cNvSpPr/>
          <p:nvPr/>
        </p:nvSpPr>
        <p:spPr>
          <a:xfrm>
            <a:off x="9906772" y="1103607"/>
            <a:ext cx="2091150" cy="923330"/>
          </a:xfrm>
          <a:prstGeom prst="rect">
            <a:avLst/>
          </a:prstGeom>
        </p:spPr>
        <p:txBody>
          <a:bodyPr wrap="none">
            <a:spAutoFit/>
          </a:bodyPr>
          <a:lstStyle/>
          <a:p>
            <a:pPr>
              <a:lnSpc>
                <a:spcPct val="150000"/>
              </a:lnSpc>
            </a:pPr>
            <a:r>
              <a:rPr lang="pt-BR" b="1" dirty="0">
                <a:solidFill>
                  <a:srgbClr val="333333"/>
                </a:solidFill>
                <a:latin typeface="inter-bold"/>
              </a:rPr>
              <a:t>Total Complexity </a:t>
            </a:r>
            <a:endParaRPr lang="pt-BR" b="1" dirty="0" smtClean="0">
              <a:solidFill>
                <a:srgbClr val="333333"/>
              </a:solidFill>
              <a:latin typeface="inter-bold"/>
            </a:endParaRPr>
          </a:p>
          <a:p>
            <a:pPr>
              <a:lnSpc>
                <a:spcPct val="150000"/>
              </a:lnSpc>
            </a:pPr>
            <a:r>
              <a:rPr lang="pt-BR" b="1" dirty="0" smtClean="0">
                <a:solidFill>
                  <a:srgbClr val="333333"/>
                </a:solidFill>
                <a:latin typeface="inter-bold"/>
              </a:rPr>
              <a:t>is</a:t>
            </a:r>
            <a:r>
              <a:rPr lang="pt-BR" b="1" dirty="0">
                <a:solidFill>
                  <a:srgbClr val="333333"/>
                </a:solidFill>
                <a:latin typeface="inter-bold"/>
              </a:rPr>
              <a:t>: O (n</a:t>
            </a:r>
            <a:r>
              <a:rPr lang="pt-BR" b="1" baseline="30000" dirty="0">
                <a:solidFill>
                  <a:srgbClr val="333333"/>
                </a:solidFill>
                <a:latin typeface="inter-bold"/>
              </a:rPr>
              <a:t>3</a:t>
            </a:r>
            <a:r>
              <a:rPr lang="pt-BR" b="1" dirty="0">
                <a:solidFill>
                  <a:srgbClr val="333333"/>
                </a:solidFill>
                <a:latin typeface="inter-bold"/>
              </a:rPr>
              <a:t>)</a:t>
            </a:r>
            <a:endParaRPr lang="en-IN" dirty="0"/>
          </a:p>
        </p:txBody>
      </p:sp>
      <p:pic>
        <p:nvPicPr>
          <p:cNvPr id="7" name="Picture 6"/>
          <p:cNvPicPr>
            <a:picLocks noChangeAspect="1"/>
          </p:cNvPicPr>
          <p:nvPr/>
        </p:nvPicPr>
        <p:blipFill>
          <a:blip r:embed="rId2"/>
          <a:stretch>
            <a:fillRect/>
          </a:stretch>
        </p:blipFill>
        <p:spPr>
          <a:xfrm>
            <a:off x="198996" y="756637"/>
            <a:ext cx="9406440" cy="5789636"/>
          </a:xfrm>
          <a:prstGeom prst="rect">
            <a:avLst/>
          </a:prstGeom>
          <a:ln>
            <a:solidFill>
              <a:schemeClr val="accent1"/>
            </a:solidFill>
          </a:ln>
        </p:spPr>
      </p:pic>
    </p:spTree>
    <p:extLst>
      <p:ext uri="{BB962C8B-B14F-4D97-AF65-F5344CB8AC3E}">
        <p14:creationId xmlns:p14="http://schemas.microsoft.com/office/powerpoint/2010/main" val="7463724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98082" y="1194099"/>
            <a:ext cx="6438301" cy="369332"/>
          </a:xfrm>
          <a:prstGeom prst="rect">
            <a:avLst/>
          </a:prstGeom>
          <a:noFill/>
        </p:spPr>
        <p:txBody>
          <a:bodyPr wrap="none" rtlCol="0">
            <a:spAutoFit/>
          </a:bodyPr>
          <a:lstStyle/>
          <a:p>
            <a:r>
              <a:rPr lang="fr-FR" dirty="0" smtClean="0">
                <a:hlinkClick r:id="rId2"/>
              </a:rPr>
              <a:t>4.3 </a:t>
            </a:r>
            <a:r>
              <a:rPr lang="fr-FR" dirty="0">
                <a:hlinkClick r:id="rId2"/>
              </a:rPr>
              <a:t>Matrix Chain Multiplication - </a:t>
            </a:r>
            <a:r>
              <a:rPr lang="fr-FR" dirty="0" err="1">
                <a:hlinkClick r:id="rId2"/>
              </a:rPr>
              <a:t>Dynamic</a:t>
            </a:r>
            <a:r>
              <a:rPr lang="fr-FR" dirty="0">
                <a:hlinkClick r:id="rId2"/>
              </a:rPr>
              <a:t> </a:t>
            </a:r>
            <a:r>
              <a:rPr lang="fr-FR" dirty="0" err="1">
                <a:hlinkClick r:id="rId2"/>
              </a:rPr>
              <a:t>Programming</a:t>
            </a:r>
            <a:r>
              <a:rPr lang="fr-FR" dirty="0">
                <a:hlinkClick r:id="rId2"/>
              </a:rPr>
              <a:t> - YouTube</a:t>
            </a:r>
            <a:endParaRPr lang="en-US" dirty="0"/>
          </a:p>
        </p:txBody>
      </p:sp>
      <p:pic>
        <p:nvPicPr>
          <p:cNvPr id="5" name="Picture 4"/>
          <p:cNvPicPr>
            <a:picLocks noChangeAspect="1"/>
          </p:cNvPicPr>
          <p:nvPr/>
        </p:nvPicPr>
        <p:blipFill>
          <a:blip r:embed="rId3"/>
          <a:stretch>
            <a:fillRect/>
          </a:stretch>
        </p:blipFill>
        <p:spPr>
          <a:xfrm>
            <a:off x="2122417" y="1968650"/>
            <a:ext cx="7634769" cy="4035702"/>
          </a:xfrm>
          <a:prstGeom prst="rect">
            <a:avLst/>
          </a:prstGeom>
        </p:spPr>
      </p:pic>
    </p:spTree>
    <p:extLst>
      <p:ext uri="{BB962C8B-B14F-4D97-AF65-F5344CB8AC3E}">
        <p14:creationId xmlns:p14="http://schemas.microsoft.com/office/powerpoint/2010/main" val="1100689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mn-lt"/>
              </a:rPr>
              <a:t>Matrix Chain </a:t>
            </a:r>
            <a:r>
              <a:rPr lang="en-US" dirty="0" smtClean="0">
                <a:solidFill>
                  <a:srgbClr val="FF0000"/>
                </a:solidFill>
                <a:latin typeface="+mn-lt"/>
              </a:rPr>
              <a:t>Multiplication IN DP</a:t>
            </a:r>
            <a:endParaRPr lang="en-US" dirty="0">
              <a:solidFill>
                <a:srgbClr val="FF0000"/>
              </a:solidFill>
              <a:latin typeface="+mn-lt"/>
            </a:endParaRPr>
          </a:p>
        </p:txBody>
      </p:sp>
      <p:pic>
        <p:nvPicPr>
          <p:cNvPr id="4" name="Content Placeholder 3"/>
          <p:cNvPicPr>
            <a:picLocks noGrp="1" noChangeAspect="1"/>
          </p:cNvPicPr>
          <p:nvPr>
            <p:ph idx="1"/>
          </p:nvPr>
        </p:nvPicPr>
        <p:blipFill>
          <a:blip r:embed="rId2"/>
          <a:stretch>
            <a:fillRect/>
          </a:stretch>
        </p:blipFill>
        <p:spPr>
          <a:xfrm>
            <a:off x="1215614" y="1825625"/>
            <a:ext cx="9305365" cy="4351338"/>
          </a:xfrm>
          <a:prstGeom prst="rect">
            <a:avLst/>
          </a:prstGeom>
        </p:spPr>
      </p:pic>
    </p:spTree>
    <p:extLst>
      <p:ext uri="{BB962C8B-B14F-4D97-AF65-F5344CB8AC3E}">
        <p14:creationId xmlns:p14="http://schemas.microsoft.com/office/powerpoint/2010/main" val="222585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365125"/>
            <a:ext cx="10515600" cy="5403850"/>
          </a:xfrm>
          <a:prstGeom prst="rect">
            <a:avLst/>
          </a:prstGeom>
        </p:spPr>
      </p:pic>
    </p:spTree>
    <p:extLst>
      <p:ext uri="{BB962C8B-B14F-4D97-AF65-F5344CB8AC3E}">
        <p14:creationId xmlns:p14="http://schemas.microsoft.com/office/powerpoint/2010/main" val="3913157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16684" y="817582"/>
            <a:ext cx="9594558" cy="5151521"/>
          </a:xfrm>
          <a:prstGeom prst="rect">
            <a:avLst/>
          </a:prstGeom>
        </p:spPr>
      </p:pic>
    </p:spTree>
    <p:extLst>
      <p:ext uri="{BB962C8B-B14F-4D97-AF65-F5344CB8AC3E}">
        <p14:creationId xmlns:p14="http://schemas.microsoft.com/office/powerpoint/2010/main" val="3745066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417" t="6152" b="5761"/>
          <a:stretch/>
        </p:blipFill>
        <p:spPr>
          <a:xfrm>
            <a:off x="75304" y="23028"/>
            <a:ext cx="4550484" cy="4764125"/>
          </a:xfrm>
          <a:prstGeom prst="rect">
            <a:avLst/>
          </a:prstGeom>
        </p:spPr>
      </p:pic>
      <p:pic>
        <p:nvPicPr>
          <p:cNvPr id="5" name="Picture 4"/>
          <p:cNvPicPr>
            <a:picLocks noChangeAspect="1"/>
          </p:cNvPicPr>
          <p:nvPr/>
        </p:nvPicPr>
        <p:blipFill rotWithShape="1">
          <a:blip r:embed="rId3"/>
          <a:srcRect t="5379"/>
          <a:stretch/>
        </p:blipFill>
        <p:spPr>
          <a:xfrm>
            <a:off x="4625788" y="1172585"/>
            <a:ext cx="7496175" cy="5459506"/>
          </a:xfrm>
          <a:prstGeom prst="rect">
            <a:avLst/>
          </a:prstGeom>
        </p:spPr>
      </p:pic>
    </p:spTree>
    <p:extLst>
      <p:ext uri="{BB962C8B-B14F-4D97-AF65-F5344CB8AC3E}">
        <p14:creationId xmlns:p14="http://schemas.microsoft.com/office/powerpoint/2010/main" val="2059930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19" y="178089"/>
            <a:ext cx="10515600" cy="1325563"/>
          </a:xfrm>
        </p:spPr>
        <p:txBody>
          <a:bodyPr>
            <a:normAutofit/>
          </a:bodyPr>
          <a:lstStyle/>
          <a:p>
            <a:pPr algn="ctr"/>
            <a:r>
              <a:rPr lang="en-US" sz="4000" b="1" dirty="0">
                <a:latin typeface="+mn-lt"/>
              </a:rPr>
              <a:t>All Pairs Shortest Path </a:t>
            </a:r>
            <a:r>
              <a:rPr lang="en-US" sz="4000" b="1" dirty="0" smtClean="0">
                <a:latin typeface="+mn-lt"/>
              </a:rPr>
              <a:t>Algorithm/ </a:t>
            </a:r>
            <a:r>
              <a:rPr lang="en-US" sz="4000" b="1" dirty="0">
                <a:latin typeface="+mn-lt"/>
              </a:rPr>
              <a:t/>
            </a:r>
            <a:br>
              <a:rPr lang="en-US" sz="4000" b="1" dirty="0">
                <a:latin typeface="+mn-lt"/>
              </a:rPr>
            </a:br>
            <a:r>
              <a:rPr lang="en-US" sz="3600" b="1" dirty="0">
                <a:latin typeface="+mn-lt"/>
              </a:rPr>
              <a:t>Floyd </a:t>
            </a:r>
            <a:r>
              <a:rPr lang="en-US" sz="3600" b="1" dirty="0" err="1">
                <a:latin typeface="+mn-lt"/>
              </a:rPr>
              <a:t>Warshall</a:t>
            </a:r>
            <a:r>
              <a:rPr lang="en-US" sz="3600" b="1" dirty="0">
                <a:latin typeface="+mn-lt"/>
              </a:rPr>
              <a:t> Algorithm</a:t>
            </a:r>
            <a:r>
              <a:rPr lang="en-US" sz="4000" b="1" dirty="0">
                <a:latin typeface="+mn-lt"/>
              </a:rPr>
              <a:t> </a:t>
            </a:r>
            <a:endParaRPr lang="en-IN" sz="4000" dirty="0">
              <a:latin typeface="+mn-lt"/>
            </a:endParaRPr>
          </a:p>
        </p:txBody>
      </p:sp>
      <p:sp>
        <p:nvSpPr>
          <p:cNvPr id="5" name="Rectangle 4"/>
          <p:cNvSpPr/>
          <p:nvPr/>
        </p:nvSpPr>
        <p:spPr>
          <a:xfrm>
            <a:off x="419100" y="1503651"/>
            <a:ext cx="11540836" cy="470898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200" dirty="0">
                <a:solidFill>
                  <a:srgbClr val="000000"/>
                </a:solidFill>
              </a:rPr>
              <a:t>The all pair shortest path algorithm is also known as Floyd-</a:t>
            </a:r>
            <a:r>
              <a:rPr lang="en-US" sz="2200" dirty="0" err="1">
                <a:solidFill>
                  <a:srgbClr val="000000"/>
                </a:solidFill>
              </a:rPr>
              <a:t>Warshall</a:t>
            </a:r>
            <a:r>
              <a:rPr lang="en-US" sz="2200" dirty="0">
                <a:solidFill>
                  <a:srgbClr val="000000"/>
                </a:solidFill>
              </a:rPr>
              <a:t> algorithm is used to find all pair shortest path problem from a given weighted graph. </a:t>
            </a:r>
          </a:p>
          <a:p>
            <a:pPr marL="342900" indent="-342900" algn="just">
              <a:lnSpc>
                <a:spcPct val="150000"/>
              </a:lnSpc>
              <a:buFont typeface="Arial" panose="020B0604020202020204" pitchFamily="34" charset="0"/>
              <a:buChar char="•"/>
            </a:pPr>
            <a:r>
              <a:rPr lang="en-US" sz="2200" dirty="0">
                <a:solidFill>
                  <a:srgbClr val="000000"/>
                </a:solidFill>
              </a:rPr>
              <a:t>It uses Dynamic programming formulation on a directed graph G (V, E).</a:t>
            </a:r>
          </a:p>
          <a:p>
            <a:pPr marL="342900" indent="-342900" algn="just">
              <a:lnSpc>
                <a:spcPct val="150000"/>
              </a:lnSpc>
              <a:buFont typeface="Arial" panose="020B0604020202020204" pitchFamily="34" charset="0"/>
              <a:buChar char="•"/>
            </a:pPr>
            <a:r>
              <a:rPr lang="en-US" sz="2200" dirty="0">
                <a:solidFill>
                  <a:srgbClr val="000000"/>
                </a:solidFill>
              </a:rPr>
              <a:t>As a result of this algorithm, </a:t>
            </a:r>
            <a:r>
              <a:rPr lang="en-US" sz="2200" b="1" dirty="0">
                <a:solidFill>
                  <a:srgbClr val="000000"/>
                </a:solidFill>
              </a:rPr>
              <a:t>it will generate a matrix, which will represent the minimum distance from any node to all other nodes in the graph</a:t>
            </a:r>
            <a:r>
              <a:rPr lang="en-US" sz="2200" dirty="0">
                <a:solidFill>
                  <a:srgbClr val="000000"/>
                </a:solidFill>
              </a:rPr>
              <a:t>.</a:t>
            </a:r>
          </a:p>
          <a:p>
            <a:pPr marL="342900" indent="-342900" algn="just">
              <a:lnSpc>
                <a:spcPct val="150000"/>
              </a:lnSpc>
              <a:buFont typeface="Arial" panose="020B0604020202020204" pitchFamily="34" charset="0"/>
              <a:buChar char="•"/>
            </a:pPr>
            <a:r>
              <a:rPr lang="en-US" sz="2200" dirty="0"/>
              <a:t>At first the output matrix is same as given cost matrix of the graph. </a:t>
            </a:r>
          </a:p>
          <a:p>
            <a:pPr marL="342900" indent="-342900" algn="just">
              <a:lnSpc>
                <a:spcPct val="150000"/>
              </a:lnSpc>
              <a:buFont typeface="Arial" panose="020B0604020202020204" pitchFamily="34" charset="0"/>
              <a:buChar char="•"/>
            </a:pPr>
            <a:r>
              <a:rPr lang="en-US" sz="2200" dirty="0"/>
              <a:t>After that the output matrix will be updated with all vertices k as the intermediate vertex.</a:t>
            </a:r>
          </a:p>
          <a:p>
            <a:pPr marL="342900" indent="-342900" algn="just">
              <a:lnSpc>
                <a:spcPct val="150000"/>
              </a:lnSpc>
              <a:buFont typeface="Arial" panose="020B0604020202020204" pitchFamily="34" charset="0"/>
              <a:buChar char="•"/>
            </a:pPr>
            <a:r>
              <a:rPr lang="en-US" sz="2200" dirty="0"/>
              <a:t>The time complexity of this algorithm is O(V3), here V is the number of vertices in the graph.</a:t>
            </a:r>
          </a:p>
          <a:p>
            <a:pPr marL="342900" indent="-342900" algn="just">
              <a:lnSpc>
                <a:spcPct val="150000"/>
              </a:lnSpc>
              <a:buFont typeface="Arial" panose="020B0604020202020204" pitchFamily="34" charset="0"/>
              <a:buChar char="•"/>
            </a:pPr>
            <a:r>
              <a:rPr lang="en-US" sz="2200" dirty="0">
                <a:solidFill>
                  <a:srgbClr val="000000"/>
                </a:solidFill>
              </a:rPr>
              <a:t>We assume that there are </a:t>
            </a:r>
            <a:r>
              <a:rPr lang="en-US" sz="2200" b="1" dirty="0">
                <a:solidFill>
                  <a:srgbClr val="000000"/>
                </a:solidFill>
              </a:rPr>
              <a:t>no negative weight cycles</a:t>
            </a:r>
            <a:r>
              <a:rPr lang="en-US" sz="2200" dirty="0">
                <a:solidFill>
                  <a:srgbClr val="000000"/>
                </a:solidFill>
              </a:rPr>
              <a:t>.</a:t>
            </a:r>
            <a:endParaRPr lang="en-US" sz="2200" dirty="0"/>
          </a:p>
        </p:txBody>
      </p:sp>
    </p:spTree>
    <p:extLst>
      <p:ext uri="{BB962C8B-B14F-4D97-AF65-F5344CB8AC3E}">
        <p14:creationId xmlns:p14="http://schemas.microsoft.com/office/powerpoint/2010/main" val="34436193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19" y="178089"/>
            <a:ext cx="10515600" cy="1325563"/>
          </a:xfrm>
        </p:spPr>
        <p:txBody>
          <a:bodyPr>
            <a:normAutofit/>
          </a:bodyPr>
          <a:lstStyle/>
          <a:p>
            <a:pPr algn="ctr"/>
            <a:r>
              <a:rPr lang="en-US" sz="4000" b="1" dirty="0">
                <a:latin typeface="+mn-lt"/>
              </a:rPr>
              <a:t>All Pairs Shortest Path Algorithm </a:t>
            </a:r>
            <a:br>
              <a:rPr lang="en-US" sz="4000" b="1" dirty="0">
                <a:latin typeface="+mn-lt"/>
              </a:rPr>
            </a:br>
            <a:r>
              <a:rPr lang="en-US" sz="3600" b="1" dirty="0">
                <a:latin typeface="+mn-lt"/>
              </a:rPr>
              <a:t>Floyd </a:t>
            </a:r>
            <a:r>
              <a:rPr lang="en-US" sz="3600" b="1" dirty="0" err="1">
                <a:latin typeface="+mn-lt"/>
              </a:rPr>
              <a:t>Warshall</a:t>
            </a:r>
            <a:r>
              <a:rPr lang="en-US" sz="3600" b="1" dirty="0">
                <a:latin typeface="+mn-lt"/>
              </a:rPr>
              <a:t> Algorithm</a:t>
            </a:r>
            <a:r>
              <a:rPr lang="en-US" sz="4000" b="1" dirty="0">
                <a:latin typeface="+mn-lt"/>
              </a:rPr>
              <a:t> </a:t>
            </a:r>
            <a:endParaRPr lang="en-IN" sz="4000" dirty="0">
              <a:latin typeface="+mn-lt"/>
            </a:endParaRPr>
          </a:p>
        </p:txBody>
      </p:sp>
      <p:pic>
        <p:nvPicPr>
          <p:cNvPr id="4" name="Picture 3"/>
          <p:cNvPicPr/>
          <p:nvPr/>
        </p:nvPicPr>
        <p:blipFill rotWithShape="1">
          <a:blip r:embed="rId2">
            <a:lum bright="-20000" contrast="40000"/>
            <a:extLst>
              <a:ext uri="{28A0092B-C50C-407E-A947-70E740481C1C}">
                <a14:useLocalDpi xmlns:a14="http://schemas.microsoft.com/office/drawing/2010/main" val="0"/>
              </a:ext>
            </a:extLst>
          </a:blip>
          <a:srcRect r="22169" b="46296"/>
          <a:stretch/>
        </p:blipFill>
        <p:spPr bwMode="auto">
          <a:xfrm>
            <a:off x="481546" y="1853444"/>
            <a:ext cx="7841571" cy="4381102"/>
          </a:xfrm>
          <a:prstGeom prst="rect">
            <a:avLst/>
          </a:prstGeom>
          <a:noFill/>
          <a:ln>
            <a:noFill/>
          </a:ln>
        </p:spPr>
      </p:pic>
      <p:sp>
        <p:nvSpPr>
          <p:cNvPr id="3" name="Rectangle 2"/>
          <p:cNvSpPr/>
          <p:nvPr/>
        </p:nvSpPr>
        <p:spPr>
          <a:xfrm>
            <a:off x="7024255" y="1592318"/>
            <a:ext cx="4987635" cy="1200329"/>
          </a:xfrm>
          <a:prstGeom prst="rect">
            <a:avLst/>
          </a:prstGeom>
          <a:ln>
            <a:solidFill>
              <a:schemeClr val="accent1"/>
            </a:solidFill>
          </a:ln>
        </p:spPr>
        <p:txBody>
          <a:bodyPr wrap="square">
            <a:spAutoFit/>
          </a:bodyPr>
          <a:lstStyle/>
          <a:p>
            <a:r>
              <a:rPr lang="en-US" dirty="0"/>
              <a:t>Floyd </a:t>
            </a:r>
            <a:r>
              <a:rPr lang="en-US" dirty="0" err="1" smtClean="0"/>
              <a:t>Warshal</a:t>
            </a:r>
            <a:r>
              <a:rPr lang="en-US" dirty="0" smtClean="0"/>
              <a:t> (</a:t>
            </a:r>
            <a:r>
              <a:rPr lang="en-US" dirty="0"/>
              <a:t>cost or weight)</a:t>
            </a:r>
          </a:p>
          <a:p>
            <a:pPr algn="just"/>
            <a:r>
              <a:rPr lang="en-US" b="1" dirty="0">
                <a:solidFill>
                  <a:srgbClr val="000000"/>
                </a:solidFill>
              </a:rPr>
              <a:t>Input</a:t>
            </a:r>
            <a:r>
              <a:rPr lang="en-US" dirty="0">
                <a:solidFill>
                  <a:srgbClr val="000000"/>
                </a:solidFill>
              </a:rPr>
              <a:t> − The cost matrix of given Graph.</a:t>
            </a:r>
          </a:p>
          <a:p>
            <a:pPr algn="just"/>
            <a:r>
              <a:rPr lang="en-US" b="1" dirty="0">
                <a:solidFill>
                  <a:srgbClr val="000000"/>
                </a:solidFill>
              </a:rPr>
              <a:t>Output</a:t>
            </a:r>
            <a:r>
              <a:rPr lang="en-US" dirty="0">
                <a:solidFill>
                  <a:srgbClr val="000000"/>
                </a:solidFill>
              </a:rPr>
              <a:t> − Matrix for shortest path between any vertex to any vertex.</a:t>
            </a:r>
            <a:endParaRPr lang="en-US" b="0" i="0" dirty="0">
              <a:solidFill>
                <a:srgbClr val="000000"/>
              </a:solidFill>
              <a:effectLst/>
            </a:endParaRPr>
          </a:p>
        </p:txBody>
      </p:sp>
    </p:spTree>
    <p:extLst>
      <p:ext uri="{BB962C8B-B14F-4D97-AF65-F5344CB8AC3E}">
        <p14:creationId xmlns:p14="http://schemas.microsoft.com/office/powerpoint/2010/main" val="36503751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19" y="45653"/>
            <a:ext cx="10515600" cy="881784"/>
          </a:xfrm>
        </p:spPr>
        <p:txBody>
          <a:bodyPr>
            <a:normAutofit/>
          </a:bodyPr>
          <a:lstStyle/>
          <a:p>
            <a:pPr algn="ctr"/>
            <a:r>
              <a:rPr lang="en-US" sz="4000" b="1" dirty="0">
                <a:latin typeface="+mn-lt"/>
              </a:rPr>
              <a:t>Analysis of </a:t>
            </a:r>
            <a:r>
              <a:rPr lang="en-US" sz="3600" b="1" dirty="0">
                <a:latin typeface="+mn-lt"/>
              </a:rPr>
              <a:t>Floyd </a:t>
            </a:r>
            <a:r>
              <a:rPr lang="en-US" sz="3600" b="1" dirty="0" err="1">
                <a:latin typeface="+mn-lt"/>
              </a:rPr>
              <a:t>Warshall</a:t>
            </a:r>
            <a:r>
              <a:rPr lang="en-US" sz="3600" b="1" dirty="0">
                <a:latin typeface="+mn-lt"/>
              </a:rPr>
              <a:t> Algorithm</a:t>
            </a:r>
            <a:r>
              <a:rPr lang="en-US" sz="4000" b="1" dirty="0">
                <a:latin typeface="+mn-lt"/>
              </a:rPr>
              <a:t> </a:t>
            </a:r>
            <a:endParaRPr lang="en-IN" sz="4000" dirty="0">
              <a:latin typeface="+mn-lt"/>
            </a:endParaRPr>
          </a:p>
        </p:txBody>
      </p:sp>
      <p:sp>
        <p:nvSpPr>
          <p:cNvPr id="3" name="Rectangle 2"/>
          <p:cNvSpPr/>
          <p:nvPr/>
        </p:nvSpPr>
        <p:spPr>
          <a:xfrm>
            <a:off x="360318" y="927437"/>
            <a:ext cx="11010901" cy="397031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t>The running time of the Floyd-</a:t>
            </a:r>
            <a:r>
              <a:rPr lang="en-US" sz="2400" dirty="0" err="1"/>
              <a:t>Warshall</a:t>
            </a:r>
            <a:r>
              <a:rPr lang="en-US" sz="2400" dirty="0"/>
              <a:t> algorithm is easy to analyze. </a:t>
            </a:r>
          </a:p>
          <a:p>
            <a:pPr marL="342900" indent="-342900" algn="just">
              <a:lnSpc>
                <a:spcPct val="150000"/>
              </a:lnSpc>
              <a:buFont typeface="Arial" panose="020B0604020202020204" pitchFamily="34" charset="0"/>
              <a:buChar char="•"/>
            </a:pPr>
            <a:r>
              <a:rPr lang="en-US" sz="2400" dirty="0"/>
              <a:t>The main loop is executed n times and </a:t>
            </a:r>
          </a:p>
          <a:p>
            <a:pPr marL="342900" indent="-342900" algn="just">
              <a:lnSpc>
                <a:spcPct val="150000"/>
              </a:lnSpc>
              <a:buFont typeface="Arial" panose="020B0604020202020204" pitchFamily="34" charset="0"/>
              <a:buChar char="•"/>
            </a:pPr>
            <a:r>
              <a:rPr lang="en-US" sz="2400" dirty="0"/>
              <a:t>The inner loop considers each of O(n2) pairs of vertices, performing a constant-time computation for each pair. </a:t>
            </a:r>
          </a:p>
          <a:p>
            <a:pPr marL="342900" indent="-342900" algn="just">
              <a:lnSpc>
                <a:spcPct val="150000"/>
              </a:lnSpc>
              <a:buFont typeface="Arial" panose="020B0604020202020204" pitchFamily="34" charset="0"/>
              <a:buChar char="•"/>
            </a:pPr>
            <a:r>
              <a:rPr lang="en-US" sz="2400" dirty="0"/>
              <a:t>If we use a data structure, such as the adjacency matrix structure, that supports methods are Adjacent and insert Directed Edge in O(1) time, </a:t>
            </a:r>
          </a:p>
          <a:p>
            <a:pPr marL="342900" indent="-342900" algn="just">
              <a:lnSpc>
                <a:spcPct val="150000"/>
              </a:lnSpc>
              <a:buFont typeface="Arial" panose="020B0604020202020204" pitchFamily="34" charset="0"/>
              <a:buChar char="•"/>
            </a:pPr>
            <a:r>
              <a:rPr lang="en-US" sz="2400" b="1" dirty="0"/>
              <a:t>Total running time is O(n3)</a:t>
            </a:r>
            <a:r>
              <a:rPr lang="en-US" sz="2400" dirty="0"/>
              <a:t>.</a:t>
            </a:r>
          </a:p>
        </p:txBody>
      </p:sp>
    </p:spTree>
    <p:extLst>
      <p:ext uri="{BB962C8B-B14F-4D97-AF65-F5344CB8AC3E}">
        <p14:creationId xmlns:p14="http://schemas.microsoft.com/office/powerpoint/2010/main" val="26117836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8479" y="18416"/>
            <a:ext cx="10515600" cy="1063336"/>
          </a:xfrm>
        </p:spPr>
        <p:txBody>
          <a:bodyPr>
            <a:normAutofit fontScale="90000"/>
          </a:bodyPr>
          <a:lstStyle/>
          <a:p>
            <a:pPr algn="ctr"/>
            <a:r>
              <a:rPr lang="en-US" sz="3600" b="1" dirty="0">
                <a:latin typeface="+mn-lt"/>
              </a:rPr>
              <a:t>All Pairs Shortest Path Algorithm </a:t>
            </a:r>
            <a:br>
              <a:rPr lang="en-US" sz="3600" b="1" dirty="0">
                <a:latin typeface="+mn-lt"/>
              </a:rPr>
            </a:br>
            <a:r>
              <a:rPr lang="en-US" sz="3200" b="1" dirty="0">
                <a:latin typeface="+mn-lt"/>
              </a:rPr>
              <a:t>Floyd </a:t>
            </a:r>
            <a:r>
              <a:rPr lang="en-US" sz="3200" b="1" dirty="0" err="1">
                <a:latin typeface="+mn-lt"/>
              </a:rPr>
              <a:t>Warshall</a:t>
            </a:r>
            <a:r>
              <a:rPr lang="en-US" sz="3200" b="1" dirty="0">
                <a:latin typeface="+mn-lt"/>
              </a:rPr>
              <a:t> Algorithm for Practical</a:t>
            </a:r>
            <a:r>
              <a:rPr lang="en-US" sz="3600" b="1" dirty="0">
                <a:latin typeface="+mn-lt"/>
              </a:rPr>
              <a:t> </a:t>
            </a:r>
            <a:endParaRPr lang="en-IN" sz="3600" dirty="0">
              <a:latin typeface="+mn-lt"/>
            </a:endParaRPr>
          </a:p>
        </p:txBody>
      </p:sp>
      <p:sp>
        <p:nvSpPr>
          <p:cNvPr id="3" name="Rectangle 2"/>
          <p:cNvSpPr/>
          <p:nvPr/>
        </p:nvSpPr>
        <p:spPr>
          <a:xfrm>
            <a:off x="344162" y="1044536"/>
            <a:ext cx="9856865" cy="1338828"/>
          </a:xfrm>
          <a:prstGeom prst="rect">
            <a:avLst/>
          </a:prstGeom>
          <a:ln>
            <a:solidFill>
              <a:schemeClr val="accent1"/>
            </a:solidFill>
          </a:ln>
        </p:spPr>
        <p:txBody>
          <a:bodyPr wrap="square">
            <a:spAutoFit/>
          </a:bodyPr>
          <a:lstStyle/>
          <a:p>
            <a:pPr>
              <a:lnSpc>
                <a:spcPct val="150000"/>
              </a:lnSpc>
            </a:pPr>
            <a:r>
              <a:rPr lang="en-US" dirty="0" err="1" smtClean="0"/>
              <a:t>floydWarshal</a:t>
            </a:r>
            <a:r>
              <a:rPr lang="en-US" dirty="0" smtClean="0"/>
              <a:t> (</a:t>
            </a:r>
            <a:r>
              <a:rPr lang="en-US" dirty="0"/>
              <a:t>cost)</a:t>
            </a:r>
          </a:p>
          <a:p>
            <a:pPr algn="just">
              <a:lnSpc>
                <a:spcPct val="150000"/>
              </a:lnSpc>
            </a:pPr>
            <a:r>
              <a:rPr lang="en-US" b="1" dirty="0">
                <a:solidFill>
                  <a:srgbClr val="000000"/>
                </a:solidFill>
              </a:rPr>
              <a:t>Input</a:t>
            </a:r>
            <a:r>
              <a:rPr lang="en-US" dirty="0">
                <a:solidFill>
                  <a:srgbClr val="000000"/>
                </a:solidFill>
              </a:rPr>
              <a:t> − The cost matrix of given Graph.</a:t>
            </a:r>
          </a:p>
          <a:p>
            <a:pPr algn="just">
              <a:lnSpc>
                <a:spcPct val="150000"/>
              </a:lnSpc>
            </a:pPr>
            <a:r>
              <a:rPr lang="en-US" b="1" dirty="0">
                <a:solidFill>
                  <a:srgbClr val="000000"/>
                </a:solidFill>
              </a:rPr>
              <a:t>Output</a:t>
            </a:r>
            <a:r>
              <a:rPr lang="en-US" dirty="0">
                <a:solidFill>
                  <a:srgbClr val="000000"/>
                </a:solidFill>
              </a:rPr>
              <a:t> − Matrix to for shortest path between any vertex to any vertex.</a:t>
            </a:r>
            <a:endParaRPr lang="en-US" b="0" i="0" dirty="0">
              <a:solidFill>
                <a:srgbClr val="000000"/>
              </a:solidFill>
              <a:effectLst/>
            </a:endParaRPr>
          </a:p>
        </p:txBody>
      </p:sp>
      <p:pic>
        <p:nvPicPr>
          <p:cNvPr id="6" name="Picture 5"/>
          <p:cNvPicPr>
            <a:picLocks noChangeAspect="1"/>
          </p:cNvPicPr>
          <p:nvPr/>
        </p:nvPicPr>
        <p:blipFill>
          <a:blip r:embed="rId2"/>
          <a:stretch>
            <a:fillRect/>
          </a:stretch>
        </p:blipFill>
        <p:spPr>
          <a:xfrm>
            <a:off x="344162" y="2569357"/>
            <a:ext cx="7054165" cy="3859619"/>
          </a:xfrm>
          <a:prstGeom prst="rect">
            <a:avLst/>
          </a:prstGeom>
          <a:ln>
            <a:solidFill>
              <a:schemeClr val="accent1"/>
            </a:solidFill>
          </a:ln>
        </p:spPr>
      </p:pic>
    </p:spTree>
    <p:extLst>
      <p:ext uri="{BB962C8B-B14F-4D97-AF65-F5344CB8AC3E}">
        <p14:creationId xmlns:p14="http://schemas.microsoft.com/office/powerpoint/2010/main" val="27938811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a:t>All Pairs Shortest Path Algorithm </a:t>
            </a:r>
            <a:br>
              <a:rPr lang="en-US" sz="4800" b="1" dirty="0"/>
            </a:br>
            <a:r>
              <a:rPr lang="en-US" b="1" dirty="0"/>
              <a:t>Floyd </a:t>
            </a:r>
            <a:r>
              <a:rPr lang="en-US" b="1" dirty="0" err="1"/>
              <a:t>Warshall</a:t>
            </a:r>
            <a:r>
              <a:rPr lang="en-US" b="1" dirty="0"/>
              <a:t> </a:t>
            </a:r>
            <a:r>
              <a:rPr lang="en-US" b="1" dirty="0" smtClean="0"/>
              <a:t>Algorithm</a:t>
            </a:r>
            <a:endParaRPr lang="en-US" dirty="0"/>
          </a:p>
        </p:txBody>
      </p:sp>
      <p:pic>
        <p:nvPicPr>
          <p:cNvPr id="4" name="Picture 3"/>
          <p:cNvPicPr>
            <a:picLocks noChangeAspect="1"/>
          </p:cNvPicPr>
          <p:nvPr/>
        </p:nvPicPr>
        <p:blipFill>
          <a:blip r:embed="rId2"/>
          <a:stretch>
            <a:fillRect/>
          </a:stretch>
        </p:blipFill>
        <p:spPr>
          <a:xfrm>
            <a:off x="1376979" y="1690689"/>
            <a:ext cx="7078532" cy="4548746"/>
          </a:xfrm>
          <a:prstGeom prst="rect">
            <a:avLst/>
          </a:prstGeom>
        </p:spPr>
      </p:pic>
    </p:spTree>
    <p:extLst>
      <p:ext uri="{BB962C8B-B14F-4D97-AF65-F5344CB8AC3E}">
        <p14:creationId xmlns:p14="http://schemas.microsoft.com/office/powerpoint/2010/main" val="855128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08498" y="742279"/>
            <a:ext cx="7810051" cy="5270686"/>
          </a:xfrm>
          <a:prstGeom prst="rect">
            <a:avLst/>
          </a:prstGeom>
        </p:spPr>
      </p:pic>
    </p:spTree>
    <p:extLst>
      <p:ext uri="{BB962C8B-B14F-4D97-AF65-F5344CB8AC3E}">
        <p14:creationId xmlns:p14="http://schemas.microsoft.com/office/powerpoint/2010/main" val="29398812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7134"/>
          <a:stretch/>
        </p:blipFill>
        <p:spPr>
          <a:xfrm>
            <a:off x="1775012" y="537882"/>
            <a:ext cx="8175811" cy="5970494"/>
          </a:xfrm>
          <a:prstGeom prst="rect">
            <a:avLst/>
          </a:prstGeom>
        </p:spPr>
      </p:pic>
    </p:spTree>
    <p:extLst>
      <p:ext uri="{BB962C8B-B14F-4D97-AF65-F5344CB8AC3E}">
        <p14:creationId xmlns:p14="http://schemas.microsoft.com/office/powerpoint/2010/main" val="3181203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38400" y="1066800"/>
            <a:ext cx="685800" cy="685800"/>
          </a:xfrm>
          <a:prstGeom prst="rect">
            <a:avLst/>
          </a:prstGeom>
        </p:spPr>
      </p:pic>
      <p:sp>
        <p:nvSpPr>
          <p:cNvPr id="3" name="Content Placeholder 2"/>
          <p:cNvSpPr>
            <a:spLocks noGrp="1"/>
          </p:cNvSpPr>
          <p:nvPr>
            <p:ph idx="1"/>
          </p:nvPr>
        </p:nvSpPr>
        <p:spPr>
          <a:xfrm>
            <a:off x="1905000" y="457200"/>
            <a:ext cx="8229600" cy="5715000"/>
          </a:xfrm>
        </p:spPr>
        <p:txBody>
          <a:bodyPr/>
          <a:lstStyle/>
          <a:p>
            <a:pPr marL="0" indent="0">
              <a:buNone/>
            </a:pPr>
            <a:r>
              <a:rPr lang="en-IN" dirty="0"/>
              <a:t>               </a:t>
            </a:r>
          </a:p>
          <a:p>
            <a:pPr marL="0" indent="0">
              <a:buNone/>
            </a:pPr>
            <a:r>
              <a:rPr lang="en-IN" dirty="0"/>
              <a:t>        </a:t>
            </a:r>
          </a:p>
        </p:txBody>
      </p:sp>
      <p:pic>
        <p:nvPicPr>
          <p:cNvPr id="17" name="Picture 16"/>
          <p:cNvPicPr>
            <a:picLocks noChangeAspect="1"/>
          </p:cNvPicPr>
          <p:nvPr/>
        </p:nvPicPr>
        <p:blipFill>
          <a:blip r:embed="rId2"/>
          <a:stretch>
            <a:fillRect/>
          </a:stretch>
        </p:blipFill>
        <p:spPr>
          <a:xfrm>
            <a:off x="4017818" y="2376054"/>
            <a:ext cx="685800" cy="685800"/>
          </a:xfrm>
          <a:prstGeom prst="rect">
            <a:avLst/>
          </a:prstGeom>
        </p:spPr>
      </p:pic>
      <p:pic>
        <p:nvPicPr>
          <p:cNvPr id="18" name="Picture 17"/>
          <p:cNvPicPr>
            <a:picLocks noChangeAspect="1"/>
          </p:cNvPicPr>
          <p:nvPr/>
        </p:nvPicPr>
        <p:blipFill>
          <a:blip r:embed="rId2"/>
          <a:stretch>
            <a:fillRect/>
          </a:stretch>
        </p:blipFill>
        <p:spPr>
          <a:xfrm>
            <a:off x="4017818" y="1073727"/>
            <a:ext cx="685800" cy="685800"/>
          </a:xfrm>
          <a:prstGeom prst="rect">
            <a:avLst/>
          </a:prstGeom>
        </p:spPr>
      </p:pic>
      <p:pic>
        <p:nvPicPr>
          <p:cNvPr id="19" name="Picture 18"/>
          <p:cNvPicPr>
            <a:picLocks noChangeAspect="1"/>
          </p:cNvPicPr>
          <p:nvPr/>
        </p:nvPicPr>
        <p:blipFill>
          <a:blip r:embed="rId2"/>
          <a:stretch>
            <a:fillRect/>
          </a:stretch>
        </p:blipFill>
        <p:spPr>
          <a:xfrm>
            <a:off x="2438400" y="2376054"/>
            <a:ext cx="685800" cy="685800"/>
          </a:xfrm>
          <a:prstGeom prst="rect">
            <a:avLst/>
          </a:prstGeom>
        </p:spPr>
      </p:pic>
      <p:cxnSp>
        <p:nvCxnSpPr>
          <p:cNvPr id="21" name="Straight Arrow Connector 20"/>
          <p:cNvCxnSpPr/>
          <p:nvPr/>
        </p:nvCxnSpPr>
        <p:spPr>
          <a:xfrm>
            <a:off x="3048001" y="1524001"/>
            <a:ext cx="1110161" cy="11309"/>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flipH="1" flipV="1">
            <a:off x="2992582" y="1143000"/>
            <a:ext cx="1146332" cy="4526"/>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4343400" y="1759528"/>
            <a:ext cx="0" cy="616527"/>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2590800" y="1614054"/>
            <a:ext cx="0" cy="907473"/>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a:off x="4360718" y="1759528"/>
            <a:ext cx="0" cy="616527"/>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2895600" y="1676400"/>
            <a:ext cx="0" cy="758538"/>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17" idx="1"/>
          </p:cNvCxnSpPr>
          <p:nvPr/>
        </p:nvCxnSpPr>
        <p:spPr>
          <a:xfrm flipH="1">
            <a:off x="3124200" y="2718954"/>
            <a:ext cx="893618" cy="0"/>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sp>
        <p:nvSpPr>
          <p:cNvPr id="42" name="TextBox 41"/>
          <p:cNvSpPr txBox="1"/>
          <p:nvPr/>
        </p:nvSpPr>
        <p:spPr>
          <a:xfrm>
            <a:off x="2590800" y="1153180"/>
            <a:ext cx="367408" cy="523220"/>
          </a:xfrm>
          <a:prstGeom prst="rect">
            <a:avLst/>
          </a:prstGeom>
          <a:noFill/>
        </p:spPr>
        <p:txBody>
          <a:bodyPr wrap="none" rtlCol="0">
            <a:spAutoFit/>
          </a:bodyPr>
          <a:lstStyle/>
          <a:p>
            <a:r>
              <a:rPr lang="en-IN" sz="2800" b="1" dirty="0"/>
              <a:t>1</a:t>
            </a:r>
          </a:p>
        </p:txBody>
      </p:sp>
      <p:sp>
        <p:nvSpPr>
          <p:cNvPr id="43" name="TextBox 42"/>
          <p:cNvSpPr txBox="1"/>
          <p:nvPr/>
        </p:nvSpPr>
        <p:spPr>
          <a:xfrm>
            <a:off x="4159696" y="1143000"/>
            <a:ext cx="367408" cy="523220"/>
          </a:xfrm>
          <a:prstGeom prst="rect">
            <a:avLst/>
          </a:prstGeom>
          <a:noFill/>
        </p:spPr>
        <p:txBody>
          <a:bodyPr wrap="none" rtlCol="0">
            <a:spAutoFit/>
          </a:bodyPr>
          <a:lstStyle/>
          <a:p>
            <a:r>
              <a:rPr lang="en-IN" sz="2800" b="1" dirty="0"/>
              <a:t>2</a:t>
            </a:r>
          </a:p>
        </p:txBody>
      </p:sp>
      <p:sp>
        <p:nvSpPr>
          <p:cNvPr id="44" name="TextBox 43"/>
          <p:cNvSpPr txBox="1"/>
          <p:nvPr/>
        </p:nvSpPr>
        <p:spPr>
          <a:xfrm>
            <a:off x="4183810" y="2429635"/>
            <a:ext cx="367408" cy="523220"/>
          </a:xfrm>
          <a:prstGeom prst="rect">
            <a:avLst/>
          </a:prstGeom>
          <a:noFill/>
        </p:spPr>
        <p:txBody>
          <a:bodyPr wrap="none" rtlCol="0">
            <a:spAutoFit/>
          </a:bodyPr>
          <a:lstStyle/>
          <a:p>
            <a:r>
              <a:rPr lang="en-IN" sz="2800" b="1" dirty="0"/>
              <a:t>3</a:t>
            </a:r>
          </a:p>
        </p:txBody>
      </p:sp>
      <p:sp>
        <p:nvSpPr>
          <p:cNvPr id="45" name="TextBox 44"/>
          <p:cNvSpPr txBox="1"/>
          <p:nvPr/>
        </p:nvSpPr>
        <p:spPr>
          <a:xfrm>
            <a:off x="2590800" y="2439816"/>
            <a:ext cx="367408" cy="523220"/>
          </a:xfrm>
          <a:prstGeom prst="rect">
            <a:avLst/>
          </a:prstGeom>
          <a:noFill/>
        </p:spPr>
        <p:txBody>
          <a:bodyPr wrap="none" rtlCol="0">
            <a:spAutoFit/>
          </a:bodyPr>
          <a:lstStyle/>
          <a:p>
            <a:r>
              <a:rPr lang="en-IN" sz="2800" b="1" dirty="0"/>
              <a:t>4</a:t>
            </a:r>
          </a:p>
        </p:txBody>
      </p:sp>
      <p:sp>
        <p:nvSpPr>
          <p:cNvPr id="46" name="TextBox 45"/>
          <p:cNvSpPr txBox="1"/>
          <p:nvPr/>
        </p:nvSpPr>
        <p:spPr>
          <a:xfrm>
            <a:off x="3435927" y="748144"/>
            <a:ext cx="315191" cy="523220"/>
          </a:xfrm>
          <a:prstGeom prst="rect">
            <a:avLst/>
          </a:prstGeom>
          <a:noFill/>
        </p:spPr>
        <p:txBody>
          <a:bodyPr wrap="square" rtlCol="0">
            <a:spAutoFit/>
          </a:bodyPr>
          <a:lstStyle/>
          <a:p>
            <a:r>
              <a:rPr lang="en-IN" sz="2800" b="1" dirty="0"/>
              <a:t>8</a:t>
            </a:r>
          </a:p>
        </p:txBody>
      </p:sp>
      <p:sp>
        <p:nvSpPr>
          <p:cNvPr id="47" name="TextBox 46"/>
          <p:cNvSpPr txBox="1"/>
          <p:nvPr/>
        </p:nvSpPr>
        <p:spPr>
          <a:xfrm>
            <a:off x="3394495" y="1457980"/>
            <a:ext cx="367408" cy="523220"/>
          </a:xfrm>
          <a:prstGeom prst="rect">
            <a:avLst/>
          </a:prstGeom>
          <a:noFill/>
        </p:spPr>
        <p:txBody>
          <a:bodyPr wrap="none" rtlCol="0">
            <a:spAutoFit/>
          </a:bodyPr>
          <a:lstStyle/>
          <a:p>
            <a:r>
              <a:rPr lang="en-IN" sz="2800" b="1" dirty="0"/>
              <a:t>3</a:t>
            </a:r>
          </a:p>
        </p:txBody>
      </p:sp>
      <p:sp>
        <p:nvSpPr>
          <p:cNvPr id="48" name="TextBox 47"/>
          <p:cNvSpPr txBox="1"/>
          <p:nvPr/>
        </p:nvSpPr>
        <p:spPr>
          <a:xfrm>
            <a:off x="4353791" y="1676400"/>
            <a:ext cx="367408" cy="523220"/>
          </a:xfrm>
          <a:prstGeom prst="rect">
            <a:avLst/>
          </a:prstGeom>
          <a:noFill/>
        </p:spPr>
        <p:txBody>
          <a:bodyPr wrap="none" rtlCol="0">
            <a:spAutoFit/>
          </a:bodyPr>
          <a:lstStyle/>
          <a:p>
            <a:r>
              <a:rPr lang="en-IN" sz="2800" b="1" dirty="0"/>
              <a:t>2</a:t>
            </a:r>
          </a:p>
        </p:txBody>
      </p:sp>
      <p:sp>
        <p:nvSpPr>
          <p:cNvPr id="49" name="TextBox 48"/>
          <p:cNvSpPr txBox="1"/>
          <p:nvPr/>
        </p:nvSpPr>
        <p:spPr>
          <a:xfrm>
            <a:off x="2832992" y="1838980"/>
            <a:ext cx="367408" cy="523220"/>
          </a:xfrm>
          <a:prstGeom prst="rect">
            <a:avLst/>
          </a:prstGeom>
          <a:noFill/>
        </p:spPr>
        <p:txBody>
          <a:bodyPr wrap="none" rtlCol="0">
            <a:spAutoFit/>
          </a:bodyPr>
          <a:lstStyle/>
          <a:p>
            <a:r>
              <a:rPr lang="en-IN" sz="2800" b="1" dirty="0"/>
              <a:t>2</a:t>
            </a:r>
          </a:p>
        </p:txBody>
      </p:sp>
      <p:sp>
        <p:nvSpPr>
          <p:cNvPr id="50" name="TextBox 49"/>
          <p:cNvSpPr txBox="1"/>
          <p:nvPr/>
        </p:nvSpPr>
        <p:spPr>
          <a:xfrm>
            <a:off x="2286000" y="1686580"/>
            <a:ext cx="367408" cy="523220"/>
          </a:xfrm>
          <a:prstGeom prst="rect">
            <a:avLst/>
          </a:prstGeom>
          <a:noFill/>
        </p:spPr>
        <p:txBody>
          <a:bodyPr wrap="none" rtlCol="0">
            <a:spAutoFit/>
          </a:bodyPr>
          <a:lstStyle/>
          <a:p>
            <a:r>
              <a:rPr lang="en-IN" sz="2800" b="1" dirty="0"/>
              <a:t>7</a:t>
            </a:r>
          </a:p>
        </p:txBody>
      </p:sp>
      <p:sp>
        <p:nvSpPr>
          <p:cNvPr id="51" name="TextBox 50"/>
          <p:cNvSpPr txBox="1"/>
          <p:nvPr/>
        </p:nvSpPr>
        <p:spPr>
          <a:xfrm>
            <a:off x="3366392" y="2600980"/>
            <a:ext cx="367408" cy="523220"/>
          </a:xfrm>
          <a:prstGeom prst="rect">
            <a:avLst/>
          </a:prstGeom>
          <a:noFill/>
        </p:spPr>
        <p:txBody>
          <a:bodyPr wrap="none" rtlCol="0">
            <a:spAutoFit/>
          </a:bodyPr>
          <a:lstStyle/>
          <a:p>
            <a:r>
              <a:rPr lang="en-IN" sz="2800" b="1" dirty="0"/>
              <a:t>1</a:t>
            </a:r>
          </a:p>
        </p:txBody>
      </p:sp>
      <p:cxnSp>
        <p:nvCxnSpPr>
          <p:cNvPr id="56" name="Straight Arrow Connector 55"/>
          <p:cNvCxnSpPr/>
          <p:nvPr/>
        </p:nvCxnSpPr>
        <p:spPr>
          <a:xfrm flipH="1" flipV="1">
            <a:off x="3002974" y="1629393"/>
            <a:ext cx="1135941" cy="867889"/>
          </a:xfrm>
          <a:prstGeom prst="straightConnector1">
            <a:avLst/>
          </a:prstGeom>
          <a:ln w="34925">
            <a:tailEnd type="triangle" w="lg" len="lg"/>
          </a:ln>
        </p:spPr>
        <p:style>
          <a:lnRef idx="1">
            <a:schemeClr val="dk1"/>
          </a:lnRef>
          <a:fillRef idx="0">
            <a:schemeClr val="dk1"/>
          </a:fillRef>
          <a:effectRef idx="0">
            <a:schemeClr val="dk1"/>
          </a:effectRef>
          <a:fontRef idx="minor">
            <a:schemeClr val="tx1"/>
          </a:fontRef>
        </p:style>
      </p:cxnSp>
      <p:sp>
        <p:nvSpPr>
          <p:cNvPr id="59" name="TextBox 58"/>
          <p:cNvSpPr txBox="1"/>
          <p:nvPr/>
        </p:nvSpPr>
        <p:spPr>
          <a:xfrm>
            <a:off x="3733800" y="1828800"/>
            <a:ext cx="367408" cy="523220"/>
          </a:xfrm>
          <a:prstGeom prst="rect">
            <a:avLst/>
          </a:prstGeom>
          <a:noFill/>
        </p:spPr>
        <p:txBody>
          <a:bodyPr wrap="none" rtlCol="0">
            <a:spAutoFit/>
          </a:bodyPr>
          <a:lstStyle/>
          <a:p>
            <a:r>
              <a:rPr lang="en-IN" sz="2800" b="1" dirty="0"/>
              <a:t>5</a:t>
            </a:r>
          </a:p>
        </p:txBody>
      </p:sp>
      <p:graphicFrame>
        <p:nvGraphicFramePr>
          <p:cNvPr id="60" name="Table 59"/>
          <p:cNvGraphicFramePr>
            <a:graphicFrameLocks noGrp="1"/>
          </p:cNvGraphicFramePr>
          <p:nvPr>
            <p:extLst/>
          </p:nvPr>
        </p:nvGraphicFramePr>
        <p:xfrm>
          <a:off x="6858000" y="518160"/>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64" name="Left Bracket 63"/>
          <p:cNvSpPr/>
          <p:nvPr/>
        </p:nvSpPr>
        <p:spPr>
          <a:xfrm>
            <a:off x="7391400" y="1000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65" name="Left Bracket 64"/>
          <p:cNvSpPr/>
          <p:nvPr/>
        </p:nvSpPr>
        <p:spPr>
          <a:xfrm flipH="1">
            <a:off x="9067801" y="1000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66" name="Right Arrow 65"/>
          <p:cNvSpPr/>
          <p:nvPr/>
        </p:nvSpPr>
        <p:spPr>
          <a:xfrm>
            <a:off x="5292830" y="1686580"/>
            <a:ext cx="1107971" cy="513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p:cNvSpPr txBox="1"/>
          <p:nvPr/>
        </p:nvSpPr>
        <p:spPr>
          <a:xfrm>
            <a:off x="3581400" y="4800601"/>
            <a:ext cx="453970" cy="461665"/>
          </a:xfrm>
          <a:prstGeom prst="rect">
            <a:avLst/>
          </a:prstGeom>
          <a:noFill/>
        </p:spPr>
        <p:txBody>
          <a:bodyPr wrap="none" rtlCol="0">
            <a:spAutoFit/>
          </a:bodyPr>
          <a:lstStyle/>
          <a:p>
            <a:r>
              <a:rPr lang="en-IN" sz="2400" dirty="0"/>
              <a:t>A</a:t>
            </a:r>
            <a:r>
              <a:rPr lang="en-IN" sz="1400" dirty="0"/>
              <a:t>0</a:t>
            </a:r>
          </a:p>
        </p:txBody>
      </p:sp>
      <p:sp>
        <p:nvSpPr>
          <p:cNvPr id="68" name="Equal 67"/>
          <p:cNvSpPr/>
          <p:nvPr/>
        </p:nvSpPr>
        <p:spPr>
          <a:xfrm>
            <a:off x="4114800" y="4872336"/>
            <a:ext cx="439882" cy="309265"/>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69" name="Table 68"/>
          <p:cNvGraphicFramePr>
            <a:graphicFrameLocks noGrp="1"/>
          </p:cNvGraphicFramePr>
          <p:nvPr>
            <p:extLst/>
          </p:nvPr>
        </p:nvGraphicFramePr>
        <p:xfrm>
          <a:off x="4724400" y="3489960"/>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70" name="Left Bracket 69"/>
          <p:cNvSpPr/>
          <p:nvPr/>
        </p:nvSpPr>
        <p:spPr>
          <a:xfrm>
            <a:off x="5257800" y="39725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71" name="Left Bracket 70"/>
          <p:cNvSpPr/>
          <p:nvPr/>
        </p:nvSpPr>
        <p:spPr>
          <a:xfrm flipH="1">
            <a:off x="6934201" y="39725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0206677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1"/>
            <a:ext cx="8229600" cy="5897563"/>
          </a:xfrm>
        </p:spPr>
        <p:txBody>
          <a:bodyPr>
            <a:normAutofit/>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endParaRPr lang="en-IN" sz="2000" dirty="0"/>
          </a:p>
          <a:p>
            <a:pPr marL="0" indent="0">
              <a:buNone/>
            </a:pPr>
            <a:endParaRPr lang="en-IN" sz="2000" dirty="0"/>
          </a:p>
          <a:p>
            <a:pPr marL="0" indent="0">
              <a:buNone/>
            </a:pPr>
            <a:endParaRPr lang="en-IN" sz="2000" dirty="0"/>
          </a:p>
          <a:p>
            <a:pPr marL="0" indent="0">
              <a:buNone/>
            </a:pPr>
            <a:r>
              <a:rPr lang="en-IN" dirty="0"/>
              <a:t> A</a:t>
            </a:r>
            <a:r>
              <a:rPr lang="en-IN" sz="1800" dirty="0"/>
              <a:t>1 =</a:t>
            </a: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endParaRPr lang="en-IN" dirty="0"/>
                    </a:p>
                  </a:txBody>
                  <a:tcPr anchor="ctr"/>
                </a:tc>
                <a:tc>
                  <a:txBody>
                    <a:bodyPr/>
                    <a:lstStyle/>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tc>
                  <a:txBody>
                    <a:bodyPr/>
                    <a:lstStyle/>
                    <a:p>
                      <a:pPr algn="ctr"/>
                      <a:endParaRPr lang="en-IN"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1676567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7"/>
            <a:ext cx="8229600" cy="5897563"/>
          </a:xfrm>
        </p:spPr>
        <p:txBody>
          <a:bodyPr>
            <a:normAutofit/>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a:t>
            </a:r>
            <a:r>
              <a:rPr lang="en-IN" sz="2000" b="1" dirty="0">
                <a:solidFill>
                  <a:srgbClr val="FF0000"/>
                </a:solidFill>
              </a:rPr>
              <a:t>2</a:t>
            </a:r>
            <a:r>
              <a:rPr lang="en-IN" sz="2000" dirty="0"/>
              <a:t>		          8 +  </a:t>
            </a:r>
            <a:r>
              <a:rPr lang="en-IN" sz="2000" b="1" dirty="0"/>
              <a:t>∞ = ∞</a:t>
            </a:r>
            <a:endParaRPr lang="en-IN" sz="2000" dirty="0"/>
          </a:p>
          <a:p>
            <a:pPr marL="0" indent="0">
              <a:buNone/>
            </a:pPr>
            <a:endParaRPr lang="en-IN" sz="2000" dirty="0"/>
          </a:p>
          <a:p>
            <a:pPr marL="0" indent="0">
              <a:buNone/>
            </a:pPr>
            <a:r>
              <a:rPr lang="en-IN" dirty="0"/>
              <a:t> A</a:t>
            </a:r>
            <a:r>
              <a:rPr lang="en-IN" sz="1800" dirty="0"/>
              <a:t>1 =</a:t>
            </a: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sz="2400" b="1" dirty="0">
                          <a:solidFill>
                            <a:srgbClr val="FF0000"/>
                          </a:solidFill>
                        </a:rPr>
                        <a:t>2</a:t>
                      </a:r>
                    </a:p>
                  </a:txBody>
                  <a:tcPr anchor="ctr"/>
                </a:tc>
                <a:tc>
                  <a:txBody>
                    <a:bodyPr/>
                    <a:lstStyle/>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tc>
                  <a:txBody>
                    <a:bodyPr/>
                    <a:lstStyle/>
                    <a:p>
                      <a:pPr algn="ctr"/>
                      <a:endParaRPr lang="en-IN"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38457532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7"/>
            <a:ext cx="8229600" cy="5897563"/>
          </a:xfrm>
        </p:spPr>
        <p:txBody>
          <a:bodyPr>
            <a:normAutofit/>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2		          8 +  </a:t>
            </a:r>
            <a:r>
              <a:rPr lang="en-IN" sz="2000" b="1" dirty="0"/>
              <a:t>∞ = ∞</a:t>
            </a:r>
          </a:p>
          <a:p>
            <a:pPr marL="0" indent="0">
              <a:buNone/>
            </a:pPr>
            <a:r>
              <a:rPr lang="en-IN" sz="2000" dirty="0"/>
              <a:t>				     A</a:t>
            </a:r>
            <a:r>
              <a:rPr lang="en-IN" sz="1400" dirty="0"/>
              <a:t>1</a:t>
            </a:r>
            <a:r>
              <a:rPr lang="en-IN" sz="2000" dirty="0"/>
              <a:t>[2,4]	A</a:t>
            </a:r>
            <a:r>
              <a:rPr lang="en-IN" sz="1400" dirty="0"/>
              <a:t>0</a:t>
            </a:r>
            <a:r>
              <a:rPr lang="en-IN" sz="2000" dirty="0"/>
              <a:t>[2,1] + A</a:t>
            </a:r>
            <a:r>
              <a:rPr lang="en-IN" sz="1400" dirty="0"/>
              <a:t>0</a:t>
            </a:r>
            <a:r>
              <a:rPr lang="en-IN" sz="2000" dirty="0"/>
              <a:t>[1,4]</a:t>
            </a:r>
          </a:p>
          <a:p>
            <a:pPr marL="0" indent="0">
              <a:buNone/>
            </a:pPr>
            <a:r>
              <a:rPr lang="en-IN" sz="2000" dirty="0"/>
              <a:t>				         </a:t>
            </a:r>
            <a:r>
              <a:rPr lang="en-IN" sz="2000" b="1" dirty="0"/>
              <a:t>∞ </a:t>
            </a:r>
            <a:r>
              <a:rPr lang="en-IN" sz="2000" dirty="0"/>
              <a:t>	                          8 +  7</a:t>
            </a:r>
            <a:r>
              <a:rPr lang="en-IN" sz="2000" b="1" dirty="0"/>
              <a:t> = </a:t>
            </a:r>
            <a:r>
              <a:rPr lang="en-IN" sz="2000" b="1" dirty="0">
                <a:solidFill>
                  <a:srgbClr val="FF0000"/>
                </a:solidFill>
              </a:rPr>
              <a:t>15</a:t>
            </a:r>
            <a:endParaRPr lang="en-IN" sz="2000" dirty="0">
              <a:solidFill>
                <a:srgbClr val="FF0000"/>
              </a:solidFill>
            </a:endParaRPr>
          </a:p>
          <a:p>
            <a:pPr marL="0" indent="0">
              <a:buNone/>
            </a:pPr>
            <a:r>
              <a:rPr lang="en-IN" dirty="0"/>
              <a:t> A</a:t>
            </a:r>
            <a:r>
              <a:rPr lang="en-IN" sz="1800" dirty="0"/>
              <a:t>1 =</a:t>
            </a: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sz="2000" b="1" dirty="0">
                          <a:solidFill>
                            <a:srgbClr val="FF0000"/>
                          </a:solidFill>
                        </a:rPr>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tc>
                  <a:txBody>
                    <a:bodyPr/>
                    <a:lstStyle/>
                    <a:p>
                      <a:pPr algn="ctr"/>
                      <a:endParaRPr lang="en-IN"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533058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7"/>
            <a:ext cx="8229600" cy="5897563"/>
          </a:xfrm>
        </p:spPr>
        <p:txBody>
          <a:bodyPr>
            <a:normAutofit lnSpcReduction="10000"/>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2		          8 +  </a:t>
            </a:r>
            <a:r>
              <a:rPr lang="en-IN" sz="2000" b="1" dirty="0"/>
              <a:t>∞ = ∞</a:t>
            </a:r>
          </a:p>
          <a:p>
            <a:pPr marL="0" indent="0">
              <a:buNone/>
            </a:pPr>
            <a:r>
              <a:rPr lang="en-IN" sz="2000" dirty="0"/>
              <a:t>				     A</a:t>
            </a:r>
            <a:r>
              <a:rPr lang="en-IN" sz="1400" dirty="0"/>
              <a:t>1</a:t>
            </a:r>
            <a:r>
              <a:rPr lang="en-IN" sz="2000" dirty="0"/>
              <a:t>[2,4]	A</a:t>
            </a:r>
            <a:r>
              <a:rPr lang="en-IN" sz="1400" dirty="0"/>
              <a:t>0</a:t>
            </a:r>
            <a:r>
              <a:rPr lang="en-IN" sz="2000" dirty="0"/>
              <a:t>[2,1] + A</a:t>
            </a:r>
            <a:r>
              <a:rPr lang="en-IN" sz="1400" dirty="0"/>
              <a:t>0</a:t>
            </a:r>
            <a:r>
              <a:rPr lang="en-IN" sz="2000" dirty="0"/>
              <a:t>[1,4]</a:t>
            </a:r>
          </a:p>
          <a:p>
            <a:pPr marL="0" indent="0">
              <a:buNone/>
            </a:pPr>
            <a:r>
              <a:rPr lang="en-IN" sz="2000" dirty="0"/>
              <a:t>				         </a:t>
            </a:r>
            <a:r>
              <a:rPr lang="en-IN" sz="2000" b="1" dirty="0"/>
              <a:t>∞ </a:t>
            </a:r>
            <a:r>
              <a:rPr lang="en-IN" sz="2000" dirty="0"/>
              <a:t>	                          8 +  7</a:t>
            </a:r>
            <a:r>
              <a:rPr lang="en-IN" sz="2000" b="1" dirty="0"/>
              <a:t> = 15</a:t>
            </a:r>
          </a:p>
          <a:p>
            <a:pPr marL="0" indent="0">
              <a:buNone/>
            </a:pPr>
            <a:r>
              <a:rPr lang="en-IN" sz="2000" dirty="0"/>
              <a:t> </a:t>
            </a:r>
            <a:r>
              <a:rPr lang="en-IN" dirty="0"/>
              <a:t>A</a:t>
            </a:r>
            <a:r>
              <a:rPr lang="en-IN" sz="2000" dirty="0"/>
              <a:t>1 = 				     A</a:t>
            </a:r>
            <a:r>
              <a:rPr lang="en-IN" sz="1400" dirty="0"/>
              <a:t>1</a:t>
            </a:r>
            <a:r>
              <a:rPr lang="en-IN" sz="2000" dirty="0"/>
              <a:t>[3,2]	A</a:t>
            </a:r>
            <a:r>
              <a:rPr lang="en-IN" sz="1400" dirty="0"/>
              <a:t>0</a:t>
            </a:r>
            <a:r>
              <a:rPr lang="en-IN" sz="2000" dirty="0"/>
              <a:t>[3,1] + A</a:t>
            </a:r>
            <a:r>
              <a:rPr lang="en-IN" sz="1400" dirty="0"/>
              <a:t>0</a:t>
            </a:r>
            <a:r>
              <a:rPr lang="en-IN" sz="2000" dirty="0"/>
              <a:t>[1,2]</a:t>
            </a:r>
          </a:p>
          <a:p>
            <a:pPr marL="0" indent="0">
              <a:buNone/>
            </a:pPr>
            <a:r>
              <a:rPr lang="en-IN" sz="2000" dirty="0"/>
              <a:t>				         </a:t>
            </a:r>
            <a:r>
              <a:rPr lang="en-IN" sz="2000" b="1" dirty="0"/>
              <a:t>∞ </a:t>
            </a:r>
            <a:r>
              <a:rPr lang="en-IN" sz="2000" dirty="0"/>
              <a:t>	                          5 +  3</a:t>
            </a:r>
            <a:r>
              <a:rPr lang="en-IN" sz="2000" b="1" dirty="0"/>
              <a:t> = 8</a:t>
            </a:r>
          </a:p>
          <a:p>
            <a:pPr marL="0" indent="0">
              <a:buNone/>
            </a:pPr>
            <a:r>
              <a:rPr lang="en-IN" dirty="0"/>
              <a:t> </a:t>
            </a: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solidFill>
                            <a:srgbClr val="FF0000"/>
                          </a:solidFill>
                        </a:rPr>
                        <a:t>8</a:t>
                      </a:r>
                    </a:p>
                  </a:txBody>
                  <a:tcPr anchor="ctr"/>
                </a:tc>
                <a:tc>
                  <a:txBody>
                    <a:bodyPr/>
                    <a:lstStyle/>
                    <a:p>
                      <a:pPr algn="ctr"/>
                      <a:r>
                        <a:rPr lang="en-IN" dirty="0"/>
                        <a:t>0</a:t>
                      </a:r>
                    </a:p>
                  </a:txBody>
                  <a:tcPr anchor="ctr"/>
                </a:tc>
                <a:tc>
                  <a:txBody>
                    <a:bodyPr/>
                    <a:lstStyle/>
                    <a:p>
                      <a:pPr algn="ctr"/>
                      <a:endParaRPr lang="en-IN"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2504701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7"/>
            <a:ext cx="8229600" cy="5897563"/>
          </a:xfrm>
        </p:spPr>
        <p:txBody>
          <a:bodyPr>
            <a:normAutofit lnSpcReduction="10000"/>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2		          8 +  </a:t>
            </a:r>
            <a:r>
              <a:rPr lang="en-IN" sz="2000" b="1" dirty="0"/>
              <a:t>∞ = ∞</a:t>
            </a:r>
          </a:p>
          <a:p>
            <a:pPr marL="0" indent="0">
              <a:buNone/>
            </a:pPr>
            <a:r>
              <a:rPr lang="en-IN" sz="2000" dirty="0"/>
              <a:t>				     A</a:t>
            </a:r>
            <a:r>
              <a:rPr lang="en-IN" sz="1400" dirty="0"/>
              <a:t>1</a:t>
            </a:r>
            <a:r>
              <a:rPr lang="en-IN" sz="2000" dirty="0"/>
              <a:t>[2,4]	A</a:t>
            </a:r>
            <a:r>
              <a:rPr lang="en-IN" sz="1400" dirty="0"/>
              <a:t>0</a:t>
            </a:r>
            <a:r>
              <a:rPr lang="en-IN" sz="2000" dirty="0"/>
              <a:t>[2,1] + A</a:t>
            </a:r>
            <a:r>
              <a:rPr lang="en-IN" sz="1400" dirty="0"/>
              <a:t>0</a:t>
            </a:r>
            <a:r>
              <a:rPr lang="en-IN" sz="2000" dirty="0"/>
              <a:t>[1,4]</a:t>
            </a:r>
          </a:p>
          <a:p>
            <a:pPr marL="0" indent="0">
              <a:buNone/>
            </a:pPr>
            <a:r>
              <a:rPr lang="en-IN" sz="2000" dirty="0"/>
              <a:t>				         </a:t>
            </a:r>
            <a:r>
              <a:rPr lang="en-IN" sz="2000" b="1" dirty="0"/>
              <a:t>∞ </a:t>
            </a:r>
            <a:r>
              <a:rPr lang="en-IN" sz="2000" dirty="0"/>
              <a:t>	                          8 +  7</a:t>
            </a:r>
            <a:r>
              <a:rPr lang="en-IN" sz="2000" b="1" dirty="0"/>
              <a:t> = 15</a:t>
            </a:r>
          </a:p>
          <a:p>
            <a:pPr marL="0" indent="0">
              <a:lnSpc>
                <a:spcPct val="110000"/>
              </a:lnSpc>
              <a:spcBef>
                <a:spcPts val="0"/>
              </a:spcBef>
              <a:buNone/>
            </a:pPr>
            <a:r>
              <a:rPr lang="en-IN" sz="2000" dirty="0"/>
              <a:t> </a:t>
            </a:r>
            <a:r>
              <a:rPr lang="en-IN" dirty="0"/>
              <a:t>A</a:t>
            </a:r>
            <a:r>
              <a:rPr lang="en-IN" sz="2000" dirty="0"/>
              <a:t>1 = 				     A</a:t>
            </a:r>
            <a:r>
              <a:rPr lang="en-IN" sz="1400" dirty="0"/>
              <a:t>1</a:t>
            </a:r>
            <a:r>
              <a:rPr lang="en-IN" sz="2000" dirty="0"/>
              <a:t>[3,2]	A</a:t>
            </a:r>
            <a:r>
              <a:rPr lang="en-IN" sz="1400" dirty="0"/>
              <a:t>0</a:t>
            </a:r>
            <a:r>
              <a:rPr lang="en-IN" sz="2000" dirty="0"/>
              <a:t>[3,1] + A</a:t>
            </a:r>
            <a:r>
              <a:rPr lang="en-IN" sz="1400" dirty="0"/>
              <a:t>0</a:t>
            </a:r>
            <a:r>
              <a:rPr lang="en-IN" sz="2000" dirty="0"/>
              <a:t>[1,2]</a:t>
            </a:r>
          </a:p>
          <a:p>
            <a:pPr marL="0" indent="0">
              <a:lnSpc>
                <a:spcPct val="110000"/>
              </a:lnSpc>
              <a:spcBef>
                <a:spcPts val="0"/>
              </a:spcBef>
              <a:buNone/>
            </a:pPr>
            <a:r>
              <a:rPr lang="en-IN" sz="2000" dirty="0"/>
              <a:t>				         </a:t>
            </a:r>
            <a:r>
              <a:rPr lang="en-IN" sz="2000" b="1" dirty="0"/>
              <a:t>∞ </a:t>
            </a:r>
            <a:r>
              <a:rPr lang="en-IN" sz="2000" dirty="0"/>
              <a:t>	                          5 +  3</a:t>
            </a:r>
            <a:r>
              <a:rPr lang="en-IN" sz="2000" b="1" dirty="0"/>
              <a:t> = 8</a:t>
            </a:r>
          </a:p>
          <a:p>
            <a:pPr marL="0" indent="0">
              <a:lnSpc>
                <a:spcPct val="110000"/>
              </a:lnSpc>
              <a:spcBef>
                <a:spcPts val="0"/>
              </a:spcBef>
              <a:buNone/>
            </a:pPr>
            <a:r>
              <a:rPr lang="en-IN" dirty="0"/>
              <a:t> </a:t>
            </a:r>
            <a:r>
              <a:rPr lang="en-IN" sz="2000" dirty="0">
                <a:solidFill>
                  <a:prstClr val="black"/>
                </a:solidFill>
              </a:rPr>
              <a:t> 				     A</a:t>
            </a:r>
            <a:r>
              <a:rPr lang="en-IN" sz="1400" dirty="0">
                <a:solidFill>
                  <a:prstClr val="black"/>
                </a:solidFill>
              </a:rPr>
              <a:t>1</a:t>
            </a:r>
            <a:r>
              <a:rPr lang="en-IN" sz="2000" dirty="0">
                <a:solidFill>
                  <a:prstClr val="black"/>
                </a:solidFill>
              </a:rPr>
              <a:t>[3,4]	A</a:t>
            </a:r>
            <a:r>
              <a:rPr lang="en-IN" sz="1400" dirty="0">
                <a:solidFill>
                  <a:prstClr val="black"/>
                </a:solidFill>
              </a:rPr>
              <a:t>0</a:t>
            </a:r>
            <a:r>
              <a:rPr lang="en-IN" sz="2000" dirty="0">
                <a:solidFill>
                  <a:prstClr val="black"/>
                </a:solidFill>
              </a:rPr>
              <a:t>[3,1] + A</a:t>
            </a:r>
            <a:r>
              <a:rPr lang="en-IN" sz="1400" dirty="0">
                <a:solidFill>
                  <a:prstClr val="black"/>
                </a:solidFill>
              </a:rPr>
              <a:t>0</a:t>
            </a:r>
            <a:r>
              <a:rPr lang="en-IN" sz="2000" dirty="0">
                <a:solidFill>
                  <a:prstClr val="black"/>
                </a:solidFill>
              </a:rPr>
              <a:t>[1,4]</a:t>
            </a:r>
          </a:p>
          <a:p>
            <a:pPr marL="0" indent="0">
              <a:lnSpc>
                <a:spcPct val="110000"/>
              </a:lnSpc>
              <a:spcBef>
                <a:spcPts val="0"/>
              </a:spcBef>
              <a:buNone/>
            </a:pPr>
            <a:r>
              <a:rPr lang="en-IN" sz="2000" dirty="0">
                <a:solidFill>
                  <a:prstClr val="black"/>
                </a:solidFill>
              </a:rPr>
              <a:t>				         </a:t>
            </a:r>
            <a:r>
              <a:rPr lang="en-IN" sz="2000" b="1" dirty="0">
                <a:solidFill>
                  <a:prstClr val="black"/>
                </a:solidFill>
              </a:rPr>
              <a:t>1 </a:t>
            </a:r>
            <a:r>
              <a:rPr lang="en-IN" sz="2000" dirty="0">
                <a:solidFill>
                  <a:prstClr val="black"/>
                </a:solidFill>
              </a:rPr>
              <a:t>	                          5 +  7</a:t>
            </a:r>
            <a:r>
              <a:rPr lang="en-IN" sz="2000" b="1" dirty="0">
                <a:solidFill>
                  <a:prstClr val="black"/>
                </a:solidFill>
              </a:rPr>
              <a:t> </a:t>
            </a:r>
            <a:r>
              <a:rPr lang="en-IN" sz="2000" dirty="0">
                <a:solidFill>
                  <a:prstClr val="black"/>
                </a:solidFill>
              </a:rPr>
              <a:t>= 12</a:t>
            </a: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dirty="0"/>
                        <a:t>0</a:t>
                      </a:r>
                    </a:p>
                  </a:txBody>
                  <a:tcPr anchor="ctr"/>
                </a:tc>
                <a:tc>
                  <a:txBody>
                    <a:bodyPr/>
                    <a:lstStyle/>
                    <a:p>
                      <a:pPr algn="ctr"/>
                      <a:r>
                        <a:rPr lang="en-IN" sz="2000" b="1" dirty="0">
                          <a:solidFill>
                            <a:srgbClr val="FF0000"/>
                          </a:solidFill>
                        </a:rPr>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995722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6"/>
            <a:ext cx="8229600" cy="6213764"/>
          </a:xfrm>
        </p:spPr>
        <p:txBody>
          <a:bodyPr>
            <a:normAutofit fontScale="92500" lnSpcReduction="10000"/>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2		          8 +  </a:t>
            </a:r>
            <a:r>
              <a:rPr lang="en-IN" sz="2000" b="1" dirty="0"/>
              <a:t>∞ = ∞</a:t>
            </a:r>
          </a:p>
          <a:p>
            <a:pPr marL="0" indent="0">
              <a:buNone/>
            </a:pPr>
            <a:r>
              <a:rPr lang="en-IN" sz="2000" dirty="0"/>
              <a:t>				     A</a:t>
            </a:r>
            <a:r>
              <a:rPr lang="en-IN" sz="1400" dirty="0"/>
              <a:t>1</a:t>
            </a:r>
            <a:r>
              <a:rPr lang="en-IN" sz="2000" dirty="0"/>
              <a:t>[2,4]	A</a:t>
            </a:r>
            <a:r>
              <a:rPr lang="en-IN" sz="1400" dirty="0"/>
              <a:t>0</a:t>
            </a:r>
            <a:r>
              <a:rPr lang="en-IN" sz="2000" dirty="0"/>
              <a:t>[2,1] + A</a:t>
            </a:r>
            <a:r>
              <a:rPr lang="en-IN" sz="1400" dirty="0"/>
              <a:t>0</a:t>
            </a:r>
            <a:r>
              <a:rPr lang="en-IN" sz="2000" dirty="0"/>
              <a:t>[1,4]</a:t>
            </a:r>
          </a:p>
          <a:p>
            <a:pPr marL="0" indent="0">
              <a:buNone/>
            </a:pPr>
            <a:r>
              <a:rPr lang="en-IN" sz="2000" dirty="0"/>
              <a:t>				         </a:t>
            </a:r>
            <a:r>
              <a:rPr lang="en-IN" sz="2000" b="1" dirty="0"/>
              <a:t>∞ </a:t>
            </a:r>
            <a:r>
              <a:rPr lang="en-IN" sz="2000" dirty="0"/>
              <a:t>	                          8 +  7</a:t>
            </a:r>
            <a:r>
              <a:rPr lang="en-IN" sz="2000" b="1" dirty="0"/>
              <a:t> = 15</a:t>
            </a:r>
          </a:p>
          <a:p>
            <a:pPr marL="0" indent="0">
              <a:lnSpc>
                <a:spcPct val="110000"/>
              </a:lnSpc>
              <a:spcBef>
                <a:spcPts val="0"/>
              </a:spcBef>
              <a:buNone/>
            </a:pPr>
            <a:r>
              <a:rPr lang="en-IN" sz="2000" dirty="0"/>
              <a:t> </a:t>
            </a:r>
            <a:r>
              <a:rPr lang="en-IN" dirty="0"/>
              <a:t>A</a:t>
            </a:r>
            <a:r>
              <a:rPr lang="en-IN" sz="2000" dirty="0"/>
              <a:t>1 = 				     A</a:t>
            </a:r>
            <a:r>
              <a:rPr lang="en-IN" sz="1400" dirty="0"/>
              <a:t>1</a:t>
            </a:r>
            <a:r>
              <a:rPr lang="en-IN" sz="2000" dirty="0"/>
              <a:t>[3,2]	A</a:t>
            </a:r>
            <a:r>
              <a:rPr lang="en-IN" sz="1400" dirty="0"/>
              <a:t>0</a:t>
            </a:r>
            <a:r>
              <a:rPr lang="en-IN" sz="2000" dirty="0"/>
              <a:t>[3,1] + A</a:t>
            </a:r>
            <a:r>
              <a:rPr lang="en-IN" sz="1400" dirty="0"/>
              <a:t>0</a:t>
            </a:r>
            <a:r>
              <a:rPr lang="en-IN" sz="2000" dirty="0"/>
              <a:t>[1,2]</a:t>
            </a:r>
          </a:p>
          <a:p>
            <a:pPr marL="0" indent="0">
              <a:lnSpc>
                <a:spcPct val="110000"/>
              </a:lnSpc>
              <a:spcBef>
                <a:spcPts val="0"/>
              </a:spcBef>
              <a:buNone/>
            </a:pPr>
            <a:r>
              <a:rPr lang="en-IN" sz="2000" dirty="0"/>
              <a:t>				         </a:t>
            </a:r>
            <a:r>
              <a:rPr lang="en-IN" sz="2000" b="1" dirty="0"/>
              <a:t>∞ </a:t>
            </a:r>
            <a:r>
              <a:rPr lang="en-IN" sz="2000" dirty="0"/>
              <a:t>	                          5 +  3</a:t>
            </a:r>
            <a:r>
              <a:rPr lang="en-IN" sz="2000" b="1" dirty="0"/>
              <a:t> = 8</a:t>
            </a:r>
          </a:p>
          <a:p>
            <a:pPr marL="0" indent="0">
              <a:lnSpc>
                <a:spcPct val="110000"/>
              </a:lnSpc>
              <a:spcBef>
                <a:spcPts val="0"/>
              </a:spcBef>
              <a:buNone/>
            </a:pPr>
            <a:r>
              <a:rPr lang="en-IN" dirty="0"/>
              <a:t> </a:t>
            </a:r>
            <a:r>
              <a:rPr lang="en-IN" sz="2000" dirty="0">
                <a:solidFill>
                  <a:prstClr val="black"/>
                </a:solidFill>
              </a:rPr>
              <a:t> 				     A</a:t>
            </a:r>
            <a:r>
              <a:rPr lang="en-IN" sz="1400" dirty="0">
                <a:solidFill>
                  <a:prstClr val="black"/>
                </a:solidFill>
              </a:rPr>
              <a:t>1</a:t>
            </a:r>
            <a:r>
              <a:rPr lang="en-IN" sz="2000" dirty="0">
                <a:solidFill>
                  <a:prstClr val="black"/>
                </a:solidFill>
              </a:rPr>
              <a:t>[3,4]	A</a:t>
            </a:r>
            <a:r>
              <a:rPr lang="en-IN" sz="1400" dirty="0">
                <a:solidFill>
                  <a:prstClr val="black"/>
                </a:solidFill>
              </a:rPr>
              <a:t>0</a:t>
            </a:r>
            <a:r>
              <a:rPr lang="en-IN" sz="2000" dirty="0">
                <a:solidFill>
                  <a:prstClr val="black"/>
                </a:solidFill>
              </a:rPr>
              <a:t>[3,1] + A</a:t>
            </a:r>
            <a:r>
              <a:rPr lang="en-IN" sz="1400" dirty="0">
                <a:solidFill>
                  <a:prstClr val="black"/>
                </a:solidFill>
              </a:rPr>
              <a:t>0</a:t>
            </a:r>
            <a:r>
              <a:rPr lang="en-IN" sz="2000" dirty="0">
                <a:solidFill>
                  <a:prstClr val="black"/>
                </a:solidFill>
              </a:rPr>
              <a:t>[1,4]</a:t>
            </a:r>
          </a:p>
          <a:p>
            <a:pPr marL="0" indent="0">
              <a:lnSpc>
                <a:spcPct val="110000"/>
              </a:lnSpc>
              <a:spcBef>
                <a:spcPts val="0"/>
              </a:spcBef>
              <a:buNone/>
            </a:pPr>
            <a:r>
              <a:rPr lang="en-IN" sz="2000" dirty="0">
                <a:solidFill>
                  <a:prstClr val="black"/>
                </a:solidFill>
              </a:rPr>
              <a:t>				         </a:t>
            </a:r>
            <a:r>
              <a:rPr lang="en-IN" sz="2000" b="1" dirty="0">
                <a:solidFill>
                  <a:prstClr val="black"/>
                </a:solidFill>
              </a:rPr>
              <a:t>1 </a:t>
            </a:r>
            <a:r>
              <a:rPr lang="en-IN" sz="2000" dirty="0">
                <a:solidFill>
                  <a:prstClr val="black"/>
                </a:solidFill>
              </a:rPr>
              <a:t>	                          5 +  7</a:t>
            </a:r>
            <a:r>
              <a:rPr lang="en-IN" sz="2000" b="1" dirty="0">
                <a:solidFill>
                  <a:prstClr val="black"/>
                </a:solidFill>
              </a:rPr>
              <a:t> </a:t>
            </a:r>
            <a:r>
              <a:rPr lang="en-IN" sz="2000" dirty="0">
                <a:solidFill>
                  <a:prstClr val="black"/>
                </a:solidFill>
              </a:rPr>
              <a:t>= 12</a:t>
            </a:r>
          </a:p>
          <a:p>
            <a:pPr marL="0" indent="0">
              <a:lnSpc>
                <a:spcPct val="110000"/>
              </a:lnSpc>
              <a:spcBef>
                <a:spcPts val="0"/>
              </a:spcBef>
              <a:buNone/>
            </a:pPr>
            <a:r>
              <a:rPr lang="en-IN" sz="2000" dirty="0">
                <a:solidFill>
                  <a:prstClr val="black"/>
                </a:solidFill>
              </a:rPr>
              <a:t>				     A</a:t>
            </a:r>
            <a:r>
              <a:rPr lang="en-IN" sz="1400" dirty="0">
                <a:solidFill>
                  <a:prstClr val="black"/>
                </a:solidFill>
              </a:rPr>
              <a:t>1</a:t>
            </a:r>
            <a:r>
              <a:rPr lang="en-IN" sz="2000" dirty="0">
                <a:solidFill>
                  <a:prstClr val="black"/>
                </a:solidFill>
              </a:rPr>
              <a:t>[4,2]	A</a:t>
            </a:r>
            <a:r>
              <a:rPr lang="en-IN" sz="1400" dirty="0">
                <a:solidFill>
                  <a:prstClr val="black"/>
                </a:solidFill>
              </a:rPr>
              <a:t>0</a:t>
            </a:r>
            <a:r>
              <a:rPr lang="en-IN" sz="2000" dirty="0">
                <a:solidFill>
                  <a:prstClr val="black"/>
                </a:solidFill>
              </a:rPr>
              <a:t>[4,1] + A</a:t>
            </a:r>
            <a:r>
              <a:rPr lang="en-IN" sz="1400" dirty="0">
                <a:solidFill>
                  <a:prstClr val="black"/>
                </a:solidFill>
              </a:rPr>
              <a:t>0</a:t>
            </a:r>
            <a:r>
              <a:rPr lang="en-IN" sz="2000" dirty="0">
                <a:solidFill>
                  <a:prstClr val="black"/>
                </a:solidFill>
              </a:rPr>
              <a:t>[1,2]</a:t>
            </a:r>
          </a:p>
          <a:p>
            <a:pPr marL="0" indent="0">
              <a:lnSpc>
                <a:spcPct val="110000"/>
              </a:lnSpc>
              <a:spcBef>
                <a:spcPts val="0"/>
              </a:spcBef>
              <a:buNone/>
            </a:pPr>
            <a:r>
              <a:rPr lang="en-IN" sz="2000" dirty="0">
                <a:solidFill>
                  <a:prstClr val="black"/>
                </a:solidFill>
              </a:rPr>
              <a:t>				        </a:t>
            </a:r>
            <a:r>
              <a:rPr lang="en-IN" sz="2000" b="1" dirty="0"/>
              <a:t>∞</a:t>
            </a:r>
            <a:r>
              <a:rPr lang="en-IN" sz="2000" b="1" dirty="0">
                <a:solidFill>
                  <a:prstClr val="black"/>
                </a:solidFill>
              </a:rPr>
              <a:t> </a:t>
            </a:r>
            <a:r>
              <a:rPr lang="en-IN" sz="2000" dirty="0">
                <a:solidFill>
                  <a:prstClr val="black"/>
                </a:solidFill>
              </a:rPr>
              <a:t>	                          2 +  3</a:t>
            </a:r>
            <a:r>
              <a:rPr lang="en-IN" sz="2000" b="1" dirty="0">
                <a:solidFill>
                  <a:prstClr val="black"/>
                </a:solidFill>
              </a:rPr>
              <a:t> </a:t>
            </a:r>
            <a:r>
              <a:rPr lang="en-IN" sz="2000" dirty="0">
                <a:solidFill>
                  <a:prstClr val="black"/>
                </a:solidFill>
              </a:rPr>
              <a:t>= </a:t>
            </a:r>
            <a:r>
              <a:rPr lang="en-IN" sz="2000" b="1" dirty="0">
                <a:solidFill>
                  <a:prstClr val="black"/>
                </a:solidFill>
              </a:rPr>
              <a:t>5</a:t>
            </a:r>
            <a:endParaRPr lang="en-IN" sz="2400" b="1" dirty="0">
              <a:solidFill>
                <a:prstClr val="black"/>
              </a:solidFill>
            </a:endParaRPr>
          </a:p>
          <a:p>
            <a:pPr marL="0" indent="0">
              <a:lnSpc>
                <a:spcPct val="110000"/>
              </a:lnSpc>
              <a:spcBef>
                <a:spcPts val="0"/>
              </a:spcBef>
              <a:buNone/>
            </a:pP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solidFill>
                            <a:srgbClr val="FF0000"/>
                          </a:solidFill>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sz="1800" b="1" dirty="0"/>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5120639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6"/>
            <a:ext cx="8229600" cy="6442364"/>
          </a:xfrm>
        </p:spPr>
        <p:txBody>
          <a:bodyPr>
            <a:normAutofit fontScale="92500" lnSpcReduction="20000"/>
          </a:bodyPr>
          <a:lstStyle/>
          <a:p>
            <a:endParaRPr lang="en-IN" sz="2400" dirty="0"/>
          </a:p>
          <a:p>
            <a:endParaRPr lang="en-IN" sz="2400" dirty="0"/>
          </a:p>
          <a:p>
            <a:endParaRPr lang="en-IN" sz="2400" dirty="0"/>
          </a:p>
          <a:p>
            <a:pPr marL="0" indent="0">
              <a:buNone/>
            </a:pPr>
            <a:r>
              <a:rPr lang="en-IN" dirty="0"/>
              <a:t> A</a:t>
            </a:r>
            <a:r>
              <a:rPr lang="en-IN" sz="2000" dirty="0"/>
              <a:t>0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a:t>
            </a:r>
            <a:r>
              <a:rPr lang="en-IN" sz="1400" dirty="0"/>
              <a:t>1</a:t>
            </a:r>
            <a:r>
              <a:rPr lang="en-IN" sz="2000" dirty="0"/>
              <a:t>[2,3]	A</a:t>
            </a:r>
            <a:r>
              <a:rPr lang="en-IN" sz="1400" dirty="0"/>
              <a:t>0</a:t>
            </a:r>
            <a:r>
              <a:rPr lang="en-IN" sz="2000" dirty="0"/>
              <a:t>[2,1] + A</a:t>
            </a:r>
            <a:r>
              <a:rPr lang="en-IN" sz="1400" dirty="0"/>
              <a:t>0</a:t>
            </a:r>
            <a:r>
              <a:rPr lang="en-IN" sz="2000" dirty="0"/>
              <a:t>[1,3]</a:t>
            </a:r>
          </a:p>
          <a:p>
            <a:pPr marL="0" indent="0">
              <a:buNone/>
            </a:pPr>
            <a:r>
              <a:rPr lang="en-IN" sz="2000" dirty="0"/>
              <a:t>				          2		          8 +  </a:t>
            </a:r>
            <a:r>
              <a:rPr lang="en-IN" sz="2000" b="1" dirty="0"/>
              <a:t>∞ = ∞</a:t>
            </a:r>
          </a:p>
          <a:p>
            <a:pPr marL="0" indent="0">
              <a:buNone/>
            </a:pPr>
            <a:r>
              <a:rPr lang="en-IN" sz="2000" dirty="0"/>
              <a:t>				     A</a:t>
            </a:r>
            <a:r>
              <a:rPr lang="en-IN" sz="1400" dirty="0"/>
              <a:t>1</a:t>
            </a:r>
            <a:r>
              <a:rPr lang="en-IN" sz="2000" dirty="0"/>
              <a:t>[2,4]	A</a:t>
            </a:r>
            <a:r>
              <a:rPr lang="en-IN" sz="1400" dirty="0"/>
              <a:t>0</a:t>
            </a:r>
            <a:r>
              <a:rPr lang="en-IN" sz="2000" dirty="0"/>
              <a:t>[2,1] + A</a:t>
            </a:r>
            <a:r>
              <a:rPr lang="en-IN" sz="1400" dirty="0"/>
              <a:t>0</a:t>
            </a:r>
            <a:r>
              <a:rPr lang="en-IN" sz="2000" dirty="0"/>
              <a:t>[1,4]</a:t>
            </a:r>
          </a:p>
          <a:p>
            <a:pPr marL="0" indent="0">
              <a:buNone/>
            </a:pPr>
            <a:r>
              <a:rPr lang="en-IN" sz="2000" dirty="0"/>
              <a:t>				         </a:t>
            </a:r>
            <a:r>
              <a:rPr lang="en-IN" sz="2000" b="1" dirty="0"/>
              <a:t>∞ </a:t>
            </a:r>
            <a:r>
              <a:rPr lang="en-IN" sz="2000" dirty="0"/>
              <a:t>	                          8 +  7</a:t>
            </a:r>
            <a:r>
              <a:rPr lang="en-IN" sz="2000" b="1" dirty="0"/>
              <a:t> = 15</a:t>
            </a:r>
          </a:p>
          <a:p>
            <a:pPr marL="0" indent="0">
              <a:lnSpc>
                <a:spcPct val="110000"/>
              </a:lnSpc>
              <a:spcBef>
                <a:spcPts val="0"/>
              </a:spcBef>
              <a:buNone/>
            </a:pPr>
            <a:r>
              <a:rPr lang="en-IN" sz="2000" dirty="0"/>
              <a:t> </a:t>
            </a:r>
            <a:r>
              <a:rPr lang="en-IN" dirty="0"/>
              <a:t>A</a:t>
            </a:r>
            <a:r>
              <a:rPr lang="en-IN" sz="2000" dirty="0"/>
              <a:t>1 = 				     A</a:t>
            </a:r>
            <a:r>
              <a:rPr lang="en-IN" sz="1400" dirty="0"/>
              <a:t>1</a:t>
            </a:r>
            <a:r>
              <a:rPr lang="en-IN" sz="2000" dirty="0"/>
              <a:t>[3,2]	A</a:t>
            </a:r>
            <a:r>
              <a:rPr lang="en-IN" sz="1400" dirty="0"/>
              <a:t>0</a:t>
            </a:r>
            <a:r>
              <a:rPr lang="en-IN" sz="2000" dirty="0"/>
              <a:t>[3,1] + A</a:t>
            </a:r>
            <a:r>
              <a:rPr lang="en-IN" sz="1400" dirty="0"/>
              <a:t>0</a:t>
            </a:r>
            <a:r>
              <a:rPr lang="en-IN" sz="2000" dirty="0"/>
              <a:t>[1,2]</a:t>
            </a:r>
          </a:p>
          <a:p>
            <a:pPr marL="0" indent="0">
              <a:lnSpc>
                <a:spcPct val="110000"/>
              </a:lnSpc>
              <a:spcBef>
                <a:spcPts val="0"/>
              </a:spcBef>
              <a:buNone/>
            </a:pPr>
            <a:r>
              <a:rPr lang="en-IN" sz="2000" dirty="0"/>
              <a:t>				         </a:t>
            </a:r>
            <a:r>
              <a:rPr lang="en-IN" sz="2000" b="1" dirty="0"/>
              <a:t>∞ </a:t>
            </a:r>
            <a:r>
              <a:rPr lang="en-IN" sz="2000" dirty="0"/>
              <a:t>	                          5 +  3</a:t>
            </a:r>
            <a:r>
              <a:rPr lang="en-IN" sz="2000" b="1" dirty="0"/>
              <a:t> = 8</a:t>
            </a:r>
          </a:p>
          <a:p>
            <a:pPr marL="0" indent="0">
              <a:lnSpc>
                <a:spcPct val="110000"/>
              </a:lnSpc>
              <a:spcBef>
                <a:spcPts val="0"/>
              </a:spcBef>
              <a:buNone/>
            </a:pPr>
            <a:r>
              <a:rPr lang="en-IN" dirty="0"/>
              <a:t> </a:t>
            </a:r>
            <a:r>
              <a:rPr lang="en-IN" sz="2000" dirty="0">
                <a:solidFill>
                  <a:prstClr val="black"/>
                </a:solidFill>
              </a:rPr>
              <a:t> 				     A</a:t>
            </a:r>
            <a:r>
              <a:rPr lang="en-IN" sz="1400" dirty="0">
                <a:solidFill>
                  <a:prstClr val="black"/>
                </a:solidFill>
              </a:rPr>
              <a:t>1</a:t>
            </a:r>
            <a:r>
              <a:rPr lang="en-IN" sz="2000" dirty="0">
                <a:solidFill>
                  <a:prstClr val="black"/>
                </a:solidFill>
              </a:rPr>
              <a:t>[3,4]	A</a:t>
            </a:r>
            <a:r>
              <a:rPr lang="en-IN" sz="1400" dirty="0">
                <a:solidFill>
                  <a:prstClr val="black"/>
                </a:solidFill>
              </a:rPr>
              <a:t>0</a:t>
            </a:r>
            <a:r>
              <a:rPr lang="en-IN" sz="2000" dirty="0">
                <a:solidFill>
                  <a:prstClr val="black"/>
                </a:solidFill>
              </a:rPr>
              <a:t>[3,1] + A</a:t>
            </a:r>
            <a:r>
              <a:rPr lang="en-IN" sz="1400" dirty="0">
                <a:solidFill>
                  <a:prstClr val="black"/>
                </a:solidFill>
              </a:rPr>
              <a:t>0</a:t>
            </a:r>
            <a:r>
              <a:rPr lang="en-IN" sz="2000" dirty="0">
                <a:solidFill>
                  <a:prstClr val="black"/>
                </a:solidFill>
              </a:rPr>
              <a:t>[1,4]</a:t>
            </a:r>
          </a:p>
          <a:p>
            <a:pPr marL="0" indent="0">
              <a:lnSpc>
                <a:spcPct val="110000"/>
              </a:lnSpc>
              <a:spcBef>
                <a:spcPts val="0"/>
              </a:spcBef>
              <a:buNone/>
            </a:pPr>
            <a:r>
              <a:rPr lang="en-IN" sz="2000" dirty="0">
                <a:solidFill>
                  <a:prstClr val="black"/>
                </a:solidFill>
              </a:rPr>
              <a:t>				         </a:t>
            </a:r>
            <a:r>
              <a:rPr lang="en-IN" sz="2000" b="1" dirty="0">
                <a:solidFill>
                  <a:prstClr val="black"/>
                </a:solidFill>
              </a:rPr>
              <a:t>1 </a:t>
            </a:r>
            <a:r>
              <a:rPr lang="en-IN" sz="2000" dirty="0">
                <a:solidFill>
                  <a:prstClr val="black"/>
                </a:solidFill>
              </a:rPr>
              <a:t>	                          5 +  7</a:t>
            </a:r>
            <a:r>
              <a:rPr lang="en-IN" sz="2000" b="1" dirty="0">
                <a:solidFill>
                  <a:prstClr val="black"/>
                </a:solidFill>
              </a:rPr>
              <a:t> </a:t>
            </a:r>
            <a:r>
              <a:rPr lang="en-IN" sz="2000" dirty="0">
                <a:solidFill>
                  <a:prstClr val="black"/>
                </a:solidFill>
              </a:rPr>
              <a:t>= 12</a:t>
            </a:r>
          </a:p>
          <a:p>
            <a:pPr marL="0" indent="0">
              <a:lnSpc>
                <a:spcPct val="110000"/>
              </a:lnSpc>
              <a:spcBef>
                <a:spcPts val="0"/>
              </a:spcBef>
              <a:buNone/>
            </a:pPr>
            <a:r>
              <a:rPr lang="en-IN" sz="2000" dirty="0">
                <a:solidFill>
                  <a:prstClr val="black"/>
                </a:solidFill>
              </a:rPr>
              <a:t>				     A</a:t>
            </a:r>
            <a:r>
              <a:rPr lang="en-IN" sz="1400" dirty="0">
                <a:solidFill>
                  <a:prstClr val="black"/>
                </a:solidFill>
              </a:rPr>
              <a:t>1</a:t>
            </a:r>
            <a:r>
              <a:rPr lang="en-IN" sz="2000" dirty="0">
                <a:solidFill>
                  <a:prstClr val="black"/>
                </a:solidFill>
              </a:rPr>
              <a:t>[4,2]	A</a:t>
            </a:r>
            <a:r>
              <a:rPr lang="en-IN" sz="1400" dirty="0">
                <a:solidFill>
                  <a:prstClr val="black"/>
                </a:solidFill>
              </a:rPr>
              <a:t>0</a:t>
            </a:r>
            <a:r>
              <a:rPr lang="en-IN" sz="2000" dirty="0">
                <a:solidFill>
                  <a:prstClr val="black"/>
                </a:solidFill>
              </a:rPr>
              <a:t>[4,1] + A</a:t>
            </a:r>
            <a:r>
              <a:rPr lang="en-IN" sz="1400" dirty="0">
                <a:solidFill>
                  <a:prstClr val="black"/>
                </a:solidFill>
              </a:rPr>
              <a:t>0</a:t>
            </a:r>
            <a:r>
              <a:rPr lang="en-IN" sz="2000" dirty="0">
                <a:solidFill>
                  <a:prstClr val="black"/>
                </a:solidFill>
              </a:rPr>
              <a:t>[1,2]</a:t>
            </a:r>
          </a:p>
          <a:p>
            <a:pPr marL="0" indent="0">
              <a:lnSpc>
                <a:spcPct val="110000"/>
              </a:lnSpc>
              <a:spcBef>
                <a:spcPts val="0"/>
              </a:spcBef>
              <a:buNone/>
            </a:pPr>
            <a:r>
              <a:rPr lang="en-IN" sz="2000" dirty="0">
                <a:solidFill>
                  <a:prstClr val="black"/>
                </a:solidFill>
              </a:rPr>
              <a:t>				        </a:t>
            </a:r>
            <a:r>
              <a:rPr lang="en-IN" sz="2000" b="1" dirty="0"/>
              <a:t>∞</a:t>
            </a:r>
            <a:r>
              <a:rPr lang="en-IN" sz="2000" b="1" dirty="0">
                <a:solidFill>
                  <a:prstClr val="black"/>
                </a:solidFill>
              </a:rPr>
              <a:t> </a:t>
            </a:r>
            <a:r>
              <a:rPr lang="en-IN" sz="2000" dirty="0">
                <a:solidFill>
                  <a:prstClr val="black"/>
                </a:solidFill>
              </a:rPr>
              <a:t>	                          2 +  3</a:t>
            </a:r>
            <a:r>
              <a:rPr lang="en-IN" sz="2000" b="1" dirty="0">
                <a:solidFill>
                  <a:prstClr val="black"/>
                </a:solidFill>
              </a:rPr>
              <a:t> </a:t>
            </a:r>
            <a:r>
              <a:rPr lang="en-IN" sz="2000" dirty="0">
                <a:solidFill>
                  <a:prstClr val="black"/>
                </a:solidFill>
              </a:rPr>
              <a:t>= </a:t>
            </a:r>
            <a:r>
              <a:rPr lang="en-IN" sz="2000" b="1" dirty="0">
                <a:solidFill>
                  <a:prstClr val="black"/>
                </a:solidFill>
              </a:rPr>
              <a:t>5</a:t>
            </a:r>
          </a:p>
          <a:p>
            <a:pPr marL="0" indent="0">
              <a:lnSpc>
                <a:spcPct val="110000"/>
              </a:lnSpc>
              <a:spcBef>
                <a:spcPts val="0"/>
              </a:spcBef>
              <a:buNone/>
            </a:pPr>
            <a:r>
              <a:rPr lang="en-IN" sz="1900" dirty="0">
                <a:solidFill>
                  <a:prstClr val="black"/>
                </a:solidFill>
              </a:rPr>
              <a:t>				      A</a:t>
            </a:r>
            <a:r>
              <a:rPr lang="en-IN" sz="1300" dirty="0">
                <a:solidFill>
                  <a:prstClr val="black"/>
                </a:solidFill>
              </a:rPr>
              <a:t>1</a:t>
            </a:r>
            <a:r>
              <a:rPr lang="en-IN" sz="1900" dirty="0">
                <a:solidFill>
                  <a:prstClr val="black"/>
                </a:solidFill>
              </a:rPr>
              <a:t>[4,3]	A</a:t>
            </a:r>
            <a:r>
              <a:rPr lang="en-IN" sz="1300" dirty="0">
                <a:solidFill>
                  <a:prstClr val="black"/>
                </a:solidFill>
              </a:rPr>
              <a:t>0</a:t>
            </a:r>
            <a:r>
              <a:rPr lang="en-IN" sz="1900" dirty="0">
                <a:solidFill>
                  <a:prstClr val="black"/>
                </a:solidFill>
              </a:rPr>
              <a:t>[4,1] + A</a:t>
            </a:r>
            <a:r>
              <a:rPr lang="en-IN" sz="1300" dirty="0">
                <a:solidFill>
                  <a:prstClr val="black"/>
                </a:solidFill>
              </a:rPr>
              <a:t>0</a:t>
            </a:r>
            <a:r>
              <a:rPr lang="en-IN" sz="1900" dirty="0">
                <a:solidFill>
                  <a:prstClr val="black"/>
                </a:solidFill>
              </a:rPr>
              <a:t>[1,3]</a:t>
            </a:r>
          </a:p>
          <a:p>
            <a:pPr marL="0" indent="0">
              <a:lnSpc>
                <a:spcPct val="110000"/>
              </a:lnSpc>
              <a:spcBef>
                <a:spcPts val="0"/>
              </a:spcBef>
              <a:buNone/>
            </a:pPr>
            <a:r>
              <a:rPr lang="en-IN" sz="1900" dirty="0">
                <a:solidFill>
                  <a:prstClr val="black"/>
                </a:solidFill>
              </a:rPr>
              <a:t>				        </a:t>
            </a:r>
            <a:r>
              <a:rPr lang="en-IN" sz="1900" b="1" dirty="0">
                <a:solidFill>
                  <a:prstClr val="black"/>
                </a:solidFill>
              </a:rPr>
              <a:t>∞ </a:t>
            </a:r>
            <a:r>
              <a:rPr lang="en-IN" sz="1900" dirty="0">
                <a:solidFill>
                  <a:prstClr val="black"/>
                </a:solidFill>
              </a:rPr>
              <a:t>	                          2 +  </a:t>
            </a:r>
            <a:r>
              <a:rPr lang="en-IN" sz="1900" b="1" dirty="0">
                <a:solidFill>
                  <a:prstClr val="black"/>
                </a:solidFill>
              </a:rPr>
              <a:t> </a:t>
            </a:r>
            <a:r>
              <a:rPr lang="en-IN" sz="2100" b="1" dirty="0"/>
              <a:t>∞ = ∞</a:t>
            </a:r>
          </a:p>
          <a:p>
            <a:pPr marL="0" indent="0">
              <a:lnSpc>
                <a:spcPct val="110000"/>
              </a:lnSpc>
              <a:spcBef>
                <a:spcPts val="0"/>
              </a:spcBef>
              <a:buNone/>
            </a:pPr>
            <a:endParaRPr lang="en-IN" sz="2200" b="1" dirty="0">
              <a:solidFill>
                <a:prstClr val="black"/>
              </a:solidFill>
            </a:endParaRPr>
          </a:p>
          <a:p>
            <a:pPr marL="0" indent="0">
              <a:lnSpc>
                <a:spcPct val="110000"/>
              </a:lnSpc>
              <a:spcBef>
                <a:spcPts val="0"/>
              </a:spcBef>
              <a:buNone/>
            </a:pPr>
            <a:endParaRPr lang="en-IN" sz="2400" b="1" dirty="0">
              <a:solidFill>
                <a:prstClr val="black"/>
              </a:solidFill>
            </a:endParaRPr>
          </a:p>
          <a:p>
            <a:pPr marL="0" indent="0">
              <a:lnSpc>
                <a:spcPct val="110000"/>
              </a:lnSpc>
              <a:spcBef>
                <a:spcPts val="0"/>
              </a:spcBef>
              <a:buNone/>
            </a:pPr>
            <a:endParaRPr lang="en-IN" sz="2400" dirty="0"/>
          </a:p>
        </p:txBody>
      </p:sp>
      <p:graphicFrame>
        <p:nvGraphicFramePr>
          <p:cNvPr id="4" name="Table 3"/>
          <p:cNvGraphicFramePr>
            <a:graphicFrameLocks noGrp="1"/>
          </p:cNvGraphicFramePr>
          <p:nvPr>
            <p:extLst/>
          </p:nvPr>
        </p:nvGraphicFramePr>
        <p:xfrm>
          <a:off x="2819400" y="207818"/>
          <a:ext cx="2590800" cy="260604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p>
                      <a:pPr algn="ctr"/>
                      <a:endParaRPr lang="en-IN"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1539568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r>
              <a:rPr lang="en-IN" dirty="0"/>
              <a:t>A</a:t>
            </a:r>
            <a:r>
              <a:rPr lang="en-IN" sz="2000" dirty="0"/>
              <a:t>2</a:t>
            </a:r>
            <a:r>
              <a:rPr lang="en-IN" dirty="0"/>
              <a:t> =</a:t>
            </a:r>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endParaRPr lang="en-IN" sz="2400" b="1" dirty="0"/>
                    </a:p>
                  </a:txBody>
                  <a:tcPr anchor="ctr"/>
                </a:tc>
                <a:tc>
                  <a:txBody>
                    <a:bodyPr/>
                    <a:lstStyle/>
                    <a:p>
                      <a:pPr algn="ct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811347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a:t>
            </a:r>
            <a:r>
              <a:rPr lang="en-IN" sz="1400" dirty="0">
                <a:solidFill>
                  <a:prstClr val="black"/>
                </a:solidFill>
              </a:rPr>
              <a:t>2</a:t>
            </a:r>
            <a:r>
              <a:rPr lang="en-IN" sz="2000" dirty="0">
                <a:solidFill>
                  <a:prstClr val="black"/>
                </a:solidFill>
              </a:rPr>
              <a:t>[1,3]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3 +  2 </a:t>
            </a:r>
            <a:r>
              <a:rPr lang="en-IN" sz="2000" b="1" dirty="0">
                <a:solidFill>
                  <a:prstClr val="black"/>
                </a:solidFill>
              </a:rPr>
              <a:t>= </a:t>
            </a:r>
            <a:r>
              <a:rPr lang="en-IN" sz="2000" b="1" dirty="0">
                <a:solidFill>
                  <a:srgbClr val="FF0000"/>
                </a:solidFill>
              </a:rPr>
              <a:t>5</a:t>
            </a:r>
            <a:endParaRPr lang="en-IN" dirty="0">
              <a:solidFill>
                <a:srgbClr val="FF0000"/>
              </a:solidFill>
            </a:endParaRPr>
          </a:p>
          <a:p>
            <a:pPr marL="0" indent="0">
              <a:buNone/>
            </a:pPr>
            <a:endParaRPr lang="en-IN" dirty="0"/>
          </a:p>
          <a:p>
            <a:pPr marL="0" indent="0">
              <a:buNone/>
            </a:pPr>
            <a:r>
              <a:rPr lang="en-IN" dirty="0"/>
              <a:t>A</a:t>
            </a:r>
            <a:r>
              <a:rPr lang="en-IN" sz="2000" dirty="0"/>
              <a:t>2</a:t>
            </a:r>
            <a:r>
              <a:rPr lang="en-IN" dirty="0"/>
              <a:t> =</a:t>
            </a:r>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1" i="0" u="none" strike="noStrike" kern="1200" cap="none" spc="0" normalizeH="0" baseline="0" noProof="0" dirty="0">
                          <a:ln>
                            <a:noFill/>
                          </a:ln>
                          <a:solidFill>
                            <a:srgbClr val="FF0000"/>
                          </a:solidFill>
                          <a:effectLst/>
                          <a:uLnTx/>
                          <a:uFillTx/>
                          <a:latin typeface="+mn-lt"/>
                          <a:ea typeface="+mn-ea"/>
                          <a:cs typeface="+mn-cs"/>
                        </a:rPr>
                        <a:t>5</a:t>
                      </a:r>
                      <a:endParaRPr lang="en-IN" sz="2400" b="1" dirty="0">
                        <a:solidFill>
                          <a:srgbClr val="FF0000"/>
                        </a:solidFill>
                      </a:endParaRPr>
                    </a:p>
                  </a:txBody>
                  <a:tcPr anchor="ctr"/>
                </a:tc>
                <a:tc>
                  <a:txBody>
                    <a:bodyPr/>
                    <a:lstStyle/>
                    <a:p>
                      <a:pPr algn="ct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29300842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a:t>
            </a:r>
            <a:r>
              <a:rPr lang="en-IN" sz="1400" dirty="0">
                <a:solidFill>
                  <a:prstClr val="black"/>
                </a:solidFill>
              </a:rPr>
              <a:t>2</a:t>
            </a:r>
            <a:r>
              <a:rPr lang="en-IN" sz="2000" dirty="0">
                <a:solidFill>
                  <a:prstClr val="black"/>
                </a:solidFill>
              </a:rPr>
              <a:t>[1,3]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3 +  2 </a:t>
            </a:r>
            <a:r>
              <a:rPr lang="en-IN" sz="2000" b="1" dirty="0">
                <a:solidFill>
                  <a:prstClr val="black"/>
                </a:solidFill>
              </a:rPr>
              <a:t>= 5</a:t>
            </a:r>
            <a:endParaRPr lang="en-IN" dirty="0"/>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[1,4]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7 </a:t>
            </a:r>
            <a:r>
              <a:rPr lang="en-IN" sz="2000" dirty="0">
                <a:solidFill>
                  <a:prstClr val="black"/>
                </a:solidFill>
              </a:rPr>
              <a:t>	                3 +  15 = 18</a:t>
            </a:r>
            <a:endParaRPr lang="en-IN" dirty="0"/>
          </a:p>
          <a:p>
            <a:pPr marL="0" indent="0">
              <a:buNone/>
            </a:pPr>
            <a:r>
              <a:rPr lang="en-IN" dirty="0"/>
              <a:t>A</a:t>
            </a:r>
            <a:r>
              <a:rPr lang="en-IN" sz="2000" dirty="0"/>
              <a:t>2</a:t>
            </a:r>
            <a:r>
              <a:rPr lang="en-IN" dirty="0"/>
              <a:t> =</a:t>
            </a:r>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0" i="0" u="none" strike="noStrike" kern="1200" cap="none" spc="0" normalizeH="0" baseline="0" noProof="0" dirty="0">
                          <a:ln>
                            <a:noFill/>
                          </a:ln>
                          <a:solidFill>
                            <a:prstClr val="black"/>
                          </a:solidFill>
                          <a:effectLst/>
                          <a:uLnTx/>
                          <a:uFillTx/>
                          <a:latin typeface="+mn-lt"/>
                          <a:ea typeface="+mn-ea"/>
                          <a:cs typeface="+mn-cs"/>
                        </a:rPr>
                        <a:t>5</a:t>
                      </a:r>
                      <a:endParaRPr lang="en-IN" sz="2400" b="0" dirty="0"/>
                    </a:p>
                  </a:txBody>
                  <a:tcPr anchor="ctr"/>
                </a:tc>
                <a:tc>
                  <a:txBody>
                    <a:bodyPr/>
                    <a:lstStyle/>
                    <a:p>
                      <a:pPr algn="ctr"/>
                      <a:r>
                        <a:rPr lang="en-IN" sz="2000" b="1" dirty="0">
                          <a:solidFill>
                            <a:srgbClr val="FF0000"/>
                          </a:solidFill>
                        </a:rPr>
                        <a:t>7</a:t>
                      </a:r>
                      <a:endParaRPr lang="en-IN" sz="2000" dirty="0">
                        <a:solidFill>
                          <a:srgbClr val="FF0000"/>
                        </a:solidFill>
                      </a:endParaRP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36661477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a:t>
            </a:r>
            <a:r>
              <a:rPr lang="en-IN" sz="1400" dirty="0">
                <a:solidFill>
                  <a:prstClr val="black"/>
                </a:solidFill>
              </a:rPr>
              <a:t>2</a:t>
            </a:r>
            <a:r>
              <a:rPr lang="en-IN" sz="2000" dirty="0">
                <a:solidFill>
                  <a:prstClr val="black"/>
                </a:solidFill>
              </a:rPr>
              <a:t>[1,3]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3 +  2 </a:t>
            </a:r>
            <a:r>
              <a:rPr lang="en-IN" sz="2000" b="1" dirty="0">
                <a:solidFill>
                  <a:prstClr val="black"/>
                </a:solidFill>
              </a:rPr>
              <a:t>= 5</a:t>
            </a:r>
            <a:endParaRPr lang="en-IN" dirty="0"/>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[1,4]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7 </a:t>
            </a:r>
            <a:r>
              <a:rPr lang="en-IN" sz="2000" dirty="0">
                <a:solidFill>
                  <a:prstClr val="black"/>
                </a:solidFill>
              </a:rPr>
              <a:t>	                3 +  15 = 18</a:t>
            </a:r>
            <a:endParaRPr lang="en-IN" dirty="0"/>
          </a:p>
          <a:p>
            <a:pPr marL="0" indent="0">
              <a:spcBef>
                <a:spcPts val="0"/>
              </a:spcBef>
              <a:buNone/>
            </a:pPr>
            <a:r>
              <a:rPr lang="en-IN" dirty="0"/>
              <a:t>A</a:t>
            </a:r>
            <a:r>
              <a:rPr lang="en-IN" sz="2000" dirty="0"/>
              <a:t>2</a:t>
            </a:r>
            <a:r>
              <a:rPr lang="en-IN" dirty="0"/>
              <a:t> =					</a:t>
            </a:r>
            <a:r>
              <a:rPr lang="en-IN" sz="2000" dirty="0">
                <a:solidFill>
                  <a:prstClr val="black"/>
                </a:solidFill>
              </a:rPr>
              <a:t>A</a:t>
            </a:r>
            <a:r>
              <a:rPr lang="en-IN" sz="1400" dirty="0">
                <a:solidFill>
                  <a:prstClr val="black"/>
                </a:solidFill>
              </a:rPr>
              <a:t>2</a:t>
            </a:r>
            <a:r>
              <a:rPr lang="en-IN" sz="2000" dirty="0">
                <a:solidFill>
                  <a:prstClr val="black"/>
                </a:solidFill>
              </a:rPr>
              <a:t>[3,1]	      A</a:t>
            </a:r>
            <a:r>
              <a:rPr lang="en-IN" sz="1400" dirty="0">
                <a:solidFill>
                  <a:prstClr val="black"/>
                </a:solidFill>
              </a:rPr>
              <a:t>1</a:t>
            </a:r>
            <a:r>
              <a:rPr lang="en-IN" sz="2000" dirty="0">
                <a:solidFill>
                  <a:prstClr val="black"/>
                </a:solidFill>
              </a:rPr>
              <a:t>[3,2] + A</a:t>
            </a:r>
            <a:r>
              <a:rPr lang="en-IN" sz="1400" dirty="0">
                <a:solidFill>
                  <a:prstClr val="black"/>
                </a:solidFill>
              </a:rPr>
              <a:t>1</a:t>
            </a:r>
            <a:r>
              <a:rPr lang="en-IN" sz="2000" dirty="0">
                <a:solidFill>
                  <a:prstClr val="black"/>
                </a:solidFill>
              </a:rPr>
              <a:t>[2,1]</a:t>
            </a:r>
          </a:p>
          <a:p>
            <a:pPr marL="0" indent="0">
              <a:spcBef>
                <a:spcPts val="0"/>
              </a:spcBef>
              <a:buNone/>
            </a:pPr>
            <a:r>
              <a:rPr lang="en-IN" sz="2000" dirty="0">
                <a:solidFill>
                  <a:prstClr val="black"/>
                </a:solidFill>
              </a:rPr>
              <a:t>				    	     </a:t>
            </a:r>
            <a:r>
              <a:rPr lang="en-IN" sz="2000" b="1" dirty="0">
                <a:solidFill>
                  <a:prstClr val="black"/>
                </a:solidFill>
              </a:rPr>
              <a:t>5 </a:t>
            </a:r>
            <a:r>
              <a:rPr lang="en-IN" sz="2000" dirty="0">
                <a:solidFill>
                  <a:prstClr val="black"/>
                </a:solidFill>
              </a:rPr>
              <a:t>	                8 +  8 = 16</a:t>
            </a:r>
            <a:endParaRPr lang="en-IN" dirty="0">
              <a:solidFill>
                <a:prstClr val="black"/>
              </a:solidFill>
            </a:endParaRPr>
          </a:p>
          <a:p>
            <a:pPr marL="0" indent="0">
              <a:buNone/>
            </a:pPr>
            <a:endParaRPr lang="en-IN" dirty="0"/>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0" i="0" u="none" strike="noStrike" kern="1200" cap="none" spc="0" normalizeH="0" baseline="0" noProof="0" dirty="0">
                          <a:ln>
                            <a:noFill/>
                          </a:ln>
                          <a:solidFill>
                            <a:prstClr val="black"/>
                          </a:solidFill>
                          <a:effectLst/>
                          <a:uLnTx/>
                          <a:uFillTx/>
                          <a:latin typeface="+mn-lt"/>
                          <a:ea typeface="+mn-ea"/>
                          <a:cs typeface="+mn-cs"/>
                        </a:rPr>
                        <a:t>5</a:t>
                      </a:r>
                      <a:endParaRPr lang="en-IN" sz="2400" b="0" dirty="0"/>
                    </a:p>
                  </a:txBody>
                  <a:tcPr anchor="ctr"/>
                </a:tc>
                <a:tc>
                  <a:txBody>
                    <a:bodyPr/>
                    <a:lstStyle/>
                    <a:p>
                      <a:pPr algn="ctr"/>
                      <a:r>
                        <a:rPr lang="en-IN" sz="1800" b="1" dirty="0">
                          <a:solidFill>
                            <a:prstClr val="black"/>
                          </a:solidFill>
                        </a:rPr>
                        <a:t>7</a:t>
                      </a: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sz="1800" b="1" dirty="0">
                          <a:solidFill>
                            <a:prstClr val="black"/>
                          </a:solidFill>
                        </a:rPr>
                        <a:t>5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9328104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a:t>
            </a:r>
            <a:r>
              <a:rPr lang="en-IN" sz="1400" dirty="0">
                <a:solidFill>
                  <a:prstClr val="black"/>
                </a:solidFill>
              </a:rPr>
              <a:t>2</a:t>
            </a:r>
            <a:r>
              <a:rPr lang="en-IN" sz="2000" dirty="0">
                <a:solidFill>
                  <a:prstClr val="black"/>
                </a:solidFill>
              </a:rPr>
              <a:t>[1,3]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3 +  2 </a:t>
            </a:r>
            <a:r>
              <a:rPr lang="en-IN" sz="2000" b="1" dirty="0">
                <a:solidFill>
                  <a:prstClr val="black"/>
                </a:solidFill>
              </a:rPr>
              <a:t>= 5</a:t>
            </a:r>
            <a:endParaRPr lang="en-IN" dirty="0"/>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[1,4]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7 </a:t>
            </a:r>
            <a:r>
              <a:rPr lang="en-IN" sz="2000" dirty="0">
                <a:solidFill>
                  <a:prstClr val="black"/>
                </a:solidFill>
              </a:rPr>
              <a:t>	                3 +  15 = 18</a:t>
            </a:r>
            <a:endParaRPr lang="en-IN" dirty="0"/>
          </a:p>
          <a:p>
            <a:pPr marL="0" indent="0">
              <a:spcBef>
                <a:spcPts val="0"/>
              </a:spcBef>
              <a:buNone/>
            </a:pPr>
            <a:r>
              <a:rPr lang="en-IN" dirty="0"/>
              <a:t>A</a:t>
            </a:r>
            <a:r>
              <a:rPr lang="en-IN" sz="2000" dirty="0"/>
              <a:t>2</a:t>
            </a:r>
            <a:r>
              <a:rPr lang="en-IN" dirty="0"/>
              <a:t> =					</a:t>
            </a:r>
            <a:r>
              <a:rPr lang="en-IN" sz="2000" dirty="0">
                <a:solidFill>
                  <a:prstClr val="black"/>
                </a:solidFill>
              </a:rPr>
              <a:t>A</a:t>
            </a:r>
            <a:r>
              <a:rPr lang="en-IN" sz="1400" dirty="0">
                <a:solidFill>
                  <a:prstClr val="black"/>
                </a:solidFill>
              </a:rPr>
              <a:t>2</a:t>
            </a:r>
            <a:r>
              <a:rPr lang="en-IN" sz="2000" dirty="0">
                <a:solidFill>
                  <a:prstClr val="black"/>
                </a:solidFill>
              </a:rPr>
              <a:t>[3,1]	      A</a:t>
            </a:r>
            <a:r>
              <a:rPr lang="en-IN" sz="1400" dirty="0">
                <a:solidFill>
                  <a:prstClr val="black"/>
                </a:solidFill>
              </a:rPr>
              <a:t>1</a:t>
            </a:r>
            <a:r>
              <a:rPr lang="en-IN" sz="2000" dirty="0">
                <a:solidFill>
                  <a:prstClr val="black"/>
                </a:solidFill>
              </a:rPr>
              <a:t>[3,2] + A</a:t>
            </a:r>
            <a:r>
              <a:rPr lang="en-IN" sz="1400" dirty="0">
                <a:solidFill>
                  <a:prstClr val="black"/>
                </a:solidFill>
              </a:rPr>
              <a:t>1</a:t>
            </a:r>
            <a:r>
              <a:rPr lang="en-IN" sz="2000" dirty="0">
                <a:solidFill>
                  <a:prstClr val="black"/>
                </a:solidFill>
              </a:rPr>
              <a:t>[2,1]</a:t>
            </a:r>
          </a:p>
          <a:p>
            <a:pPr marL="0" indent="0">
              <a:spcBef>
                <a:spcPts val="0"/>
              </a:spcBef>
              <a:buNone/>
            </a:pPr>
            <a:r>
              <a:rPr lang="en-IN" sz="2000" dirty="0">
                <a:solidFill>
                  <a:prstClr val="black"/>
                </a:solidFill>
              </a:rPr>
              <a:t>				    	     </a:t>
            </a:r>
            <a:r>
              <a:rPr lang="en-IN" sz="2000" b="1" dirty="0">
                <a:solidFill>
                  <a:prstClr val="black"/>
                </a:solidFill>
              </a:rPr>
              <a:t>5 </a:t>
            </a:r>
            <a:r>
              <a:rPr lang="en-IN" sz="2000" dirty="0">
                <a:solidFill>
                  <a:prstClr val="black"/>
                </a:solidFill>
              </a:rPr>
              <a:t>	                8 +  8 = 16</a:t>
            </a:r>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[3,4]	      A</a:t>
            </a:r>
            <a:r>
              <a:rPr lang="en-IN" sz="1400" dirty="0">
                <a:solidFill>
                  <a:prstClr val="black"/>
                </a:solidFill>
              </a:rPr>
              <a:t>1</a:t>
            </a:r>
            <a:r>
              <a:rPr lang="en-IN" sz="2000" dirty="0">
                <a:solidFill>
                  <a:prstClr val="black"/>
                </a:solidFill>
              </a:rPr>
              <a:t>[3,2]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1 </a:t>
            </a:r>
            <a:r>
              <a:rPr lang="en-IN" sz="2000" dirty="0">
                <a:solidFill>
                  <a:prstClr val="black"/>
                </a:solidFill>
              </a:rPr>
              <a:t>	                8 +  15 = 23</a:t>
            </a:r>
            <a:endParaRPr lang="en-IN" dirty="0">
              <a:solidFill>
                <a:prstClr val="black"/>
              </a:solidFill>
            </a:endParaRPr>
          </a:p>
          <a:p>
            <a:pPr marL="0" indent="0">
              <a:spcBef>
                <a:spcPts val="0"/>
              </a:spcBef>
              <a:buNone/>
            </a:pPr>
            <a:endParaRPr lang="en-IN" dirty="0">
              <a:solidFill>
                <a:prstClr val="black"/>
              </a:solidFill>
            </a:endParaRPr>
          </a:p>
          <a:p>
            <a:pPr marL="0" indent="0">
              <a:buNone/>
            </a:pPr>
            <a:endParaRPr lang="en-IN" dirty="0"/>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0" i="0" u="none" strike="noStrike" kern="1200" cap="none" spc="0" normalizeH="0" baseline="0" noProof="0" dirty="0">
                          <a:ln>
                            <a:noFill/>
                          </a:ln>
                          <a:solidFill>
                            <a:prstClr val="black"/>
                          </a:solidFill>
                          <a:effectLst/>
                          <a:uLnTx/>
                          <a:uFillTx/>
                          <a:latin typeface="+mn-lt"/>
                          <a:ea typeface="+mn-ea"/>
                          <a:cs typeface="+mn-cs"/>
                        </a:rPr>
                        <a:t>5</a:t>
                      </a:r>
                      <a:endParaRPr lang="en-IN" sz="2400" b="0" dirty="0"/>
                    </a:p>
                  </a:txBody>
                  <a:tcPr anchor="ctr"/>
                </a:tc>
                <a:tc>
                  <a:txBody>
                    <a:bodyPr/>
                    <a:lstStyle/>
                    <a:p>
                      <a:pPr algn="ctr"/>
                      <a:r>
                        <a:rPr lang="en-IN" sz="1800" b="1" dirty="0">
                          <a:solidFill>
                            <a:prstClr val="black"/>
                          </a:solidFill>
                        </a:rPr>
                        <a:t>7</a:t>
                      </a: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sz="1800" b="1" dirty="0">
                          <a:solidFill>
                            <a:prstClr val="black"/>
                          </a:solidFill>
                        </a:rPr>
                        <a:t>5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sz="1800" b="1" dirty="0">
                          <a:solidFill>
                            <a:prstClr val="black"/>
                          </a:solidFill>
                        </a:rPr>
                        <a:t>1 </a:t>
                      </a: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6625919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172200"/>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a:t>
            </a:r>
            <a:r>
              <a:rPr lang="en-IN" sz="1400" dirty="0">
                <a:solidFill>
                  <a:prstClr val="black"/>
                </a:solidFill>
              </a:rPr>
              <a:t>2</a:t>
            </a:r>
            <a:r>
              <a:rPr lang="en-IN" sz="2000" dirty="0">
                <a:solidFill>
                  <a:prstClr val="black"/>
                </a:solidFill>
              </a:rPr>
              <a:t>[1,3]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3 +  2 </a:t>
            </a:r>
            <a:r>
              <a:rPr lang="en-IN" sz="2000" b="1" dirty="0">
                <a:solidFill>
                  <a:prstClr val="black"/>
                </a:solidFill>
              </a:rPr>
              <a:t>= 5</a:t>
            </a:r>
            <a:endParaRPr lang="en-IN" dirty="0"/>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[1,4]	      A</a:t>
            </a:r>
            <a:r>
              <a:rPr lang="en-IN" sz="1400" dirty="0">
                <a:solidFill>
                  <a:prstClr val="black"/>
                </a:solidFill>
              </a:rPr>
              <a:t>1</a:t>
            </a:r>
            <a:r>
              <a:rPr lang="en-IN" sz="2000" dirty="0">
                <a:solidFill>
                  <a:prstClr val="black"/>
                </a:solidFill>
              </a:rPr>
              <a:t>[1,2]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7 </a:t>
            </a:r>
            <a:r>
              <a:rPr lang="en-IN" sz="2000" dirty="0">
                <a:solidFill>
                  <a:prstClr val="black"/>
                </a:solidFill>
              </a:rPr>
              <a:t>	                3 +  15 = 18</a:t>
            </a:r>
            <a:endParaRPr lang="en-IN" dirty="0"/>
          </a:p>
          <a:p>
            <a:pPr marL="0" indent="0">
              <a:spcBef>
                <a:spcPts val="0"/>
              </a:spcBef>
              <a:buNone/>
            </a:pPr>
            <a:r>
              <a:rPr lang="en-IN" dirty="0"/>
              <a:t>A</a:t>
            </a:r>
            <a:r>
              <a:rPr lang="en-IN" sz="2000" dirty="0"/>
              <a:t>2</a:t>
            </a:r>
            <a:r>
              <a:rPr lang="en-IN" dirty="0"/>
              <a:t> =					</a:t>
            </a:r>
            <a:r>
              <a:rPr lang="en-IN" sz="2000" dirty="0">
                <a:solidFill>
                  <a:prstClr val="black"/>
                </a:solidFill>
              </a:rPr>
              <a:t>A</a:t>
            </a:r>
            <a:r>
              <a:rPr lang="en-IN" sz="1400" dirty="0">
                <a:solidFill>
                  <a:prstClr val="black"/>
                </a:solidFill>
              </a:rPr>
              <a:t>2</a:t>
            </a:r>
            <a:r>
              <a:rPr lang="en-IN" sz="2000" dirty="0">
                <a:solidFill>
                  <a:prstClr val="black"/>
                </a:solidFill>
              </a:rPr>
              <a:t>[3,1]	      A</a:t>
            </a:r>
            <a:r>
              <a:rPr lang="en-IN" sz="1400" dirty="0">
                <a:solidFill>
                  <a:prstClr val="black"/>
                </a:solidFill>
              </a:rPr>
              <a:t>1</a:t>
            </a:r>
            <a:r>
              <a:rPr lang="en-IN" sz="2000" dirty="0">
                <a:solidFill>
                  <a:prstClr val="black"/>
                </a:solidFill>
              </a:rPr>
              <a:t>[3,2] + A</a:t>
            </a:r>
            <a:r>
              <a:rPr lang="en-IN" sz="1400" dirty="0">
                <a:solidFill>
                  <a:prstClr val="black"/>
                </a:solidFill>
              </a:rPr>
              <a:t>1</a:t>
            </a:r>
            <a:r>
              <a:rPr lang="en-IN" sz="2000" dirty="0">
                <a:solidFill>
                  <a:prstClr val="black"/>
                </a:solidFill>
              </a:rPr>
              <a:t>[2,1]</a:t>
            </a:r>
          </a:p>
          <a:p>
            <a:pPr marL="0" indent="0">
              <a:spcBef>
                <a:spcPts val="0"/>
              </a:spcBef>
              <a:buNone/>
            </a:pPr>
            <a:r>
              <a:rPr lang="en-IN" sz="2000" dirty="0">
                <a:solidFill>
                  <a:prstClr val="black"/>
                </a:solidFill>
              </a:rPr>
              <a:t>				    	     </a:t>
            </a:r>
            <a:r>
              <a:rPr lang="en-IN" sz="2000" b="1" dirty="0">
                <a:solidFill>
                  <a:prstClr val="black"/>
                </a:solidFill>
              </a:rPr>
              <a:t>5 </a:t>
            </a:r>
            <a:r>
              <a:rPr lang="en-IN" sz="2000" dirty="0">
                <a:solidFill>
                  <a:prstClr val="black"/>
                </a:solidFill>
              </a:rPr>
              <a:t>	                8 +  8 = 16</a:t>
            </a:r>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[3,4]	      A</a:t>
            </a:r>
            <a:r>
              <a:rPr lang="en-IN" sz="1400" dirty="0">
                <a:solidFill>
                  <a:prstClr val="black"/>
                </a:solidFill>
              </a:rPr>
              <a:t>1</a:t>
            </a:r>
            <a:r>
              <a:rPr lang="en-IN" sz="2000" dirty="0">
                <a:solidFill>
                  <a:prstClr val="black"/>
                </a:solidFill>
              </a:rPr>
              <a:t>[3,2] + A</a:t>
            </a:r>
            <a:r>
              <a:rPr lang="en-IN" sz="1400" dirty="0">
                <a:solidFill>
                  <a:prstClr val="black"/>
                </a:solidFill>
              </a:rPr>
              <a:t>1</a:t>
            </a:r>
            <a:r>
              <a:rPr lang="en-IN" sz="2000" dirty="0">
                <a:solidFill>
                  <a:prstClr val="black"/>
                </a:solidFill>
              </a:rPr>
              <a:t>[2,4]</a:t>
            </a:r>
          </a:p>
          <a:p>
            <a:pPr marL="0" indent="0">
              <a:spcBef>
                <a:spcPts val="0"/>
              </a:spcBef>
              <a:buNone/>
            </a:pPr>
            <a:r>
              <a:rPr lang="en-IN" sz="2000" dirty="0">
                <a:solidFill>
                  <a:prstClr val="black"/>
                </a:solidFill>
              </a:rPr>
              <a:t>				    	     </a:t>
            </a:r>
            <a:r>
              <a:rPr lang="en-IN" sz="2000" b="1" dirty="0">
                <a:solidFill>
                  <a:prstClr val="black"/>
                </a:solidFill>
              </a:rPr>
              <a:t>1 </a:t>
            </a:r>
            <a:r>
              <a:rPr lang="en-IN" sz="2000" dirty="0">
                <a:solidFill>
                  <a:prstClr val="black"/>
                </a:solidFill>
              </a:rPr>
              <a:t>	                8 +  15 = 23</a:t>
            </a:r>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[4,1]	      A</a:t>
            </a:r>
            <a:r>
              <a:rPr lang="en-IN" sz="1400" dirty="0">
                <a:solidFill>
                  <a:prstClr val="black"/>
                </a:solidFill>
              </a:rPr>
              <a:t>1</a:t>
            </a:r>
            <a:r>
              <a:rPr lang="en-IN" sz="2000" dirty="0">
                <a:solidFill>
                  <a:prstClr val="black"/>
                </a:solidFill>
              </a:rPr>
              <a:t>[4,2] + A</a:t>
            </a:r>
            <a:r>
              <a:rPr lang="en-IN" sz="1400" dirty="0">
                <a:solidFill>
                  <a:prstClr val="black"/>
                </a:solidFill>
              </a:rPr>
              <a:t>1</a:t>
            </a:r>
            <a:r>
              <a:rPr lang="en-IN" sz="2000" dirty="0">
                <a:solidFill>
                  <a:prstClr val="black"/>
                </a:solidFill>
              </a:rPr>
              <a:t>[2,1]</a:t>
            </a:r>
          </a:p>
          <a:p>
            <a:pPr marL="0" indent="0">
              <a:spcBef>
                <a:spcPts val="0"/>
              </a:spcBef>
              <a:buNone/>
            </a:pPr>
            <a:r>
              <a:rPr lang="en-IN" sz="2000" dirty="0">
                <a:solidFill>
                  <a:prstClr val="black"/>
                </a:solidFill>
              </a:rPr>
              <a:t>				    	     </a:t>
            </a:r>
            <a:r>
              <a:rPr lang="en-IN" sz="2000" b="1" dirty="0">
                <a:solidFill>
                  <a:prstClr val="black"/>
                </a:solidFill>
              </a:rPr>
              <a:t>2 </a:t>
            </a:r>
            <a:r>
              <a:rPr lang="en-IN" sz="2000" dirty="0">
                <a:solidFill>
                  <a:prstClr val="black"/>
                </a:solidFill>
              </a:rPr>
              <a:t>	                5 +  8 = 13</a:t>
            </a:r>
          </a:p>
          <a:p>
            <a:pPr marL="0" indent="0">
              <a:spcBef>
                <a:spcPts val="0"/>
              </a:spcBef>
              <a:buNone/>
            </a:pPr>
            <a:r>
              <a:rPr lang="en-IN" sz="2000" dirty="0">
                <a:solidFill>
                  <a:prstClr val="black"/>
                </a:solidFill>
              </a:rPr>
              <a:t>					A</a:t>
            </a:r>
            <a:r>
              <a:rPr lang="en-IN" sz="1400" dirty="0">
                <a:solidFill>
                  <a:prstClr val="black"/>
                </a:solidFill>
              </a:rPr>
              <a:t>2</a:t>
            </a:r>
            <a:r>
              <a:rPr lang="en-IN" sz="2000" dirty="0">
                <a:solidFill>
                  <a:prstClr val="black"/>
                </a:solidFill>
              </a:rPr>
              <a:t>[4,3]	      A</a:t>
            </a:r>
            <a:r>
              <a:rPr lang="en-IN" sz="1400" dirty="0">
                <a:solidFill>
                  <a:prstClr val="black"/>
                </a:solidFill>
              </a:rPr>
              <a:t>1</a:t>
            </a:r>
            <a:r>
              <a:rPr lang="en-IN" sz="2000" dirty="0">
                <a:solidFill>
                  <a:prstClr val="black"/>
                </a:solidFill>
              </a:rPr>
              <a:t>[4,2] + A</a:t>
            </a:r>
            <a:r>
              <a:rPr lang="en-IN" sz="1400" dirty="0">
                <a:solidFill>
                  <a:prstClr val="black"/>
                </a:solidFill>
              </a:rPr>
              <a:t>1</a:t>
            </a:r>
            <a:r>
              <a:rPr lang="en-IN" sz="2000" dirty="0">
                <a:solidFill>
                  <a:prstClr val="black"/>
                </a:solidFill>
              </a:rPr>
              <a:t>[2,3]</a:t>
            </a:r>
          </a:p>
          <a:p>
            <a:pPr marL="0" indent="0">
              <a:spcBef>
                <a:spcPts val="0"/>
              </a:spcBef>
              <a:buNone/>
            </a:pPr>
            <a:r>
              <a:rPr lang="en-IN" sz="2000" dirty="0">
                <a:solidFill>
                  <a:prstClr val="black"/>
                </a:solidFill>
              </a:rPr>
              <a:t>				    	     </a:t>
            </a:r>
            <a:r>
              <a:rPr lang="en-IN" sz="2000" b="1" dirty="0">
                <a:solidFill>
                  <a:prstClr val="black"/>
                </a:solidFill>
              </a:rPr>
              <a:t>∞ </a:t>
            </a:r>
            <a:r>
              <a:rPr lang="en-IN" sz="2000" dirty="0">
                <a:solidFill>
                  <a:prstClr val="black"/>
                </a:solidFill>
              </a:rPr>
              <a:t>	                5 +  2 = </a:t>
            </a:r>
            <a:r>
              <a:rPr lang="en-IN" sz="2000" b="1" dirty="0">
                <a:solidFill>
                  <a:prstClr val="black"/>
                </a:solidFill>
              </a:rPr>
              <a:t>7</a:t>
            </a:r>
            <a:endParaRPr lang="en-IN" b="1" dirty="0">
              <a:solidFill>
                <a:prstClr val="black"/>
              </a:solidFill>
            </a:endParaRPr>
          </a:p>
          <a:p>
            <a:pPr marL="0" indent="0">
              <a:spcBef>
                <a:spcPts val="0"/>
              </a:spcBef>
              <a:buNone/>
            </a:pPr>
            <a:endParaRPr lang="en-IN" dirty="0">
              <a:solidFill>
                <a:prstClr val="black"/>
              </a:solidFill>
            </a:endParaRPr>
          </a:p>
          <a:p>
            <a:pPr marL="0" indent="0">
              <a:spcBef>
                <a:spcPts val="0"/>
              </a:spcBef>
              <a:buNone/>
            </a:pPr>
            <a:endParaRPr lang="en-IN" dirty="0">
              <a:solidFill>
                <a:prstClr val="black"/>
              </a:solidFill>
            </a:endParaRPr>
          </a:p>
          <a:p>
            <a:pPr marL="0" indent="0">
              <a:spcBef>
                <a:spcPts val="0"/>
              </a:spcBef>
              <a:buNone/>
            </a:pPr>
            <a:endParaRPr lang="en-IN" dirty="0">
              <a:solidFill>
                <a:prstClr val="black"/>
              </a:solidFill>
            </a:endParaRPr>
          </a:p>
          <a:p>
            <a:pPr marL="0" indent="0">
              <a:buNone/>
            </a:pPr>
            <a:endParaRPr lang="en-IN" dirty="0"/>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2819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0" i="0" u="none" strike="noStrike" kern="1200" cap="none" spc="0" normalizeH="0" baseline="0" noProof="0" dirty="0">
                          <a:ln>
                            <a:noFill/>
                          </a:ln>
                          <a:solidFill>
                            <a:prstClr val="black"/>
                          </a:solidFill>
                          <a:effectLst/>
                          <a:uLnTx/>
                          <a:uFillTx/>
                          <a:latin typeface="+mn-lt"/>
                          <a:ea typeface="+mn-ea"/>
                          <a:cs typeface="+mn-cs"/>
                        </a:rPr>
                        <a:t>5</a:t>
                      </a:r>
                      <a:endParaRPr lang="en-IN" sz="2400" b="0" dirty="0"/>
                    </a:p>
                  </a:txBody>
                  <a:tcPr anchor="ctr"/>
                </a:tc>
                <a:tc>
                  <a:txBody>
                    <a:bodyPr/>
                    <a:lstStyle/>
                    <a:p>
                      <a:pPr algn="ctr"/>
                      <a:r>
                        <a:rPr lang="en-IN" sz="1800" b="1" dirty="0">
                          <a:solidFill>
                            <a:prstClr val="black"/>
                          </a:solidFill>
                        </a:rPr>
                        <a:t>7</a:t>
                      </a: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sz="1800" b="1" dirty="0">
                          <a:solidFill>
                            <a:prstClr val="black"/>
                          </a:solidFill>
                        </a:rPr>
                        <a:t>5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sz="1800" b="1" dirty="0">
                          <a:solidFill>
                            <a:prstClr val="black"/>
                          </a:solidFill>
                        </a:rPr>
                        <a:t>1 </a:t>
                      </a: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302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302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90258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87037"/>
            <a:ext cx="8229600" cy="5897563"/>
          </a:xfrm>
        </p:spPr>
        <p:txBody>
          <a:bodyPr>
            <a:normAutofit/>
          </a:bodyPr>
          <a:lstStyle/>
          <a:p>
            <a:endParaRPr lang="en-IN" sz="2400" dirty="0"/>
          </a:p>
          <a:p>
            <a:endParaRPr lang="en-IN" sz="2400" dirty="0"/>
          </a:p>
          <a:p>
            <a:endParaRPr lang="en-IN" sz="2400" dirty="0"/>
          </a:p>
          <a:p>
            <a:pPr marL="0" indent="0">
              <a:buNone/>
            </a:pPr>
            <a:r>
              <a:rPr lang="en-IN" dirty="0"/>
              <a:t> A</a:t>
            </a:r>
            <a:r>
              <a:rPr lang="en-IN" sz="2000" dirty="0"/>
              <a:t>3 =</a:t>
            </a:r>
          </a:p>
          <a:p>
            <a:pPr marL="0" indent="0">
              <a:buNone/>
            </a:pPr>
            <a:endParaRPr lang="en-IN" sz="2000" dirty="0"/>
          </a:p>
          <a:p>
            <a:pPr marL="0" indent="0">
              <a:buNone/>
            </a:pPr>
            <a:endParaRPr lang="en-IN" sz="2000" dirty="0"/>
          </a:p>
          <a:p>
            <a:pPr marL="0" indent="0">
              <a:buNone/>
            </a:pPr>
            <a:r>
              <a:rPr lang="en-IN" sz="2000" dirty="0"/>
              <a:t>				</a:t>
            </a:r>
          </a:p>
          <a:p>
            <a:pPr marL="0" indent="0">
              <a:buNone/>
            </a:pPr>
            <a:r>
              <a:rPr lang="en-IN" sz="2000" dirty="0"/>
              <a:t>				</a:t>
            </a:r>
          </a:p>
          <a:p>
            <a:pPr marL="0" indent="0">
              <a:buNone/>
            </a:pPr>
            <a:r>
              <a:rPr lang="en-IN" dirty="0"/>
              <a:t> A</a:t>
            </a:r>
            <a:r>
              <a:rPr lang="en-IN" sz="1800" dirty="0"/>
              <a:t>4 =</a:t>
            </a:r>
            <a:endParaRPr lang="en-IN" sz="2400" dirty="0"/>
          </a:p>
        </p:txBody>
      </p:sp>
      <p:graphicFrame>
        <p:nvGraphicFramePr>
          <p:cNvPr id="4" name="Table 3"/>
          <p:cNvGraphicFramePr>
            <a:graphicFrameLocks noGrp="1"/>
          </p:cNvGraphicFramePr>
          <p:nvPr>
            <p:extLst/>
          </p:nvPr>
        </p:nvGraphicFramePr>
        <p:xfrm>
          <a:off x="2819400" y="207818"/>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5</a:t>
                      </a:r>
                    </a:p>
                  </a:txBody>
                  <a:tcPr anchor="ctr"/>
                </a:tc>
                <a:tc>
                  <a:txBody>
                    <a:bodyPr/>
                    <a:lstStyle/>
                    <a:p>
                      <a:pPr algn="ctr"/>
                      <a:r>
                        <a:rPr lang="en-IN" dirty="0"/>
                        <a:t>6</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7</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3</a:t>
                      </a:r>
                      <a:endParaRPr lang="en-IN" sz="1800" b="1"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8</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3528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0292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7" name="Table 6"/>
          <p:cNvGraphicFramePr>
            <a:graphicFrameLocks noGrp="1"/>
          </p:cNvGraphicFramePr>
          <p:nvPr>
            <p:extLst/>
          </p:nvPr>
        </p:nvGraphicFramePr>
        <p:xfrm>
          <a:off x="28956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5</a:t>
                      </a:r>
                    </a:p>
                  </a:txBody>
                  <a:tcPr anchor="ctr"/>
                </a:tc>
                <a:tc>
                  <a:txBody>
                    <a:bodyPr/>
                    <a:lstStyle/>
                    <a:p>
                      <a:pPr algn="ctr"/>
                      <a:r>
                        <a:rPr lang="en-IN" dirty="0"/>
                        <a:t>6</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5</a:t>
                      </a:r>
                    </a:p>
                  </a:txBody>
                  <a:tcPr anchor="ctr"/>
                </a:tc>
                <a:tc>
                  <a:txBody>
                    <a:bodyPr/>
                    <a:lstStyle/>
                    <a:p>
                      <a:pPr algn="ctr"/>
                      <a:r>
                        <a:rPr lang="en-IN" dirty="0"/>
                        <a:t>0</a:t>
                      </a:r>
                    </a:p>
                  </a:txBody>
                  <a:tcPr anchor="ctr"/>
                </a:tc>
                <a:tc>
                  <a:txBody>
                    <a:bodyPr/>
                    <a:lstStyle/>
                    <a:p>
                      <a:pPr algn="ctr"/>
                      <a:r>
                        <a:rPr lang="en-IN" b="1" dirty="0"/>
                        <a:t>2</a:t>
                      </a:r>
                    </a:p>
                  </a:txBody>
                  <a:tcPr anchor="ctr"/>
                </a:tc>
                <a:tc>
                  <a:txBody>
                    <a:bodyPr/>
                    <a:lstStyle/>
                    <a:p>
                      <a:pPr algn="ctr"/>
                      <a:r>
                        <a:rPr lang="en-IN" dirty="0"/>
                        <a:t>3</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6</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8" name="Left Bracket 7"/>
          <p:cNvSpPr/>
          <p:nvPr/>
        </p:nvSpPr>
        <p:spPr>
          <a:xfrm>
            <a:off x="34290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9" name="Left Bracket 8"/>
          <p:cNvSpPr/>
          <p:nvPr/>
        </p:nvSpPr>
        <p:spPr>
          <a:xfrm flipH="1">
            <a:off x="51054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7321007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172200"/>
          </a:xfrm>
        </p:spPr>
        <p:txBody>
          <a:bodyPr>
            <a:normAutofit/>
          </a:bodyPr>
          <a:lstStyle/>
          <a:p>
            <a:pPr marL="0" indent="0">
              <a:buNone/>
            </a:pPr>
            <a:endParaRPr lang="en-IN" dirty="0"/>
          </a:p>
          <a:p>
            <a:pPr marL="0" indent="0">
              <a:buNone/>
            </a:pPr>
            <a:endParaRPr lang="en-IN" dirty="0"/>
          </a:p>
          <a:p>
            <a:pPr marL="0" indent="0">
              <a:buNone/>
            </a:pPr>
            <a:r>
              <a:rPr lang="en-IN" dirty="0"/>
              <a:t>A</a:t>
            </a:r>
            <a:r>
              <a:rPr lang="en-IN" sz="2000" dirty="0"/>
              <a:t>1</a:t>
            </a:r>
            <a:r>
              <a:rPr lang="en-IN" dirty="0"/>
              <a:t> =					 A</a:t>
            </a:r>
            <a:r>
              <a:rPr lang="en-IN" sz="2000" dirty="0"/>
              <a:t>3</a:t>
            </a: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A</a:t>
            </a:r>
            <a:r>
              <a:rPr lang="en-IN" sz="2000" dirty="0"/>
              <a:t>2</a:t>
            </a:r>
            <a:r>
              <a:rPr lang="en-IN" dirty="0"/>
              <a:t> =					 A</a:t>
            </a:r>
            <a:r>
              <a:rPr lang="en-IN" sz="2000" dirty="0"/>
              <a:t>4</a:t>
            </a:r>
            <a:r>
              <a:rPr lang="en-IN" dirty="0"/>
              <a:t> =</a:t>
            </a:r>
          </a:p>
          <a:p>
            <a:pPr marL="0" indent="0">
              <a:buNone/>
            </a:pPr>
            <a:endParaRPr lang="en-IN" dirty="0"/>
          </a:p>
          <a:p>
            <a:pPr marL="0" indent="0">
              <a:spcBef>
                <a:spcPts val="0"/>
              </a:spcBef>
              <a:buNone/>
            </a:pPr>
            <a:r>
              <a:rPr lang="en-IN" dirty="0"/>
              <a:t>					</a:t>
            </a:r>
            <a:r>
              <a:rPr lang="en-IN" sz="2000" dirty="0">
                <a:solidFill>
                  <a:prstClr val="black"/>
                </a:solidFill>
              </a:rPr>
              <a:t> </a:t>
            </a:r>
            <a:r>
              <a:rPr lang="en-IN" dirty="0"/>
              <a:t>					</a:t>
            </a:r>
            <a:endParaRPr lang="en-IN" sz="2000" dirty="0">
              <a:solidFill>
                <a:prstClr val="black"/>
              </a:solidFill>
            </a:endParaRPr>
          </a:p>
          <a:p>
            <a:pPr marL="0" indent="0">
              <a:spcBef>
                <a:spcPts val="0"/>
              </a:spcBef>
              <a:buNone/>
            </a:pPr>
            <a:r>
              <a:rPr lang="en-IN" sz="2000" dirty="0">
                <a:solidFill>
                  <a:prstClr val="black"/>
                </a:solidFill>
              </a:rPr>
              <a:t>				  </a:t>
            </a:r>
            <a:endParaRPr lang="en-IN" dirty="0">
              <a:solidFill>
                <a:prstClr val="black"/>
              </a:solidFill>
            </a:endParaRPr>
          </a:p>
          <a:p>
            <a:pPr marL="0" indent="0">
              <a:spcBef>
                <a:spcPts val="0"/>
              </a:spcBef>
              <a:buNone/>
            </a:pPr>
            <a:endParaRPr lang="en-IN" dirty="0">
              <a:solidFill>
                <a:prstClr val="black"/>
              </a:solidFill>
            </a:endParaRPr>
          </a:p>
          <a:p>
            <a:pPr marL="0" indent="0">
              <a:spcBef>
                <a:spcPts val="0"/>
              </a:spcBef>
              <a:buNone/>
            </a:pPr>
            <a:endParaRPr lang="en-IN" dirty="0">
              <a:solidFill>
                <a:prstClr val="black"/>
              </a:solidFill>
            </a:endParaRPr>
          </a:p>
          <a:p>
            <a:pPr marL="0" indent="0">
              <a:buNone/>
            </a:pPr>
            <a:endParaRPr lang="en-IN" dirty="0"/>
          </a:p>
        </p:txBody>
      </p:sp>
      <p:graphicFrame>
        <p:nvGraphicFramePr>
          <p:cNvPr id="4" name="Table 3"/>
          <p:cNvGraphicFramePr>
            <a:graphicFrameLocks noGrp="1"/>
          </p:cNvGraphicFramePr>
          <p:nvPr>
            <p:extLst/>
          </p:nvPr>
        </p:nvGraphicFramePr>
        <p:xfrm>
          <a:off x="2971800" y="19812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a:t>
                      </a:r>
                    </a:p>
                  </a:txBody>
                  <a:tcPr anchor="ctr"/>
                </a:tc>
                <a:tc>
                  <a:txBody>
                    <a:bodyPr/>
                    <a:lstStyle/>
                    <a:p>
                      <a:pPr algn="ctr"/>
                      <a:r>
                        <a:rPr lang="en-IN" dirty="0"/>
                        <a:t>7</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b="0"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5" name="Left Bracket 4"/>
          <p:cNvSpPr/>
          <p:nvPr/>
        </p:nvSpPr>
        <p:spPr>
          <a:xfrm>
            <a:off x="3505200" y="68074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6" name="Left Bracket 5"/>
          <p:cNvSpPr/>
          <p:nvPr/>
        </p:nvSpPr>
        <p:spPr>
          <a:xfrm flipH="1">
            <a:off x="5181601" y="68074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8" name="Table 7"/>
          <p:cNvGraphicFramePr>
            <a:graphicFrameLocks noGrp="1"/>
          </p:cNvGraphicFramePr>
          <p:nvPr>
            <p:extLst/>
          </p:nvPr>
        </p:nvGraphicFramePr>
        <p:xfrm>
          <a:off x="2971800" y="320040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kumimoji="0" lang="en-IN" sz="2000" b="0" i="0" u="none" strike="noStrike" kern="1200" cap="none" spc="0" normalizeH="0" baseline="0" noProof="0" dirty="0">
                          <a:ln>
                            <a:noFill/>
                          </a:ln>
                          <a:solidFill>
                            <a:prstClr val="black"/>
                          </a:solidFill>
                          <a:effectLst/>
                          <a:uLnTx/>
                          <a:uFillTx/>
                          <a:latin typeface="+mn-lt"/>
                          <a:ea typeface="+mn-ea"/>
                          <a:cs typeface="+mn-cs"/>
                        </a:rPr>
                        <a:t>5</a:t>
                      </a:r>
                      <a:endParaRPr lang="en-IN" sz="2400" b="0" dirty="0"/>
                    </a:p>
                  </a:txBody>
                  <a:tcPr anchor="ctr"/>
                </a:tc>
                <a:tc>
                  <a:txBody>
                    <a:bodyPr/>
                    <a:lstStyle/>
                    <a:p>
                      <a:pPr algn="ctr"/>
                      <a:r>
                        <a:rPr lang="en-IN" sz="1800" b="1" dirty="0">
                          <a:solidFill>
                            <a:prstClr val="black"/>
                          </a:solidFill>
                        </a:rPr>
                        <a:t>7</a:t>
                      </a:r>
                      <a:endParaRPr lang="en-IN" dirty="0"/>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8</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algn="ctr"/>
                      <a:r>
                        <a:rPr lang="en-IN" dirty="0"/>
                        <a:t>15</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sz="1800" b="1" dirty="0">
                          <a:solidFill>
                            <a:prstClr val="black"/>
                          </a:solidFill>
                        </a:rPr>
                        <a:t>5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8</a:t>
                      </a:r>
                    </a:p>
                  </a:txBody>
                  <a:tcPr anchor="ctr"/>
                </a:tc>
                <a:tc>
                  <a:txBody>
                    <a:bodyPr/>
                    <a:lstStyle/>
                    <a:p>
                      <a:pPr algn="ctr"/>
                      <a:r>
                        <a:rPr lang="en-IN" b="0" dirty="0"/>
                        <a:t>0</a:t>
                      </a:r>
                    </a:p>
                  </a:txBody>
                  <a:tcPr anchor="ctr"/>
                </a:tc>
                <a:tc>
                  <a:txBody>
                    <a:bodyPr/>
                    <a:lstStyle/>
                    <a:p>
                      <a:pPr algn="ctr"/>
                      <a:r>
                        <a:rPr lang="en-IN" sz="1800" b="1" dirty="0">
                          <a:solidFill>
                            <a:prstClr val="black"/>
                          </a:solidFill>
                        </a:rPr>
                        <a:t>1 </a:t>
                      </a:r>
                      <a:endParaRPr lang="en-IN" b="0" dirty="0"/>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 </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9" name="Left Bracket 8"/>
          <p:cNvSpPr/>
          <p:nvPr/>
        </p:nvSpPr>
        <p:spPr>
          <a:xfrm>
            <a:off x="3505200" y="368302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0" name="Left Bracket 9"/>
          <p:cNvSpPr/>
          <p:nvPr/>
        </p:nvSpPr>
        <p:spPr>
          <a:xfrm flipH="1">
            <a:off x="5181601" y="368302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11" name="Table 10"/>
          <p:cNvGraphicFramePr>
            <a:graphicFrameLocks noGrp="1"/>
          </p:cNvGraphicFramePr>
          <p:nvPr>
            <p:extLst/>
          </p:nvPr>
        </p:nvGraphicFramePr>
        <p:xfrm>
          <a:off x="7315200" y="207818"/>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5</a:t>
                      </a:r>
                    </a:p>
                  </a:txBody>
                  <a:tcPr anchor="ctr"/>
                </a:tc>
                <a:tc>
                  <a:txBody>
                    <a:bodyPr/>
                    <a:lstStyle/>
                    <a:p>
                      <a:pPr algn="ctr"/>
                      <a:r>
                        <a:rPr lang="en-IN" dirty="0"/>
                        <a:t>6</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7</a:t>
                      </a:r>
                    </a:p>
                  </a:txBody>
                  <a:tcPr anchor="ctr"/>
                </a:tc>
                <a:tc>
                  <a:txBody>
                    <a:bodyPr/>
                    <a:lstStyle/>
                    <a:p>
                      <a:pPr algn="ctr"/>
                      <a:r>
                        <a:rPr lang="en-IN" dirty="0"/>
                        <a:t>0</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dirty="0"/>
                        <a:t>3</a:t>
                      </a:r>
                      <a:endParaRPr lang="en-IN" sz="1800" b="1" dirty="0"/>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8</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12" name="Left Bracket 11"/>
          <p:cNvSpPr/>
          <p:nvPr/>
        </p:nvSpPr>
        <p:spPr>
          <a:xfrm>
            <a:off x="7848600" y="690438"/>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3" name="Left Bracket 12"/>
          <p:cNvSpPr/>
          <p:nvPr/>
        </p:nvSpPr>
        <p:spPr>
          <a:xfrm flipH="1">
            <a:off x="9525001" y="690438"/>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graphicFrame>
        <p:nvGraphicFramePr>
          <p:cNvPr id="14" name="Table 13"/>
          <p:cNvGraphicFramePr>
            <a:graphicFrameLocks noGrp="1"/>
          </p:cNvGraphicFramePr>
          <p:nvPr>
            <p:extLst/>
          </p:nvPr>
        </p:nvGraphicFramePr>
        <p:xfrm>
          <a:off x="7391400" y="3185160"/>
          <a:ext cx="2590800" cy="2457450"/>
        </p:xfrm>
        <a:graphic>
          <a:graphicData uri="http://schemas.openxmlformats.org/drawingml/2006/table">
            <a:tbl>
              <a:tblPr firstRow="1" bandRow="1">
                <a:tableStyleId>{2D5ABB26-0587-4C30-8999-92F81FD0307C}</a:tableStyleId>
              </a:tblPr>
              <a:tblGrid>
                <a:gridCol w="518160">
                  <a:extLst>
                    <a:ext uri="{9D8B030D-6E8A-4147-A177-3AD203B41FA5}">
                      <a16:colId xmlns="" xmlns:a16="http://schemas.microsoft.com/office/drawing/2014/main" val="944923539"/>
                    </a:ext>
                  </a:extLst>
                </a:gridCol>
                <a:gridCol w="518160">
                  <a:extLst>
                    <a:ext uri="{9D8B030D-6E8A-4147-A177-3AD203B41FA5}">
                      <a16:colId xmlns="" xmlns:a16="http://schemas.microsoft.com/office/drawing/2014/main" val="4278382591"/>
                    </a:ext>
                  </a:extLst>
                </a:gridCol>
                <a:gridCol w="518160">
                  <a:extLst>
                    <a:ext uri="{9D8B030D-6E8A-4147-A177-3AD203B41FA5}">
                      <a16:colId xmlns="" xmlns:a16="http://schemas.microsoft.com/office/drawing/2014/main" val="2595779136"/>
                    </a:ext>
                  </a:extLst>
                </a:gridCol>
                <a:gridCol w="518160">
                  <a:extLst>
                    <a:ext uri="{9D8B030D-6E8A-4147-A177-3AD203B41FA5}">
                      <a16:colId xmlns="" xmlns:a16="http://schemas.microsoft.com/office/drawing/2014/main" val="671419435"/>
                    </a:ext>
                  </a:extLst>
                </a:gridCol>
                <a:gridCol w="518160">
                  <a:extLst>
                    <a:ext uri="{9D8B030D-6E8A-4147-A177-3AD203B41FA5}">
                      <a16:colId xmlns="" xmlns:a16="http://schemas.microsoft.com/office/drawing/2014/main" val="2375269583"/>
                    </a:ext>
                  </a:extLst>
                </a:gridCol>
              </a:tblGrid>
              <a:tr h="491490">
                <a:tc>
                  <a:txBody>
                    <a:bodyPr/>
                    <a:lstStyle/>
                    <a:p>
                      <a:pPr algn="ctr"/>
                      <a:endParaRPr lang="en-IN" dirty="0"/>
                    </a:p>
                  </a:txBody>
                  <a:tcPr anchor="ctr"/>
                </a:tc>
                <a:tc>
                  <a:txBody>
                    <a:bodyPr/>
                    <a:lstStyle/>
                    <a:p>
                      <a:pPr algn="ctr"/>
                      <a:r>
                        <a:rPr lang="en-IN" dirty="0"/>
                        <a:t>1</a:t>
                      </a:r>
                    </a:p>
                  </a:txBody>
                  <a:tcPr anchor="ctr"/>
                </a:tc>
                <a:tc>
                  <a:txBody>
                    <a:bodyPr/>
                    <a:lstStyle/>
                    <a:p>
                      <a:pPr algn="ctr"/>
                      <a:r>
                        <a:rPr lang="en-IN" dirty="0"/>
                        <a:t>2</a:t>
                      </a:r>
                    </a:p>
                  </a:txBody>
                  <a:tcPr anchor="ctr"/>
                </a:tc>
                <a:tc>
                  <a:txBody>
                    <a:bodyPr/>
                    <a:lstStyle/>
                    <a:p>
                      <a:pPr algn="ctr"/>
                      <a:r>
                        <a:rPr lang="en-IN" dirty="0"/>
                        <a:t>3</a:t>
                      </a:r>
                    </a:p>
                  </a:txBody>
                  <a:tcPr anchor="ctr"/>
                </a:tc>
                <a:tc>
                  <a:txBody>
                    <a:bodyPr/>
                    <a:lstStyle/>
                    <a:p>
                      <a:pPr algn="ctr"/>
                      <a:r>
                        <a:rPr lang="en-IN" dirty="0"/>
                        <a:t>4</a:t>
                      </a:r>
                    </a:p>
                  </a:txBody>
                  <a:tcPr anchor="ctr"/>
                </a:tc>
                <a:extLst>
                  <a:ext uri="{0D108BD9-81ED-4DB2-BD59-A6C34878D82A}">
                    <a16:rowId xmlns="" xmlns:a16="http://schemas.microsoft.com/office/drawing/2014/main" val="649751086"/>
                  </a:ext>
                </a:extLst>
              </a:tr>
              <a:tr h="491490">
                <a:tc>
                  <a:txBody>
                    <a:bodyPr/>
                    <a:lstStyle/>
                    <a:p>
                      <a:pPr algn="ctr"/>
                      <a:r>
                        <a:rPr lang="en-IN" dirty="0"/>
                        <a:t>1</a:t>
                      </a:r>
                    </a:p>
                  </a:txBody>
                  <a:tcPr anchor="ctr"/>
                </a:tc>
                <a:tc>
                  <a:txBody>
                    <a:bodyPr/>
                    <a:lstStyle/>
                    <a:p>
                      <a:pPr algn="ctr"/>
                      <a:r>
                        <a:rPr lang="en-IN" dirty="0"/>
                        <a:t>0</a:t>
                      </a:r>
                    </a:p>
                  </a:txBody>
                  <a:tcPr anchor="ctr"/>
                </a:tc>
                <a:tc>
                  <a:txBody>
                    <a:bodyPr/>
                    <a:lstStyle/>
                    <a:p>
                      <a:pPr algn="ctr"/>
                      <a:r>
                        <a:rPr lang="en-IN" dirty="0"/>
                        <a:t>3</a:t>
                      </a:r>
                    </a:p>
                  </a:txBody>
                  <a:tcPr anchor="ctr"/>
                </a:tc>
                <a:tc>
                  <a:txBody>
                    <a:bodyPr/>
                    <a:lstStyle/>
                    <a:p>
                      <a:pPr algn="ctr"/>
                      <a:r>
                        <a:rPr lang="en-IN" sz="2400" b="1" dirty="0"/>
                        <a:t>5</a:t>
                      </a:r>
                    </a:p>
                  </a:txBody>
                  <a:tcPr anchor="ctr"/>
                </a:tc>
                <a:tc>
                  <a:txBody>
                    <a:bodyPr/>
                    <a:lstStyle/>
                    <a:p>
                      <a:pPr algn="ctr"/>
                      <a:r>
                        <a:rPr lang="en-IN" dirty="0"/>
                        <a:t>6</a:t>
                      </a:r>
                    </a:p>
                  </a:txBody>
                  <a:tcPr anchor="ctr"/>
                </a:tc>
                <a:extLst>
                  <a:ext uri="{0D108BD9-81ED-4DB2-BD59-A6C34878D82A}">
                    <a16:rowId xmlns="" xmlns:a16="http://schemas.microsoft.com/office/drawing/2014/main" val="4294637322"/>
                  </a:ext>
                </a:extLst>
              </a:tr>
              <a:tr h="491490">
                <a:tc>
                  <a:txBody>
                    <a:bodyPr/>
                    <a:lstStyle/>
                    <a:p>
                      <a:pPr algn="ctr"/>
                      <a:r>
                        <a:rPr lang="en-IN" dirty="0"/>
                        <a:t>2</a:t>
                      </a:r>
                    </a:p>
                  </a:txBody>
                  <a:tcPr anchor="ctr"/>
                </a:tc>
                <a:tc>
                  <a:txBody>
                    <a:bodyPr/>
                    <a:lstStyle/>
                    <a:p>
                      <a:pPr algn="ctr"/>
                      <a:r>
                        <a:rPr lang="en-IN" dirty="0"/>
                        <a:t>5</a:t>
                      </a:r>
                    </a:p>
                  </a:txBody>
                  <a:tcPr anchor="ctr"/>
                </a:tc>
                <a:tc>
                  <a:txBody>
                    <a:bodyPr/>
                    <a:lstStyle/>
                    <a:p>
                      <a:pPr algn="ctr"/>
                      <a:r>
                        <a:rPr lang="en-IN" dirty="0"/>
                        <a:t>0</a:t>
                      </a:r>
                    </a:p>
                  </a:txBody>
                  <a:tcPr anchor="ctr"/>
                </a:tc>
                <a:tc>
                  <a:txBody>
                    <a:bodyPr/>
                    <a:lstStyle/>
                    <a:p>
                      <a:pPr algn="ctr"/>
                      <a:r>
                        <a:rPr lang="en-IN" b="1" dirty="0"/>
                        <a:t>2</a:t>
                      </a:r>
                    </a:p>
                  </a:txBody>
                  <a:tcPr anchor="ctr"/>
                </a:tc>
                <a:tc>
                  <a:txBody>
                    <a:bodyPr/>
                    <a:lstStyle/>
                    <a:p>
                      <a:pPr algn="ctr"/>
                      <a:r>
                        <a:rPr lang="en-IN" dirty="0"/>
                        <a:t>3</a:t>
                      </a:r>
                    </a:p>
                  </a:txBody>
                  <a:tcPr anchor="ctr"/>
                </a:tc>
                <a:extLst>
                  <a:ext uri="{0D108BD9-81ED-4DB2-BD59-A6C34878D82A}">
                    <a16:rowId xmlns="" xmlns:a16="http://schemas.microsoft.com/office/drawing/2014/main" val="237412182"/>
                  </a:ext>
                </a:extLst>
              </a:tr>
              <a:tr h="491490">
                <a:tc>
                  <a:txBody>
                    <a:bodyPr/>
                    <a:lstStyle/>
                    <a:p>
                      <a:pPr algn="ctr"/>
                      <a:r>
                        <a:rPr lang="en-IN" dirty="0"/>
                        <a:t>3</a:t>
                      </a:r>
                    </a:p>
                  </a:txBody>
                  <a:tcPr anchor="ctr"/>
                </a:tc>
                <a:tc>
                  <a:txBody>
                    <a:bodyPr/>
                    <a:lstStyle/>
                    <a:p>
                      <a:pPr algn="ctr"/>
                      <a:r>
                        <a:rPr lang="en-IN" dirty="0"/>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6</a:t>
                      </a:r>
                    </a:p>
                  </a:txBody>
                  <a:tcPr anchor="ctr"/>
                </a:tc>
                <a:tc>
                  <a:txBody>
                    <a:bodyPr/>
                    <a:lstStyle/>
                    <a:p>
                      <a:pPr algn="ctr"/>
                      <a:r>
                        <a:rPr lang="en-IN" dirty="0"/>
                        <a:t>0</a:t>
                      </a:r>
                    </a:p>
                  </a:txBody>
                  <a:tcPr anchor="ctr"/>
                </a:tc>
                <a:tc>
                  <a:txBody>
                    <a:bodyPr/>
                    <a:lstStyle/>
                    <a:p>
                      <a:pPr algn="ctr"/>
                      <a:r>
                        <a:rPr lang="en-IN" dirty="0"/>
                        <a:t>1</a:t>
                      </a:r>
                    </a:p>
                  </a:txBody>
                  <a:tcPr anchor="ctr"/>
                </a:tc>
                <a:extLst>
                  <a:ext uri="{0D108BD9-81ED-4DB2-BD59-A6C34878D82A}">
                    <a16:rowId xmlns="" xmlns:a16="http://schemas.microsoft.com/office/drawing/2014/main" val="1089700550"/>
                  </a:ext>
                </a:extLst>
              </a:tr>
              <a:tr h="491490">
                <a:tc>
                  <a:txBody>
                    <a:bodyPr/>
                    <a:lstStyle/>
                    <a:p>
                      <a:pPr algn="ctr"/>
                      <a:r>
                        <a:rPr lang="en-IN" dirty="0"/>
                        <a:t>4</a:t>
                      </a:r>
                    </a:p>
                  </a:txBody>
                  <a:tcPr anchor="ctr"/>
                </a:tc>
                <a:tc>
                  <a:txBody>
                    <a:bodyPr/>
                    <a:lstStyle/>
                    <a:p>
                      <a:pPr algn="ctr"/>
                      <a:r>
                        <a:rPr lang="en-IN" dirty="0"/>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7</a:t>
                      </a:r>
                    </a:p>
                  </a:txBody>
                  <a:tcPr anchor="ctr"/>
                </a:tc>
                <a:tc>
                  <a:txBody>
                    <a:bodyPr/>
                    <a:lstStyle/>
                    <a:p>
                      <a:pPr algn="ctr"/>
                      <a:r>
                        <a:rPr lang="en-IN" dirty="0"/>
                        <a:t>0</a:t>
                      </a:r>
                    </a:p>
                  </a:txBody>
                  <a:tcPr anchor="ctr"/>
                </a:tc>
                <a:extLst>
                  <a:ext uri="{0D108BD9-81ED-4DB2-BD59-A6C34878D82A}">
                    <a16:rowId xmlns="" xmlns:a16="http://schemas.microsoft.com/office/drawing/2014/main" val="711223614"/>
                  </a:ext>
                </a:extLst>
              </a:tr>
            </a:tbl>
          </a:graphicData>
        </a:graphic>
      </p:graphicFrame>
      <p:sp>
        <p:nvSpPr>
          <p:cNvPr id="15" name="Left Bracket 14"/>
          <p:cNvSpPr/>
          <p:nvPr/>
        </p:nvSpPr>
        <p:spPr>
          <a:xfrm>
            <a:off x="7924800" y="3667780"/>
            <a:ext cx="304800"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
        <p:nvSpPr>
          <p:cNvPr id="16" name="Left Bracket 15"/>
          <p:cNvSpPr/>
          <p:nvPr/>
        </p:nvSpPr>
        <p:spPr>
          <a:xfrm flipH="1">
            <a:off x="9601201" y="3667780"/>
            <a:ext cx="353291" cy="2062460"/>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defRPr/>
            </a:pPr>
            <a:endParaRPr lang="en-IN">
              <a:solidFill>
                <a:prstClr val="black"/>
              </a:solidFill>
              <a:latin typeface="Calibri"/>
            </a:endParaRPr>
          </a:p>
        </p:txBody>
      </p:sp>
    </p:spTree>
    <p:extLst>
      <p:ext uri="{BB962C8B-B14F-4D97-AF65-F5344CB8AC3E}">
        <p14:creationId xmlns:p14="http://schemas.microsoft.com/office/powerpoint/2010/main" val="1248085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Single source shortest path Bellman Ford Algorithm</a:t>
            </a:r>
          </a:p>
        </p:txBody>
      </p:sp>
    </p:spTree>
    <p:extLst>
      <p:ext uri="{BB962C8B-B14F-4D97-AF65-F5344CB8AC3E}">
        <p14:creationId xmlns:p14="http://schemas.microsoft.com/office/powerpoint/2010/main" val="2639547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0372" y="329907"/>
            <a:ext cx="11507972" cy="609397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t>Bellman ford is a single source shortest path algorithm based on the bottom-up approach of dynamic programming. It starts from a single vertex and calculates the shortest path from the starting vertex to all the nodes in a weighted graph. </a:t>
            </a:r>
            <a:endParaRPr lang="en-US" sz="2000" dirty="0" smtClean="0"/>
          </a:p>
          <a:p>
            <a:pPr marL="342900" indent="-342900" algn="just">
              <a:lnSpc>
                <a:spcPct val="150000"/>
              </a:lnSpc>
              <a:buFont typeface="Arial" panose="020B0604020202020204" pitchFamily="34" charset="0"/>
              <a:buChar char="•"/>
            </a:pPr>
            <a:r>
              <a:rPr lang="en-US" sz="2000" dirty="0" smtClean="0"/>
              <a:t>The </a:t>
            </a:r>
            <a:r>
              <a:rPr lang="en-US" sz="2000" dirty="0"/>
              <a:t>main idea behind the working of the bellman ford algorithm is, it begins with a single source and estimates the distance to each node. Initially, the distance is unknown and estimated as infinity, later on the algorithm relaxes those path by finding out few shorter paths. That’s why it is said that the algorithm is based on the “Principle of relaxation”. </a:t>
            </a:r>
          </a:p>
          <a:p>
            <a:pPr marL="342900" indent="-342900" algn="just">
              <a:lnSpc>
                <a:spcPct val="150000"/>
              </a:lnSpc>
              <a:buFont typeface="Arial" panose="020B0604020202020204" pitchFamily="34" charset="0"/>
              <a:buChar char="•"/>
            </a:pPr>
            <a:r>
              <a:rPr lang="en-US" sz="2000" dirty="0" smtClean="0"/>
              <a:t>To </a:t>
            </a:r>
            <a:r>
              <a:rPr lang="en-US" sz="2000" dirty="0"/>
              <a:t>ensure that the obtained result is optimized or not, repeat the steps for all the vertices. If you find any new shorter path for any vertex, this means previous result was not optimized. </a:t>
            </a:r>
            <a:endParaRPr lang="en-US" sz="2000" dirty="0" smtClean="0"/>
          </a:p>
          <a:p>
            <a:pPr marL="342900" indent="-342900" algn="just">
              <a:lnSpc>
                <a:spcPct val="150000"/>
              </a:lnSpc>
              <a:buFont typeface="Arial" panose="020B0604020202020204" pitchFamily="34" charset="0"/>
              <a:buChar char="•"/>
            </a:pPr>
            <a:r>
              <a:rPr lang="en-US" sz="2000" dirty="0"/>
              <a:t>Given a </a:t>
            </a:r>
            <a:r>
              <a:rPr lang="en-US" sz="2000" b="1" dirty="0"/>
              <a:t>weighted</a:t>
            </a:r>
            <a:r>
              <a:rPr lang="en-US" sz="2000" dirty="0"/>
              <a:t> graph with </a:t>
            </a:r>
            <a:r>
              <a:rPr lang="en-US" sz="2000" b="1" dirty="0"/>
              <a:t>V</a:t>
            </a:r>
            <a:r>
              <a:rPr lang="en-US" sz="2000" dirty="0"/>
              <a:t> vertices and </a:t>
            </a:r>
            <a:r>
              <a:rPr lang="en-US" sz="2000" b="1" dirty="0"/>
              <a:t>E</a:t>
            </a:r>
            <a:r>
              <a:rPr lang="en-US" sz="2000" dirty="0"/>
              <a:t> edges, and a source vertex </a:t>
            </a:r>
            <a:r>
              <a:rPr lang="en-US" sz="2000" b="1" dirty="0" err="1"/>
              <a:t>src</a:t>
            </a:r>
            <a:r>
              <a:rPr lang="en-US" sz="2000" dirty="0"/>
              <a:t>, find the </a:t>
            </a:r>
            <a:r>
              <a:rPr lang="en-US" sz="2000" b="1" dirty="0"/>
              <a:t>shortest path</a:t>
            </a:r>
            <a:r>
              <a:rPr lang="en-US" sz="2000" dirty="0"/>
              <a:t> from the source vertex to all vertices in the given graph. </a:t>
            </a:r>
            <a:r>
              <a:rPr lang="en-US" sz="2000"/>
              <a:t>If a vertex cannot be reached from source vertex, mark its distance as infinity.</a:t>
            </a:r>
          </a:p>
          <a:p>
            <a:pPr marL="342900" indent="-342900" algn="just">
              <a:lnSpc>
                <a:spcPct val="150000"/>
              </a:lnSpc>
              <a:buFont typeface="Arial" panose="020B0604020202020204" pitchFamily="34" charset="0"/>
              <a:buChar char="•"/>
            </a:pPr>
            <a:r>
              <a:rPr lang="en-US" sz="2000" b="1" smtClean="0"/>
              <a:t>Note</a:t>
            </a:r>
            <a:r>
              <a:rPr lang="en-US" sz="2000" dirty="0"/>
              <a:t>: </a:t>
            </a:r>
            <a:r>
              <a:rPr lang="en-US" sz="2000" dirty="0" smtClean="0"/>
              <a:t>a </a:t>
            </a:r>
            <a:r>
              <a:rPr lang="en-US" sz="2000" dirty="0"/>
              <a:t>graph </a:t>
            </a:r>
            <a:r>
              <a:rPr lang="en-US" sz="2000" dirty="0" smtClean="0"/>
              <a:t>should not contains </a:t>
            </a:r>
            <a:r>
              <a:rPr lang="en-US" sz="2000" dirty="0"/>
              <a:t>negative weight </a:t>
            </a:r>
            <a:r>
              <a:rPr lang="en-US" sz="2000" dirty="0" smtClean="0"/>
              <a:t>cycle.</a:t>
            </a:r>
            <a:endParaRPr lang="en-IN" sz="2000" dirty="0"/>
          </a:p>
        </p:txBody>
      </p:sp>
    </p:spTree>
    <p:extLst>
      <p:ext uri="{BB962C8B-B14F-4D97-AF65-F5344CB8AC3E}">
        <p14:creationId xmlns:p14="http://schemas.microsoft.com/office/powerpoint/2010/main" val="1283364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903" y="466773"/>
            <a:ext cx="11582400" cy="2308324"/>
          </a:xfrm>
          <a:prstGeom prst="rect">
            <a:avLst/>
          </a:prstGeom>
        </p:spPr>
        <p:txBody>
          <a:bodyPr wrap="square">
            <a:spAutoFit/>
          </a:bodyPr>
          <a:lstStyle/>
          <a:p>
            <a:pPr algn="just" fontAlgn="base">
              <a:lnSpc>
                <a:spcPct val="150000"/>
              </a:lnSpc>
            </a:pPr>
            <a:r>
              <a:rPr lang="en-US" sz="2400" b="1" dirty="0"/>
              <a:t>Negative weight cycle:</a:t>
            </a:r>
          </a:p>
          <a:p>
            <a:pPr marL="285750" indent="-285750" algn="just" fontAlgn="base">
              <a:lnSpc>
                <a:spcPct val="150000"/>
              </a:lnSpc>
              <a:buFont typeface="Arial" panose="020B0604020202020204" pitchFamily="34" charset="0"/>
              <a:buChar char="•"/>
            </a:pPr>
            <a:r>
              <a:rPr lang="en-US" dirty="0"/>
              <a:t>A negative weight cycle is a </a:t>
            </a:r>
            <a:r>
              <a:rPr lang="en-US" b="1" dirty="0"/>
              <a:t>cycle in a graph, whose sum of edge weights is negative</a:t>
            </a:r>
            <a:r>
              <a:rPr lang="en-US" dirty="0"/>
              <a:t>. </a:t>
            </a:r>
            <a:endParaRPr lang="en-US" dirty="0" smtClean="0"/>
          </a:p>
          <a:p>
            <a:pPr marL="285750" indent="-285750" algn="just" fontAlgn="base">
              <a:lnSpc>
                <a:spcPct val="150000"/>
              </a:lnSpc>
              <a:buFont typeface="Arial" panose="020B0604020202020204" pitchFamily="34" charset="0"/>
              <a:buChar char="•"/>
            </a:pPr>
            <a:r>
              <a:rPr lang="en-US" dirty="0" smtClean="0"/>
              <a:t>If </a:t>
            </a:r>
            <a:r>
              <a:rPr lang="en-US" dirty="0"/>
              <a:t>you traverse the cycle, the total weight accumulated would be less than zero</a:t>
            </a:r>
            <a:r>
              <a:rPr lang="en-US" dirty="0" smtClean="0"/>
              <a:t>.</a:t>
            </a:r>
          </a:p>
          <a:p>
            <a:pPr marL="285750" indent="-285750" algn="just" fontAlgn="base">
              <a:lnSpc>
                <a:spcPct val="150000"/>
              </a:lnSpc>
              <a:buFont typeface="Arial" panose="020B0604020202020204" pitchFamily="34" charset="0"/>
              <a:buChar char="•"/>
            </a:pPr>
            <a:r>
              <a:rPr lang="en-US" dirty="0"/>
              <a:t>In the presence of negative weight cycle in the graph, the shortest path </a:t>
            </a:r>
            <a:r>
              <a:rPr lang="en-US" b="1" dirty="0"/>
              <a:t>doesn’t exist </a:t>
            </a:r>
            <a:r>
              <a:rPr lang="en-US" dirty="0"/>
              <a:t>because with each traversal of the cycle shortest path keeps </a:t>
            </a:r>
            <a:r>
              <a:rPr lang="en-US" b="1" dirty="0"/>
              <a:t>decreasing</a:t>
            </a:r>
            <a:r>
              <a:rPr lang="en-US" dirty="0"/>
              <a:t>.</a:t>
            </a:r>
            <a:endParaRPr lang="en-US" b="0" i="0" dirty="0">
              <a:effectLst/>
            </a:endParaRPr>
          </a:p>
        </p:txBody>
      </p:sp>
      <p:pic>
        <p:nvPicPr>
          <p:cNvPr id="4" name="Picture 3"/>
          <p:cNvPicPr>
            <a:picLocks noChangeAspect="1"/>
          </p:cNvPicPr>
          <p:nvPr/>
        </p:nvPicPr>
        <p:blipFill>
          <a:blip r:embed="rId2"/>
          <a:stretch>
            <a:fillRect/>
          </a:stretch>
        </p:blipFill>
        <p:spPr>
          <a:xfrm>
            <a:off x="7122040" y="2775097"/>
            <a:ext cx="3467433" cy="3467433"/>
          </a:xfrm>
          <a:prstGeom prst="rect">
            <a:avLst/>
          </a:prstGeom>
        </p:spPr>
      </p:pic>
      <p:sp>
        <p:nvSpPr>
          <p:cNvPr id="5" name="Rectangle 4"/>
          <p:cNvSpPr/>
          <p:nvPr/>
        </p:nvSpPr>
        <p:spPr>
          <a:xfrm>
            <a:off x="7730818" y="6242530"/>
            <a:ext cx="2659959" cy="369332"/>
          </a:xfrm>
          <a:prstGeom prst="rect">
            <a:avLst/>
          </a:prstGeom>
        </p:spPr>
        <p:txBody>
          <a:bodyPr wrap="none">
            <a:spAutoFit/>
          </a:bodyPr>
          <a:lstStyle/>
          <a:p>
            <a:r>
              <a:rPr lang="en-IN" dirty="0" smtClean="0"/>
              <a:t>Fig: Negative </a:t>
            </a:r>
            <a:r>
              <a:rPr lang="en-IN" dirty="0"/>
              <a:t>Weight Cycle</a:t>
            </a:r>
          </a:p>
        </p:txBody>
      </p:sp>
      <p:sp>
        <p:nvSpPr>
          <p:cNvPr id="6" name="TextBox 5"/>
          <p:cNvSpPr txBox="1"/>
          <p:nvPr/>
        </p:nvSpPr>
        <p:spPr>
          <a:xfrm>
            <a:off x="382772" y="159488"/>
            <a:ext cx="6739268" cy="369332"/>
          </a:xfrm>
          <a:prstGeom prst="rect">
            <a:avLst/>
          </a:prstGeom>
          <a:noFill/>
        </p:spPr>
        <p:txBody>
          <a:bodyPr wrap="square" rtlCol="0">
            <a:spAutoFit/>
          </a:bodyPr>
          <a:lstStyle/>
          <a:p>
            <a:r>
              <a:rPr lang="en-US" dirty="0" smtClean="0"/>
              <a:t>Some concepts related to Bellman Ford Algorithm</a:t>
            </a:r>
            <a:endParaRPr lang="en-IN" dirty="0"/>
          </a:p>
        </p:txBody>
      </p:sp>
    </p:spTree>
    <p:extLst>
      <p:ext uri="{BB962C8B-B14F-4D97-AF65-F5344CB8AC3E}">
        <p14:creationId xmlns:p14="http://schemas.microsoft.com/office/powerpoint/2010/main" val="18407211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223" y="131215"/>
            <a:ext cx="11802139" cy="5816977"/>
          </a:xfrm>
          <a:prstGeom prst="rect">
            <a:avLst/>
          </a:prstGeom>
          <a:noFill/>
        </p:spPr>
        <p:txBody>
          <a:bodyPr wrap="square" rtlCol="0">
            <a:spAutoFit/>
          </a:bodyPr>
          <a:lstStyle/>
          <a:p>
            <a:pPr algn="ctr">
              <a:lnSpc>
                <a:spcPct val="150000"/>
              </a:lnSpc>
            </a:pPr>
            <a:r>
              <a:rPr lang="en-US" sz="2800" b="1" dirty="0" smtClean="0"/>
              <a:t>Limitation/Disadvantage </a:t>
            </a:r>
            <a:r>
              <a:rPr lang="en-US" sz="2800" b="1" dirty="0"/>
              <a:t>of </a:t>
            </a:r>
            <a:r>
              <a:rPr lang="en-US" sz="2800" b="1" dirty="0" err="1"/>
              <a:t>Dijkshtra’s</a:t>
            </a:r>
            <a:r>
              <a:rPr lang="en-US" sz="2800" b="1" dirty="0"/>
              <a:t> Shortest Path </a:t>
            </a:r>
            <a:r>
              <a:rPr lang="en-US" sz="2800" b="1" dirty="0" smtClean="0"/>
              <a:t>Algorithm (Greedy approach)</a:t>
            </a:r>
            <a:endParaRPr lang="en-US" sz="2800" b="1" dirty="0"/>
          </a:p>
          <a:p>
            <a:pPr algn="ctr">
              <a:lnSpc>
                <a:spcPct val="150000"/>
              </a:lnSpc>
            </a:pPr>
            <a:endParaRPr lang="en-US" sz="1600" b="1" dirty="0"/>
          </a:p>
          <a:p>
            <a:pPr marL="342900" indent="-342900" algn="just">
              <a:lnSpc>
                <a:spcPct val="150000"/>
              </a:lnSpc>
              <a:buFont typeface="Arial" panose="020B0604020202020204" pitchFamily="34" charset="0"/>
              <a:buChar char="•"/>
            </a:pPr>
            <a:r>
              <a:rPr lang="en-US" sz="2400" dirty="0"/>
              <a:t>It is only </a:t>
            </a:r>
            <a:r>
              <a:rPr lang="en-US" sz="2400" dirty="0" smtClean="0"/>
              <a:t>used for </a:t>
            </a:r>
            <a:r>
              <a:rPr lang="en-US" sz="2400" dirty="0"/>
              <a:t>positive weights </a:t>
            </a:r>
          </a:p>
          <a:p>
            <a:pPr marL="342900" indent="-342900" algn="just">
              <a:lnSpc>
                <a:spcPct val="150000"/>
              </a:lnSpc>
              <a:buFont typeface="Arial" panose="020B0604020202020204" pitchFamily="34" charset="0"/>
              <a:buChar char="•"/>
            </a:pPr>
            <a:r>
              <a:rPr lang="en-US" sz="2400" dirty="0"/>
              <a:t>If negative weight in the path then shortest path may be incorrect. </a:t>
            </a:r>
            <a:endParaRPr lang="en-US" sz="2400" dirty="0" smtClean="0"/>
          </a:p>
          <a:p>
            <a:pPr marL="342900" indent="-342900" algn="just">
              <a:lnSpc>
                <a:spcPct val="150000"/>
              </a:lnSpc>
              <a:buFont typeface="Arial" panose="020B0604020202020204" pitchFamily="34" charset="0"/>
              <a:buChar char="•"/>
            </a:pPr>
            <a:r>
              <a:rPr lang="en-US" sz="2400" dirty="0" smtClean="0"/>
              <a:t>Since</a:t>
            </a:r>
            <a:r>
              <a:rPr lang="en-US" sz="2400" dirty="0"/>
              <a:t>, we need to find the single source shortest path, we might initially think of using </a:t>
            </a:r>
            <a:r>
              <a:rPr lang="en-US" sz="2400" dirty="0" err="1"/>
              <a:t>Dijkstra’s</a:t>
            </a:r>
            <a:r>
              <a:rPr lang="en-US" sz="2400" dirty="0"/>
              <a:t> algorithm. However, </a:t>
            </a:r>
            <a:r>
              <a:rPr lang="en-US" sz="2400" dirty="0" err="1"/>
              <a:t>Dijkstra</a:t>
            </a:r>
            <a:r>
              <a:rPr lang="en-US" sz="2400" dirty="0"/>
              <a:t> is not suitable when the graph consists of negative edges. The reason is, it doesn’t revisit those nodes which have already been marked as visited. If a shorter path exists through a longer route with negative edges, </a:t>
            </a:r>
            <a:r>
              <a:rPr lang="en-US" sz="2400" dirty="0" err="1"/>
              <a:t>Dijkstra’s</a:t>
            </a:r>
            <a:r>
              <a:rPr lang="en-US" sz="2400" dirty="0"/>
              <a:t> algorithm will fail to handle it.</a:t>
            </a:r>
          </a:p>
        </p:txBody>
      </p:sp>
    </p:spTree>
    <p:extLst>
      <p:ext uri="{BB962C8B-B14F-4D97-AF65-F5344CB8AC3E}">
        <p14:creationId xmlns:p14="http://schemas.microsoft.com/office/powerpoint/2010/main" val="1452886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23284" y="46654"/>
            <a:ext cx="11600121" cy="47551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2400" b="1" i="0" u="none" strike="noStrike" cap="none" normalizeH="0" baseline="0" dirty="0" smtClean="0">
                <a:ln>
                  <a:noFill/>
                </a:ln>
                <a:effectLst/>
              </a:rPr>
              <a:t>Bellman-Ford</a:t>
            </a:r>
            <a:r>
              <a:rPr kumimoji="0" lang="en-US" sz="2400" b="1" i="0" u="none" strike="noStrike" cap="none" normalizeH="0" baseline="0" dirty="0" smtClean="0">
                <a:ln>
                  <a:noFill/>
                </a:ln>
                <a:solidFill>
                  <a:srgbClr val="273239"/>
                </a:solidFill>
                <a:effectLst/>
              </a:rPr>
              <a:t> Algorithm – O(V*E) Time and O(V) Space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rPr>
              <a:t>Bellman-Ford</a:t>
            </a:r>
            <a:r>
              <a:rPr kumimoji="0" lang="en-US" sz="2000" b="0" i="0" u="none" strike="noStrike" cap="none" normalizeH="0" baseline="0" dirty="0" smtClean="0">
                <a:ln>
                  <a:noFill/>
                </a:ln>
                <a:solidFill>
                  <a:schemeClr val="tx1"/>
                </a:solidFill>
                <a:effectLst/>
              </a:rPr>
              <a:t> is a </a:t>
            </a:r>
            <a:r>
              <a:rPr kumimoji="0" lang="en-US" sz="2000" b="1" i="0" u="none" strike="noStrike" cap="none" normalizeH="0" baseline="0" dirty="0" smtClean="0">
                <a:ln>
                  <a:noFill/>
                </a:ln>
                <a:solidFill>
                  <a:schemeClr val="tx1"/>
                </a:solidFill>
                <a:effectLst/>
              </a:rPr>
              <a:t>single source</a:t>
            </a:r>
            <a:r>
              <a:rPr kumimoji="0" lang="en-US" sz="2000" b="0" i="0" u="none" strike="noStrike" cap="none" normalizeH="0" baseline="0" dirty="0" smtClean="0">
                <a:ln>
                  <a:noFill/>
                </a:ln>
                <a:solidFill>
                  <a:schemeClr val="tx1"/>
                </a:solidFill>
                <a:effectLst/>
              </a:rPr>
              <a:t> shortest path algorithm. It effectively works in the cases of negative edges and is able to detect negative cycles as well. It works on the principle of</a:t>
            </a:r>
            <a:r>
              <a:rPr kumimoji="0" lang="en-US" sz="2000" b="1" i="0" u="none" strike="noStrike" cap="none" normalizeH="0" baseline="0" dirty="0" smtClean="0">
                <a:ln>
                  <a:noFill/>
                </a:ln>
                <a:solidFill>
                  <a:schemeClr val="tx1"/>
                </a:solidFill>
                <a:effectLst/>
              </a:rPr>
              <a:t> relaxation of the edges</a:t>
            </a:r>
            <a:r>
              <a:rPr kumimoji="0" lang="en-US" sz="2000" b="0" i="0" u="none" strike="noStrike" cap="none" normalizeH="0" baseline="0" dirty="0" smtClean="0">
                <a:ln>
                  <a:noFill/>
                </a:ln>
                <a:solidFill>
                  <a:schemeClr val="tx1"/>
                </a:solidFill>
                <a:effectLst/>
              </a:rPr>
              <a: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endParaRPr>
          </a:p>
          <a:p>
            <a:pPr algn="just" fontAlgn="base">
              <a:lnSpc>
                <a:spcPct val="150000"/>
              </a:lnSpc>
            </a:pPr>
            <a:r>
              <a:rPr lang="en-US" sz="2200" b="1" dirty="0"/>
              <a:t>Principle of Relaxation of Edges</a:t>
            </a:r>
          </a:p>
          <a:p>
            <a:pPr marL="342900" indent="-342900" algn="just" fontAlgn="base">
              <a:lnSpc>
                <a:spcPct val="150000"/>
              </a:lnSpc>
              <a:buFont typeface="Arial" panose="020B0604020202020204" pitchFamily="34" charset="0"/>
              <a:buChar char="•"/>
            </a:pPr>
            <a:r>
              <a:rPr lang="en-US" sz="2000" dirty="0"/>
              <a:t>Relaxation means </a:t>
            </a:r>
            <a:r>
              <a:rPr lang="en-US" sz="2000" b="1" dirty="0"/>
              <a:t>updating </a:t>
            </a:r>
            <a:r>
              <a:rPr lang="en-US" sz="2000" dirty="0"/>
              <a:t>the shortest distance to a node if a shorter path is found through another node. For an edge </a:t>
            </a:r>
            <a:r>
              <a:rPr lang="en-US" sz="2000" b="1" dirty="0"/>
              <a:t>(u, v)</a:t>
            </a:r>
            <a:r>
              <a:rPr lang="en-US" sz="2000" dirty="0"/>
              <a:t> with weight </a:t>
            </a:r>
            <a:r>
              <a:rPr lang="en-US" sz="2000" b="1" dirty="0"/>
              <a:t>w</a:t>
            </a:r>
            <a:r>
              <a:rPr lang="en-US" sz="2000" dirty="0"/>
              <a:t>:</a:t>
            </a:r>
          </a:p>
          <a:p>
            <a:pPr marL="800100" lvl="1" indent="-342900" algn="just" fontAlgn="base">
              <a:lnSpc>
                <a:spcPct val="150000"/>
              </a:lnSpc>
              <a:buFont typeface="Wingdings" panose="05000000000000000000" pitchFamily="2" charset="2"/>
              <a:buChar char="Ø"/>
            </a:pPr>
            <a:r>
              <a:rPr lang="en-US" sz="2000" dirty="0"/>
              <a:t>If going through u gives a shorter path to v from the source node (i.e., </a:t>
            </a:r>
            <a:r>
              <a:rPr lang="en-US" sz="2000" b="1" dirty="0"/>
              <a:t>distance[v] &gt; distance[u] + w</a:t>
            </a:r>
            <a:r>
              <a:rPr lang="en-US" sz="2000" dirty="0"/>
              <a:t>), we update the distance[v] as distance[u] + w.</a:t>
            </a:r>
          </a:p>
          <a:p>
            <a:pPr marL="342900" indent="-342900" algn="just" fontAlgn="base">
              <a:lnSpc>
                <a:spcPct val="150000"/>
              </a:lnSpc>
              <a:buFont typeface="Arial" panose="020B0604020202020204" pitchFamily="34" charset="0"/>
              <a:buChar char="•"/>
            </a:pPr>
            <a:r>
              <a:rPr lang="en-US" sz="2000" dirty="0"/>
              <a:t>In the bellman-ford algorithm, this process is repeated </a:t>
            </a:r>
            <a:r>
              <a:rPr lang="en-US" sz="2000" b="1" dirty="0"/>
              <a:t>(V – 1)</a:t>
            </a:r>
            <a:r>
              <a:rPr lang="en-US" sz="2000" dirty="0"/>
              <a:t> times for all the edges</a:t>
            </a:r>
            <a:r>
              <a:rPr lang="en-US" sz="2000" dirty="0" smtClean="0"/>
              <a:t>.</a:t>
            </a:r>
            <a:endParaRPr kumimoji="0" lang="en-US"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0023836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93423" y="270163"/>
            <a:ext cx="10824148" cy="6213763"/>
          </a:xfrm>
          <a:prstGeom prst="rect">
            <a:avLst/>
          </a:prstGeom>
        </p:spPr>
      </p:pic>
    </p:spTree>
    <p:extLst>
      <p:ext uri="{BB962C8B-B14F-4D97-AF65-F5344CB8AC3E}">
        <p14:creationId xmlns:p14="http://schemas.microsoft.com/office/powerpoint/2010/main" val="25822881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6418" y="363326"/>
            <a:ext cx="6232814" cy="4601797"/>
          </a:xfrm>
          <a:prstGeom prst="rect">
            <a:avLst/>
          </a:prstGeom>
        </p:spPr>
      </p:pic>
      <p:sp>
        <p:nvSpPr>
          <p:cNvPr id="5" name="Rectangle 4"/>
          <p:cNvSpPr/>
          <p:nvPr/>
        </p:nvSpPr>
        <p:spPr>
          <a:xfrm>
            <a:off x="7630390" y="363326"/>
            <a:ext cx="4350327" cy="3647152"/>
          </a:xfrm>
          <a:prstGeom prst="rect">
            <a:avLst/>
          </a:prstGeom>
          <a:ln>
            <a:solidFill>
              <a:schemeClr val="accent1"/>
            </a:solidFill>
          </a:ln>
        </p:spPr>
        <p:txBody>
          <a:bodyPr wrap="square">
            <a:spAutoFit/>
          </a:bodyPr>
          <a:lstStyle/>
          <a:p>
            <a:pPr algn="just">
              <a:lnSpc>
                <a:spcPct val="150000"/>
              </a:lnSpc>
            </a:pPr>
            <a:r>
              <a:rPr lang="en-US" sz="2200" dirty="0"/>
              <a:t>The Bellman-Ford algorithm runs in time </a:t>
            </a:r>
            <a:r>
              <a:rPr lang="en-US" sz="2200" b="1" dirty="0"/>
              <a:t>O ( VE ) </a:t>
            </a:r>
            <a:r>
              <a:rPr lang="en-US" sz="2200" dirty="0"/>
              <a:t>since the initialization in line 1 takes θ ( V ) time, each of the | V | - 1 passes over the edges in lines 2–4 takes time θ ( E ), and the for loop of lines 5–7 takes O ( E ) time. </a:t>
            </a:r>
          </a:p>
        </p:txBody>
      </p:sp>
    </p:spTree>
    <p:extLst>
      <p:ext uri="{BB962C8B-B14F-4D97-AF65-F5344CB8AC3E}">
        <p14:creationId xmlns:p14="http://schemas.microsoft.com/office/powerpoint/2010/main" val="16329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30306" y="215153"/>
            <a:ext cx="11037346" cy="4976027"/>
          </a:xfrm>
          <a:prstGeom prst="rect">
            <a:avLst/>
          </a:prstGeom>
        </p:spPr>
      </p:pic>
      <p:pic>
        <p:nvPicPr>
          <p:cNvPr id="5" name="Picture 4"/>
          <p:cNvPicPr>
            <a:picLocks noChangeAspect="1"/>
          </p:cNvPicPr>
          <p:nvPr/>
        </p:nvPicPr>
        <p:blipFill>
          <a:blip r:embed="rId3"/>
          <a:stretch>
            <a:fillRect/>
          </a:stretch>
        </p:blipFill>
        <p:spPr>
          <a:xfrm>
            <a:off x="838200" y="5191181"/>
            <a:ext cx="10199146" cy="1381125"/>
          </a:xfrm>
          <a:prstGeom prst="rect">
            <a:avLst/>
          </a:prstGeom>
        </p:spPr>
      </p:pic>
    </p:spTree>
    <p:extLst>
      <p:ext uri="{BB962C8B-B14F-4D97-AF65-F5344CB8AC3E}">
        <p14:creationId xmlns:p14="http://schemas.microsoft.com/office/powerpoint/2010/main" val="13037959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 t="4056" r="10147"/>
          <a:stretch/>
        </p:blipFill>
        <p:spPr>
          <a:xfrm>
            <a:off x="548640" y="129092"/>
            <a:ext cx="10488706" cy="6347012"/>
          </a:xfrm>
          <a:prstGeom prst="rect">
            <a:avLst/>
          </a:prstGeom>
        </p:spPr>
      </p:pic>
    </p:spTree>
    <p:extLst>
      <p:ext uri="{BB962C8B-B14F-4D97-AF65-F5344CB8AC3E}">
        <p14:creationId xmlns:p14="http://schemas.microsoft.com/office/powerpoint/2010/main" val="27292350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1848"/>
            <a:ext cx="8915400" cy="1544516"/>
          </a:xfrm>
        </p:spPr>
        <p:txBody>
          <a:bodyPr>
            <a:normAutofit/>
          </a:bodyPr>
          <a:lstStyle/>
          <a:p>
            <a:pPr algn="l"/>
            <a:r>
              <a:rPr lang="en-IN" sz="3200" dirty="0"/>
              <a:t>Edges – 1-2, 1-3, 1-4, 2-5, 3-2, 3-5, 4-3, 4-6, 5-7, 6-7</a:t>
            </a:r>
            <a:br>
              <a:rPr lang="en-IN" sz="3200" dirty="0"/>
            </a:br>
            <a:r>
              <a:rPr lang="en-IN" sz="3200" dirty="0"/>
              <a:t/>
            </a:r>
            <a:br>
              <a:rPr lang="en-IN" sz="3200" dirty="0"/>
            </a:br>
            <a:r>
              <a:rPr lang="en-IN" sz="3200" dirty="0"/>
              <a:t>			   </a:t>
            </a:r>
            <a:r>
              <a:rPr lang="en-IN" sz="3600" b="1" dirty="0">
                <a:solidFill>
                  <a:srgbClr val="FF0000"/>
                </a:solidFill>
              </a:rPr>
              <a:t>∞</a:t>
            </a:r>
            <a:r>
              <a:rPr lang="en-IN" sz="3200" dirty="0"/>
              <a:t>	    -1		 </a:t>
            </a:r>
            <a:r>
              <a:rPr lang="en-IN" sz="3200" b="1" dirty="0">
                <a:solidFill>
                  <a:srgbClr val="FF0000"/>
                </a:solidFill>
              </a:rPr>
              <a:t>∞</a:t>
            </a:r>
            <a:endParaRPr lang="en-IN" sz="3200" dirty="0"/>
          </a:p>
        </p:txBody>
      </p:sp>
      <p:sp>
        <p:nvSpPr>
          <p:cNvPr id="3" name="Content Placeholder 2"/>
          <p:cNvSpPr>
            <a:spLocks noGrp="1"/>
          </p:cNvSpPr>
          <p:nvPr>
            <p:ph idx="1"/>
          </p:nvPr>
        </p:nvSpPr>
        <p:spPr/>
        <p:txBody>
          <a:bodyPr/>
          <a:lstStyle/>
          <a:p>
            <a:pPr marL="0" indent="0">
              <a:buNone/>
            </a:pPr>
            <a:endParaRPr lang="en-IN" dirty="0"/>
          </a:p>
          <a:p>
            <a:pPr marL="0" indent="0">
              <a:buNone/>
            </a:pPr>
            <a:r>
              <a:rPr lang="en-IN" dirty="0"/>
              <a:t>		 6		  -2	      1		3</a:t>
            </a:r>
          </a:p>
          <a:p>
            <a:pPr marL="0" indent="0">
              <a:buNone/>
            </a:pPr>
            <a:endParaRPr lang="en-IN" dirty="0"/>
          </a:p>
          <a:p>
            <a:pPr marL="0" indent="0">
              <a:buNone/>
            </a:pPr>
            <a:r>
              <a:rPr lang="en-IN" dirty="0"/>
              <a:t>		      5	        		   </a:t>
            </a:r>
            <a:r>
              <a:rPr lang="en-IN" b="1" dirty="0">
                <a:solidFill>
                  <a:srgbClr val="FF0000"/>
                </a:solidFill>
              </a:rPr>
              <a:t>∞			              ∞</a:t>
            </a:r>
            <a:endParaRPr lang="en-IN" dirty="0"/>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 </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413432"/>
            <a:ext cx="2034868" cy="1556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1" name="Ink 10"/>
              <p14:cNvContentPartPr/>
              <p14:nvPr/>
            </p14:nvContentPartPr>
            <p14:xfrm>
              <a:off x="1779120" y="3489480"/>
              <a:ext cx="201600" cy="296640"/>
            </p14:xfrm>
          </p:contentPart>
        </mc:Choice>
        <mc:Fallback xmlns="">
          <p:pic>
            <p:nvPicPr>
              <p:cNvPr id="11" name="Ink 10"/>
              <p:cNvPicPr/>
              <p:nvPr/>
            </p:nvPicPr>
            <p:blipFill>
              <a:blip r:embed="rId3"/>
              <a:stretch>
                <a:fillRect/>
              </a:stretch>
            </p:blipFill>
            <p:spPr>
              <a:xfrm>
                <a:off x="1769760" y="3480120"/>
                <a:ext cx="22032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614880" y="1520640"/>
              <a:ext cx="11386080" cy="5235840"/>
            </p14:xfrm>
          </p:contentPart>
        </mc:Choice>
        <mc:Fallback xmlns="">
          <p:pic>
            <p:nvPicPr>
              <p:cNvPr id="14" name="Ink 13"/>
              <p:cNvPicPr/>
              <p:nvPr/>
            </p:nvPicPr>
            <p:blipFill>
              <a:blip r:embed="rId5"/>
              <a:stretch>
                <a:fillRect/>
              </a:stretch>
            </p:blipFill>
            <p:spPr>
              <a:xfrm>
                <a:off x="605520" y="1511280"/>
                <a:ext cx="11404800" cy="5254560"/>
              </a:xfrm>
              <a:prstGeom prst="rect">
                <a:avLst/>
              </a:prstGeom>
            </p:spPr>
          </p:pic>
        </mc:Fallback>
      </mc:AlternateContent>
    </p:spTree>
    <p:extLst>
      <p:ext uri="{BB962C8B-B14F-4D97-AF65-F5344CB8AC3E}">
        <p14:creationId xmlns:p14="http://schemas.microsoft.com/office/powerpoint/2010/main" val="17268700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a:t>
            </a:r>
            <a:r>
              <a:rPr lang="en-IN" sz="3200" dirty="0">
                <a:solidFill>
                  <a:srgbClr val="FF0000"/>
                </a:solidFill>
              </a:rPr>
              <a:t>1-2</a:t>
            </a:r>
            <a:r>
              <a:rPr lang="en-IN" sz="3200" dirty="0"/>
              <a:t>, 1-3, 1-4, 2-5, 3-2, 3-5, 4-3, 4-6, 5-7, 6-7</a:t>
            </a:r>
            <a:br>
              <a:rPr lang="en-IN" sz="3200" dirty="0"/>
            </a:b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40410" y="112628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2066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a:t>
            </a:r>
            <a:r>
              <a:rPr lang="en-IN" sz="3200" dirty="0">
                <a:solidFill>
                  <a:srgbClr val="FF0000"/>
                </a:solidFill>
              </a:rPr>
              <a:t>1-3</a:t>
            </a:r>
            <a:r>
              <a:rPr lang="en-IN" sz="3200" dirty="0"/>
              <a:t>, 1-4, 2-5, 3-2, 3-5, 4-3, 4-6, 5-7, 6-7</a:t>
            </a:r>
            <a:br>
              <a:rPr lang="en-IN" sz="3200" dirty="0"/>
            </a:b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64021" y="1127749"/>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429567"/>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9431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a:t>
            </a:r>
            <a:r>
              <a:rPr lang="en-IN" sz="3200" dirty="0">
                <a:solidFill>
                  <a:srgbClr val="FF0000"/>
                </a:solidFill>
              </a:rPr>
              <a:t>1-4</a:t>
            </a:r>
            <a:r>
              <a:rPr lang="en-IN" sz="3200" dirty="0"/>
              <a:t>, 2-5, 3-2, 3-5, 4-3, 4-6, 5-7, 6-7</a:t>
            </a:r>
            <a:br>
              <a:rPr lang="en-IN" sz="3200" dirty="0"/>
            </a:b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47134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99179" y="546308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7277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a:t>
            </a:r>
            <a:r>
              <a:rPr lang="en-IN" sz="3200" dirty="0">
                <a:solidFill>
                  <a:srgbClr val="FF0000"/>
                </a:solidFill>
              </a:rPr>
              <a:t>2-5</a:t>
            </a:r>
            <a:r>
              <a:rPr lang="en-IN" sz="3200" dirty="0"/>
              <a:t>, 3-2, 3-5, 4-3, 4-6, 5-7, 6-7</a:t>
            </a:r>
            <a:br>
              <a:rPr lang="en-IN" sz="3200" dirty="0"/>
            </a:b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45350" y="350273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34785" y="551196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0534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a:t>
            </a:r>
            <a:r>
              <a:rPr lang="en-IN" sz="3200" dirty="0">
                <a:solidFill>
                  <a:srgbClr val="FF0000"/>
                </a:solidFill>
              </a:rPr>
              <a:t>3-2</a:t>
            </a:r>
            <a:r>
              <a:rPr lang="en-IN" sz="3200" dirty="0"/>
              <a:t>, 3-5,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673411" y="345768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73422" y="5552209"/>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7910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3-2, </a:t>
            </a:r>
            <a:r>
              <a:rPr lang="en-IN" sz="3200" dirty="0">
                <a:solidFill>
                  <a:srgbClr val="FF0000"/>
                </a:solidFill>
              </a:rPr>
              <a:t>3-5</a:t>
            </a:r>
            <a:r>
              <a:rPr lang="en-IN" sz="3200" dirty="0"/>
              <a:t>,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09238" y="345312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60542" y="5552209"/>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3652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3-2, 3-5, </a:t>
            </a:r>
            <a:r>
              <a:rPr lang="en-IN" sz="3200" dirty="0">
                <a:solidFill>
                  <a:srgbClr val="FF0000"/>
                </a:solidFill>
              </a:rPr>
              <a:t>4-3</a:t>
            </a:r>
            <a:r>
              <a:rPr lang="en-IN" sz="3200" dirty="0"/>
              <a:t>,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634461" y="346320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73421" y="5482746"/>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964734" y="3492953"/>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0922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3-2, 3-5, 4-3, </a:t>
            </a:r>
            <a:r>
              <a:rPr lang="en-IN" sz="3200" dirty="0">
                <a:solidFill>
                  <a:srgbClr val="FF0000"/>
                </a:solidFill>
              </a:rPr>
              <a:t>4-6</a:t>
            </a:r>
            <a:r>
              <a:rPr lang="en-IN" sz="3200" dirty="0"/>
              <a:t>,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665579" y="3429567"/>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604696" y="5515156"/>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981700" y="345312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6226784" y="55151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0156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3-2, 3-5, 4-3, 4-6, </a:t>
            </a:r>
            <a:r>
              <a:rPr lang="en-IN" sz="3200" dirty="0">
                <a:solidFill>
                  <a:srgbClr val="FF0000"/>
                </a:solidFill>
              </a:rPr>
              <a:t>5-7</a:t>
            </a:r>
            <a:r>
              <a:rPr lang="en-IN" sz="3200" dirty="0"/>
              <a:t>,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650904" y="346136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595819" y="5502277"/>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5922085" y="348897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6201027" y="553223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436994" y="347241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1332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1-2, 1-3, 1-4, 2-5, 3-2, 3-5, 4-3, 4-6, 5-7, </a:t>
            </a:r>
            <a:r>
              <a:rPr lang="en-IN" sz="3200" dirty="0">
                <a:solidFill>
                  <a:srgbClr val="FF0000"/>
                </a:solidFill>
              </a:rPr>
              <a:t>6-7</a:t>
            </a:r>
            <a:r>
              <a:rPr lang="en-IN" sz="3200" dirty="0"/>
              <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a:xfrm>
            <a:off x="1981200" y="1600201"/>
            <a:ext cx="8686800" cy="4525963"/>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6699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a:t>
            </a:r>
            <a:r>
              <a:rPr lang="en-IN" sz="3200" dirty="0">
                <a:solidFill>
                  <a:schemeClr val="accent1"/>
                </a:solidFill>
              </a:rPr>
              <a:t>1-2</a:t>
            </a:r>
            <a:r>
              <a:rPr lang="en-IN" sz="3200" dirty="0"/>
              <a:t>, 1-3, 1-4, 2-5, 3-2, 3-5,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50307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a:t>
            </a:r>
            <a:r>
              <a:rPr lang="en-IN" sz="3200" dirty="0">
                <a:solidFill>
                  <a:schemeClr val="accent1"/>
                </a:solidFill>
              </a:rPr>
              <a:t>1-2</a:t>
            </a:r>
            <a:r>
              <a:rPr lang="en-IN" sz="3200" dirty="0"/>
              <a:t>, </a:t>
            </a:r>
            <a:r>
              <a:rPr lang="en-IN" sz="3200" dirty="0">
                <a:solidFill>
                  <a:schemeClr val="accent1"/>
                </a:solidFill>
              </a:rPr>
              <a:t>1-3</a:t>
            </a:r>
            <a:r>
              <a:rPr lang="en-IN" sz="3200" dirty="0"/>
              <a:t>, 1-4, 2-5, 3-2, 3-5,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7392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1"/>
            <a:ext cx="8915400" cy="1403487"/>
          </a:xfrm>
        </p:spPr>
        <p:txBody>
          <a:bodyPr>
            <a:normAutofit fontScale="90000"/>
          </a:bodyPr>
          <a:lstStyle/>
          <a:p>
            <a:pPr algn="l"/>
            <a:r>
              <a:rPr lang="en-IN" sz="3200" dirty="0"/>
              <a:t>Edges – </a:t>
            </a:r>
            <a:r>
              <a:rPr lang="en-IN" sz="3200" dirty="0">
                <a:solidFill>
                  <a:schemeClr val="accent1"/>
                </a:solidFill>
              </a:rPr>
              <a:t>1-2</a:t>
            </a:r>
            <a:r>
              <a:rPr lang="en-IN" sz="3200" dirty="0"/>
              <a:t>, </a:t>
            </a:r>
            <a:r>
              <a:rPr lang="en-IN" sz="3200" dirty="0">
                <a:solidFill>
                  <a:schemeClr val="accent1"/>
                </a:solidFill>
              </a:rPr>
              <a:t>1-3</a:t>
            </a:r>
            <a:r>
              <a:rPr lang="en-IN" sz="3200" dirty="0"/>
              <a:t>, </a:t>
            </a:r>
            <a:r>
              <a:rPr lang="en-IN" sz="3200" dirty="0">
                <a:solidFill>
                  <a:schemeClr val="accent1"/>
                </a:solidFill>
              </a:rPr>
              <a:t>1-4</a:t>
            </a:r>
            <a:r>
              <a:rPr lang="en-IN" sz="3200" dirty="0"/>
              <a:t>, 2-5, 3-2, 3-5,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a:t>
            </a:r>
            <a:endParaRPr lang="en-IN" sz="3100" dirty="0"/>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315200"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61103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a:t>
            </a:r>
            <a:r>
              <a:rPr lang="en-IN" sz="3200" dirty="0">
                <a:solidFill>
                  <a:schemeClr val="accent1"/>
                </a:solidFill>
              </a:rPr>
              <a:t>2-5</a:t>
            </a:r>
            <a:r>
              <a:rPr lang="en-IN" sz="3200" dirty="0"/>
              <a:t>, 3-2, 3-5, 4-3, 4-6, 5-7, 6-7</a:t>
            </a:r>
            <a:br>
              <a:rPr lang="en-IN" sz="3200" dirty="0"/>
            </a:br>
            <a:r>
              <a:rPr lang="en-IN" sz="3200" dirty="0"/>
              <a:t>			       </a:t>
            </a:r>
            <a:r>
              <a:rPr lang="en-IN" sz="3200" dirty="0">
                <a:solidFill>
                  <a:srgbClr val="FF0000"/>
                </a:solidFill>
              </a:rPr>
              <a:t>3</a:t>
            </a:r>
            <a:r>
              <a:rPr lang="en-IN" sz="3200" dirty="0"/>
              <a:t>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8828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a:t>
            </a:r>
            <a:r>
              <a:rPr lang="en-IN" sz="3200" dirty="0">
                <a:solidFill>
                  <a:schemeClr val="accent1"/>
                </a:solidFill>
              </a:rPr>
              <a:t>3-2</a:t>
            </a:r>
            <a:r>
              <a:rPr lang="en-IN" sz="3200" dirty="0"/>
              <a:t>, 3-5, 4-3,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5608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a:t>
            </a:r>
            <a:r>
              <a:rPr lang="en-IN" sz="3200" dirty="0">
                <a:solidFill>
                  <a:schemeClr val="accent1"/>
                </a:solidFill>
              </a:rPr>
              <a:t>3-5</a:t>
            </a:r>
            <a:r>
              <a:rPr lang="en-IN" sz="3200" dirty="0"/>
              <a:t>, 4-3,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4152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a:t>
            </a:r>
            <a:r>
              <a:rPr lang="en-IN" sz="3200" dirty="0">
                <a:solidFill>
                  <a:schemeClr val="accent1"/>
                </a:solidFill>
              </a:rPr>
              <a:t>4-3</a:t>
            </a:r>
            <a:r>
              <a:rPr lang="en-IN" sz="3200" dirty="0"/>
              <a:t>,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21387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a:t>
            </a:r>
            <a:r>
              <a:rPr lang="en-IN" sz="3200" dirty="0">
                <a:solidFill>
                  <a:schemeClr val="accent1"/>
                </a:solidFill>
              </a:rPr>
              <a:t>4-6</a:t>
            </a:r>
            <a:r>
              <a:rPr lang="en-IN" sz="3200" dirty="0"/>
              <a:t>,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59086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4-6, </a:t>
            </a:r>
            <a:r>
              <a:rPr lang="en-IN" sz="3200" dirty="0">
                <a:solidFill>
                  <a:schemeClr val="accent1"/>
                </a:solidFill>
              </a:rPr>
              <a:t>5-7</a:t>
            </a:r>
            <a:r>
              <a:rPr lang="en-IN" sz="3200" dirty="0"/>
              <a:t>,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lumMod val="95000"/>
                <a:lumOff val="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3296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4-6, 5-7, </a:t>
            </a:r>
            <a:r>
              <a:rPr lang="en-IN" sz="3200" dirty="0">
                <a:solidFill>
                  <a:schemeClr val="accent1"/>
                </a:solidFill>
              </a:rPr>
              <a:t>6-7</a:t>
            </a:r>
            <a:r>
              <a:rPr lang="en-IN" sz="3200" dirty="0"/>
              <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1"/>
                </a:solidFill>
              </a:rPr>
              <a:t>2</a:t>
            </a:r>
            <a:r>
              <a:rPr lang="en-IN" b="1" baseline="30000" dirty="0">
                <a:solidFill>
                  <a:schemeClr val="accent1"/>
                </a:solidFill>
              </a:rPr>
              <a:t>nd</a:t>
            </a:r>
            <a:r>
              <a:rPr lang="en-IN" b="1" dirty="0">
                <a:solidFill>
                  <a:schemeClr val="accent1"/>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4546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1384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a:t>
            </a:r>
            <a:r>
              <a:rPr lang="en-IN" sz="3200" dirty="0">
                <a:solidFill>
                  <a:srgbClr val="00B050"/>
                </a:solidFill>
              </a:rPr>
              <a:t>1-2, 1-3, 1-4</a:t>
            </a:r>
            <a:r>
              <a:rPr lang="en-IN" sz="3200" dirty="0"/>
              <a:t>, 2-5, 3-2, 3-5, 4-3,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a:t>
            </a:r>
            <a:endParaRPr lang="en-IN" sz="3100" dirty="0">
              <a:solidFill>
                <a:schemeClr val="accent1"/>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9955296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a:t>
            </a:r>
            <a:r>
              <a:rPr lang="en-IN" sz="3200" dirty="0">
                <a:solidFill>
                  <a:srgbClr val="00B050"/>
                </a:solidFill>
              </a:rPr>
              <a:t>2-5</a:t>
            </a:r>
            <a:r>
              <a:rPr lang="en-IN" sz="3200" dirty="0"/>
              <a:t>, 3-2, 3-5, 4-3, 4-6,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791982"/>
            <a:ext cx="1160280" cy="148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8288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a:t>
            </a:r>
            <a:r>
              <a:rPr lang="en-IN" sz="3200" dirty="0">
                <a:solidFill>
                  <a:srgbClr val="00B050"/>
                </a:solidFill>
              </a:rPr>
              <a:t>3-2</a:t>
            </a:r>
            <a:r>
              <a:rPr lang="en-IN" sz="3200" dirty="0"/>
              <a:t>, </a:t>
            </a:r>
            <a:r>
              <a:rPr lang="en-IN" sz="3200" dirty="0">
                <a:solidFill>
                  <a:srgbClr val="00B050"/>
                </a:solidFill>
              </a:rPr>
              <a:t>3-5</a:t>
            </a:r>
            <a:r>
              <a:rPr lang="en-IN" sz="3200" dirty="0"/>
              <a:t>, </a:t>
            </a:r>
            <a:r>
              <a:rPr lang="en-IN" sz="3200" dirty="0">
                <a:solidFill>
                  <a:srgbClr val="00B050"/>
                </a:solidFill>
              </a:rPr>
              <a:t>4-3, 4-6</a:t>
            </a:r>
            <a:r>
              <a:rPr lang="en-IN" sz="3200" dirty="0"/>
              <a:t>, 5-7,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833545"/>
            <a:ext cx="1160280" cy="148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1402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4-6, </a:t>
            </a:r>
            <a:r>
              <a:rPr lang="en-IN" sz="3200" dirty="0">
                <a:solidFill>
                  <a:srgbClr val="00B050"/>
                </a:solidFill>
              </a:rPr>
              <a:t>5-7</a:t>
            </a:r>
            <a:r>
              <a:rPr lang="en-IN" sz="3200" dirty="0"/>
              <a:t>, 6-7</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r>
              <a:rPr lang="en-IN" b="1" dirty="0">
                <a:solidFill>
                  <a:srgbClr val="00B050"/>
                </a:solidFill>
              </a:rPr>
              <a:t>3</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833545"/>
            <a:ext cx="1160280" cy="148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10210800" y="327166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863094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1-2, 1-3, 1-4, 2-5, 3-2, 3-5, 4-3, 4-6, 5-7, </a:t>
            </a:r>
            <a:r>
              <a:rPr lang="en-IN" sz="3200" dirty="0">
                <a:solidFill>
                  <a:srgbClr val="00B050"/>
                </a:solidFill>
              </a:rPr>
              <a:t>6-7</a:t>
            </a:r>
            <a:r>
              <a:rPr lang="en-IN" sz="3200" dirty="0"/>
              <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r>
              <a:rPr lang="en-IN" b="1" dirty="0">
                <a:solidFill>
                  <a:srgbClr val="00B050"/>
                </a:solidFill>
              </a:rPr>
              <a:t>3</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B050"/>
                </a:solidFill>
              </a:rPr>
              <a:t>3</a:t>
            </a:r>
            <a:r>
              <a:rPr lang="en-IN" b="1" baseline="30000" dirty="0">
                <a:solidFill>
                  <a:srgbClr val="00B050"/>
                </a:solidFill>
              </a:rPr>
              <a:t>rd</a:t>
            </a:r>
            <a:r>
              <a:rPr lang="en-IN" b="1" dirty="0">
                <a:solidFill>
                  <a:srgbClr val="00B050"/>
                </a:solidFill>
              </a:rPr>
              <a:t> iteration</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833545"/>
            <a:ext cx="1160280" cy="148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10210800" y="327166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7160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a:t>
            </a:r>
            <a:r>
              <a:rPr lang="en-IN" sz="3200" dirty="0">
                <a:solidFill>
                  <a:schemeClr val="accent6"/>
                </a:solidFill>
              </a:rPr>
              <a:t>1-2, 1-3, 1-4, 2-5, 3-2, 3-5, 4-3, 4-6, 5-7, 6-7</a:t>
            </a:r>
            <a:r>
              <a:rPr lang="en-IN" sz="3200" dirty="0"/>
              <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r>
              <a:rPr lang="en-IN" b="1" dirty="0">
                <a:solidFill>
                  <a:srgbClr val="00B050"/>
                </a:solidFill>
              </a:rPr>
              <a:t>3</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chemeClr val="accent6"/>
                </a:solidFill>
              </a:rPr>
              <a:t>4</a:t>
            </a:r>
            <a:r>
              <a:rPr lang="en-IN" b="1" baseline="30000" dirty="0">
                <a:solidFill>
                  <a:schemeClr val="accent6"/>
                </a:solidFill>
              </a:rPr>
              <a:t>th</a:t>
            </a:r>
            <a:r>
              <a:rPr lang="en-IN" b="1" dirty="0">
                <a:solidFill>
                  <a:schemeClr val="accent6"/>
                </a:solidFill>
              </a:rPr>
              <a:t> iteration No Change</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833545"/>
            <a:ext cx="1160280" cy="1484618"/>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10210800" y="327166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07176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0837"/>
            <a:ext cx="8915400" cy="1403487"/>
          </a:xfrm>
        </p:spPr>
        <p:txBody>
          <a:bodyPr>
            <a:normAutofit fontScale="90000"/>
          </a:bodyPr>
          <a:lstStyle/>
          <a:p>
            <a:pPr algn="l"/>
            <a:r>
              <a:rPr lang="en-IN" sz="3200" dirty="0"/>
              <a:t>Edges – </a:t>
            </a:r>
            <a:r>
              <a:rPr lang="en-IN" sz="3200" dirty="0">
                <a:solidFill>
                  <a:srgbClr val="002060"/>
                </a:solidFill>
              </a:rPr>
              <a:t>1-2, 1-3, 1-4, 2-5, 3-2, 3-5, 4-3, 4-6, 5-7, 6-7</a:t>
            </a:r>
            <a:r>
              <a:rPr lang="en-IN" sz="3200" dirty="0"/>
              <a:t/>
            </a:r>
            <a:br>
              <a:rPr lang="en-IN" sz="3200" dirty="0"/>
            </a:br>
            <a:r>
              <a:rPr lang="en-IN" sz="3200" dirty="0"/>
              <a:t>			       </a:t>
            </a:r>
            <a:r>
              <a:rPr lang="en-IN" sz="3200" dirty="0">
                <a:solidFill>
                  <a:srgbClr val="FF0000"/>
                </a:solidFill>
              </a:rPr>
              <a:t>3</a:t>
            </a:r>
            <a:r>
              <a:rPr lang="en-IN" sz="3200" dirty="0"/>
              <a:t>	</a:t>
            </a:r>
            <a:r>
              <a:rPr lang="en-IN" sz="3200" dirty="0">
                <a:solidFill>
                  <a:schemeClr val="accent1"/>
                </a:solidFill>
              </a:rPr>
              <a:t>1</a:t>
            </a:r>
            <a:r>
              <a:rPr lang="en-IN" sz="3200" dirty="0"/>
              <a:t/>
            </a:r>
            <a:br>
              <a:rPr lang="en-IN" sz="3200" dirty="0"/>
            </a:br>
            <a:r>
              <a:rPr lang="en-IN" sz="3200" dirty="0"/>
              <a:t>			  </a:t>
            </a:r>
            <a:r>
              <a:rPr lang="en-IN" sz="3200" b="1" dirty="0">
                <a:solidFill>
                  <a:srgbClr val="FF0000"/>
                </a:solidFill>
              </a:rPr>
              <a:t>∞ </a:t>
            </a:r>
            <a:r>
              <a:rPr lang="en-IN" sz="3200" dirty="0">
                <a:solidFill>
                  <a:srgbClr val="FF0000"/>
                </a:solidFill>
              </a:rPr>
              <a:t>6	</a:t>
            </a:r>
            <a:r>
              <a:rPr lang="en-IN" sz="3100" dirty="0"/>
              <a:t>-1		 </a:t>
            </a:r>
            <a:r>
              <a:rPr lang="en-IN" sz="3200" b="1" dirty="0">
                <a:solidFill>
                  <a:srgbClr val="FF0000"/>
                </a:solidFill>
              </a:rPr>
              <a:t>∞  5 </a:t>
            </a:r>
            <a:r>
              <a:rPr lang="en-IN" sz="3200" b="1" dirty="0">
                <a:solidFill>
                  <a:schemeClr val="accent1"/>
                </a:solidFill>
              </a:rPr>
              <a:t>2 </a:t>
            </a:r>
            <a:r>
              <a:rPr lang="en-IN" sz="3200" b="1" dirty="0">
                <a:solidFill>
                  <a:srgbClr val="00B050"/>
                </a:solidFill>
              </a:rPr>
              <a:t>0</a:t>
            </a:r>
            <a:endParaRPr lang="en-IN" sz="3100" dirty="0">
              <a:solidFill>
                <a:srgbClr val="00B050"/>
              </a:solidFill>
            </a:endParaRPr>
          </a:p>
        </p:txBody>
      </p:sp>
      <p:sp>
        <p:nvSpPr>
          <p:cNvPr id="3" name="Content Placeholder 2"/>
          <p:cNvSpPr>
            <a:spLocks noGrp="1"/>
          </p:cNvSpPr>
          <p:nvPr>
            <p:ph idx="1"/>
          </p:nvPr>
        </p:nvSpPr>
        <p:spPr>
          <a:xfrm>
            <a:off x="1981200" y="1600200"/>
            <a:ext cx="8686800" cy="4800600"/>
          </a:xfrm>
        </p:spPr>
        <p:txBody>
          <a:bodyPr>
            <a:normAutofit/>
          </a:bodyPr>
          <a:lstStyle/>
          <a:p>
            <a:pPr marL="0" indent="0">
              <a:buNone/>
            </a:pPr>
            <a:endParaRPr lang="en-IN" dirty="0"/>
          </a:p>
          <a:p>
            <a:pPr marL="0" indent="0">
              <a:buNone/>
            </a:pPr>
            <a:r>
              <a:rPr lang="en-IN" dirty="0"/>
              <a:t>	6		 -2	       1	          3</a:t>
            </a:r>
          </a:p>
          <a:p>
            <a:pPr marL="0" indent="0">
              <a:buNone/>
            </a:pPr>
            <a:r>
              <a:rPr lang="en-IN" dirty="0"/>
              <a:t>		</a:t>
            </a:r>
          </a:p>
          <a:p>
            <a:pPr marL="0" indent="0">
              <a:buNone/>
            </a:pPr>
            <a:r>
              <a:rPr lang="en-IN" dirty="0"/>
              <a:t>		5                   </a:t>
            </a:r>
            <a:r>
              <a:rPr lang="en-IN" b="1" dirty="0">
                <a:solidFill>
                  <a:srgbClr val="FF0000"/>
                </a:solidFill>
              </a:rPr>
              <a:t>∞ 5 3</a:t>
            </a:r>
            <a:r>
              <a:rPr lang="en-IN" dirty="0"/>
              <a:t>	 		          </a:t>
            </a:r>
            <a:r>
              <a:rPr lang="en-IN" b="1" dirty="0">
                <a:solidFill>
                  <a:srgbClr val="FF0000"/>
                </a:solidFill>
              </a:rPr>
              <a:t>∞ 8 7 </a:t>
            </a:r>
            <a:r>
              <a:rPr lang="en-IN" b="1" dirty="0">
                <a:solidFill>
                  <a:schemeClr val="accent1"/>
                </a:solidFill>
              </a:rPr>
              <a:t>5</a:t>
            </a:r>
            <a:r>
              <a:rPr lang="en-IN" b="1" dirty="0">
                <a:solidFill>
                  <a:srgbClr val="FF0000"/>
                </a:solidFill>
              </a:rPr>
              <a:t>       </a:t>
            </a:r>
            <a:endParaRPr lang="en-IN" dirty="0"/>
          </a:p>
          <a:p>
            <a:pPr marL="0" indent="0">
              <a:buNone/>
            </a:pPr>
            <a:r>
              <a:rPr lang="en-IN" dirty="0"/>
              <a:t>        								          </a:t>
            </a:r>
            <a:r>
              <a:rPr lang="en-IN" b="1" dirty="0">
                <a:solidFill>
                  <a:srgbClr val="00B050"/>
                </a:solidFill>
              </a:rPr>
              <a:t>3</a:t>
            </a:r>
          </a:p>
          <a:p>
            <a:pPr marL="0" indent="0">
              <a:buNone/>
            </a:pPr>
            <a:r>
              <a:rPr lang="en-IN" dirty="0"/>
              <a:t>	5	            -2			3</a:t>
            </a:r>
          </a:p>
          <a:p>
            <a:pPr marL="0" indent="0">
              <a:buNone/>
            </a:pPr>
            <a:endParaRPr lang="en-IN" dirty="0"/>
          </a:p>
          <a:p>
            <a:pPr marL="0" indent="0">
              <a:buNone/>
            </a:pPr>
            <a:r>
              <a:rPr lang="en-IN" dirty="0"/>
              <a:t>		         </a:t>
            </a:r>
            <a:r>
              <a:rPr lang="en-IN" b="1" dirty="0">
                <a:solidFill>
                  <a:srgbClr val="FF0000"/>
                </a:solidFill>
              </a:rPr>
              <a:t>∞ 5</a:t>
            </a:r>
            <a:r>
              <a:rPr lang="en-IN" dirty="0"/>
              <a:t>	-1               </a:t>
            </a:r>
            <a:r>
              <a:rPr lang="en-IN" b="1" dirty="0">
                <a:solidFill>
                  <a:srgbClr val="FF0000"/>
                </a:solidFill>
              </a:rPr>
              <a:t>∞ 4</a:t>
            </a:r>
          </a:p>
          <a:p>
            <a:pPr marL="0" indent="0" algn="ctr">
              <a:buNone/>
            </a:pPr>
            <a:r>
              <a:rPr lang="en-IN" b="1" dirty="0">
                <a:solidFill>
                  <a:srgbClr val="002060"/>
                </a:solidFill>
              </a:rPr>
              <a:t>5</a:t>
            </a:r>
            <a:r>
              <a:rPr lang="en-IN" b="1" baseline="30000" dirty="0">
                <a:solidFill>
                  <a:srgbClr val="002060"/>
                </a:solidFill>
              </a:rPr>
              <a:t>th</a:t>
            </a:r>
            <a:r>
              <a:rPr lang="en-IN" b="1" dirty="0">
                <a:solidFill>
                  <a:srgbClr val="002060"/>
                </a:solidFill>
              </a:rPr>
              <a:t> , 6</a:t>
            </a:r>
            <a:r>
              <a:rPr lang="en-IN" b="1" baseline="30000" dirty="0">
                <a:solidFill>
                  <a:srgbClr val="002060"/>
                </a:solidFill>
              </a:rPr>
              <a:t>th</a:t>
            </a:r>
            <a:r>
              <a:rPr lang="en-IN" b="1" dirty="0">
                <a:solidFill>
                  <a:srgbClr val="002060"/>
                </a:solidFill>
              </a:rPr>
              <a:t> iteration No Change</a:t>
            </a:r>
            <a:r>
              <a:rPr lang="en-IN" dirty="0"/>
              <a:t>	          </a:t>
            </a:r>
          </a:p>
        </p:txBody>
      </p:sp>
      <p:sp>
        <p:nvSpPr>
          <p:cNvPr id="4" name="Oval 3"/>
          <p:cNvSpPr/>
          <p:nvPr/>
        </p:nvSpPr>
        <p:spPr>
          <a:xfrm>
            <a:off x="21336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1</a:t>
            </a:r>
          </a:p>
        </p:txBody>
      </p:sp>
      <p:sp>
        <p:nvSpPr>
          <p:cNvPr id="5" name="Oval 4"/>
          <p:cNvSpPr/>
          <p:nvPr/>
        </p:nvSpPr>
        <p:spPr>
          <a:xfrm>
            <a:off x="38862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4</a:t>
            </a:r>
          </a:p>
        </p:txBody>
      </p:sp>
      <p:sp>
        <p:nvSpPr>
          <p:cNvPr id="6" name="Oval 5"/>
          <p:cNvSpPr/>
          <p:nvPr/>
        </p:nvSpPr>
        <p:spPr>
          <a:xfrm>
            <a:off x="6477000" y="486640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6</a:t>
            </a:r>
          </a:p>
        </p:txBody>
      </p:sp>
      <p:sp>
        <p:nvSpPr>
          <p:cNvPr id="7" name="Oval 6"/>
          <p:cNvSpPr/>
          <p:nvPr/>
        </p:nvSpPr>
        <p:spPr>
          <a:xfrm>
            <a:off x="8534400"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7</a:t>
            </a:r>
          </a:p>
        </p:txBody>
      </p:sp>
      <p:sp>
        <p:nvSpPr>
          <p:cNvPr id="8" name="Oval 7"/>
          <p:cNvSpPr/>
          <p:nvPr/>
        </p:nvSpPr>
        <p:spPr>
          <a:xfrm>
            <a:off x="6477000" y="1179874"/>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5</a:t>
            </a:r>
          </a:p>
        </p:txBody>
      </p:sp>
      <p:sp>
        <p:nvSpPr>
          <p:cNvPr id="9" name="Oval 8"/>
          <p:cNvSpPr/>
          <p:nvPr/>
        </p:nvSpPr>
        <p:spPr>
          <a:xfrm>
            <a:off x="3886200" y="1257300"/>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2</a:t>
            </a:r>
          </a:p>
        </p:txBody>
      </p:sp>
      <p:sp>
        <p:nvSpPr>
          <p:cNvPr id="10" name="Oval 9"/>
          <p:cNvSpPr/>
          <p:nvPr/>
        </p:nvSpPr>
        <p:spPr>
          <a:xfrm>
            <a:off x="4854268" y="3177381"/>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200" dirty="0"/>
              <a:t>3</a:t>
            </a:r>
          </a:p>
        </p:txBody>
      </p:sp>
      <p:cxnSp>
        <p:nvCxnSpPr>
          <p:cNvPr id="12" name="Straight Arrow Connector 11"/>
          <p:cNvCxnSpPr>
            <a:stCxn id="4" idx="7"/>
            <a:endCxn id="9" idx="3"/>
          </p:cNvCxnSpPr>
          <p:nvPr/>
        </p:nvCxnSpPr>
        <p:spPr>
          <a:xfrm flipV="1">
            <a:off x="2718967" y="1842668"/>
            <a:ext cx="1267666" cy="1435147"/>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p:cNvCxnSpPr/>
          <p:nvPr/>
        </p:nvCxnSpPr>
        <p:spPr>
          <a:xfrm>
            <a:off x="2819400" y="3581400"/>
            <a:ext cx="2034868" cy="15568"/>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a:endCxn id="8" idx="2"/>
          </p:cNvCxnSpPr>
          <p:nvPr/>
        </p:nvCxnSpPr>
        <p:spPr>
          <a:xfrm flipV="1">
            <a:off x="4567674" y="1522774"/>
            <a:ext cx="1909327" cy="21852"/>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p:cNvCxnSpPr/>
          <p:nvPr/>
        </p:nvCxnSpPr>
        <p:spPr>
          <a:xfrm flipV="1">
            <a:off x="4567674" y="5209309"/>
            <a:ext cx="1909327" cy="21852"/>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p:cNvCxnSpPr>
            <a:endCxn id="5" idx="1"/>
          </p:cNvCxnSpPr>
          <p:nvPr/>
        </p:nvCxnSpPr>
        <p:spPr>
          <a:xfrm>
            <a:off x="2705113" y="3774058"/>
            <a:ext cx="1281521" cy="1192784"/>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p:cNvCxnSpPr/>
          <p:nvPr/>
        </p:nvCxnSpPr>
        <p:spPr>
          <a:xfrm>
            <a:off x="7086600" y="1725221"/>
            <a:ext cx="1676400" cy="1452160"/>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p:cNvCxnSpPr>
            <a:endCxn id="7" idx="3"/>
          </p:cNvCxnSpPr>
          <p:nvPr/>
        </p:nvCxnSpPr>
        <p:spPr>
          <a:xfrm flipV="1">
            <a:off x="7162801" y="3762749"/>
            <a:ext cx="1472033" cy="1373199"/>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p:cNvCxnSpPr/>
          <p:nvPr/>
        </p:nvCxnSpPr>
        <p:spPr>
          <a:xfrm flipV="1">
            <a:off x="5410200" y="1833545"/>
            <a:ext cx="1160280" cy="1484618"/>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p:cNvCxnSpPr/>
          <p:nvPr/>
        </p:nvCxnSpPr>
        <p:spPr>
          <a:xfrm flipV="1">
            <a:off x="4419600" y="3863181"/>
            <a:ext cx="635584" cy="1034618"/>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p:cNvCxnSpPr>
            <a:endCxn id="9" idx="5"/>
          </p:cNvCxnSpPr>
          <p:nvPr/>
        </p:nvCxnSpPr>
        <p:spPr>
          <a:xfrm flipH="1" flipV="1">
            <a:off x="4471568" y="1842667"/>
            <a:ext cx="620841" cy="1334714"/>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p:cNvCxnSpPr/>
          <p:nvPr/>
        </p:nvCxnSpPr>
        <p:spPr>
          <a:xfrm flipH="1">
            <a:off x="4627418" y="119149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716750" y="3304310"/>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719641" y="5328354"/>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7294418" y="117987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4876801" y="1211265"/>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60198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7347246" y="531867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9372600"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9694718" y="32766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7703127" y="1139855"/>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4876801" y="740246"/>
            <a:ext cx="215609" cy="1741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9961418" y="3271662"/>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718967" y="1837454"/>
            <a:ext cx="1267666" cy="1435147"/>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p:cNvCxnSpPr/>
          <p:nvPr/>
        </p:nvCxnSpPr>
        <p:spPr>
          <a:xfrm>
            <a:off x="2819400" y="3576186"/>
            <a:ext cx="2034868" cy="15568"/>
          </a:xfrm>
          <a:prstGeom prst="straightConnector1">
            <a:avLst/>
          </a:prstGeom>
          <a:ln w="38100" cap="flat" cmpd="sng" algn="ctr">
            <a:solidFill>
              <a:schemeClr val="tx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Connector 38"/>
          <p:cNvCxnSpPr/>
          <p:nvPr/>
        </p:nvCxnSpPr>
        <p:spPr>
          <a:xfrm flipH="1">
            <a:off x="7980218" y="114300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10210800" y="3271661"/>
            <a:ext cx="96982" cy="23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721411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17472" y="4401849"/>
            <a:ext cx="7474527" cy="2566554"/>
          </a:xfrm>
          <a:prstGeom prst="rect">
            <a:avLst/>
          </a:prstGeom>
        </p:spPr>
      </p:pic>
      <p:pic>
        <p:nvPicPr>
          <p:cNvPr id="3" name="Picture 2"/>
          <p:cNvPicPr>
            <a:picLocks noChangeAspect="1"/>
          </p:cNvPicPr>
          <p:nvPr/>
        </p:nvPicPr>
        <p:blipFill>
          <a:blip r:embed="rId3"/>
          <a:stretch>
            <a:fillRect/>
          </a:stretch>
        </p:blipFill>
        <p:spPr>
          <a:xfrm>
            <a:off x="652462" y="0"/>
            <a:ext cx="6652348" cy="4462051"/>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385560" y="5610240"/>
              <a:ext cx="3827160" cy="755280"/>
            </p14:xfrm>
          </p:contentPart>
        </mc:Choice>
        <mc:Fallback xmlns="">
          <p:pic>
            <p:nvPicPr>
              <p:cNvPr id="4" name="Ink 3"/>
              <p:cNvPicPr/>
              <p:nvPr/>
            </p:nvPicPr>
            <p:blipFill>
              <a:blip r:embed="rId5"/>
              <a:stretch>
                <a:fillRect/>
              </a:stretch>
            </p:blipFill>
            <p:spPr>
              <a:xfrm>
                <a:off x="376200" y="5600880"/>
                <a:ext cx="3845880" cy="774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p14:cNvContentPartPr/>
              <p14:nvPr/>
            </p14:nvContentPartPr>
            <p14:xfrm>
              <a:off x="330480" y="87840"/>
              <a:ext cx="11735640" cy="6770160"/>
            </p14:xfrm>
          </p:contentPart>
        </mc:Choice>
        <mc:Fallback xmlns="">
          <p:pic>
            <p:nvPicPr>
              <p:cNvPr id="5" name="Ink 4"/>
              <p:cNvPicPr/>
              <p:nvPr/>
            </p:nvPicPr>
            <p:blipFill>
              <a:blip r:embed="rId7"/>
              <a:stretch>
                <a:fillRect/>
              </a:stretch>
            </p:blipFill>
            <p:spPr>
              <a:xfrm>
                <a:off x="321120" y="78480"/>
                <a:ext cx="11754360" cy="6788880"/>
              </a:xfrm>
              <a:prstGeom prst="rect">
                <a:avLst/>
              </a:prstGeom>
            </p:spPr>
          </p:pic>
        </mc:Fallback>
      </mc:AlternateContent>
    </p:spTree>
    <p:extLst>
      <p:ext uri="{BB962C8B-B14F-4D97-AF65-F5344CB8AC3E}">
        <p14:creationId xmlns:p14="http://schemas.microsoft.com/office/powerpoint/2010/main" val="251207777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307" y="0"/>
            <a:ext cx="6652348" cy="4462051"/>
          </a:xfrm>
          <a:prstGeom prst="rect">
            <a:avLst/>
          </a:prstGeom>
        </p:spPr>
      </p:pic>
    </p:spTree>
    <p:extLst>
      <p:ext uri="{BB962C8B-B14F-4D97-AF65-F5344CB8AC3E}">
        <p14:creationId xmlns:p14="http://schemas.microsoft.com/office/powerpoint/2010/main" val="287235421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19" y="230971"/>
            <a:ext cx="11724481" cy="2723823"/>
          </a:xfrm>
          <a:prstGeom prst="rect">
            <a:avLst/>
          </a:prstGeom>
        </p:spPr>
        <p:txBody>
          <a:bodyPr wrap="square">
            <a:spAutoFit/>
          </a:bodyPr>
          <a:lstStyle/>
          <a:p>
            <a:pPr>
              <a:lnSpc>
                <a:spcPct val="150000"/>
              </a:lnSpc>
            </a:pPr>
            <a:r>
              <a:rPr lang="en-US" sz="2400" b="1" dirty="0"/>
              <a:t>Travelling salesman </a:t>
            </a:r>
            <a:r>
              <a:rPr lang="en-US" sz="2400" b="1" dirty="0" smtClean="0"/>
              <a:t>problem</a:t>
            </a:r>
          </a:p>
          <a:p>
            <a:pPr marL="285750" indent="-285750">
              <a:lnSpc>
                <a:spcPct val="150000"/>
              </a:lnSpc>
              <a:buFont typeface="Arial" panose="020B0604020202020204" pitchFamily="34" charset="0"/>
              <a:buChar char="•"/>
            </a:pPr>
            <a:endParaRPr lang="en-US" dirty="0" smtClean="0"/>
          </a:p>
          <a:p>
            <a:pPr marL="285750" indent="-285750">
              <a:lnSpc>
                <a:spcPct val="150000"/>
              </a:lnSpc>
              <a:buFont typeface="Arial" panose="020B0604020202020204" pitchFamily="34" charset="0"/>
              <a:buChar char="•"/>
            </a:pPr>
            <a:r>
              <a:rPr lang="en-US" dirty="0" smtClean="0"/>
              <a:t>Given </a:t>
            </a:r>
            <a:r>
              <a:rPr lang="en-US" dirty="0"/>
              <a:t>a</a:t>
            </a:r>
            <a:r>
              <a:rPr lang="en-US" b="1" dirty="0"/>
              <a:t> 2d matrix cost[][] </a:t>
            </a:r>
            <a:r>
              <a:rPr lang="en-US" dirty="0"/>
              <a:t>of </a:t>
            </a:r>
            <a:r>
              <a:rPr lang="en-US" b="1" dirty="0"/>
              <a:t>size n </a:t>
            </a:r>
            <a:r>
              <a:rPr lang="en-US" dirty="0"/>
              <a:t>where </a:t>
            </a:r>
            <a:r>
              <a:rPr lang="en-US" b="1" dirty="0"/>
              <a:t>cost[</a:t>
            </a:r>
            <a:r>
              <a:rPr lang="en-US" b="1" dirty="0" err="1"/>
              <a:t>i</a:t>
            </a:r>
            <a:r>
              <a:rPr lang="en-US" b="1" dirty="0"/>
              <a:t>][j] </a:t>
            </a:r>
            <a:r>
              <a:rPr lang="en-US" dirty="0"/>
              <a:t>denotes the cost of moving from</a:t>
            </a:r>
            <a:r>
              <a:rPr lang="en-US" b="1" dirty="0"/>
              <a:t> city </a:t>
            </a:r>
            <a:r>
              <a:rPr lang="en-US" b="1" dirty="0" err="1"/>
              <a:t>i</a:t>
            </a:r>
            <a:r>
              <a:rPr lang="en-US" b="1" dirty="0"/>
              <a:t> to city j.</a:t>
            </a:r>
            <a:r>
              <a:rPr lang="en-US" dirty="0"/>
              <a:t> </a:t>
            </a:r>
            <a:endParaRPr lang="en-US" dirty="0" smtClean="0"/>
          </a:p>
          <a:p>
            <a:pPr marL="285750" indent="-285750">
              <a:lnSpc>
                <a:spcPct val="150000"/>
              </a:lnSpc>
              <a:buFont typeface="Arial" panose="020B0604020202020204" pitchFamily="34" charset="0"/>
              <a:buChar char="•"/>
            </a:pPr>
            <a:r>
              <a:rPr lang="en-US" dirty="0" smtClean="0"/>
              <a:t>The </a:t>
            </a:r>
            <a:r>
              <a:rPr lang="en-US" dirty="0"/>
              <a:t>task is to complete a</a:t>
            </a:r>
            <a:r>
              <a:rPr lang="en-US" b="1" dirty="0"/>
              <a:t> tour </a:t>
            </a:r>
            <a:r>
              <a:rPr lang="en-US" dirty="0"/>
              <a:t>from </a:t>
            </a:r>
            <a:r>
              <a:rPr lang="en-US" b="1" dirty="0"/>
              <a:t>city </a:t>
            </a:r>
            <a:r>
              <a:rPr lang="en-US" b="1" dirty="0" smtClean="0"/>
              <a:t>1 (based </a:t>
            </a:r>
            <a:r>
              <a:rPr lang="en-US" b="1" dirty="0"/>
              <a:t>index)</a:t>
            </a:r>
            <a:r>
              <a:rPr lang="en-US" dirty="0"/>
              <a:t> to all other cities such that we visit each city</a:t>
            </a:r>
            <a:r>
              <a:rPr lang="en-US" b="1" dirty="0"/>
              <a:t> exactly once</a:t>
            </a:r>
            <a:r>
              <a:rPr lang="en-US" dirty="0"/>
              <a:t> and then at the end come back to</a:t>
            </a:r>
            <a:r>
              <a:rPr lang="en-US" b="1" dirty="0"/>
              <a:t> city </a:t>
            </a:r>
            <a:r>
              <a:rPr lang="en-US" b="1" dirty="0" smtClean="0"/>
              <a:t>1</a:t>
            </a:r>
            <a:r>
              <a:rPr lang="en-US" dirty="0"/>
              <a:t> </a:t>
            </a:r>
            <a:r>
              <a:rPr lang="en-US" b="1" dirty="0"/>
              <a:t>at minimum cost.</a:t>
            </a:r>
            <a:endParaRPr lang="en-US" b="1" dirty="0" smtClean="0"/>
          </a:p>
          <a:p>
            <a:pPr>
              <a:lnSpc>
                <a:spcPct val="150000"/>
              </a:lnSpc>
            </a:pPr>
            <a:endParaRPr lang="en-IN" dirty="0"/>
          </a:p>
        </p:txBody>
      </p:sp>
      <p:sp>
        <p:nvSpPr>
          <p:cNvPr id="3" name="Rectangle 2"/>
          <p:cNvSpPr/>
          <p:nvPr/>
        </p:nvSpPr>
        <p:spPr>
          <a:xfrm>
            <a:off x="180108" y="5385000"/>
            <a:ext cx="11821391" cy="923330"/>
          </a:xfrm>
          <a:prstGeom prst="rect">
            <a:avLst/>
          </a:prstGeom>
        </p:spPr>
        <p:txBody>
          <a:bodyPr wrap="square">
            <a:spAutoFit/>
          </a:bodyPr>
          <a:lstStyle/>
          <a:p>
            <a:r>
              <a:rPr lang="en-US" dirty="0">
                <a:latin typeface="Verdana" panose="020B0604030504040204" pitchFamily="34" charset="0"/>
              </a:rPr>
              <a:t>Analysis</a:t>
            </a:r>
          </a:p>
          <a:p>
            <a:r>
              <a:rPr lang="en-US" dirty="0">
                <a:solidFill>
                  <a:srgbClr val="000000"/>
                </a:solidFill>
                <a:latin typeface="Verdana" panose="020B0604030504040204" pitchFamily="34" charset="0"/>
              </a:rPr>
              <a:t>There are at the most </a:t>
            </a:r>
            <a:r>
              <a:rPr lang="en-US" b="1" dirty="0">
                <a:solidFill>
                  <a:srgbClr val="000000"/>
                </a:solidFill>
                <a:latin typeface="inherit"/>
              </a:rPr>
              <a:t>2</a:t>
            </a:r>
            <a:r>
              <a:rPr lang="en-US" b="1" baseline="30000" dirty="0">
                <a:solidFill>
                  <a:srgbClr val="000000"/>
                </a:solidFill>
                <a:latin typeface="inherit"/>
              </a:rPr>
              <a:t>n</a:t>
            </a:r>
            <a:r>
              <a:rPr lang="en-US" b="1" dirty="0">
                <a:solidFill>
                  <a:srgbClr val="000000"/>
                </a:solidFill>
                <a:latin typeface="inherit"/>
              </a:rPr>
              <a:t>.n</a:t>
            </a:r>
            <a:r>
              <a:rPr lang="en-US" dirty="0">
                <a:solidFill>
                  <a:srgbClr val="000000"/>
                </a:solidFill>
                <a:latin typeface="Verdana" panose="020B0604030504040204" pitchFamily="34" charset="0"/>
              </a:rPr>
              <a:t> sub-problems and each one takes linear time to solve. Therefore, the total running time is </a:t>
            </a:r>
            <a:r>
              <a:rPr lang="en-US" b="1" dirty="0">
                <a:solidFill>
                  <a:srgbClr val="000000"/>
                </a:solidFill>
                <a:latin typeface="inherit"/>
              </a:rPr>
              <a:t>O(2</a:t>
            </a:r>
            <a:r>
              <a:rPr lang="en-US" b="1" baseline="30000" dirty="0">
                <a:solidFill>
                  <a:srgbClr val="000000"/>
                </a:solidFill>
                <a:latin typeface="inherit"/>
              </a:rPr>
              <a:t>n</a:t>
            </a:r>
            <a:r>
              <a:rPr lang="en-US" b="1" dirty="0">
                <a:solidFill>
                  <a:srgbClr val="000000"/>
                </a:solidFill>
                <a:latin typeface="inherit"/>
              </a:rPr>
              <a:t>.n</a:t>
            </a:r>
            <a:r>
              <a:rPr lang="en-US" b="1" baseline="30000" dirty="0">
                <a:solidFill>
                  <a:srgbClr val="000000"/>
                </a:solidFill>
                <a:latin typeface="inherit"/>
              </a:rPr>
              <a:t>2</a:t>
            </a:r>
            <a:r>
              <a:rPr lang="en-US" b="1" dirty="0">
                <a:solidFill>
                  <a:srgbClr val="000000"/>
                </a:solidFill>
                <a:latin typeface="inherit"/>
              </a:rPr>
              <a:t>)</a:t>
            </a:r>
            <a:r>
              <a:rPr lang="en-US" dirty="0">
                <a:solidFill>
                  <a:srgbClr val="000000"/>
                </a:solidFill>
                <a:latin typeface="Verdana" panose="020B0604030504040204" pitchFamily="34" charset="0"/>
              </a:rPr>
              <a:t>.</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28717799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80756" y="282210"/>
            <a:ext cx="1155759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solidFill>
                  <a:srgbClr val="000000"/>
                </a:solidFill>
                <a:effectLst/>
                <a:latin typeface="+mn-lt"/>
              </a:rPr>
              <a:t>Let us consider a graph </a:t>
            </a:r>
            <a:r>
              <a:rPr kumimoji="0" lang="en-US" b="1" i="0" u="none" strike="noStrike" cap="none" normalizeH="0" baseline="0" dirty="0" smtClean="0">
                <a:ln>
                  <a:noFill/>
                </a:ln>
                <a:solidFill>
                  <a:srgbClr val="000000"/>
                </a:solidFill>
                <a:effectLst/>
                <a:latin typeface="+mn-lt"/>
              </a:rPr>
              <a:t>G = (V,E)</a:t>
            </a:r>
            <a:r>
              <a:rPr kumimoji="0" lang="en-US" b="0" i="0" u="none" strike="noStrike" cap="none" normalizeH="0" baseline="0" dirty="0" smtClean="0">
                <a:ln>
                  <a:noFill/>
                </a:ln>
                <a:solidFill>
                  <a:srgbClr val="000000"/>
                </a:solidFill>
                <a:effectLst/>
                <a:latin typeface="+mn-lt"/>
              </a:rPr>
              <a:t>, where </a:t>
            </a:r>
            <a:r>
              <a:rPr kumimoji="0" lang="en-US" b="1" i="0" u="none" strike="noStrike" cap="none" normalizeH="0" baseline="0" dirty="0" smtClean="0">
                <a:ln>
                  <a:noFill/>
                </a:ln>
                <a:solidFill>
                  <a:srgbClr val="000000"/>
                </a:solidFill>
                <a:effectLst/>
                <a:latin typeface="+mn-lt"/>
              </a:rPr>
              <a:t>V</a:t>
            </a:r>
            <a:r>
              <a:rPr kumimoji="0" lang="en-US" b="0" i="0" u="none" strike="noStrike" cap="none" normalizeH="0" baseline="0" dirty="0" smtClean="0">
                <a:ln>
                  <a:noFill/>
                </a:ln>
                <a:solidFill>
                  <a:srgbClr val="000000"/>
                </a:solidFill>
                <a:effectLst/>
                <a:latin typeface="+mn-lt"/>
              </a:rPr>
              <a:t> is a set of cities and E is a set of weighted edges. An edge </a:t>
            </a:r>
            <a:r>
              <a:rPr kumimoji="0" lang="en-US" b="1" i="0" u="none" strike="noStrike" cap="none" normalizeH="0" baseline="0" dirty="0" smtClean="0">
                <a:ln>
                  <a:noFill/>
                </a:ln>
                <a:solidFill>
                  <a:srgbClr val="000000"/>
                </a:solidFill>
                <a:effectLst/>
                <a:latin typeface="+mn-lt"/>
              </a:rPr>
              <a:t>e(u, v)</a:t>
            </a:r>
            <a:r>
              <a:rPr kumimoji="0" lang="en-US" b="0" i="0" u="none" strike="noStrike" cap="none" normalizeH="0" baseline="0" dirty="0" smtClean="0">
                <a:ln>
                  <a:noFill/>
                </a:ln>
                <a:solidFill>
                  <a:srgbClr val="000000"/>
                </a:solidFill>
                <a:effectLst/>
                <a:latin typeface="+mn-lt"/>
              </a:rPr>
              <a:t> represents that vertices </a:t>
            </a:r>
            <a:r>
              <a:rPr kumimoji="0" lang="en-US" b="1" i="0" u="none" strike="noStrike" cap="none" normalizeH="0" baseline="0" dirty="0" smtClean="0">
                <a:ln>
                  <a:noFill/>
                </a:ln>
                <a:solidFill>
                  <a:srgbClr val="000000"/>
                </a:solidFill>
                <a:effectLst/>
                <a:latin typeface="+mn-lt"/>
              </a:rPr>
              <a:t>u</a:t>
            </a:r>
            <a:r>
              <a:rPr kumimoji="0" lang="en-US" b="0" i="0" u="none" strike="noStrike" cap="none" normalizeH="0" baseline="0" dirty="0" smtClean="0">
                <a:ln>
                  <a:noFill/>
                </a:ln>
                <a:solidFill>
                  <a:srgbClr val="000000"/>
                </a:solidFill>
                <a:effectLst/>
                <a:latin typeface="+mn-lt"/>
              </a:rPr>
              <a:t> and </a:t>
            </a:r>
            <a:r>
              <a:rPr kumimoji="0" lang="en-US" b="1" i="0" u="none" strike="noStrike" cap="none" normalizeH="0" baseline="0" dirty="0" smtClean="0">
                <a:ln>
                  <a:noFill/>
                </a:ln>
                <a:solidFill>
                  <a:srgbClr val="000000"/>
                </a:solidFill>
                <a:effectLst/>
                <a:latin typeface="+mn-lt"/>
              </a:rPr>
              <a:t>v</a:t>
            </a:r>
            <a:r>
              <a:rPr kumimoji="0" lang="en-US" b="0" i="0" u="none" strike="noStrike" cap="none" normalizeH="0" baseline="0" dirty="0" smtClean="0">
                <a:ln>
                  <a:noFill/>
                </a:ln>
                <a:solidFill>
                  <a:srgbClr val="000000"/>
                </a:solidFill>
                <a:effectLst/>
                <a:latin typeface="+mn-lt"/>
              </a:rPr>
              <a:t> are connected. Distance between vertex </a:t>
            </a:r>
            <a:r>
              <a:rPr kumimoji="0" lang="en-US" b="1" i="0" u="none" strike="noStrike" cap="none" normalizeH="0" baseline="0" dirty="0" smtClean="0">
                <a:ln>
                  <a:noFill/>
                </a:ln>
                <a:solidFill>
                  <a:srgbClr val="000000"/>
                </a:solidFill>
                <a:effectLst/>
                <a:latin typeface="+mn-lt"/>
              </a:rPr>
              <a:t>u</a:t>
            </a:r>
            <a:r>
              <a:rPr kumimoji="0" lang="en-US" b="0" i="0" u="none" strike="noStrike" cap="none" normalizeH="0" baseline="0" dirty="0" smtClean="0">
                <a:ln>
                  <a:noFill/>
                </a:ln>
                <a:solidFill>
                  <a:srgbClr val="000000"/>
                </a:solidFill>
                <a:effectLst/>
                <a:latin typeface="+mn-lt"/>
              </a:rPr>
              <a:t> and </a:t>
            </a:r>
            <a:r>
              <a:rPr kumimoji="0" lang="en-US" b="1" i="0" u="none" strike="noStrike" cap="none" normalizeH="0" baseline="0" dirty="0" smtClean="0">
                <a:ln>
                  <a:noFill/>
                </a:ln>
                <a:solidFill>
                  <a:srgbClr val="000000"/>
                </a:solidFill>
                <a:effectLst/>
                <a:latin typeface="+mn-lt"/>
              </a:rPr>
              <a:t>v</a:t>
            </a:r>
            <a:r>
              <a:rPr kumimoji="0" lang="en-US" b="0" i="0" u="none" strike="noStrike" cap="none" normalizeH="0" baseline="0" dirty="0" smtClean="0">
                <a:ln>
                  <a:noFill/>
                </a:ln>
                <a:solidFill>
                  <a:srgbClr val="000000"/>
                </a:solidFill>
                <a:effectLst/>
                <a:latin typeface="+mn-lt"/>
              </a:rPr>
              <a:t> is </a:t>
            </a:r>
            <a:r>
              <a:rPr kumimoji="0" lang="en-US" b="1" i="0" u="none" strike="noStrike" cap="none" normalizeH="0" baseline="0" dirty="0" smtClean="0">
                <a:ln>
                  <a:noFill/>
                </a:ln>
                <a:solidFill>
                  <a:srgbClr val="000000"/>
                </a:solidFill>
                <a:effectLst/>
                <a:latin typeface="+mn-lt"/>
              </a:rPr>
              <a:t>d(u, v)</a:t>
            </a:r>
            <a:r>
              <a:rPr kumimoji="0" lang="en-US" b="0" i="0" u="none" strike="noStrike" cap="none" normalizeH="0" baseline="0" dirty="0" smtClean="0">
                <a:ln>
                  <a:noFill/>
                </a:ln>
                <a:solidFill>
                  <a:srgbClr val="000000"/>
                </a:solidFill>
                <a:effectLst/>
                <a:latin typeface="+mn-lt"/>
              </a:rPr>
              <a:t>, which should be non-negative.</a:t>
            </a:r>
            <a:endParaRPr kumimoji="0" lang="en-US" b="0" i="0" u="none" strike="noStrike" cap="none" normalizeH="0" baseline="0" dirty="0" smtClean="0">
              <a:ln>
                <a:noFill/>
              </a:ln>
              <a:solidFill>
                <a:schemeClr val="tx1"/>
              </a:solidFill>
              <a:effectLst/>
              <a:latin typeface="+mn-lt"/>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solidFill>
                  <a:srgbClr val="000000"/>
                </a:solidFill>
                <a:effectLst/>
                <a:latin typeface="+mn-lt"/>
              </a:rPr>
              <a:t>Suppose we have started at city </a:t>
            </a:r>
            <a:r>
              <a:rPr kumimoji="0" lang="en-US" b="1" i="0" u="none" strike="noStrike" cap="none" normalizeH="0" baseline="0" dirty="0" smtClean="0">
                <a:ln>
                  <a:noFill/>
                </a:ln>
                <a:solidFill>
                  <a:srgbClr val="000000"/>
                </a:solidFill>
                <a:effectLst/>
                <a:latin typeface="+mn-lt"/>
              </a:rPr>
              <a:t>1</a:t>
            </a:r>
            <a:r>
              <a:rPr kumimoji="0" lang="en-US" b="0" i="0" u="none" strike="noStrike" cap="none" normalizeH="0" baseline="0" dirty="0" smtClean="0">
                <a:ln>
                  <a:noFill/>
                </a:ln>
                <a:solidFill>
                  <a:srgbClr val="000000"/>
                </a:solidFill>
                <a:effectLst/>
                <a:latin typeface="+mn-lt"/>
              </a:rPr>
              <a:t> and after visiting some cities now we are in city </a:t>
            </a:r>
            <a:r>
              <a:rPr kumimoji="0" lang="en-US" b="1" i="0" u="none" strike="noStrike" cap="none" normalizeH="0" baseline="0" dirty="0" smtClean="0">
                <a:ln>
                  <a:noFill/>
                </a:ln>
                <a:solidFill>
                  <a:srgbClr val="000000"/>
                </a:solidFill>
                <a:effectLst/>
                <a:latin typeface="+mn-lt"/>
              </a:rPr>
              <a:t>j</a:t>
            </a:r>
            <a:r>
              <a:rPr kumimoji="0" lang="en-US" b="0" i="0" u="none" strike="noStrike" cap="none" normalizeH="0" baseline="0" dirty="0" smtClean="0">
                <a:ln>
                  <a:noFill/>
                </a:ln>
                <a:solidFill>
                  <a:srgbClr val="000000"/>
                </a:solidFill>
                <a:effectLst/>
                <a:latin typeface="+mn-lt"/>
              </a:rPr>
              <a:t>. Hence, this is a partial tour. We certainly need to know </a:t>
            </a:r>
            <a:r>
              <a:rPr kumimoji="0" lang="en-US" b="1" i="0" u="none" strike="noStrike" cap="none" normalizeH="0" baseline="0" dirty="0" smtClean="0">
                <a:ln>
                  <a:noFill/>
                </a:ln>
                <a:solidFill>
                  <a:srgbClr val="000000"/>
                </a:solidFill>
                <a:effectLst/>
                <a:latin typeface="+mn-lt"/>
              </a:rPr>
              <a:t>j</a:t>
            </a:r>
            <a:r>
              <a:rPr kumimoji="0" lang="en-US" b="0" i="0" u="none" strike="noStrike" cap="none" normalizeH="0" baseline="0" dirty="0" smtClean="0">
                <a:ln>
                  <a:noFill/>
                </a:ln>
                <a:solidFill>
                  <a:srgbClr val="000000"/>
                </a:solidFill>
                <a:effectLst/>
                <a:latin typeface="+mn-lt"/>
              </a:rPr>
              <a:t>, since this will determine which cities are most convenient to visit next. We also need to know all the cities visited so far, so that we don't repeat any of them. Hence, this is an appropriate sub-problem.</a:t>
            </a:r>
            <a:endParaRPr kumimoji="0" lang="en-US" b="0" i="0" u="none" strike="noStrike" cap="none" normalizeH="0" baseline="0" dirty="0" smtClean="0">
              <a:ln>
                <a:noFill/>
              </a:ln>
              <a:solidFill>
                <a:schemeClr val="tx1"/>
              </a:solidFill>
              <a:effectLst/>
              <a:latin typeface="+mn-lt"/>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solidFill>
                  <a:srgbClr val="000000"/>
                </a:solidFill>
                <a:effectLst/>
                <a:latin typeface="+mn-lt"/>
              </a:rPr>
              <a:t>For a subset of cities </a:t>
            </a:r>
            <a:r>
              <a:rPr kumimoji="0" lang="en-US" b="1" i="0" u="none" strike="noStrike" cap="none" normalizeH="0" baseline="0" dirty="0" smtClean="0">
                <a:ln>
                  <a:noFill/>
                </a:ln>
                <a:solidFill>
                  <a:srgbClr val="000000"/>
                </a:solidFill>
                <a:effectLst/>
                <a:latin typeface="+mn-lt"/>
              </a:rPr>
              <a:t>S </a:t>
            </a:r>
            <a:r>
              <a:rPr kumimoji="0" lang="en-US" b="0" i="0" u="none" strike="noStrike" cap="none" normalizeH="0" baseline="0" dirty="0" smtClean="0">
                <a:ln>
                  <a:noFill/>
                </a:ln>
                <a:solidFill>
                  <a:srgbClr val="000000"/>
                </a:solidFill>
                <a:effectLst/>
                <a:latin typeface="+mn-lt"/>
              </a:rPr>
              <a:t>ϵϵ</a:t>
            </a:r>
            <a:r>
              <a:rPr kumimoji="0" lang="en-US" b="1" i="0" u="none" strike="noStrike" cap="none" normalizeH="0" baseline="0" dirty="0" smtClean="0">
                <a:ln>
                  <a:noFill/>
                </a:ln>
                <a:solidFill>
                  <a:srgbClr val="000000"/>
                </a:solidFill>
                <a:effectLst/>
                <a:latin typeface="+mn-lt"/>
              </a:rPr>
              <a:t> {1,2,3,...,n}</a:t>
            </a:r>
            <a:r>
              <a:rPr kumimoji="0" lang="en-US" b="0" i="0" u="none" strike="noStrike" cap="none" normalizeH="0" baseline="0" dirty="0" smtClean="0">
                <a:ln>
                  <a:noFill/>
                </a:ln>
                <a:solidFill>
                  <a:srgbClr val="000000"/>
                </a:solidFill>
                <a:effectLst/>
                <a:latin typeface="+mn-lt"/>
              </a:rPr>
              <a:t> that includes </a:t>
            </a:r>
            <a:r>
              <a:rPr kumimoji="0" lang="en-US" b="1" i="0" u="none" strike="noStrike" cap="none" normalizeH="0" baseline="0" dirty="0" smtClean="0">
                <a:ln>
                  <a:noFill/>
                </a:ln>
                <a:solidFill>
                  <a:srgbClr val="000000"/>
                </a:solidFill>
                <a:effectLst/>
                <a:latin typeface="+mn-lt"/>
              </a:rPr>
              <a:t>1</a:t>
            </a:r>
            <a:r>
              <a:rPr kumimoji="0" lang="en-US" b="0" i="0" u="none" strike="noStrike" cap="none" normalizeH="0" baseline="0" dirty="0" smtClean="0">
                <a:ln>
                  <a:noFill/>
                </a:ln>
                <a:solidFill>
                  <a:srgbClr val="000000"/>
                </a:solidFill>
                <a:effectLst/>
                <a:latin typeface="+mn-lt"/>
              </a:rPr>
              <a:t>, and </a:t>
            </a:r>
            <a:r>
              <a:rPr kumimoji="0" lang="en-US" b="1" i="0" u="none" strike="noStrike" cap="none" normalizeH="0" baseline="0" dirty="0" smtClean="0">
                <a:ln>
                  <a:noFill/>
                </a:ln>
                <a:solidFill>
                  <a:srgbClr val="000000"/>
                </a:solidFill>
                <a:effectLst/>
                <a:latin typeface="+mn-lt"/>
              </a:rPr>
              <a:t>j</a:t>
            </a:r>
            <a:r>
              <a:rPr kumimoji="0" lang="en-US" b="0" i="0" u="none" strike="noStrike" cap="none" normalizeH="0" baseline="0" dirty="0" smtClean="0">
                <a:ln>
                  <a:noFill/>
                </a:ln>
                <a:solidFill>
                  <a:srgbClr val="000000"/>
                </a:solidFill>
                <a:effectLst/>
                <a:latin typeface="+mn-lt"/>
              </a:rPr>
              <a:t> ϵϵ</a:t>
            </a:r>
            <a:r>
              <a:rPr kumimoji="0" lang="en-US" b="1" i="0" u="none" strike="noStrike" cap="none" normalizeH="0" baseline="0" dirty="0" smtClean="0">
                <a:ln>
                  <a:noFill/>
                </a:ln>
                <a:solidFill>
                  <a:srgbClr val="000000"/>
                </a:solidFill>
                <a:effectLst/>
                <a:latin typeface="+mn-lt"/>
              </a:rPr>
              <a:t> S, let C(S, j)</a:t>
            </a:r>
            <a:r>
              <a:rPr kumimoji="0" lang="en-US" b="0" i="0" u="none" strike="noStrike" cap="none" normalizeH="0" baseline="0" dirty="0" smtClean="0">
                <a:ln>
                  <a:noFill/>
                </a:ln>
                <a:solidFill>
                  <a:srgbClr val="000000"/>
                </a:solidFill>
                <a:effectLst/>
                <a:latin typeface="+mn-lt"/>
              </a:rPr>
              <a:t> be the length of the shortest path visiting each node in S exactly once, starting at 1 and ending at </a:t>
            </a:r>
            <a:r>
              <a:rPr kumimoji="0" lang="en-US" b="1" i="0" u="none" strike="noStrike" cap="none" normalizeH="0" baseline="0" dirty="0" smtClean="0">
                <a:ln>
                  <a:noFill/>
                </a:ln>
                <a:solidFill>
                  <a:srgbClr val="000000"/>
                </a:solidFill>
                <a:effectLst/>
                <a:latin typeface="+mn-lt"/>
              </a:rPr>
              <a:t>j</a:t>
            </a:r>
            <a:r>
              <a:rPr kumimoji="0" lang="en-US" b="0" i="0" u="none" strike="noStrike" cap="none" normalizeH="0" baseline="0" dirty="0" smtClean="0">
                <a:ln>
                  <a:noFill/>
                </a:ln>
                <a:solidFill>
                  <a:srgbClr val="000000"/>
                </a:solidFill>
                <a:effectLst/>
                <a:latin typeface="+mn-lt"/>
              </a:rPr>
              <a:t>.</a:t>
            </a:r>
            <a:endParaRPr kumimoji="0" lang="en-US" b="0" i="0" u="none" strike="noStrike" cap="none" normalizeH="0" baseline="0" dirty="0" smtClean="0">
              <a:ln>
                <a:noFill/>
              </a:ln>
              <a:solidFill>
                <a:schemeClr val="tx1"/>
              </a:solidFill>
              <a:effectLst/>
              <a:latin typeface="+mn-lt"/>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solidFill>
                  <a:srgbClr val="000000"/>
                </a:solidFill>
                <a:effectLst/>
                <a:latin typeface="+mn-lt"/>
              </a:rPr>
              <a:t>When </a:t>
            </a:r>
            <a:r>
              <a:rPr kumimoji="0" lang="en-US" b="1" i="0" u="none" strike="noStrike" cap="none" normalizeH="0" baseline="0" dirty="0" smtClean="0">
                <a:ln>
                  <a:noFill/>
                </a:ln>
                <a:solidFill>
                  <a:srgbClr val="000000"/>
                </a:solidFill>
                <a:effectLst/>
                <a:latin typeface="+mn-lt"/>
              </a:rPr>
              <a:t>|S|&gt; 1</a:t>
            </a:r>
            <a:r>
              <a:rPr kumimoji="0" lang="en-US" b="0" i="0" u="none" strike="noStrike" cap="none" normalizeH="0" baseline="0" dirty="0" smtClean="0">
                <a:ln>
                  <a:noFill/>
                </a:ln>
                <a:solidFill>
                  <a:srgbClr val="000000"/>
                </a:solidFill>
                <a:effectLst/>
                <a:latin typeface="+mn-lt"/>
              </a:rPr>
              <a:t> , we define </a:t>
            </a:r>
            <a:r>
              <a:rPr kumimoji="0" lang="en-US" b="1" i="0" u="none" strike="noStrike" cap="none" normalizeH="0" baseline="0" dirty="0" smtClean="0">
                <a:ln>
                  <a:noFill/>
                </a:ln>
                <a:solidFill>
                  <a:srgbClr val="000000"/>
                </a:solidFill>
                <a:effectLst/>
                <a:latin typeface="+mn-lt"/>
              </a:rPr>
              <a:t>C(S,1)= </a:t>
            </a:r>
            <a:r>
              <a:rPr kumimoji="0" lang="en-US" b="0" i="0" u="none" strike="noStrike" cap="none" normalizeH="0" baseline="0" dirty="0" smtClean="0">
                <a:ln>
                  <a:noFill/>
                </a:ln>
                <a:solidFill>
                  <a:srgbClr val="000000"/>
                </a:solidFill>
                <a:effectLst/>
                <a:latin typeface="+mn-lt"/>
              </a:rPr>
              <a:t>∝ since the path cannot start and end at 1.</a:t>
            </a:r>
            <a:endParaRPr kumimoji="0" lang="en-US" b="0" i="0" u="none" strike="noStrike" cap="none" normalizeH="0" baseline="0" dirty="0" smtClean="0">
              <a:ln>
                <a:noFill/>
              </a:ln>
              <a:solidFill>
                <a:schemeClr val="tx1"/>
              </a:solidFill>
              <a:effectLst/>
              <a:latin typeface="+mn-lt"/>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solidFill>
                  <a:srgbClr val="000000"/>
                </a:solidFill>
                <a:effectLst/>
                <a:latin typeface="+mn-lt"/>
              </a:rPr>
              <a:t>Now, let express </a:t>
            </a:r>
            <a:r>
              <a:rPr kumimoji="0" lang="en-US" b="1" i="0" u="none" strike="noStrike" cap="none" normalizeH="0" baseline="0" dirty="0" smtClean="0">
                <a:ln>
                  <a:noFill/>
                </a:ln>
                <a:solidFill>
                  <a:srgbClr val="000000"/>
                </a:solidFill>
                <a:effectLst/>
                <a:latin typeface="+mn-lt"/>
              </a:rPr>
              <a:t>C(S, j)</a:t>
            </a:r>
            <a:r>
              <a:rPr kumimoji="0" lang="en-US" b="0" i="0" u="none" strike="noStrike" cap="none" normalizeH="0" baseline="0" dirty="0" smtClean="0">
                <a:ln>
                  <a:noFill/>
                </a:ln>
                <a:solidFill>
                  <a:srgbClr val="000000"/>
                </a:solidFill>
                <a:effectLst/>
                <a:latin typeface="+mn-lt"/>
              </a:rPr>
              <a:t> in terms of smaller sub-problems. We need to start at 1 and end at </a:t>
            </a:r>
            <a:r>
              <a:rPr kumimoji="0" lang="en-US" b="1" i="0" u="none" strike="noStrike" cap="none" normalizeH="0" baseline="0" dirty="0" smtClean="0">
                <a:ln>
                  <a:noFill/>
                </a:ln>
                <a:solidFill>
                  <a:srgbClr val="000000"/>
                </a:solidFill>
                <a:effectLst/>
                <a:latin typeface="+mn-lt"/>
              </a:rPr>
              <a:t>j</a:t>
            </a:r>
            <a:r>
              <a:rPr kumimoji="0" lang="en-US" b="0" i="0" u="none" strike="noStrike" cap="none" normalizeH="0" baseline="0" dirty="0" smtClean="0">
                <a:ln>
                  <a:noFill/>
                </a:ln>
                <a:solidFill>
                  <a:srgbClr val="000000"/>
                </a:solidFill>
                <a:effectLst/>
                <a:latin typeface="+mn-lt"/>
              </a:rPr>
              <a:t>. We should select the next city in such a way that</a:t>
            </a:r>
            <a:endParaRPr kumimoji="0" lang="en-US" b="0" i="0" u="none" strike="noStrike" cap="none" normalizeH="0" baseline="0" dirty="0" smtClean="0">
              <a:ln>
                <a:noFill/>
              </a:ln>
              <a:solidFill>
                <a:schemeClr val="tx1"/>
              </a:solidFill>
              <a:effectLst/>
              <a:latin typeface="+mn-lt"/>
            </a:endParaRPr>
          </a:p>
        </p:txBody>
      </p:sp>
    </p:spTree>
    <p:extLst>
      <p:ext uri="{BB962C8B-B14F-4D97-AF65-F5344CB8AC3E}">
        <p14:creationId xmlns:p14="http://schemas.microsoft.com/office/powerpoint/2010/main" val="179505618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0914" y="1833954"/>
            <a:ext cx="6236465" cy="4610100"/>
          </a:xfrm>
          <a:prstGeom prst="rect">
            <a:avLst/>
          </a:prstGeom>
        </p:spPr>
      </p:pic>
      <p:sp>
        <p:nvSpPr>
          <p:cNvPr id="3" name="TextBox 2"/>
          <p:cNvSpPr txBox="1"/>
          <p:nvPr/>
        </p:nvSpPr>
        <p:spPr>
          <a:xfrm>
            <a:off x="1549101" y="570155"/>
            <a:ext cx="6637468" cy="646331"/>
          </a:xfrm>
          <a:prstGeom prst="rect">
            <a:avLst/>
          </a:prstGeom>
          <a:noFill/>
        </p:spPr>
        <p:txBody>
          <a:bodyPr wrap="square" rtlCol="0">
            <a:spAutoFit/>
          </a:bodyPr>
          <a:lstStyle/>
          <a:p>
            <a:r>
              <a:rPr lang="en-US" sz="3600" dirty="0"/>
              <a:t>Travelling Salesperson </a:t>
            </a:r>
            <a:r>
              <a:rPr lang="en-US" sz="3600" dirty="0" smtClean="0"/>
              <a:t>Problem</a:t>
            </a:r>
            <a:endParaRPr lang="en-US" sz="3600" dirty="0"/>
          </a:p>
        </p:txBody>
      </p:sp>
      <p:pic>
        <p:nvPicPr>
          <p:cNvPr id="4" name="Picture 3"/>
          <p:cNvPicPr>
            <a:picLocks noChangeAspect="1"/>
          </p:cNvPicPr>
          <p:nvPr/>
        </p:nvPicPr>
        <p:blipFill rotWithShape="1">
          <a:blip r:embed="rId3"/>
          <a:srcRect l="6696"/>
          <a:stretch/>
        </p:blipFill>
        <p:spPr>
          <a:xfrm>
            <a:off x="7315200" y="1441525"/>
            <a:ext cx="3991086" cy="4916244"/>
          </a:xfrm>
          <a:prstGeom prst="rect">
            <a:avLst/>
          </a:prstGeom>
        </p:spPr>
      </p:pic>
      <p:sp>
        <p:nvSpPr>
          <p:cNvPr id="6" name="TextBox 5"/>
          <p:cNvSpPr txBox="1"/>
          <p:nvPr/>
        </p:nvSpPr>
        <p:spPr>
          <a:xfrm>
            <a:off x="7627172" y="344245"/>
            <a:ext cx="3765176" cy="646331"/>
          </a:xfrm>
          <a:prstGeom prst="rect">
            <a:avLst/>
          </a:prstGeom>
          <a:noFill/>
        </p:spPr>
        <p:txBody>
          <a:bodyPr wrap="square" rtlCol="0">
            <a:spAutoFit/>
          </a:bodyPr>
          <a:lstStyle/>
          <a:p>
            <a:r>
              <a:rPr lang="en-US" dirty="0"/>
              <a:t>https://www.youtube.com/watch?v=Q4zHb-Swzro</a:t>
            </a:r>
          </a:p>
        </p:txBody>
      </p:sp>
    </p:spTree>
    <p:extLst>
      <p:ext uri="{BB962C8B-B14F-4D97-AF65-F5344CB8AC3E}">
        <p14:creationId xmlns:p14="http://schemas.microsoft.com/office/powerpoint/2010/main" val="24748307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24983" y="110935"/>
            <a:ext cx="9144000" cy="491980"/>
          </a:xfrm>
        </p:spPr>
        <p:txBody>
          <a:bodyPr>
            <a:noAutofit/>
          </a:bodyPr>
          <a:lstStyle/>
          <a:p>
            <a:r>
              <a:rPr lang="en-IN" sz="3600" b="1" dirty="0"/>
              <a:t>Longest Common Subsequence</a:t>
            </a:r>
          </a:p>
        </p:txBody>
      </p:sp>
      <p:sp>
        <p:nvSpPr>
          <p:cNvPr id="4" name="Rectangle 1"/>
          <p:cNvSpPr>
            <a:spLocks noChangeArrowheads="1"/>
          </p:cNvSpPr>
          <p:nvPr/>
        </p:nvSpPr>
        <p:spPr bwMode="auto">
          <a:xfrm>
            <a:off x="180754" y="602915"/>
            <a:ext cx="11865935" cy="61895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effectLst/>
                <a:latin typeface="+mn-lt"/>
              </a:rPr>
              <a:t>Given two strings, </a:t>
            </a:r>
            <a:r>
              <a:rPr kumimoji="0" lang="en-US" b="1" i="0" u="none" strike="noStrike" cap="none" normalizeH="0" baseline="0" dirty="0" smtClean="0">
                <a:ln>
                  <a:noFill/>
                </a:ln>
                <a:effectLst/>
                <a:latin typeface="+mn-lt"/>
              </a:rPr>
              <a:t>s1</a:t>
            </a:r>
            <a:r>
              <a:rPr kumimoji="0" lang="en-US" b="0" i="0" u="none" strike="noStrike" cap="none" normalizeH="0" baseline="0" dirty="0" smtClean="0">
                <a:ln>
                  <a:noFill/>
                </a:ln>
                <a:effectLst/>
                <a:latin typeface="+mn-lt"/>
              </a:rPr>
              <a:t> and </a:t>
            </a:r>
            <a:r>
              <a:rPr kumimoji="0" lang="en-US" b="1" i="0" u="none" strike="noStrike" cap="none" normalizeH="0" baseline="0" dirty="0" smtClean="0">
                <a:ln>
                  <a:noFill/>
                </a:ln>
                <a:effectLst/>
                <a:latin typeface="+mn-lt"/>
              </a:rPr>
              <a:t>s2</a:t>
            </a:r>
            <a:r>
              <a:rPr kumimoji="0" lang="en-US" b="0" i="0" u="none" strike="noStrike" cap="none" normalizeH="0" baseline="0" dirty="0" smtClean="0">
                <a:ln>
                  <a:noFill/>
                </a:ln>
                <a:effectLst/>
                <a:latin typeface="+mn-lt"/>
              </a:rPr>
              <a:t>, the task is to find the length of the Longest Common Subsequence. If there is no </a:t>
            </a:r>
            <a:r>
              <a:rPr kumimoji="0" lang="en-US" b="1" i="0" u="none" strike="noStrike" cap="none" normalizeH="0" baseline="0" dirty="0" smtClean="0">
                <a:ln>
                  <a:noFill/>
                </a:ln>
                <a:effectLst/>
                <a:latin typeface="+mn-lt"/>
              </a:rPr>
              <a:t>common subsequence</a:t>
            </a:r>
            <a:r>
              <a:rPr kumimoji="0" lang="en-US" b="0" i="0" u="none" strike="noStrike" cap="none" normalizeH="0" baseline="0" dirty="0" smtClean="0">
                <a:ln>
                  <a:noFill/>
                </a:ln>
                <a:effectLst/>
                <a:latin typeface="+mn-lt"/>
              </a:rPr>
              <a:t>, return 0. A </a:t>
            </a:r>
            <a:r>
              <a:rPr kumimoji="0" lang="en-US" b="1" i="0" u="none" strike="noStrike" cap="none" normalizeH="0" baseline="0" dirty="0" smtClean="0">
                <a:ln>
                  <a:noFill/>
                </a:ln>
                <a:effectLst/>
                <a:latin typeface="+mn-lt"/>
              </a:rPr>
              <a:t>subsequence</a:t>
            </a:r>
            <a:r>
              <a:rPr kumimoji="0" lang="en-US" b="0" i="0" u="none" strike="noStrike" cap="none" normalizeH="0" baseline="0" dirty="0" smtClean="0">
                <a:ln>
                  <a:noFill/>
                </a:ln>
                <a:effectLst/>
                <a:latin typeface="+mn-lt"/>
              </a:rPr>
              <a:t> is a string generated from the original string by deleting 0 or more characters, without changing the relative order of the remaining characters.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0" i="0" u="none" strike="noStrike" cap="none" normalizeH="0" baseline="0" dirty="0" smtClean="0">
                <a:ln>
                  <a:noFill/>
                </a:ln>
                <a:effectLst/>
                <a:latin typeface="+mn-lt"/>
              </a:rPr>
              <a:t>For example, subsequences of “ABC” are “”, “A”, “B”, “C”, “AB”, “AC”, “BC” and “ABC”. In general, a string of length </a:t>
            </a:r>
            <a:r>
              <a:rPr kumimoji="0" lang="en-US" b="1" i="0" u="none" strike="noStrike" cap="none" normalizeH="0" baseline="0" dirty="0" smtClean="0">
                <a:ln>
                  <a:noFill/>
                </a:ln>
                <a:effectLst/>
                <a:latin typeface="+mn-lt"/>
              </a:rPr>
              <a:t>n</a:t>
            </a:r>
            <a:r>
              <a:rPr kumimoji="0" lang="en-US" b="0" i="0" u="none" strike="noStrike" cap="none" normalizeH="0" baseline="0" dirty="0" smtClean="0">
                <a:ln>
                  <a:noFill/>
                </a:ln>
                <a:effectLst/>
                <a:latin typeface="+mn-lt"/>
              </a:rPr>
              <a:t> has </a:t>
            </a:r>
            <a:r>
              <a:rPr kumimoji="0" lang="en-US" b="1" i="0" u="none" strike="noStrike" cap="none" normalizeH="0" baseline="0" dirty="0" smtClean="0">
                <a:ln>
                  <a:noFill/>
                </a:ln>
                <a:effectLst/>
                <a:latin typeface="+mn-lt"/>
              </a:rPr>
              <a:t>2</a:t>
            </a:r>
            <a:r>
              <a:rPr kumimoji="0" lang="en-US" b="1" i="0" u="none" strike="noStrike" cap="none" normalizeH="0" baseline="30000" dirty="0" smtClean="0">
                <a:ln>
                  <a:noFill/>
                </a:ln>
                <a:effectLst/>
                <a:latin typeface="+mn-lt"/>
              </a:rPr>
              <a:t>n</a:t>
            </a:r>
            <a:r>
              <a:rPr kumimoji="0" lang="en-US" b="0" i="0" u="none" strike="noStrike" cap="none" normalizeH="0" baseline="0" dirty="0" smtClean="0">
                <a:ln>
                  <a:noFill/>
                </a:ln>
                <a:effectLst/>
                <a:latin typeface="+mn-lt"/>
              </a:rPr>
              <a:t> subsequences.</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latin typeface="+mn-lt"/>
              </a:rPr>
              <a:t>Examples:</a:t>
            </a:r>
            <a:endParaRPr kumimoji="0" lang="en-US" b="0" i="0" u="none" strike="noStrike" cap="none" normalizeH="0" baseline="0" dirty="0" smtClean="0">
              <a:ln>
                <a:noFill/>
              </a:ln>
              <a:effectLst/>
              <a:latin typeface="+mn-lt"/>
            </a:endParaRP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latin typeface="+mn-lt"/>
              </a:rPr>
              <a:t>Input:</a:t>
            </a:r>
            <a:r>
              <a:rPr kumimoji="0" lang="en-US" b="0" i="0" u="none" strike="noStrike" cap="none" normalizeH="0" baseline="0" dirty="0" smtClean="0">
                <a:ln>
                  <a:noFill/>
                </a:ln>
                <a:effectLst/>
                <a:latin typeface="+mn-lt"/>
              </a:rPr>
              <a:t> s1 = “ABC”, s2 = “ACD”</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Output:</a:t>
            </a:r>
            <a:r>
              <a:rPr kumimoji="0" lang="en-US" b="0" i="0" u="none" strike="noStrike" cap="none" normalizeH="0" baseline="0" dirty="0" smtClean="0">
                <a:ln>
                  <a:noFill/>
                </a:ln>
                <a:effectLst/>
                <a:latin typeface="+mn-lt"/>
              </a:rPr>
              <a:t> 2</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Explanation:</a:t>
            </a:r>
            <a:r>
              <a:rPr kumimoji="0" lang="en-US" b="0" i="0" u="none" strike="noStrike" cap="none" normalizeH="0" baseline="0" dirty="0" smtClean="0">
                <a:ln>
                  <a:noFill/>
                </a:ln>
                <a:effectLst/>
                <a:latin typeface="+mn-lt"/>
              </a:rPr>
              <a:t> The longest subsequence which is present in both strings is “AC”.</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latin typeface="+mn-lt"/>
              </a:rPr>
              <a:t>Input:</a:t>
            </a:r>
            <a:r>
              <a:rPr kumimoji="0" lang="en-US" b="0" i="0" u="none" strike="noStrike" cap="none" normalizeH="0" baseline="0" dirty="0" smtClean="0">
                <a:ln>
                  <a:noFill/>
                </a:ln>
                <a:effectLst/>
                <a:latin typeface="+mn-lt"/>
              </a:rPr>
              <a:t> s1 = “AGGTAB”, s2 = “GXTXAYB”</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Output:</a:t>
            </a:r>
            <a:r>
              <a:rPr kumimoji="0" lang="en-US" b="0" i="0" u="none" strike="noStrike" cap="none" normalizeH="0" baseline="0" dirty="0" smtClean="0">
                <a:ln>
                  <a:noFill/>
                </a:ln>
                <a:effectLst/>
                <a:latin typeface="+mn-lt"/>
              </a:rPr>
              <a:t> 4</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Explanation:</a:t>
            </a:r>
            <a:r>
              <a:rPr kumimoji="0" lang="en-US" b="0" i="0" u="none" strike="noStrike" cap="none" normalizeH="0" baseline="0" dirty="0" smtClean="0">
                <a:ln>
                  <a:noFill/>
                </a:ln>
                <a:effectLst/>
                <a:latin typeface="+mn-lt"/>
              </a:rPr>
              <a:t> The longest common subsequence is “GTAB”.</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latin typeface="+mn-lt"/>
              </a:rPr>
              <a:t>Input:</a:t>
            </a:r>
            <a:r>
              <a:rPr kumimoji="0" lang="en-US" b="0" i="0" u="none" strike="noStrike" cap="none" normalizeH="0" baseline="0" dirty="0" smtClean="0">
                <a:ln>
                  <a:noFill/>
                </a:ln>
                <a:effectLst/>
                <a:latin typeface="+mn-lt"/>
              </a:rPr>
              <a:t> s1 = “ABC”, s2 = “CBA”</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Output:</a:t>
            </a:r>
            <a:r>
              <a:rPr kumimoji="0" lang="en-US" b="0" i="0" u="none" strike="noStrike" cap="none" normalizeH="0" baseline="0" dirty="0" smtClean="0">
                <a:ln>
                  <a:noFill/>
                </a:ln>
                <a:effectLst/>
                <a:latin typeface="+mn-lt"/>
              </a:rPr>
              <a:t> 1</a:t>
            </a:r>
            <a:br>
              <a:rPr kumimoji="0" lang="en-US" b="0" i="0" u="none" strike="noStrike" cap="none" normalizeH="0" baseline="0" dirty="0" smtClean="0">
                <a:ln>
                  <a:noFill/>
                </a:ln>
                <a:effectLst/>
                <a:latin typeface="+mn-lt"/>
              </a:rPr>
            </a:br>
            <a:r>
              <a:rPr kumimoji="0" lang="en-US" b="1" i="0" u="none" strike="noStrike" cap="none" normalizeH="0" baseline="0" dirty="0" smtClean="0">
                <a:ln>
                  <a:noFill/>
                </a:ln>
                <a:effectLst/>
                <a:latin typeface="+mn-lt"/>
              </a:rPr>
              <a:t>Explanation:</a:t>
            </a:r>
            <a:r>
              <a:rPr kumimoji="0" lang="en-US" b="0" i="0" u="none" strike="noStrike" cap="none" normalizeH="0" baseline="0" dirty="0" smtClean="0">
                <a:ln>
                  <a:noFill/>
                </a:ln>
                <a:effectLst/>
                <a:latin typeface="+mn-lt"/>
              </a:rPr>
              <a:t> There are three longest common subsequences of length 1, “A”, “B” and “C”.</a:t>
            </a:r>
          </a:p>
        </p:txBody>
      </p:sp>
    </p:spTree>
    <p:extLst>
      <p:ext uri="{BB962C8B-B14F-4D97-AF65-F5344CB8AC3E}">
        <p14:creationId xmlns:p14="http://schemas.microsoft.com/office/powerpoint/2010/main" val="27753106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09637" y="742278"/>
            <a:ext cx="10372725" cy="4983041"/>
          </a:xfrm>
          <a:prstGeom prst="rect">
            <a:avLst/>
          </a:prstGeom>
        </p:spPr>
      </p:pic>
    </p:spTree>
    <p:extLst>
      <p:ext uri="{BB962C8B-B14F-4D97-AF65-F5344CB8AC3E}">
        <p14:creationId xmlns:p14="http://schemas.microsoft.com/office/powerpoint/2010/main" val="15535933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914400" y="365125"/>
            <a:ext cx="10363200" cy="5626884"/>
          </a:xfrm>
          <a:prstGeom prst="rect">
            <a:avLst/>
          </a:prstGeom>
        </p:spPr>
      </p:pic>
    </p:spTree>
    <p:extLst>
      <p:ext uri="{BB962C8B-B14F-4D97-AF65-F5344CB8AC3E}">
        <p14:creationId xmlns:p14="http://schemas.microsoft.com/office/powerpoint/2010/main" val="10533356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25158" y="-191900"/>
            <a:ext cx="10372725" cy="3048000"/>
          </a:xfrm>
          <a:prstGeom prst="rect">
            <a:avLst/>
          </a:prstGeom>
        </p:spPr>
      </p:pic>
      <p:pic>
        <p:nvPicPr>
          <p:cNvPr id="5" name="Picture 4"/>
          <p:cNvPicPr>
            <a:picLocks noChangeAspect="1"/>
          </p:cNvPicPr>
          <p:nvPr/>
        </p:nvPicPr>
        <p:blipFill>
          <a:blip r:embed="rId3"/>
          <a:stretch>
            <a:fillRect/>
          </a:stretch>
        </p:blipFill>
        <p:spPr>
          <a:xfrm>
            <a:off x="0" y="1603170"/>
            <a:ext cx="5903203" cy="4367324"/>
          </a:xfrm>
          <a:prstGeom prst="rect">
            <a:avLst/>
          </a:prstGeom>
        </p:spPr>
      </p:pic>
      <p:pic>
        <p:nvPicPr>
          <p:cNvPr id="6" name="Picture 5"/>
          <p:cNvPicPr>
            <a:picLocks noChangeAspect="1"/>
          </p:cNvPicPr>
          <p:nvPr/>
        </p:nvPicPr>
        <p:blipFill>
          <a:blip r:embed="rId4"/>
          <a:stretch>
            <a:fillRect/>
          </a:stretch>
        </p:blipFill>
        <p:spPr>
          <a:xfrm>
            <a:off x="6111520" y="2265045"/>
            <a:ext cx="4572112" cy="3790950"/>
          </a:xfrm>
          <a:prstGeom prst="rect">
            <a:avLst/>
          </a:prstGeom>
        </p:spPr>
      </p:pic>
      <p:pic>
        <p:nvPicPr>
          <p:cNvPr id="7" name="Picture 6"/>
          <p:cNvPicPr>
            <a:picLocks noChangeAspect="1"/>
          </p:cNvPicPr>
          <p:nvPr/>
        </p:nvPicPr>
        <p:blipFill>
          <a:blip r:embed="rId5"/>
          <a:stretch>
            <a:fillRect/>
          </a:stretch>
        </p:blipFill>
        <p:spPr>
          <a:xfrm>
            <a:off x="2139595" y="6180435"/>
            <a:ext cx="3971925" cy="542925"/>
          </a:xfrm>
          <a:prstGeom prst="rect">
            <a:avLst/>
          </a:prstGeom>
        </p:spPr>
      </p:pic>
    </p:spTree>
    <p:extLst>
      <p:ext uri="{BB962C8B-B14F-4D97-AF65-F5344CB8AC3E}">
        <p14:creationId xmlns:p14="http://schemas.microsoft.com/office/powerpoint/2010/main" val="1354738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20546</TotalTime>
  <Words>2673</Words>
  <Application>Microsoft Office PowerPoint</Application>
  <PresentationFormat>Widescreen</PresentationFormat>
  <Paragraphs>1688</Paragraphs>
  <Slides>105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105</vt:i4>
      </vt:variant>
    </vt:vector>
  </HeadingPairs>
  <TitlesOfParts>
    <vt:vector size="114" baseType="lpstr">
      <vt:lpstr>Arial</vt:lpstr>
      <vt:lpstr>Calibri</vt:lpstr>
      <vt:lpstr>Calibri Light</vt:lpstr>
      <vt:lpstr>inherit</vt:lpstr>
      <vt:lpstr>inter-bold</vt:lpstr>
      <vt:lpstr>Times New Roman</vt:lpstr>
      <vt:lpstr>Verdana</vt:lpstr>
      <vt:lpstr>Wingdings</vt:lpstr>
      <vt:lpstr>Office Theme</vt:lpstr>
      <vt:lpstr>UNIT –III Dynamic Programming </vt:lpstr>
      <vt:lpstr>Dynamic programming</vt:lpstr>
      <vt:lpstr>PowerPoint Presentation</vt:lpstr>
      <vt:lpstr>Dynamic programming</vt:lpstr>
      <vt:lpstr>Dynamic Programming</vt:lpstr>
      <vt:lpstr>PowerPoint Presentation</vt:lpstr>
      <vt:lpstr>Steps in Dynamic Programming</vt:lpstr>
      <vt:lpstr>Elements of Dynamic Programming</vt:lpstr>
      <vt:lpstr>Elements of Dynamic Programming</vt:lpstr>
      <vt:lpstr>PowerPoint Presentation</vt:lpstr>
      <vt:lpstr>PowerPoint Presentation</vt:lpstr>
      <vt:lpstr>Where Dynamic Programming is Used</vt:lpstr>
      <vt:lpstr>Principle of Optimality</vt:lpstr>
      <vt:lpstr>Example: Fibonacci Series</vt:lpstr>
      <vt:lpstr>PowerPoint Presentation</vt:lpstr>
      <vt:lpstr>PowerPoint Presentation</vt:lpstr>
      <vt:lpstr>PowerPoint Presentation</vt:lpstr>
      <vt:lpstr>PowerPoint Presentation</vt:lpstr>
      <vt:lpstr>PowerPoint Presentation</vt:lpstr>
      <vt:lpstr>PowerPoint Presentation</vt:lpstr>
      <vt:lpstr>coin change problem dynamic programming</vt:lpstr>
      <vt:lpstr>PowerPoint Presentation</vt:lpstr>
      <vt:lpstr>PowerPoint Presentation</vt:lpstr>
      <vt:lpstr>PowerPoint Presentation</vt:lpstr>
      <vt:lpstr>PowerPoint Presentation</vt:lpstr>
      <vt:lpstr>0/1 Knapsack Problem using Dynamic Programming.</vt:lpstr>
      <vt:lpstr>PowerPoint Presentation</vt:lpstr>
      <vt:lpstr>PowerPoint Presentation</vt:lpstr>
      <vt:lpstr>PowerPoint Presentation</vt:lpstr>
      <vt:lpstr>PowerPoint Presentation</vt:lpstr>
      <vt:lpstr>PowerPoint Presentation</vt:lpstr>
      <vt:lpstr>Matrix Chain Multiplication IN DP</vt:lpstr>
      <vt:lpstr>PowerPoint Presentation</vt:lpstr>
      <vt:lpstr>PowerPoint Presentation</vt:lpstr>
      <vt:lpstr>PowerPoint Presentation</vt:lpstr>
      <vt:lpstr>All Pairs Shortest Path Algorithm/  Floyd Warshall Algorithm </vt:lpstr>
      <vt:lpstr>All Pairs Shortest Path Algorithm  Floyd Warshall Algorithm </vt:lpstr>
      <vt:lpstr>Analysis of Floyd Warshall Algorithm </vt:lpstr>
      <vt:lpstr>All Pairs Shortest Path Algorithm  Floyd Warshall Algorithm for Practical </vt:lpstr>
      <vt:lpstr>All Pairs Shortest Path Algorithm  Floyd Warshall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Single source shortest path Bellman Ford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Edges – 1-2, 1-3, 1-4, 2-5, 3-2, 3-5, 4-3, 4-6, 5-7, 6-7        ∞     -1   ∞</vt:lpstr>
      <vt:lpstr>Edges – 1-2, 1-3, 1-4, 2-5, 3-2, 3-5, 4-3, 4-6, 5-7, 6-7       ∞  6 -1   ∞</vt:lpstr>
      <vt:lpstr>Edges – 1-2, 1-3, 1-4, 2-5, 3-2, 3-5, 4-3, 4-6, 5-7, 6-7       ∞ 6 -1   ∞</vt:lpstr>
      <vt:lpstr>Edges – 1-2, 1-3, 1-4, 2-5, 3-2, 3-5, 4-3, 4-6, 5-7, 6-7       ∞ 6 -1   ∞</vt:lpstr>
      <vt:lpstr>Edges – 1-2, 1-3, 1-4, 2-5, 3-2, 3-5, 4-3, 4-6, 5-7, 6-7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vt:lpstr>
      <vt:lpstr>Edges – 1-2, 1-3, 1-4, 2-5, 3-2, 3-5, 4-3, 4-6, 5-7, 6-7           3       ∞ 6 -1   ∞  5 2</vt:lpstr>
      <vt:lpstr>Edges – 1-2, 1-3, 1-4, 2-5, 3-2, 3-5, 4-3, 4-6, 5-7, 6-7           3 1      ∞ 6 -1   ∞  5 2</vt:lpstr>
      <vt:lpstr>Edges – 1-2, 1-3, 1-4, 2-5, 3-2, 3-5, 4-3, 4-6, 5-7, 6-7           3 1      ∞ 6 -1   ∞  5 2</vt:lpstr>
      <vt:lpstr>Edges – 1-2, 1-3, 1-4, 2-5, 3-2, 3-5, 4-3, 4-6, 5-7, 6-7           3 1      ∞ 6 -1   ∞  5 2</vt:lpstr>
      <vt:lpstr>Edges – 1-2, 1-3, 1-4, 2-5, 3-2, 3-5, 4-3, 4-6, 5-7, 6-7           3 1      ∞ 6 -1   ∞  5 2</vt:lpstr>
      <vt:lpstr>Edges – 1-2, 1-3, 1-4, 2-5, 3-2, 3-5, 4-3, 4-6, 5-7, 6-7           3 1      ∞ 6 -1   ∞  5 2</vt:lpstr>
      <vt:lpstr>Edges – 1-2, 1-3, 1-4, 2-5, 3-2, 3-5, 4-3, 4-6, 5-7, 6-7           3 1      ∞ 6 -1   ∞  5 2</vt:lpstr>
      <vt:lpstr>Edges – 1-2, 1-3, 1-4, 2-5, 3-2, 3-5, 4-3, 4-6, 5-7, 6-7           3 1      ∞ 6 -1   ∞  5 2</vt:lpstr>
      <vt:lpstr>Edges – 1-2, 1-3, 1-4, 2-5, 3-2, 3-5, 4-3, 4-6, 5-7, 6-7           3 1      ∞ 6 -1   ∞  5 2</vt:lpstr>
      <vt:lpstr>Edges – 1-2, 1-3, 1-4, 2-5, 3-2, 3-5, 4-3, 4-6, 5-7, 6-7           3 1      ∞ 6 -1   ∞  5 2 0</vt:lpstr>
      <vt:lpstr>Edges – 1-2, 1-3, 1-4, 2-5, 3-2, 3-5, 4-3, 4-6, 5-7, 6-7           3 1      ∞ 6 -1   ∞  5 2 0</vt:lpstr>
      <vt:lpstr>Edges – 1-2, 1-3, 1-4, 2-5, 3-2, 3-5, 4-3, 4-6, 5-7, 6-7           3 1      ∞ 6 -1   ∞  5 2 0</vt:lpstr>
      <vt:lpstr>Edges – 1-2, 1-3, 1-4, 2-5, 3-2, 3-5, 4-3, 4-6, 5-7, 6-7           3 1      ∞ 6 -1   ∞  5 2 0</vt:lpstr>
      <vt:lpstr>Edges – 1-2, 1-3, 1-4, 2-5, 3-2, 3-5, 4-3, 4-6, 5-7, 6-7           3 1      ∞ 6 -1   ∞  5 2 0</vt:lpstr>
      <vt:lpstr>Edges – 1-2, 1-3, 1-4, 2-5, 3-2, 3-5, 4-3, 4-6, 5-7, 6-7           3 1      ∞ 6 -1   ∞  5 2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RCPIT</cp:lastModifiedBy>
  <cp:revision>100</cp:revision>
  <dcterms:created xsi:type="dcterms:W3CDTF">2026-02-23T08:53:29Z</dcterms:created>
  <dcterms:modified xsi:type="dcterms:W3CDTF">2026-04-06T10:55:06Z</dcterms:modified>
</cp:coreProperties>
</file>