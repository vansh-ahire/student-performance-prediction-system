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5" r:id="rId65"/>
    <p:sldId id="291" r:id="rId66"/>
    <p:sldId id="292" r:id="rId67"/>
    <p:sldId id="293" r:id="rId68"/>
    <p:sldId id="294" r:id="rId69"/>
    <p:sldId id="339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40" r:id="rId83"/>
    <p:sldId id="349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7.1958" units="1/cm"/>
          <inkml:channelProperty channel="Y" name="resolution" value="657.57574" units="1/cm"/>
        </inkml:channelProperties>
      </inkml:inkSource>
      <inkml:timestamp xml:id="ts0" timeString="2024-04-03T08:22:11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4645 14175,'0'0,"0"0,0 0,0 0,0 0,0 0,0 0,0 0</inkml:trace>
  <inkml:trace contextRef="#ctx0" brushRef="#br0" timeOffset="2561.453">6987 9322,'33'-8,"37"-7,9-5,1-4,4 9,34-6,29 1,5-1,4 6,11 5,-8 7,-12 6,-16-2,-14 5,-14 0,-21 1,-22-4,-60-3,0 0,0 0,32 5,-32-5,11 0</inkml:trace>
  <inkml:trace contextRef="#ctx0" brushRef="#br0" timeOffset="2970.4106">7152 9364,'0'0,"0"0,0 0,0 0,33-4,36 0,16-2,27 4,4-2,2 4,10 0,-2 0,-10 0,7 0,-4-4,-15-4,-4 6,-18-6,-19 0,-63 8,56-2,-56 2,0 0,0 0,36 2,-29 1,-19-3,-7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7.1958" units="1/cm"/>
          <inkml:channelProperty channel="Y" name="resolution" value="657.57574" units="1/cm"/>
        </inkml:channelProperties>
      </inkml:inkSource>
      <inkml:timestamp xml:id="ts0" timeString="2024-04-03T08:22:53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11239 7307,'0'0,"0"0,-22 0,-33 4,1 7,0 12,5 14,3 4,3 10,5 11,0 7,18-2,12-1,14-4,6-6,12-6,12-11,8-9,16-15,2-10,8-12,1-11,-3-10,-7-8,-2-10,-4-7,-10-5,-9-1,-18-6,-8 4,-13 4,-9 6,-16 5,-8 7,-8 8,-7 8,-3 13,-2 5,-2 10,10 7,4 7,9 6,14 6,13 0,13 0,19 5,14 2,28 14,10-1,18 16,-1 10,-27-3,-30-6,-25-7,-30 9,-30 12,-53 33,-23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7.1958" units="1/cm"/>
          <inkml:channelProperty channel="Y" name="resolution" value="657.57574" units="1/cm"/>
        </inkml:channelProperties>
      </inkml:inkSource>
      <inkml:timestamp xml:id="ts0" timeString="2024-04-03T08:23:33.7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10857 8386,'0'0,"25"-7,27-4,8-1,5 1,7-2,4-2,-3-1,6 1,9 0,27-6,16 0,-7 6,-12 0,-4 4,-18 4,-10 4,-80 3,0 0,0 0,53 0,-25-6,-19-3</inkml:trace>
  <inkml:trace contextRef="#ctx0" brushRef="#br0" timeOffset="398.2682">10895 8407,'0'0,"0"0,0 0,0 0,0 0,0 0,30-3,32-6,10-5,10 1,8-4,17-10,-1 7,-9 2,4-3,-3 1,-9 0,-2 4,-1-3,-13 4,-19 3,-54 12,0 0,48-11,-48 11,0 0,33 0,-23 8,-15 0,-8-4</inkml:trace>
  <inkml:trace contextRef="#ctx0" brushRef="#br0" timeOffset="5698.981">11814 7841,'0'0,"0"0,5-20,5-16,3 7,13 4,0 12,-2 5,5 6,-3 2,0 5,-3 0,-8 8,1-1,-9 6,-4 0,-8 3,0 3,-6 1,-1-2,-1 0,-2-3,2-1,5-6,0-1,3 1,5-5,0 0,13 2,5 0,3 3,-1-1,5 8,1 0,-3 3,-2 5,-21-28,16 32,-14 0,-16-1,-17-3,-19 1,-40 7,-59 10,-51 5,21-12</inkml:trace>
  <inkml:trace contextRef="#ctx0" brushRef="#br1" timeOffset="21184.3134">8730 7379,'0'0,"0"0,0 0,28 7,23 11,1 6,2 6,0 1,5 0,6 5,-8 2,-2 4,2-1,-8-3,-6 1,-4 0,-39-39,28 39,-28-39,0 0,21 38,-21-38,-5 31</inkml:trace>
  <inkml:trace contextRef="#ctx0" brushRef="#br1" timeOffset="22125.6241">9406 7237,'0'0,"0"0,-21 23,-13 13,1 13,-3 2,3 6,0 4,-3 4,-1 2,4 2,2-2,1 0,-1-3,2-7,29-57,-23 51,23-51,0 0,0 0,-20 49,20-49,0 0,0 0,-19 36,19-36,0 0,0 0,-9 20,9-20,0 0,0 0,-5 12,5-12,0 0,0 0,-5 9,5-9,0 0,0 0,-7 9,7-9,0 0,0 0,-2 4,2-4,0 0,0 0,-2 5,2-5,0 0,0 0,0 3,0-3,0 0,0 0,0 2,0-2,0 0,0 0,0 2,0-2,0 0,0 0,0 3,0-3,0 0,0 0,2 3,-2-3,0 0,0 0,2 3,-2-3,0 0,0 0,0 0,0 0,0 0,0 0,3 0,-3 0,6-6,-3-4,-6 1</inkml:trace>
  <inkml:trace contextRef="#ctx0" brushRef="#br1" timeOffset="26282.5004">11688 6867,'0'0,"0"0,0 0,0 0,0 0,31 5,26 8,-2 11,2 3,-3 2,6-1,-2 5,1 4,-6-2,-8-1,-4-3,-41-31,0 0,0 0,35 26,-35-26,0 0,0 0,23 20,-14-10,-13-10,-6-2</inkml:trace>
  <inkml:trace contextRef="#ctx0" brushRef="#br1" timeOffset="26616.4213">12199 6638,'0'0,"0"0,0 0,0 0,-18 26,-10 15,-8 10,-6 8,2 13,-6 6,-9 17,4-11,13-11,38-73,-26 48,26-48,0 0,0 0,-17 39,17-39,-16 18,-1-13,2-7</inkml:trace>
  <inkml:trace contextRef="#ctx0" brushRef="#br1" timeOffset="30089.3189">13447 7286,'0'0,"0"0,0 0,0 0,0 0,0 0,0 0,0 0,0 0,0 0,0 0,0 0,26 7,20 11,-11 3,-7-3,3 3,0-3,6 5,4 3,10 7,0-2,3 0,0 0,3 2,-8 0,-3-2,-5-2,-3-1,-38-28,0 0,0 0,31 25,-31-25,19 16,-7-16,-1-7</inkml:trace>
  <inkml:trace contextRef="#ctx0" brushRef="#br1" timeOffset="30572.6543">14160 7307,'0'0,"0"0,-26 20,-17 13,-8 6,-4 4,-3 10,-3-3,5-1,1 0,8 0,4-3,5-2,2-5,36-39,-33 39,33-39,-31 41,31-41,0 0,0 0,-26 38,26-38,0 0,0 0,-18 28,18-28,-10 13,10-13,0 0,3-8</inkml:trace>
  <inkml:trace contextRef="#ctx0" brushRef="#br1" timeOffset="33249.5358">16826 7204,'0'0,"0"0,0 0,0 0,0 0,0 0,0 0,0 0,-15 28,-11 11,-1-3,0-3,-1 6,5 2,-3 0,-5-3,1 1,0-3,0 5,2 5,-8-5,3 4,2-4,5-1,1-1,4-5,21-34,-21 26,3-1,18-25,0 0,0 0,-15 23,15-23,0 0,0 0,-12 18,12-18,0 0,0 0,-11 13,11-13,0 0,0 0,-10 10,10-10,-16 8,-7-3,-3-8,3-7,0-6</inkml:trace>
  <inkml:trace contextRef="#ctx0" brushRef="#br1" timeOffset="38873.5193">17242 6114,'7'-21,"6"-20,-5 5,2 5,5 6,9 4,2 6,-1 9,6 6,4 11,-1 4,-5 11,-11 3,-11 3,-14 7,-11 2,-19 5,-1-4,-5-6,1-5,11-6,9-7,8-8,12 3,20-3,26 1,43 2,60 5,55 8,9-7,-65-15</inkml:trace>
  <inkml:trace contextRef="#ctx0" brushRef="#br1" timeOffset="61666.0418">18265 5918,'104'16,"-34"-6,9-5,5-5,15-7,-5-11,4-16,-4-7,-1-8,5-5,10-7,-10-8,-9-4,-5 1,-4-8,-8 1,-13 2,-12-6,-12 2,-14-8,-13-3,-11-5,-18-4,-17-9,-18-1,-19 4,-9 3,-12 4,-14 5,-11 10,5 18,12 21,-2 10,12 15,11 21,22 8,4 8,0 4,9-3,9 5,39-22,0 0,-36 5,13-15</inkml:trace>
  <inkml:trace contextRef="#ctx0" brushRef="#br1" timeOffset="61928.205">18772 3482,'0'0,"-26"20,-23 8,-9 8,-7 0,-11 5,-17 14,8-2,85-53,-59 55,41-5,36 5,26 6,27 6,15-2</inkml:trace>
  <inkml:trace contextRef="#ctx0" brushRef="#br1" timeOffset="64493.4564">9488 3852,'0'0,"0"0,-8 29,-7 31,-6 28,-12 40,-11 34,7-7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7.1958" units="1/cm"/>
          <inkml:channelProperty channel="Y" name="resolution" value="657.57574" units="1/cm"/>
        </inkml:channelProperties>
      </inkml:inkSource>
      <inkml:timestamp xml:id="ts0" timeString="2024-04-03T08:25:08.4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4550 11707,'0'0,"0"0,-24-23,-14-13,-11 3,-12 10,-11 5,-2 8,-4 7,4 3,11 7,6 7,57-14,-48 20,21 11,19-3,19 3,13 0,18 7,21 12,3 1,0 1,-4-1,-5-5,-57-46,44 46,-20-2,-17-5,-16-9,-13-4,-15-3,-3-7,-20-4,3-6,4-6,53 0,-40-11,40 11,-24-20</inkml:trace>
  <inkml:trace contextRef="#ctx0" brushRef="#br0" timeOffset="424.8223">4617 11926,'0'0,"-31"5,-29 5,7 11,12 10,13 0,13 2,10 0,7 2,16-3,10-1,10-3,11-5,-2-7,-1-11,-7-5,-8-7,-1-9,-10-5,-3-4,-12-9,-5 2,-9-5,-14 1,-10 5,-16 0,-5 8,-6 9,7 0,2 6,10 10,15 4,5-1</inkml:trace>
  <inkml:trace contextRef="#ctx0" brushRef="#br0" timeOffset="1069.2962">4972 11497,'0'0,"0"0,-3 31,-3 31,1 9,3 16,-1 24,-2 7,-4 3,-7-3,0-18,16-100,5 62,6-33</inkml:trace>
  <inkml:trace contextRef="#ctx0" brushRef="#br0" timeOffset="1465.1616">5323 11430,'0'0,"0"0,0 0,0 0,-7 28,-3 19,1-19,3-13,2-10,12-12,3-11,-1-16,10-5,5-4,1 4,-3 8,-2 16,-6 7,0 12,4 5,-1 12,-3 12,1 3,3 11,5 17,4 0,12-7,8-14,-5-8</inkml:trace>
  <inkml:trace contextRef="#ctx0" brushRef="#br0" timeOffset="1995.3889">6815 11330,'0'0,"0"0,-18 25,-18 21,-3 14,-7 14,-20 39,-17 31,-14 29,1 6,9-4,2-4,4-13,0-19,13-11,16-11,13-25,39-92,0 0,3 54,31-43,10-27,22-28,19-23,40-41,40-43,-37 22</inkml:trace>
  <inkml:trace contextRef="#ctx0" brushRef="#br0" timeOffset="3085.0283">7636 11866,'0'0,"-26"-15,-24-6,-8 9,-3 7,-3 7,7 9,57-11,-43 23,17 2,15 1,20 0,8 5,9 2,7 3,5 6,-11-3,-4-6,-13-13,-13-2,-11-2,-17-6,-12-2,-14-8,0-8,57 8,-51-13,17-8,26 1,16-1,21-1,14 0,21 2,11 4,4 4,0 1,-4-2,-3 1,-9-1,-12-3,-6 1,-11-1,-14 4,-5-1,-7 0,-13 3,-8 3,-10 7,-8 7,-4 8,2 10,0 7,6 11,13-2,18-2,13-1,17-4,25-6,10-8,4-12,-2-12,2-14,-10-8,-7-8,-56 34,0 0,0 0,40-33,-40 33,9-23,-18 10,-7 13,16 0,-21 10,21-10,-20 21,20-21,-8 23,8-23,8 23,12-10,8-8,7-3,1-4,-36 2,40 0,-40 0,38 12,-9 14,-11 5,-11 13,-7 26,-16 9,-12 9,-12 30,-12 15,-2-9,19-24,14-28,16-23,8-8,16-10,12-11,21-2,28-15,13-24,30-38,-5-18</inkml:trace>
  <inkml:trace contextRef="#ctx0" brushRef="#br0" timeOffset="3437.5271">9919 11342,'-31'0,"-33"8,-10 18,-2 15,-21 26,-18 31,4 20,19 20,33-9,23-18,15-6,32-2,23-6,30-1,30 6,22-4,25-13,18-16,-10-27,-21-32,-35-12</inkml:trace>
  <inkml:trace contextRef="#ctx0" brushRef="#br0" timeOffset="4199.0136">10610 10679,'-34'8,"-22"8,4 9,1 5,7 6,14 9,17-2,11 4,17-1,18-3,18-6,19-14,9-8,7-15,5-8,-7-15,-14-12,-70 35,49-47,-49 47,0 0,23-47,-18 9,-15 12,-5 14,-10 5,-2 8,-2 10,0 5,8 7,11 2,10 3,10-2,14-1,4-3,5-7,-33-15,33 2,-33-2,28-10,-13-10,-15 20,8-28,-6-4,-4 4,-1 3,8 4,8-2,9 2,5 6,-1 0</inkml:trace>
  <inkml:trace contextRef="#ctx0" brushRef="#br0" timeOffset="4401.5772">11298 10621,'0'0,"0"-6,0-5,-3 2,-2 3,0 1,3 10,-1 24,1 17,-7 20,5 12,1 9,1 18,7-12,-5-93,15 62,8-36</inkml:trace>
  <inkml:trace contextRef="#ctx0" brushRef="#br0" timeOffset="5306.8728">11454 10947,'0'0,"0"0,0 0,0 0,9 28,13 15,9-10,-1-9,1-14,-4-8,-4-4,-6-10,-1-4,-6-2,1-5,-4 0,-2 2,-5 6,3 5,-1 2,-2 8,2 8,-2 10,4 5,6 3,5 4,-15-30,0 0,23 27,4-15,1-10,-4-9,-24 7,24-18,-24 18,28-28,-28 28,0 0,0 0,26-28,-26 28,23-14,-6 14,-17 0,17 14,-17-14,0 0,0 0,5 14,-5-14,0 0,2 3,-2-3,5-16,9-7,-2-2,-12 25,18-24,5 15,-23 9,23 2,-5 13,-18-15,15 24,-15-24,13 28,-13-28,8 25,-8-25,5 11,-5-11,2-2,4-14,7-5,6-2,0-3,-19 26,29-20,-29 20,33-8,-3 16,-30-8,31 23,-7 5,-7 5,-6 4,-11-37,0 0,0 0,8 23,-3-10</inkml:trace>
  <inkml:trace contextRef="#ctx0" brushRef="#br0" timeOffset="5780.4146">12484 10885,'0'0,"0"0,0 0,0 0,0 0,7 28,12 21,-6-11,-3-11,-5-10,-2-6,-3-6,-6-8,1-5,5-5,3-5,10-4,5 1,2 3,1 2,1 6,2 3,-4 7,0 5,-3 5,-5 8,-6 5,-3 2,-3 2,0-2,0-4,2-12,3-6,7-3,4-5</inkml:trace>
  <inkml:trace contextRef="#ctx0" brushRef="#br0" timeOffset="6523.5623">13473 10926,'0'0,"0"0,0 0,0 0,-2 23,-3 18,-2-10,5-1,4-1,12-8,6-8,-4-11,2-6,-1-2,-7 1,-1 2,-2 1,-2-1,-3 0,3 3,4 3,1 0,2-1,7 4,2-4,1-2,1 0,-4-2,-2-4,-1 1,-4-5,-1-5,-4-2,-7 0,-4-1,-7-2,6-1,0 6,0-1,2 3,8 3,3 6,5 4,2 2,1 5,0 6,-16-13,15 15,-15-15,0 0,0 0,13 13,-6-11</inkml:trace>
  <inkml:trace contextRef="#ctx0" brushRef="#br0" timeOffset="7131.9725">13621 10649,'0'0,"0"0,32 0,27 5,5 8,3 4,1-1,-16 4,-52-20,44 23,-13 3,-31-26,0 0,0 0,13 25,-13-25,0 0,10 27,2 2,9 6,0 1,-21-36,19 41,-19-41,0 0,14 49,-14-49,0 0,0 36,0-36,0 0,-5 15,12-9,12-9,6 0,10-4,10-6,5-5,-50 18,48-19,-48 19,0 0,0 0,33-19,-26 2,-7 17,-2-7,2 7,-8 5,8 10,8 7,17 6,18 5,22 3,7-11,-5-9</inkml:trace>
  <inkml:trace contextRef="#ctx0" brushRef="#br0" timeOffset="7354.3906">15241 10671,'0'0,"26"11,13 22,2 27,-3 15,-4 14,-11 37,-23 20,-36-12,-36-13,-33-21,-31-18,-10-27,53-33</inkml:trace>
  <inkml:trace contextRef="#ctx0" brushRef="#br0" timeOffset="10072.278">10132 12037,'-2'-29,"-3"-24,0 8,10 7,13 4,15 9,-2 9,2 6,-3 8,5 7,-5 8,1 7,-5 6,-6 7,-7 6,-8 2,-8 5,-12 11,-3-3,-3-3,-9-9,-1-3,2-10,6-5,-2-3,4-6,3-2,6-2,4-2,8 1,3 1,6 2,10-3,11 0,8 1,9-1,12 3,-3 0,-56-13,57 10,-57-10,54 13,-54-13,0 0,41 5,-18-7</inkml:trace>
  <inkml:trace contextRef="#ctx0" brushRef="#br0" timeOffset="10394.4957">11352 12694,'0'0,"0"0,0 0,0 24,-3 22,-8 1,-9 7,0-6,5 2,-1-2,4 0,12-48,0 0,-8 37,8-29,5-6</inkml:trace>
  <inkml:trace contextRef="#ctx0" brushRef="#br0" timeOffset="10968.115">11921 12119,'0'0,"0"0,0 0,-7 23,-17 15,-6 4,-1-4,6 1,5-3,5-5,10-6,8 1,9 0,2-4,12 3,2-5,8-5,-36-15,40 10,3-5,-43-5,40 0,-40 0,31-10,-8-8,-8 3,-4-6,-6-2,-5 3,2 1,-2 4,0 2,0 5,0 3,0 8,0 7,0 11,0 7,0 8,0 5,0 6,-4 11,-1-1,5 2,5-10,-5-49,17 39</inkml:trace>
  <inkml:trace contextRef="#ctx0" brushRef="#br0" timeOffset="11171.9745">12574 12739,'0'0,"0"0,0 0,0 25,0 26,0-1,0-2,0 2,0-5,0-9,0-18</inkml:trace>
  <inkml:trace contextRef="#ctx0" brushRef="#br0" timeOffset="11462.8017">13056 12078,'0'0,"0"0,0 0,0 0,0 0,0 29,5 26,2 10,-2 2,-8 5,1-3,-5 3,7-72,0 59</inkml:trace>
  <inkml:trace contextRef="#ctx0" brushRef="#br0" timeOffset="11692.1693">13509 12777,'0'0,"0"0,0 0,-3 26,-7 25,-3 0,1 1,3-1,6-9,12-24,-1-16</inkml:trace>
  <inkml:trace contextRef="#ctx0" brushRef="#br0" timeOffset="12260.0147">13930 12366,'0'0,"0"0,0 0,7-26,19-18,6 19,-7 14,2 9,1 9,-2 11,0 8,-10 5,-6 5,-8-2,-7-4,-6-2,1-2,-2-8,-4-5,1-8,2 0,3 0,8-5,2 0,10-3,8 3,5 3,4 5,-1 8,9 7,-8 10,4 13,-10 1,-21-47,15 48,-7 4,-13-8,5-44,-16 30,-7-9,-10-7,-5-14,-1-14,0-9,-2-11</inkml:trace>
  <inkml:trace contextRef="#ctx0" brushRef="#br0" timeOffset="12673.9839">14689 12098,'0'0,"0"0,0 0,0 0,33 21,20 17,-5 19,-5 9,0 15,0 29,-10 13,-12-14,-19-20,-11-4,-12-5,-3-18,-6-8,-12-6,-9-1,-3-1,-3-2,-1-6,1-2,57-36,0 0,-53 26</inkml:trace>
  <inkml:trace contextRef="#ctx0" brushRef="#br0" timeOffset="27123.3006">19075 9908,'13'-80,"-11"13,1-18,-1-30,-7-15,-5-15,-4-16,0-20,7-47,2-12,1-1,4 4,0 0,6-10,2-4,-8-1,-8 3,6-3,-7-4,-8 18,4 24,5 7,-5 3,-5 19,10 8,8 20,3 16,4 15,9 16,2 7,3 15,5 13,-4 16,4 13,4 0,14 3,10-1,13 3,17 2,42-3,34 4,28 4,25 4,12 0,10 0,11 5,0 2,4 0,16 0,2 2,-4 0,-3 8,-2 3,-9-3,-11 6,-29-1,-6-2,-17 5,-10-6,-22-1,-30 1,-18-1,-20-6,-15-1,-27 6,-45 13,35-15,-35 15,0 0,0 0,28-16,-28 16,18-2,-3 7,-7 8,-5 13,-1 7,1 16,-3 23,-3 10,1 15,-1 45,6 38,-1 8,1 12,1-10,3-2,3 8,-3 6,2 7,6 10,3 7,-3-2,6-9,-1 3,-2-9,-3 2,8 10,8-2,2-6,2 8,5-8,4-7,-8-13,3-21,-14-21,-10-24,-10-19,-10-15,-5-12,-8-19,-8-8,-14 0,-27-3,-23-5,-48 3,-65-12,-59-17,-42-20,4-10,-12 5,-20 0,-12 5,-11 7,-20 1,-20 15,-1 16,9 7,12 11,26-4,56-6,116-19</inkml:trace>
  <inkml:trace contextRef="#ctx0" brushRef="#br0" timeOffset="27763.5306">18949 5099,'0'0,"0"0,-8-8,-2-8,10-4,26 2,15-1,23 5,21-5,46-11,53-4,45-10,16-7,32-5,6 4,10 8,11 5,18 7,5-3,7 13,-2 14,-5 8,-10 5,-11 11,-18 3,-29 8,-21 7,-37 4,-27 1,-20-3,-36-8,-48-15</inkml:trace>
  <inkml:trace contextRef="#ctx0" brushRef="#br0" timeOffset="28343.7982">19448 6374,'0'0,"0"0,-16 4,1 7,25 2,29 0,27-6,30-2,47 1,24-14,49-18,38-10,28-13,3-2,6-1,11 11,21 6,21 9,6 10,-11 11,-9 17,-15 7,-20 7,-23 4,-35 11,-57 2,-48-6,-34-9,-98-28,43 26,-44-7,-30-12,-6-5</inkml:trace>
  <inkml:trace contextRef="#ctx0" brushRef="#br0" timeOffset="28786.4636">18980 8550,'32'8,"44"6,33-7,46-10,30-27,62-33,58-9,6 4,12-4,19 10,15 5,16 13,6 22,7 17,-7 23,-19 25,-37 12,-43 1,-56-10,-79-23,-46-41,-48-31,-31 13</inkml:trace>
  <inkml:trace contextRef="#ctx0" brushRef="#br0" timeOffset="29388.5493">20481 3689,'0'0,"0"0,0 24,0 32,0 16,0 21,7 36,1 20,-6 20,-4 55,-3 35,-1 22,6-6,6-3,8 3,7 8,7 8,-5 17,0 4,5-12,-18-12,9-16,4-9,8 2,7 1,5-13,9-25,-18-33,-6-37,0-33,-5-40,-5-33,18-47,3-10</inkml:trace>
  <inkml:trace contextRef="#ctx0" brushRef="#br0" timeOffset="29973.2389">22169 3441,'0'77,"0"-6,0 17,0 30,0 13,5 18,4 14,-7 13,13 56,3 28,-10 4,4-4,4-3,-6 2,-3 4,1 6,7 4,-7 7,3 4,4 3,1 3,-1 6,3 5,1-2,-7-15,0-14,-9-18,-21-25,-2-65,12-62</inkml:trace>
  <inkml:trace contextRef="#ctx0" brushRef="#br0" timeOffset="30617.0142">23316 3587,'0'0,"9"28,8 29,1 14,3 4,-3 10,-5 41,-1 30,4 30,-10 21,-1 12,0 10,-3 11,1 19,4 21,9-5,1 8,4 6,-3 5,0 5,10 6,0 9,11-3,5-3,-8-9,-6-24,-9-31,-14-56,1-51,-8-137,-10 74,-6-64,-4-37,-3-30,2-3</inkml:trace>
  <inkml:trace contextRef="#ctx0" brushRef="#br0" timeOffset="32609.9667">22731 3957,'-69'18,"28"17,3 12,15-2,13-2,12 3,11-5,12-7,6-11,5-10,11-8,8-10,2-11,-6-10,-2-10,-10-5,-8-8,-9-5,-9 1,-10-2,-8 9,-11 8,-1 12,-11 5,-6 14,-5 4,0 13,4 5,9 11,14 8,12 2,15 3,13-1,18 8,6-7,-1-3,-51-36,49 35,-49-35,36 39,-21 3,-26 1,-22 1,-2-5</inkml:trace>
  <inkml:trace contextRef="#ctx0" brushRef="#br0" timeOffset="33361.7368">19923 5145,'0'0,"-30"0,-29 7,1 25,9 16,11 8,1 6,7 2,10 1,9-1,11-9,13-7,13-7,7-13,10-10,12-9,-1-18,-1-11,-1-11,-8-5,-8-10,-14-6,-9-7,-10-7,-11 0,-12 11,-4 6,-6 10,-3 11,-1 10,5 13,6 10,3 2,5 11,5 6,15 6,8 4,7 2,13 8,13 7,9 1,0-5,-1 3,-54-50,50 49,-50-49,31 49,-14 2,-22-5,-20 3,-22 7,-17 7,-13 4</inkml:trace>
  <inkml:trace contextRef="#ctx0" brushRef="#br0" timeOffset="34232.117">24282 6340,'-28'8,"-33"15,-6 13,8 7,2 14,8 7,8 5,13 6,11 0,17-2,14-11,15-9,14-12,11-11,10-14,2-14,3-12,-3-8,-5-15,-7-11,-5-5,-13-7,-11-3,-6 0,-17 4,-13 7,-17 7,-13 5,-15 7,-9 13,2 12,-1 8,4 14,9 14,10 4,15 8,12 7,14 5,19-1,12 4,13-3,7 1,1-4,-6-3,-5-4,-41-46,28 51,-16 6,-17-1,-18-4,-20-1,-21 3,-24-7,-11-6</inkml:trace>
  <inkml:trace contextRef="#ctx0" brushRef="#br0" timeOffset="35391.687">21185 8427,'-97'47,"43"-7,8 9,8 10,12 8,14 5,24 3,21 0,24-14,15-11,30-12,9-20,5-24,-12-20,-13-6,-7-10,-13-6,-1-12,-14-7,-17-4,-21 11,-12 4,-20-1,-11 7,-23 8,-15 13,-14 15,-5 14,-4 9,-5 20,14 12,25 2,33 1,21-3,18 0,29 3,23 3,41 14,22 9,-6 1,-26 1,-43-2,-46-1,-39-1,-42 11,-84 35,-47 8</inkml:trace>
  <inkml:trace contextRef="#ctx0" brushRef="#br0" timeOffset="37733.327">19761 11227,'-67'20,"29"8,10 9,9-2,9-3,8-7,4-2,11 3,10 0,5 0,5-1,0 3,9 4,-42-32,31 33,-13 3,-18-6,-14 1,-8 0,-11 3,-12 4,7-2,38-36,-28 21,16-19</inkml:trace>
  <inkml:trace contextRef="#ctx0" brushRef="#br0" timeOffset="38066.0112">20256 11389,'0'0,"0"0,0 0,-8 33,-12 31,-6-7,11-3,10 3,10-6,-5-51,23 36,8-19,0-17,3-10,6-15,6-9,-5-7,-10-7,-14-4,-5 5,-17 1,-11 3,-8 10,-3 9,-10 6,2 4,2 1</inkml:trace>
  <inkml:trace contextRef="#ctx0" brushRef="#br0" timeOffset="38297.3187">20860 10793,'0'0,"0"0,0 35,0 42,5 11,8 25,2 8,8 7,-5 6,-16-13,-2-121,0 93</inkml:trace>
  <inkml:trace contextRef="#ctx0" brushRef="#br0" timeOffset="38635.4708">21203 10867,'0'0,"0"0,0 0,0 0,5 26,1 17,2-10,5-16,3-21,4-9,-6-4,2-4,3-9,3-7,3 3,1 7,1 6,-1 11,2 10,-5 15,-1 14,-13 6,-2-4</inkml:trace>
  <inkml:trace contextRef="#ctx0" brushRef="#br0" timeOffset="39194.8858">19232 12520,'0'0,"0"0,0 0,-28 8,-34 30,0 24,-12 25,-13 34,5 18,7 23,10 0,20-8,26-10,22-18,20-21,15-14,11-12,11-10,6-12,0-6,-13-17,-8-9,9 4,0-6,-4 3,-4-5,0-9,-10-4</inkml:trace>
  <inkml:trace contextRef="#ctx0" brushRef="#br0" timeOffset="39745.0118">20103 13076,'0'0,"0"0,-9-19,-7-17,4 8,2 2,13-2,21 2,16 6,3 6,1 10,4 4,0 8,-8 7,-12 6,-10 1,-12 4,-12 8,-9 2,-1-3,1 1,-1-4,4-3,10-10,4 1,5-6,12 2,4-2,5 1,5-2,-33-11,31 18,-5 2,-11 6,-12 4,-15 2,-15 3,-20 9,-5 5,-17 0,1 2,-9 6,18-13</inkml:trace>
  <inkml:trace contextRef="#ctx0" brushRef="#br0" timeOffset="39967.3598">20803 13569,'0'0,"0"0,-7 31,-4 30,-7 6,-2-2,7-1,0 2,13-66,-5 62,10-18</inkml:trace>
  <inkml:trace contextRef="#ctx0" brushRef="#br0" timeOffset="40208.1248">21450 12849,'0'0,"0"28,0 26,0 13,-7 13,-4 15,1 28,5 6,3-27</inkml:trace>
  <inkml:trace contextRef="#ctx0" brushRef="#br0" timeOffset="40408.363">21967 13754,'0'0,"-8"46,-19 31,-4-5,2 2,0 4,29-78,-23 72</inkml:trace>
  <inkml:trace contextRef="#ctx0" brushRef="#br0" timeOffset="40884.0666">22546 12993,'0'0,"0"0,-2 28,-8 31,-2 11,-13 10,0-11,9-5,16-64,0 56,0-56,26 44,14-16,0-12,1-16,-6-10,-4-3,-2-5,-3-5,-5-5,-7-1,-3-1,-6 4,-2 5,-6 6,-2 9,-3 14,3 11,2 11,-1 16,4 18,2 11,8 7,3-5,4-12,4-17</inkml:trace>
  <inkml:trace contextRef="#ctx0" brushRef="#br0" timeOffset="41068.3241">23185 13777,'0'0,"0"0,0 36,0 33,0-4,0-1,0-10,0-18</inkml:trace>
  <inkml:trace contextRef="#ctx0" brushRef="#br0" timeOffset="41496.9897">23709 13157,'0'0,"0"0,0 0,8-25,20-22,11 16,0 11,2 7,0 8,-5 10,-3 8,-4 5,-12 10,-12 9,-12 8,-19 12,-8 2,-6-5,-1-2,41-52,-37 50,37-50,-24 48,15-10,23-12,11-8,18-11,24-14,8-11,1-16,-5 1</inkml:trace>
  <inkml:trace contextRef="#ctx0" brushRef="#br0" timeOffset="41756.5493">24221 12551,'0'0,"0"0,23 8,23 14,8 9,3 8,4 13,1 14,2 32,-11 28,-25 10,-28 11,-43 2,-42 10,-45 18,-50 6,13-37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7.1958" units="1/cm"/>
          <inkml:channelProperty channel="Y" name="resolution" value="657.57574" units="1/cm"/>
        </inkml:channelProperties>
      </inkml:inkSource>
      <inkml:timestamp xml:id="ts0" timeString="2024-04-03T08:30:06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5934 1497,'0'0,"-28"5,-32 7,6 22,11 10,3 4,1 12,13 2,10-1,14-2,14-7,16-11,12-11,13-11,8-17,4-18,0-12,-10-9,-2-10,-15 8,-10-1,0-20,-12 19,-11 15,-5 6,-3 7,-5 5,-2 8,-2 8,-4 7,1 11,7 5,3 7,10 1,8-1,10-10,2-4,8-11,2-8,-2-10,-5-6,-5-7,-8-8,-5-4,-10-3,-2 2,-8 0,-3 5,-2 3,-1 4,1 7,5-1,4 1,6 1</inkml:trace>
  <inkml:trace contextRef="#ctx0" brushRef="#br0" timeOffset="213.4629">6512 1312,'0'0,"0"0,0 0,0 0,7 36,6 30,7 4,9-1,0-1,-1 6,0-2,-2-20</inkml:trace>
  <inkml:trace contextRef="#ctx0" brushRef="#br0" timeOffset="871.7973">6809 1584,'0'0,"0"0,0 0,0 0,6 33,4 22,11-11,4-14,-5-14,1-9,-1-5,1-4,-2-8,-2-5,-1-3,-6-10,-5-3,0-3,-2 9,0 1,-3 9,2 4,-2 6,3 8,-1 7,3 6,5 7,8 7,3 7,4-4,-25-33,29 29,-1-12</inkml:trace>
  <inkml:trace contextRef="#ctx0" brushRef="#br0" timeOffset="1404.8386">7280 1538,'0'0,"0"0,0 0,0 0,19 22,7 17,-7 0,-9-10,-5-8,-5-4,0-4,-5-7,0-6,-2-8,4-8,3-7,5-1,0 2,5 1,3 5,2 9,6 4,0 6,-1 6,0 5,-5 2,-2-2,-3 2,0-3,-9-5,3-3,-4-7,0-9,-4-5,3-4,2-5,5 1,2 0,1 10,5 2,1 5,0 5,3 4,7 12,-1 3,1 5,-25-22,0 0,20 28,2-3</inkml:trace>
  <inkml:trace contextRef="#ctx0" brushRef="#br0" timeOffset="1768.3213">7870 1497,'0'0,"0"0,0 0,0 0,7 23,17 21,-3-9,-11-8,-3-13,-2-1,0-5,-1-2,-4-10,2-8,3-4,3-7,1-5,5 0,-2 2,4 3,-1 7,3 9,6 4,-4 8,3 11,-2 5,1 7,-1 1,2-1,-23-28,26 20,0-4</inkml:trace>
  <inkml:trace contextRef="#ctx0" brushRef="#br0" timeOffset="2146.8302">8636 1507,'0'0,"0"0,0 0,0 0,7 29,12 22,-7-5,-2-7,-5-11,-2-12,0-6,-1-12,-2-12,5-6,3-7,1-1,2 3,4-3,1 2,7 8,-3 5,7 8,-2 5,3 10,1 6,-4 4,0 6,1 3,3-4,-29-25,33 21,2-6</inkml:trace>
  <inkml:trace contextRef="#ctx0" brushRef="#br0" timeOffset="2511.8012">9249 1509,'0'0,"0"0,0 0,0 0,-2 32,-5 26,3-6,6-8,9-11,14-6,-4-18,0-4,-3-7,-1-10,2-5,-1-5,-5-10,-6 1,-4-5,-3 6,-5-1,0 5,-6 9,-1 3,-3 10,3 8,7 6,10 6,14-3,4 0</inkml:trace>
  <inkml:trace contextRef="#ctx0" brushRef="#br0" timeOffset="2610.6307">9650 1661,'0'0,"5"0,0 0,-1 0,-1 0,-3 0,-3 0,-1 0</inkml:trace>
  <inkml:trace contextRef="#ctx0" brushRef="#br0" timeOffset="3281.4744">6114 2207,'0'0,"0"0,0 0,0 0,0-21,0-17,0 14,0 11,0 11,0 9,-3 14,-7 8,-3 10,-5 1,1 1,-2 0,1 0,-3 3,3 0,3-1,5-1,10-42,-11 36,11-36,-12 23,12-23,-16 13</inkml:trace>
  <inkml:trace contextRef="#ctx0" brushRef="#br0" timeOffset="3642.7719">5831 2361,'0'0,"0"0,0 0,0 0,0 0,5 26,0 19,4 1,1-2,-5 0,-2-5,-1-3,1-10,-3-8,0-11,10-2,5-7,3-6,5-5,3 1,2-4,3 0,-2-1,-4 2,-5-1,-2 3,-5 3,-5 2,-8 2,-6 4,-1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7.1958" units="1/cm"/>
          <inkml:channelProperty channel="Y" name="resolution" value="657.57574" units="1/cm"/>
        </inkml:channelProperties>
      </inkml:inkSource>
      <inkml:timestamp xml:id="ts0" timeString="2024-04-03T08:41:42.42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9854 11073,'0'0,"0"0,0 0,0 0,0 0,0 0,0 0,0 0,0 0,0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9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4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7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5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9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2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2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732EF-269D-4021-B85F-2EAB59DEA93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47CB5-08CA-4CAA-92F1-2F962E945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1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8000" b="1" dirty="0" smtClean="0">
                <a:solidFill>
                  <a:srgbClr val="FF0000"/>
                </a:solidFill>
              </a:rPr>
              <a:t>Unit 4</a:t>
            </a:r>
            <a:br>
              <a:rPr lang="en-IN" sz="8000" b="1" dirty="0" smtClean="0">
                <a:solidFill>
                  <a:srgbClr val="FF0000"/>
                </a:solidFill>
              </a:rPr>
            </a:br>
            <a:r>
              <a:rPr lang="en-IN" sz="8000" b="1" dirty="0" smtClean="0">
                <a:solidFill>
                  <a:srgbClr val="FF0000"/>
                </a:solidFill>
              </a:rPr>
              <a:t>Backtracking </a:t>
            </a:r>
            <a:r>
              <a:rPr lang="en-IN" sz="8000" b="1" dirty="0">
                <a:solidFill>
                  <a:srgbClr val="FF0000"/>
                </a:solidFill>
              </a:rPr>
              <a:t>and </a:t>
            </a:r>
            <a:br>
              <a:rPr lang="en-IN" sz="8000" b="1" dirty="0">
                <a:solidFill>
                  <a:srgbClr val="FF0000"/>
                </a:solidFill>
              </a:rPr>
            </a:br>
            <a:r>
              <a:rPr lang="en-IN" sz="8000" b="1" dirty="0">
                <a:solidFill>
                  <a:srgbClr val="FF0000"/>
                </a:solidFill>
              </a:rPr>
              <a:t>Branch &amp; Bound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34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Backtracking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an algorithmic technique for solving problems recursively.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tries to build a solution step by step.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step leads to an invalid solution, the algorithm goes back (backtracks) and tries another option.</a:t>
            </a:r>
          </a:p>
        </p:txBody>
      </p:sp>
    </p:spTree>
    <p:extLst>
      <p:ext uri="{BB962C8B-B14F-4D97-AF65-F5344CB8AC3E}">
        <p14:creationId xmlns:p14="http://schemas.microsoft.com/office/powerpoint/2010/main" val="169621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Key Idea of 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Build solution step by step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Check if the current step is valid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If not valid, go back and try another possibility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Continue until all solutions are found</a:t>
            </a:r>
          </a:p>
        </p:txBody>
      </p:sp>
    </p:spTree>
    <p:extLst>
      <p:ext uri="{BB962C8B-B14F-4D97-AF65-F5344CB8AC3E}">
        <p14:creationId xmlns:p14="http://schemas.microsoft.com/office/powerpoint/2010/main" val="2586880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Applications of 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N-Queen Problem</a:t>
            </a:r>
          </a:p>
          <a:p>
            <a:r>
              <a:rPr dirty="0"/>
              <a:t>Sudoku Solver</a:t>
            </a:r>
          </a:p>
          <a:p>
            <a:r>
              <a:rPr dirty="0"/>
              <a:t>Hamiltonian Cycle</a:t>
            </a:r>
          </a:p>
          <a:p>
            <a:r>
              <a:rPr dirty="0"/>
              <a:t>Subset Generation</a:t>
            </a:r>
          </a:p>
          <a:p>
            <a:r>
              <a:rPr dirty="0"/>
              <a:t>Permutation Problems</a:t>
            </a:r>
          </a:p>
        </p:txBody>
      </p:sp>
    </p:spTree>
    <p:extLst>
      <p:ext uri="{BB962C8B-B14F-4D97-AF65-F5344CB8AC3E}">
        <p14:creationId xmlns:p14="http://schemas.microsoft.com/office/powerpoint/2010/main" val="278302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N-Queen Problem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N queens on an N×N chessboard so that: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two queens attack each other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same row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same column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same diagonal</a:t>
            </a:r>
          </a:p>
        </p:txBody>
      </p:sp>
    </p:spTree>
    <p:extLst>
      <p:ext uri="{BB962C8B-B14F-4D97-AF65-F5344CB8AC3E}">
        <p14:creationId xmlns:p14="http://schemas.microsoft.com/office/powerpoint/2010/main" val="227629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4-Queen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Board Size: 4 × 4</a:t>
            </a:r>
          </a:p>
          <a:p>
            <a:r>
              <a:t>We must place 4 queens so that none attack each other.</a:t>
            </a:r>
          </a:p>
          <a:p>
            <a:r>
              <a:t>Backtracking tries different column positions in each row.</a:t>
            </a:r>
          </a:p>
        </p:txBody>
      </p:sp>
    </p:spTree>
    <p:extLst>
      <p:ext uri="{BB962C8B-B14F-4D97-AF65-F5344CB8AC3E}">
        <p14:creationId xmlns:p14="http://schemas.microsoft.com/office/powerpoint/2010/main" val="73296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4-Queen One Valid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 . . .</a:t>
            </a:r>
          </a:p>
          <a:p>
            <a:r>
              <a:t>. . Q .</a:t>
            </a:r>
          </a:p>
          <a:p>
            <a:r>
              <a:t>. . . .</a:t>
            </a:r>
          </a:p>
          <a:p>
            <a:r>
              <a:t>. Q . .</a:t>
            </a:r>
          </a:p>
          <a:p>
            <a:endParaRPr/>
          </a:p>
          <a:p>
            <a:r>
              <a:t>Another common valid arrangement also exists.</a:t>
            </a:r>
          </a:p>
        </p:txBody>
      </p:sp>
    </p:spTree>
    <p:extLst>
      <p:ext uri="{BB962C8B-B14F-4D97-AF65-F5344CB8AC3E}">
        <p14:creationId xmlns:p14="http://schemas.microsoft.com/office/powerpoint/2010/main" val="2480362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of Backtracking in N-Queen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Place queen in first row</a:t>
            </a:r>
          </a:p>
          <a:p>
            <a:r>
              <a:t>2. Move to next row and try safe column</a:t>
            </a:r>
          </a:p>
          <a:p>
            <a:r>
              <a:t>3. If conflict occurs, try next column</a:t>
            </a:r>
          </a:p>
          <a:p>
            <a:r>
              <a:t>4. If no column works, backtrack to previous row</a:t>
            </a:r>
          </a:p>
        </p:txBody>
      </p:sp>
    </p:spTree>
    <p:extLst>
      <p:ext uri="{BB962C8B-B14F-4D97-AF65-F5344CB8AC3E}">
        <p14:creationId xmlns:p14="http://schemas.microsoft.com/office/powerpoint/2010/main" val="248476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pruning of invalid solutions</a:t>
            </a:r>
          </a:p>
          <a:p>
            <a:r>
              <a:t>Systematic search for solutions</a:t>
            </a:r>
          </a:p>
          <a:p>
            <a:r>
              <a:t>Used in many combinatorial problems</a:t>
            </a:r>
          </a:p>
        </p:txBody>
      </p:sp>
    </p:spTree>
    <p:extLst>
      <p:ext uri="{BB962C8B-B14F-4D97-AF65-F5344CB8AC3E}">
        <p14:creationId xmlns:p14="http://schemas.microsoft.com/office/powerpoint/2010/main" val="305439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2128" y="811729"/>
            <a:ext cx="9595821" cy="6046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Algorithm to solve the n queen problem: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Start with an empty chessboard of size n x n.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Place the first queen in the top-left corner of the board (i.e., row 1, column 1).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Move to the next row and try to place a queen in each column until a valid position is found or all columns have been tried.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If a valid position is found, move to the next row and repeat step 3.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If all columns have been tried in the current row without finding a valid position, backtrack to the previous row and move the queen to the next column in that row. Repeat step 3.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If all rows have been tried without finding a solution, backtrack to the previous row and move the queen to the next column in that row. Repeat step 3.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If a solution is found, print the positions of the queens on the board and exit the program.</a:t>
            </a:r>
            <a:endParaRPr lang="en-US" sz="20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478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905000" y="19812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6248400" y="1988128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91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905000" y="19812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6248400" y="1988128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22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905000" y="19812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6248400" y="1988128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15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211762"/>
          </a:xfrm>
        </p:spPr>
        <p:txBody>
          <a:bodyPr>
            <a:normAutofit/>
          </a:bodyPr>
          <a:lstStyle/>
          <a:p>
            <a:r>
              <a:rPr lang="en-IN" sz="3200" dirty="0"/>
              <a:t>                                We stuck!!!</a:t>
            </a:r>
            <a:br>
              <a:rPr lang="en-IN" sz="3200" dirty="0"/>
            </a:br>
            <a:r>
              <a:rPr lang="en-IN" sz="3200" dirty="0"/>
              <a:t>                                 Backtrack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905000" y="19812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3196200" y="3294000"/>
              <a:ext cx="1537560" cy="1809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6840" y="3284640"/>
                <a:ext cx="1556280" cy="18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639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solidFill>
                            <a:srgbClr val="FF0000"/>
                          </a:solidFill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76600" y="4618305"/>
            <a:ext cx="624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Failed to get Solution @ </a:t>
            </a:r>
            <a:r>
              <a:rPr lang="en-IN" sz="2800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Q </a:t>
            </a:r>
          </a:p>
          <a:p>
            <a:r>
              <a:rPr lang="en-IN" sz="2800" dirty="0"/>
              <a:t>hence backtrack and go for next option </a:t>
            </a:r>
            <a:r>
              <a:rPr lang="en-IN" sz="2800" dirty="0">
                <a:latin typeface="Copperplate Gothic Bold" panose="020E0705020206020404" pitchFamily="34" charset="0"/>
              </a:rPr>
              <a:t>Q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5416320" y="2628720"/>
              <a:ext cx="269640" cy="3823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06960" y="2619360"/>
                <a:ext cx="288360" cy="40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8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3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8600" y="4876801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Successfully placed queen in 3</a:t>
            </a:r>
            <a:r>
              <a:rPr lang="en-IN" baseline="30000" dirty="0"/>
              <a:t>rd</a:t>
            </a:r>
            <a:r>
              <a:rPr lang="en-IN" dirty="0"/>
              <a:t> row go for next row</a:t>
            </a:r>
          </a:p>
        </p:txBody>
      </p:sp>
    </p:spTree>
    <p:extLst>
      <p:ext uri="{BB962C8B-B14F-4D97-AF65-F5344CB8AC3E}">
        <p14:creationId xmlns:p14="http://schemas.microsoft.com/office/powerpoint/2010/main" val="279389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3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038600" y="48768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Cant place queen in 4</a:t>
            </a:r>
            <a:r>
              <a:rPr lang="en-IN" baseline="30000" dirty="0"/>
              <a:t>th</a:t>
            </a:r>
            <a:r>
              <a:rPr lang="en-IN" dirty="0"/>
              <a:t> row backtrack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666800" y="1253520"/>
              <a:ext cx="4014000" cy="1788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7440" y="1244160"/>
                <a:ext cx="4032720" cy="180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940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3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solidFill>
                            <a:srgbClr val="FF0000"/>
                          </a:solidFill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8600" y="4876800"/>
            <a:ext cx="601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As we have backtrack to 3</a:t>
            </a:r>
            <a:r>
              <a:rPr lang="en-IN" baseline="30000" dirty="0"/>
              <a:t>rd</a:t>
            </a:r>
            <a:r>
              <a:rPr lang="en-IN" dirty="0"/>
              <a:t> row go for next option in 3</a:t>
            </a:r>
            <a:r>
              <a:rPr lang="en-IN" baseline="30000" dirty="0"/>
              <a:t>rd</a:t>
            </a:r>
            <a:r>
              <a:rPr lang="en-IN" dirty="0"/>
              <a:t> row but we can’t hence again Backtrack to previous row </a:t>
            </a:r>
          </a:p>
        </p:txBody>
      </p:sp>
    </p:spTree>
    <p:extLst>
      <p:ext uri="{BB962C8B-B14F-4D97-AF65-F5344CB8AC3E}">
        <p14:creationId xmlns:p14="http://schemas.microsoft.com/office/powerpoint/2010/main" val="157757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3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8600" y="48768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we have backtrack to 2</a:t>
            </a:r>
            <a:r>
              <a:rPr lang="en-IN" baseline="30000" dirty="0"/>
              <a:t>nd</a:t>
            </a:r>
            <a:r>
              <a:rPr lang="en-IN" dirty="0"/>
              <a:t> row go for next option in 2</a:t>
            </a:r>
            <a:r>
              <a:rPr lang="en-IN" baseline="30000" dirty="0"/>
              <a:t>rd</a:t>
            </a:r>
            <a:r>
              <a:rPr lang="en-IN" dirty="0"/>
              <a:t> row but we can’t hence again Backtrack to previous row </a:t>
            </a:r>
          </a:p>
        </p:txBody>
      </p:sp>
    </p:spTree>
    <p:extLst>
      <p:ext uri="{BB962C8B-B14F-4D97-AF65-F5344CB8AC3E}">
        <p14:creationId xmlns:p14="http://schemas.microsoft.com/office/powerpoint/2010/main" val="1245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8600" y="4876801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we have backtrack to 1</a:t>
            </a:r>
            <a:r>
              <a:rPr lang="en-IN" baseline="30000" dirty="0"/>
              <a:t>st</a:t>
            </a:r>
            <a:r>
              <a:rPr lang="en-IN" dirty="0"/>
              <a:t> row go for next option in 1</a:t>
            </a:r>
            <a:r>
              <a:rPr lang="en-IN" baseline="30000" dirty="0"/>
              <a:t>st</a:t>
            </a:r>
            <a:r>
              <a:rPr lang="en-IN" dirty="0"/>
              <a:t> row</a:t>
            </a:r>
          </a:p>
        </p:txBody>
      </p:sp>
    </p:spTree>
    <p:extLst>
      <p:ext uri="{BB962C8B-B14F-4D97-AF65-F5344CB8AC3E}">
        <p14:creationId xmlns:p14="http://schemas.microsoft.com/office/powerpoint/2010/main" val="120835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8600" y="4876801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we have backtrack to 1</a:t>
            </a:r>
            <a:r>
              <a:rPr lang="en-IN" baseline="30000" dirty="0"/>
              <a:t>st</a:t>
            </a:r>
            <a:r>
              <a:rPr lang="en-IN" dirty="0"/>
              <a:t> row go for next option in 1</a:t>
            </a:r>
            <a:r>
              <a:rPr lang="en-IN" baseline="30000" dirty="0"/>
              <a:t>st</a:t>
            </a:r>
            <a:r>
              <a:rPr lang="en-IN" dirty="0"/>
              <a:t> row</a:t>
            </a:r>
          </a:p>
        </p:txBody>
      </p:sp>
    </p:spTree>
    <p:extLst>
      <p:ext uri="{BB962C8B-B14F-4D97-AF65-F5344CB8AC3E}">
        <p14:creationId xmlns:p14="http://schemas.microsoft.com/office/powerpoint/2010/main" val="173824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3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8600" y="48768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Try to place queen in 2</a:t>
            </a:r>
            <a:r>
              <a:rPr lang="en-IN" baseline="30000" dirty="0"/>
              <a:t>nd</a:t>
            </a:r>
            <a:r>
              <a:rPr lang="en-IN" dirty="0"/>
              <a:t> row</a:t>
            </a:r>
          </a:p>
          <a:p>
            <a:r>
              <a:rPr lang="en-IN" dirty="0"/>
              <a:t>Successfully placed hence go for next row</a:t>
            </a:r>
          </a:p>
        </p:txBody>
      </p:sp>
    </p:spTree>
    <p:extLst>
      <p:ext uri="{BB962C8B-B14F-4D97-AF65-F5344CB8AC3E}">
        <p14:creationId xmlns:p14="http://schemas.microsoft.com/office/powerpoint/2010/main" val="190409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3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38600" y="49530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Try to place queen in 3</a:t>
            </a:r>
            <a:r>
              <a:rPr lang="en-IN" baseline="30000" dirty="0"/>
              <a:t>rd</a:t>
            </a:r>
            <a:r>
              <a:rPr lang="en-IN" dirty="0"/>
              <a:t>  row</a:t>
            </a:r>
          </a:p>
          <a:p>
            <a:r>
              <a:rPr lang="en-IN" dirty="0"/>
              <a:t>Successfully placed hence go for next row</a:t>
            </a:r>
          </a:p>
        </p:txBody>
      </p:sp>
    </p:spTree>
    <p:extLst>
      <p:ext uri="{BB962C8B-B14F-4D97-AF65-F5344CB8AC3E}">
        <p14:creationId xmlns:p14="http://schemas.microsoft.com/office/powerpoint/2010/main" val="341843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038600" y="9144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3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/>
                        <a:t>X</a:t>
                      </a:r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38600" y="4953001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  <a:r>
              <a:rPr lang="en-IN" baseline="30000" dirty="0"/>
              <a:t>th</a:t>
            </a:r>
            <a:r>
              <a:rPr lang="en-IN" dirty="0"/>
              <a:t> queen is placed in 4</a:t>
            </a:r>
            <a:r>
              <a:rPr lang="en-IN" baseline="30000" dirty="0"/>
              <a:t>th</a:t>
            </a:r>
            <a:r>
              <a:rPr lang="en-IN" dirty="0"/>
              <a:t> row</a:t>
            </a:r>
          </a:p>
          <a:p>
            <a:r>
              <a:rPr lang="en-IN" dirty="0"/>
              <a:t>Successfully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919720" y="1215360"/>
              <a:ext cx="7616880" cy="3952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0360" y="1206000"/>
                <a:ext cx="7635600" cy="397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655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1600200" y="76200"/>
          <a:ext cx="19812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3962400" y="76200"/>
          <a:ext cx="18288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360218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8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X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6172200" y="76200"/>
          <a:ext cx="18288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360218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8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X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X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/>
          </p:nvPr>
        </p:nvGraphicFramePr>
        <p:xfrm>
          <a:off x="8458200" y="152400"/>
          <a:ext cx="1905000" cy="1977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9443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/>
          </p:nvPr>
        </p:nvGraphicFramePr>
        <p:xfrm>
          <a:off x="1600200" y="2362200"/>
          <a:ext cx="1905000" cy="190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/>
          <p:cNvGraphicFramePr>
            <a:graphicFrameLocks/>
          </p:cNvGraphicFramePr>
          <p:nvPr>
            <p:extLst/>
          </p:nvPr>
        </p:nvGraphicFramePr>
        <p:xfrm>
          <a:off x="3962400" y="2362200"/>
          <a:ext cx="1905000" cy="1940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3"/>
          <p:cNvGraphicFramePr>
            <a:graphicFrameLocks/>
          </p:cNvGraphicFramePr>
          <p:nvPr>
            <p:extLst/>
          </p:nvPr>
        </p:nvGraphicFramePr>
        <p:xfrm>
          <a:off x="6172200" y="2362200"/>
          <a:ext cx="1828800" cy="190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FF0000"/>
                          </a:solidFill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/>
          <p:cNvGraphicFramePr>
            <a:graphicFrameLocks/>
          </p:cNvGraphicFramePr>
          <p:nvPr>
            <p:extLst/>
          </p:nvPr>
        </p:nvGraphicFramePr>
        <p:xfrm>
          <a:off x="8458200" y="2438400"/>
          <a:ext cx="19050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17" name="Content Placeholder 3"/>
          <p:cNvGraphicFramePr>
            <a:graphicFrameLocks/>
          </p:cNvGraphicFramePr>
          <p:nvPr>
            <p:extLst/>
          </p:nvPr>
        </p:nvGraphicFramePr>
        <p:xfrm>
          <a:off x="1600200" y="4495800"/>
          <a:ext cx="1905000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7625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18" name="Content Placeholder 3"/>
          <p:cNvGraphicFramePr>
            <a:graphicFrameLocks/>
          </p:cNvGraphicFramePr>
          <p:nvPr>
            <p:extLst/>
          </p:nvPr>
        </p:nvGraphicFramePr>
        <p:xfrm>
          <a:off x="3962400" y="4572000"/>
          <a:ext cx="1981200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19" name="Content Placeholder 3"/>
          <p:cNvGraphicFramePr>
            <a:graphicFrameLocks/>
          </p:cNvGraphicFramePr>
          <p:nvPr>
            <p:extLst/>
          </p:nvPr>
        </p:nvGraphicFramePr>
        <p:xfrm>
          <a:off x="6248400" y="4572000"/>
          <a:ext cx="1981200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X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3"/>
          <p:cNvGraphicFramePr>
            <a:graphicFrameLocks/>
          </p:cNvGraphicFramePr>
          <p:nvPr>
            <p:extLst/>
          </p:nvPr>
        </p:nvGraphicFramePr>
        <p:xfrm>
          <a:off x="8412480" y="4572000"/>
          <a:ext cx="1950720" cy="1898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768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48768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48768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48768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474518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4745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474518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2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474518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207112" y="4110336"/>
            <a:ext cx="17938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Backtrack !!!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12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5897562"/>
          </a:xfrm>
        </p:spPr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974273" y="15240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6248400" y="1524000"/>
          <a:ext cx="3962400" cy="288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1580077574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8167239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948903566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258305074"/>
                    </a:ext>
                  </a:extLst>
                </a:gridCol>
              </a:tblGrid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69772105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43087859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solidFill>
                          <a:srgbClr val="FF0000"/>
                        </a:solidFill>
                        <a:latin typeface="Copperplate Gothic Bold" panose="020E07050202060204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  <a:endParaRPr lang="en-IN" sz="3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78651461"/>
                  </a:ext>
                </a:extLst>
              </a:tr>
              <a:tr h="722168"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dirty="0" smtClean="0">
                          <a:latin typeface="Copperplate Gothic Bold" panose="020E07050202060204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3600" dirty="0" smtClean="0">
                        <a:latin typeface="Copperplate Gothic Bold" panose="020E07050202060204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0932175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267201" y="43934"/>
            <a:ext cx="3446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And we get two solutions as follow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8540" y="914400"/>
            <a:ext cx="2350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 a solution is (2, 4, 1,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10401" y="914400"/>
            <a:ext cx="2350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 a solution is (3, 1, 4, 2)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3549360" y="472320"/>
              <a:ext cx="1455120" cy="4989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0000" y="462960"/>
                <a:ext cx="1473840" cy="51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828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52400"/>
            <a:ext cx="78486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Homework:</a:t>
            </a:r>
          </a:p>
          <a:p>
            <a:pPr>
              <a:lnSpc>
                <a:spcPct val="150000"/>
              </a:lnSpc>
            </a:pPr>
            <a:r>
              <a:rPr lang="en-US" dirty="0"/>
              <a:t>Give the solution to </a:t>
            </a:r>
            <a:r>
              <a:rPr lang="en-US" b="1" dirty="0"/>
              <a:t>5-Queen problem: </a:t>
            </a:r>
            <a:r>
              <a:rPr lang="en-US" dirty="0"/>
              <a:t>10 solutions are available</a:t>
            </a:r>
          </a:p>
          <a:p>
            <a:pPr>
              <a:lnSpc>
                <a:spcPct val="150000"/>
              </a:lnSpc>
            </a:pPr>
            <a:r>
              <a:rPr lang="en-US" dirty="0"/>
              <a:t>Also draw the state space tree. </a:t>
            </a:r>
            <a:endParaRPr lang="en-IN" dirty="0"/>
          </a:p>
        </p:txBody>
      </p:sp>
      <p:pic>
        <p:nvPicPr>
          <p:cNvPr id="1026" name="Picture 2" descr="The ten solutions of the 5-queens problem.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740" y="1676401"/>
            <a:ext cx="6683061" cy="494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476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8 queens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8-Queens problem consist of placing four queens on a 8x8 chessboard such that no two queen’s attacks each other. </a:t>
            </a:r>
          </a:p>
          <a:p>
            <a:r>
              <a:rPr lang="en-IN" dirty="0"/>
              <a:t>Explicit Constraints : 8 queens on 8X8 chessboard</a:t>
            </a:r>
          </a:p>
          <a:p>
            <a:r>
              <a:rPr lang="en-IN" dirty="0"/>
              <a:t>Implicit Constraints : </a:t>
            </a:r>
          </a:p>
          <a:p>
            <a:pPr lvl="1"/>
            <a:r>
              <a:rPr lang="en-IN" dirty="0"/>
              <a:t>No two queens on same row</a:t>
            </a:r>
          </a:p>
          <a:p>
            <a:pPr lvl="1"/>
            <a:r>
              <a:rPr lang="en-IN" dirty="0"/>
              <a:t>No two queens on same column</a:t>
            </a:r>
          </a:p>
          <a:p>
            <a:pPr lvl="1"/>
            <a:r>
              <a:rPr lang="en-IN" dirty="0"/>
              <a:t>No two queens on same diagonal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97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Backtracking Problem - Data Structures And Algorithms - Notes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74638"/>
            <a:ext cx="9144000" cy="643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53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762001"/>
          <a:ext cx="8229600" cy="5400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="" xmlns:a16="http://schemas.microsoft.com/office/drawing/2014/main" val="135765612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69299582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56449011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160535461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46756136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474333774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62287622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38447559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79659461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4746865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1211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55308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64505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Arial Black" panose="020B0A04020102020204" pitchFamily="34" charset="0"/>
                        </a:rPr>
                        <a:t>Q4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509900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6729909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523003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8531221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4684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75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762001"/>
          <a:ext cx="8229600" cy="5400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="" xmlns:a16="http://schemas.microsoft.com/office/drawing/2014/main" val="135765612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69299582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56449011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160535461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46756136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474333774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62287622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38447559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79659461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4746865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1211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55308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64505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Arial Black" panose="020B0A04020102020204" pitchFamily="34" charset="0"/>
                        </a:rPr>
                        <a:t>Q4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509900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6729909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523003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8531221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46849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flipH="1">
            <a:off x="4038600" y="609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Col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828800" y="3288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Row</a:t>
            </a:r>
          </a:p>
        </p:txBody>
      </p:sp>
    </p:spTree>
    <p:extLst>
      <p:ext uri="{BB962C8B-B14F-4D97-AF65-F5344CB8AC3E}">
        <p14:creationId xmlns:p14="http://schemas.microsoft.com/office/powerpoint/2010/main" val="30007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762001"/>
          <a:ext cx="8229600" cy="5400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="" xmlns:a16="http://schemas.microsoft.com/office/drawing/2014/main" val="135765612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69299582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56449011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160535461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46756136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474333774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62287622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38447559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79659461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4746865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1211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55308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64505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Arial Black" panose="020B0A04020102020204" pitchFamily="34" charset="0"/>
                        </a:rPr>
                        <a:t>Q4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509900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6729909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523003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8531221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46849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flipH="1">
            <a:off x="4038600" y="609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Col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828800" y="3288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1" y="228600"/>
            <a:ext cx="5524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Diagonal Coordinates -  {3,1} {4,2} {5,3} {6,4} {7,5} {8,6}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5071440" y="398628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62080" y="39769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023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762001"/>
          <a:ext cx="8229600" cy="5400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="" xmlns:a16="http://schemas.microsoft.com/office/drawing/2014/main" val="135765612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69299582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56449011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160535461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467561365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474333774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62287622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138447559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79659461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4746865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1211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55308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64505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Arial Black" panose="020B0A04020102020204" pitchFamily="34" charset="0"/>
                        </a:rPr>
                        <a:t>Q4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509900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6729909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523003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8531221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46849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flipH="1">
            <a:off x="4038600" y="609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Col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828800" y="3288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1" y="228600"/>
            <a:ext cx="519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 Diagonal Coordinates -  {1,5} {2,4} {3,3} {4,2} {5,1}</a:t>
            </a:r>
          </a:p>
        </p:txBody>
      </p:sp>
    </p:spTree>
    <p:extLst>
      <p:ext uri="{BB962C8B-B14F-4D97-AF65-F5344CB8AC3E}">
        <p14:creationId xmlns:p14="http://schemas.microsoft.com/office/powerpoint/2010/main" val="270037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209801" y="1759376"/>
          <a:ext cx="7162803" cy="4641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5867">
                  <a:extLst>
                    <a:ext uri="{9D8B030D-6E8A-4147-A177-3AD203B41FA5}">
                      <a16:colId xmlns="" xmlns:a16="http://schemas.microsoft.com/office/drawing/2014/main" val="1357656120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692995825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1564490115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3160535461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1467561365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3474333774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162287622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1384475593"/>
                    </a:ext>
                  </a:extLst>
                </a:gridCol>
                <a:gridCol w="795867">
                  <a:extLst>
                    <a:ext uri="{9D8B030D-6E8A-4147-A177-3AD203B41FA5}">
                      <a16:colId xmlns="" xmlns:a16="http://schemas.microsoft.com/office/drawing/2014/main" val="3796594616"/>
                    </a:ext>
                  </a:extLst>
                </a:gridCol>
              </a:tblGrid>
              <a:tr h="515408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47468650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12115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5530802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6450500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Arial Black" panose="020B0A04020102020204" pitchFamily="34" charset="0"/>
                        </a:rPr>
                        <a:t>Q4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5099009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67299099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52300301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85312211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46849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flipH="1">
            <a:off x="3962400" y="157471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Col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905000" y="38954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0" y="228600"/>
            <a:ext cx="557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Diagonal Coordinates -  {3,1} {4,2} {5,3} {6,4} {7,5} {8,6}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33800" y="914400"/>
            <a:ext cx="353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General Formula : row – column = 2</a:t>
            </a:r>
          </a:p>
        </p:txBody>
      </p:sp>
    </p:spTree>
    <p:extLst>
      <p:ext uri="{BB962C8B-B14F-4D97-AF65-F5344CB8AC3E}">
        <p14:creationId xmlns:p14="http://schemas.microsoft.com/office/powerpoint/2010/main" val="266076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133600" y="1588979"/>
          <a:ext cx="7543800" cy="4573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="" xmlns:a16="http://schemas.microsoft.com/office/drawing/2014/main" val="1357656120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692995825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1564490115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3160535461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1467561365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3474333774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162287622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1384475593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3796594616"/>
                    </a:ext>
                  </a:extLst>
                </a:gridCol>
              </a:tblGrid>
              <a:tr h="506942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47468650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12115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5530802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76450500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>
                          <a:latin typeface="Arial Black" panose="020B0A04020102020204" pitchFamily="34" charset="0"/>
                        </a:rPr>
                        <a:t>Q4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5099009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67299099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52300301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85312211"/>
                  </a:ext>
                </a:extLst>
              </a:tr>
              <a:tr h="50694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46849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flipH="1">
            <a:off x="4038600" y="14478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Col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905000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1" y="228600"/>
            <a:ext cx="519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 Diagonal Coordinates -  {1,5} {2,4} {3,3} {4,2} {5,1}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13179" y="924711"/>
            <a:ext cx="402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General Formula : row + column = same  </a:t>
            </a:r>
          </a:p>
        </p:txBody>
      </p:sp>
    </p:spTree>
    <p:extLst>
      <p:ext uri="{BB962C8B-B14F-4D97-AF65-F5344CB8AC3E}">
        <p14:creationId xmlns:p14="http://schemas.microsoft.com/office/powerpoint/2010/main" val="20757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+mn-lt"/>
              </a:rPr>
              <a:t>Sum of Subset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600201"/>
            <a:ext cx="8763000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Suppose we are given </a:t>
            </a:r>
            <a:r>
              <a:rPr lang="en-IN" sz="2400" i="1" dirty="0"/>
              <a:t>n </a:t>
            </a:r>
            <a:r>
              <a:rPr lang="en-IN" sz="2400" dirty="0"/>
              <a:t>distinct positive numbers (usually called weights) and we desire to find all combinations of these numbers whose sum is </a:t>
            </a:r>
            <a:r>
              <a:rPr lang="en-IN" sz="2400" i="1" dirty="0"/>
              <a:t>M. </a:t>
            </a:r>
            <a:r>
              <a:rPr lang="en-IN" sz="2400" dirty="0"/>
              <a:t>This is called the </a:t>
            </a:r>
            <a:r>
              <a:rPr lang="en-IN" sz="2400" i="1" dirty="0"/>
              <a:t>sum of subsets </a:t>
            </a:r>
            <a:r>
              <a:rPr lang="en-IN" sz="2400" dirty="0"/>
              <a:t>problem.</a:t>
            </a:r>
          </a:p>
        </p:txBody>
      </p:sp>
    </p:spTree>
    <p:extLst>
      <p:ext uri="{BB962C8B-B14F-4D97-AF65-F5344CB8AC3E}">
        <p14:creationId xmlns:p14="http://schemas.microsoft.com/office/powerpoint/2010/main" val="205841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9"/>
            <a:ext cx="8229600" cy="470852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N=4, w= {11, 13, 24, 7}</a:t>
            </a:r>
          </a:p>
          <a:p>
            <a:r>
              <a:rPr lang="en-IN" dirty="0"/>
              <a:t>M= 31</a:t>
            </a:r>
          </a:p>
          <a:p>
            <a:r>
              <a:rPr lang="en-IN" dirty="0"/>
              <a:t>Desired sets – {11, 13, 7} = 31</a:t>
            </a:r>
          </a:p>
          <a:p>
            <a:pPr marL="0" indent="0">
              <a:buNone/>
            </a:pPr>
            <a:r>
              <a:rPr lang="en-IN" dirty="0"/>
              <a:t>                           -  {24, 7 } = 31    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r>
              <a:rPr lang="en-IN" dirty="0"/>
              <a:t>{1, 2, 3, 4} and w= 7</a:t>
            </a:r>
          </a:p>
          <a:p>
            <a:r>
              <a:rPr lang="en-IN" dirty="0"/>
              <a:t>Solution Vector – {1, 2, 4}  and  {3, 4} </a:t>
            </a:r>
          </a:p>
          <a:p>
            <a:pPr marL="0" indent="0">
              <a:buNone/>
            </a:pPr>
            <a:r>
              <a:rPr lang="en-IN" dirty="0"/>
              <a:t>     along with this {1, 4, 2} can also be solution </a:t>
            </a:r>
          </a:p>
          <a:p>
            <a:pPr marL="0" indent="0" algn="just">
              <a:buNone/>
            </a:pPr>
            <a:r>
              <a:rPr lang="en-IN" dirty="0"/>
              <a:t>     to avoid this repetition we have to set implicit </a:t>
            </a:r>
          </a:p>
          <a:p>
            <a:pPr marL="0" indent="0">
              <a:buNone/>
            </a:pPr>
            <a:r>
              <a:rPr lang="en-IN" dirty="0"/>
              <a:t>     constraint for this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93224" y="570155"/>
            <a:ext cx="5260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https://www.youtube.com/watch?v=kyLxTdsT8ws</a:t>
            </a:r>
          </a:p>
        </p:txBody>
      </p:sp>
    </p:spTree>
    <p:extLst>
      <p:ext uri="{BB962C8B-B14F-4D97-AF65-F5344CB8AC3E}">
        <p14:creationId xmlns:p14="http://schemas.microsoft.com/office/powerpoint/2010/main" val="139189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N=6</a:t>
            </a:r>
          </a:p>
          <a:p>
            <a:r>
              <a:rPr lang="en-IN" dirty="0" smtClean="0"/>
              <a:t>W={5, 10, 12, 13, 15, 18}</a:t>
            </a:r>
          </a:p>
          <a:p>
            <a:r>
              <a:rPr lang="en-IN" dirty="0" smtClean="0"/>
              <a:t>M= 30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438402" y="3606800"/>
          <a:ext cx="3581399" cy="965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59036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Total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73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98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7391404" y="76201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61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7391404" y="76201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9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Rem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6" idx="0"/>
          </p:cNvCxnSpPr>
          <p:nvPr/>
        </p:nvCxnSpPr>
        <p:spPr>
          <a:xfrm>
            <a:off x="6172200" y="762000"/>
            <a:ext cx="952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762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91404" y="76201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73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6" idx="0"/>
          </p:cNvCxnSpPr>
          <p:nvPr/>
        </p:nvCxnSpPr>
        <p:spPr>
          <a:xfrm>
            <a:off x="6172200" y="762000"/>
            <a:ext cx="952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762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91404" y="76201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sp>
        <p:nvSpPr>
          <p:cNvPr id="7" name="Up Arrow Callout 6"/>
          <p:cNvSpPr/>
          <p:nvPr/>
        </p:nvSpPr>
        <p:spPr>
          <a:xfrm>
            <a:off x="4267200" y="1600200"/>
            <a:ext cx="10668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73-5=68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3276600" y="1600200"/>
            <a:ext cx="8382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0+5=5</a:t>
            </a:r>
          </a:p>
        </p:txBody>
      </p:sp>
      <p:sp>
        <p:nvSpPr>
          <p:cNvPr id="15" name="Up Arrow Callout 14"/>
          <p:cNvSpPr/>
          <p:nvPr/>
        </p:nvSpPr>
        <p:spPr>
          <a:xfrm>
            <a:off x="7162800" y="1600200"/>
            <a:ext cx="10668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73-5=68</a:t>
            </a:r>
          </a:p>
        </p:txBody>
      </p:sp>
      <p:sp>
        <p:nvSpPr>
          <p:cNvPr id="16" name="Up Arrow Callout 15"/>
          <p:cNvSpPr/>
          <p:nvPr/>
        </p:nvSpPr>
        <p:spPr>
          <a:xfrm>
            <a:off x="6172200" y="1600200"/>
            <a:ext cx="838200" cy="6096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0+0=0</a:t>
            </a:r>
          </a:p>
        </p:txBody>
      </p:sp>
    </p:spTree>
    <p:extLst>
      <p:ext uri="{BB962C8B-B14F-4D97-AF65-F5344CB8AC3E}">
        <p14:creationId xmlns:p14="http://schemas.microsoft.com/office/powerpoint/2010/main" val="135829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4008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6" idx="0"/>
          </p:cNvCxnSpPr>
          <p:nvPr/>
        </p:nvCxnSpPr>
        <p:spPr>
          <a:xfrm>
            <a:off x="6172200" y="762000"/>
            <a:ext cx="952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762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7391404" y="76201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42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7391404" y="76201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50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sp>
        <p:nvSpPr>
          <p:cNvPr id="2" name="Rectangular Callout 1"/>
          <p:cNvSpPr/>
          <p:nvPr/>
        </p:nvSpPr>
        <p:spPr>
          <a:xfrm>
            <a:off x="3886200" y="1230868"/>
            <a:ext cx="1143000" cy="597932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68-10=58</a:t>
            </a:r>
          </a:p>
        </p:txBody>
      </p:sp>
      <p:sp>
        <p:nvSpPr>
          <p:cNvPr id="12" name="Rectangular Callout 11"/>
          <p:cNvSpPr/>
          <p:nvPr/>
        </p:nvSpPr>
        <p:spPr>
          <a:xfrm flipH="1">
            <a:off x="2286001" y="1219200"/>
            <a:ext cx="1143003" cy="597932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 + 10=15</a:t>
            </a:r>
          </a:p>
        </p:txBody>
      </p:sp>
    </p:spTree>
    <p:extLst>
      <p:ext uri="{BB962C8B-B14F-4D97-AF65-F5344CB8AC3E}">
        <p14:creationId xmlns:p14="http://schemas.microsoft.com/office/powerpoint/2010/main" val="324488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10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</p:spTree>
    <p:extLst>
      <p:ext uri="{BB962C8B-B14F-4D97-AF65-F5344CB8AC3E}">
        <p14:creationId xmlns:p14="http://schemas.microsoft.com/office/powerpoint/2010/main" val="2058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600200" y="3489960"/>
            <a:ext cx="457200" cy="39624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1600200" y="3489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>
            <a:endCxn id="17" idx="0"/>
          </p:cNvCxnSpPr>
          <p:nvPr/>
        </p:nvCxnSpPr>
        <p:spPr>
          <a:xfrm flipH="1">
            <a:off x="2324100" y="312420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05000" y="312062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</p:spTree>
    <p:extLst>
      <p:ext uri="{BB962C8B-B14F-4D97-AF65-F5344CB8AC3E}">
        <p14:creationId xmlns:p14="http://schemas.microsoft.com/office/powerpoint/2010/main" val="331928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1600200" y="3489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>
            <a:endCxn id="17" idx="0"/>
          </p:cNvCxnSpPr>
          <p:nvPr/>
        </p:nvCxnSpPr>
        <p:spPr>
          <a:xfrm flipH="1">
            <a:off x="2324100" y="312420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05000" y="312062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  <p:sp>
        <p:nvSpPr>
          <p:cNvPr id="2" name="Multiply 1"/>
          <p:cNvSpPr/>
          <p:nvPr/>
        </p:nvSpPr>
        <p:spPr>
          <a:xfrm>
            <a:off x="1981200" y="3714988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73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1600200" y="3489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>
            <a:endCxn id="17" idx="0"/>
          </p:cNvCxnSpPr>
          <p:nvPr/>
        </p:nvCxnSpPr>
        <p:spPr>
          <a:xfrm flipH="1">
            <a:off x="2324100" y="312420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05000" y="312062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  <p:sp>
        <p:nvSpPr>
          <p:cNvPr id="2" name="Multiply 1"/>
          <p:cNvSpPr/>
          <p:nvPr/>
        </p:nvSpPr>
        <p:spPr>
          <a:xfrm>
            <a:off x="1981200" y="3714988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3200400" y="35661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>
            <a:endCxn id="20" idx="0"/>
          </p:cNvCxnSpPr>
          <p:nvPr/>
        </p:nvCxnSpPr>
        <p:spPr>
          <a:xfrm>
            <a:off x="2971800" y="3108960"/>
            <a:ext cx="952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0" y="310896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</p:spTree>
    <p:extLst>
      <p:ext uri="{BB962C8B-B14F-4D97-AF65-F5344CB8AC3E}">
        <p14:creationId xmlns:p14="http://schemas.microsoft.com/office/powerpoint/2010/main" val="116142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2209800" y="3962400"/>
            <a:ext cx="457200" cy="685800"/>
          </a:xfrm>
          <a:prstGeom prst="ellips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819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971800" y="310896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814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2209800" y="41031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>
            <a:endCxn id="23" idx="0"/>
          </p:cNvCxnSpPr>
          <p:nvPr/>
        </p:nvCxnSpPr>
        <p:spPr>
          <a:xfrm flipH="1">
            <a:off x="2933700" y="37373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146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X5=1</a:t>
            </a:r>
          </a:p>
        </p:txBody>
      </p:sp>
    </p:spTree>
    <p:extLst>
      <p:ext uri="{BB962C8B-B14F-4D97-AF65-F5344CB8AC3E}">
        <p14:creationId xmlns:p14="http://schemas.microsoft.com/office/powerpoint/2010/main" val="366625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2209800" y="3962400"/>
            <a:ext cx="457200" cy="685800"/>
          </a:xfrm>
          <a:prstGeom prst="ellips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819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971800" y="310896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814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2209800" y="41031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>
            <a:endCxn id="23" idx="0"/>
          </p:cNvCxnSpPr>
          <p:nvPr/>
        </p:nvCxnSpPr>
        <p:spPr>
          <a:xfrm flipH="1">
            <a:off x="2933700" y="37373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146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X5=1</a:t>
            </a:r>
          </a:p>
        </p:txBody>
      </p:sp>
      <p:sp>
        <p:nvSpPr>
          <p:cNvPr id="26" name="Multiply 25"/>
          <p:cNvSpPr/>
          <p:nvPr/>
        </p:nvSpPr>
        <p:spPr>
          <a:xfrm>
            <a:off x="2590800" y="4267200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06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2209800" y="3962400"/>
            <a:ext cx="457200" cy="685800"/>
          </a:xfrm>
          <a:prstGeom prst="ellips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819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9718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814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2209800" y="41031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>
            <a:endCxn id="23" idx="0"/>
          </p:cNvCxnSpPr>
          <p:nvPr/>
        </p:nvCxnSpPr>
        <p:spPr>
          <a:xfrm flipH="1">
            <a:off x="2933700" y="37373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146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X5=1</a:t>
            </a:r>
          </a:p>
        </p:txBody>
      </p:sp>
      <p:sp>
        <p:nvSpPr>
          <p:cNvPr id="26" name="Multiply 25"/>
          <p:cNvSpPr/>
          <p:nvPr/>
        </p:nvSpPr>
        <p:spPr>
          <a:xfrm>
            <a:off x="2590800" y="4267200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3733800" y="40657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3886200" y="38100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958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</p:spTree>
    <p:extLst>
      <p:ext uri="{BB962C8B-B14F-4D97-AF65-F5344CB8AC3E}">
        <p14:creationId xmlns:p14="http://schemas.microsoft.com/office/powerpoint/2010/main" val="193880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/>
          <p:cNvSpPr/>
          <p:nvPr/>
        </p:nvSpPr>
        <p:spPr>
          <a:xfrm>
            <a:off x="2743200" y="4648200"/>
            <a:ext cx="457200" cy="685800"/>
          </a:xfrm>
          <a:prstGeom prst="ellips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819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9718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814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2743200" y="47889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>
            <a:endCxn id="23" idx="0"/>
          </p:cNvCxnSpPr>
          <p:nvPr/>
        </p:nvCxnSpPr>
        <p:spPr>
          <a:xfrm flipH="1">
            <a:off x="3467100" y="4461966"/>
            <a:ext cx="609600" cy="326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48000" y="4419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X6=1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3733800" y="40657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3886200" y="38100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958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sp>
        <p:nvSpPr>
          <p:cNvPr id="31" name="Multiply 30"/>
          <p:cNvSpPr/>
          <p:nvPr/>
        </p:nvSpPr>
        <p:spPr>
          <a:xfrm>
            <a:off x="3124200" y="4918472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51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819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9718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814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3733800" y="40657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3886200" y="38100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958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4267200" y="47091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4419600" y="4453435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0" y="43772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X6=0</a:t>
            </a:r>
          </a:p>
        </p:txBody>
      </p:sp>
      <p:sp>
        <p:nvSpPr>
          <p:cNvPr id="34" name="Multiply 33"/>
          <p:cNvSpPr/>
          <p:nvPr/>
        </p:nvSpPr>
        <p:spPr>
          <a:xfrm>
            <a:off x="4648200" y="4876800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urved Left Arrow 1"/>
          <p:cNvSpPr/>
          <p:nvPr/>
        </p:nvSpPr>
        <p:spPr>
          <a:xfrm rot="20255606" flipV="1">
            <a:off x="5725730" y="4004303"/>
            <a:ext cx="381000" cy="81878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Curved Left Arrow 34"/>
          <p:cNvSpPr/>
          <p:nvPr/>
        </p:nvSpPr>
        <p:spPr>
          <a:xfrm rot="18737825" flipV="1">
            <a:off x="4758655" y="3087659"/>
            <a:ext cx="381000" cy="108522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Curved Left Arrow 35"/>
          <p:cNvSpPr/>
          <p:nvPr/>
        </p:nvSpPr>
        <p:spPr>
          <a:xfrm rot="18838613" flipV="1">
            <a:off x="4164970" y="2572966"/>
            <a:ext cx="312861" cy="73811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29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5" grpId="0" animBg="1"/>
      <p:bldP spid="3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819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9718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814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3733800" y="40657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3886200" y="38100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958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810000" y="2727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3810000" y="23960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3960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X3=0</a:t>
            </a:r>
          </a:p>
        </p:txBody>
      </p:sp>
    </p:spTree>
    <p:extLst>
      <p:ext uri="{BB962C8B-B14F-4D97-AF65-F5344CB8AC3E}">
        <p14:creationId xmlns:p14="http://schemas.microsoft.com/office/powerpoint/2010/main" val="325363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3622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5146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2514600" y="40233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2667000" y="3767635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33600" y="36914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810000" y="2727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3810000" y="23960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3960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3962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stCxn id="26" idx="2"/>
          </p:cNvCxnSpPr>
          <p:nvPr/>
        </p:nvCxnSpPr>
        <p:spPr>
          <a:xfrm flipH="1">
            <a:off x="4210050" y="3124200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</p:spTree>
    <p:extLst>
      <p:ext uri="{BB962C8B-B14F-4D97-AF65-F5344CB8AC3E}">
        <p14:creationId xmlns:p14="http://schemas.microsoft.com/office/powerpoint/2010/main" val="54040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3622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5146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2514600" y="40233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2667000" y="3767635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33600" y="36914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810000" y="2727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3810000" y="23960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3960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3962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stCxn id="26" idx="2"/>
          </p:cNvCxnSpPr>
          <p:nvPr/>
        </p:nvCxnSpPr>
        <p:spPr>
          <a:xfrm flipH="1">
            <a:off x="4210050" y="3124200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4114801" y="4099560"/>
          <a:ext cx="946217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260417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9" name="Straight Connector 38"/>
          <p:cNvCxnSpPr>
            <a:stCxn id="30" idx="2"/>
          </p:cNvCxnSpPr>
          <p:nvPr/>
        </p:nvCxnSpPr>
        <p:spPr>
          <a:xfrm flipH="1">
            <a:off x="4362450" y="3776165"/>
            <a:ext cx="323850" cy="311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86200" y="37676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X5=1</a:t>
            </a:r>
          </a:p>
        </p:txBody>
      </p:sp>
      <p:sp>
        <p:nvSpPr>
          <p:cNvPr id="35" name="Multiply 34"/>
          <p:cNvSpPr/>
          <p:nvPr/>
        </p:nvSpPr>
        <p:spPr>
          <a:xfrm>
            <a:off x="4419600" y="4191000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04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3622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5146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2514600" y="40233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2667000" y="3767635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33600" y="36914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810000" y="2727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3810000" y="23960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3960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3962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stCxn id="26" idx="2"/>
          </p:cNvCxnSpPr>
          <p:nvPr/>
        </p:nvCxnSpPr>
        <p:spPr>
          <a:xfrm flipH="1">
            <a:off x="4210050" y="3124200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4114801" y="4099560"/>
          <a:ext cx="946217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260417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9" name="Straight Connector 38"/>
          <p:cNvCxnSpPr>
            <a:stCxn id="30" idx="2"/>
          </p:cNvCxnSpPr>
          <p:nvPr/>
        </p:nvCxnSpPr>
        <p:spPr>
          <a:xfrm flipH="1">
            <a:off x="4362450" y="3776165"/>
            <a:ext cx="323850" cy="311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86200" y="37676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X5=1</a:t>
            </a:r>
          </a:p>
        </p:txBody>
      </p:sp>
      <p:sp>
        <p:nvSpPr>
          <p:cNvPr id="35" name="Multiply 34"/>
          <p:cNvSpPr/>
          <p:nvPr/>
        </p:nvSpPr>
        <p:spPr>
          <a:xfrm>
            <a:off x="4419600" y="4191000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/>
          </p:nvPr>
        </p:nvGraphicFramePr>
        <p:xfrm>
          <a:off x="5105400" y="40995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/>
          <p:nvPr/>
        </p:nvCxnSpPr>
        <p:spPr>
          <a:xfrm>
            <a:off x="5105400" y="37676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38800" y="37676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</p:spTree>
    <p:extLst>
      <p:ext uri="{BB962C8B-B14F-4D97-AF65-F5344CB8AC3E}">
        <p14:creationId xmlns:p14="http://schemas.microsoft.com/office/powerpoint/2010/main" val="72206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3622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5146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2514600" y="40233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2667000" y="3767635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33600" y="36914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810000" y="2727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3810000" y="23960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3960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39624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stCxn id="26" idx="2"/>
          </p:cNvCxnSpPr>
          <p:nvPr/>
        </p:nvCxnSpPr>
        <p:spPr>
          <a:xfrm flipH="1">
            <a:off x="4210050" y="3124200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4114801" y="4099560"/>
          <a:ext cx="946217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260417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9" name="Straight Connector 38"/>
          <p:cNvCxnSpPr>
            <a:stCxn id="30" idx="2"/>
          </p:cNvCxnSpPr>
          <p:nvPr/>
        </p:nvCxnSpPr>
        <p:spPr>
          <a:xfrm flipH="1">
            <a:off x="4362450" y="3776165"/>
            <a:ext cx="323850" cy="311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86200" y="37676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X5=1</a:t>
            </a:r>
          </a:p>
        </p:txBody>
      </p:sp>
      <p:sp>
        <p:nvSpPr>
          <p:cNvPr id="35" name="Multiply 34"/>
          <p:cNvSpPr/>
          <p:nvPr/>
        </p:nvSpPr>
        <p:spPr>
          <a:xfrm>
            <a:off x="4419600" y="4191000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/>
          </p:nvPr>
        </p:nvGraphicFramePr>
        <p:xfrm>
          <a:off x="5105400" y="40995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/>
          <p:nvPr/>
        </p:nvCxnSpPr>
        <p:spPr>
          <a:xfrm>
            <a:off x="5105400" y="37676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38800" y="37676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5429250" y="4495800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953000" y="4419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X6=1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4953001" y="4724400"/>
          <a:ext cx="946217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260417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sp>
        <p:nvSpPr>
          <p:cNvPr id="46" name="Multiply 45"/>
          <p:cNvSpPr/>
          <p:nvPr/>
        </p:nvSpPr>
        <p:spPr>
          <a:xfrm>
            <a:off x="5257800" y="4815840"/>
            <a:ext cx="685800" cy="533400"/>
          </a:xfrm>
          <a:prstGeom prst="mathMultiply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Curved Left Arrow 46"/>
          <p:cNvSpPr/>
          <p:nvPr/>
        </p:nvSpPr>
        <p:spPr>
          <a:xfrm rot="18384817" flipV="1">
            <a:off x="5877536" y="2990864"/>
            <a:ext cx="415460" cy="96081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36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3622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5146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2514600" y="40233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2667000" y="3767635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33600" y="36914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810000" y="2727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3810000" y="23960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3960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3962400" y="3379925"/>
          <a:ext cx="13716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336884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577516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stCxn id="26" idx="2"/>
          </p:cNvCxnSpPr>
          <p:nvPr/>
        </p:nvCxnSpPr>
        <p:spPr>
          <a:xfrm flipH="1">
            <a:off x="4210050" y="3124200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/>
          </p:nvPr>
        </p:nvGraphicFramePr>
        <p:xfrm>
          <a:off x="4267200" y="40995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/>
          <p:nvPr/>
        </p:nvCxnSpPr>
        <p:spPr>
          <a:xfrm>
            <a:off x="4267200" y="37676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800600" y="37676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/>
          </p:nvPr>
        </p:nvGraphicFramePr>
        <p:xfrm>
          <a:off x="55626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50" name="Straight Connector 49"/>
          <p:cNvCxnSpPr/>
          <p:nvPr/>
        </p:nvCxnSpPr>
        <p:spPr>
          <a:xfrm>
            <a:off x="4800600" y="3124200"/>
            <a:ext cx="14478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960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</p:spTree>
    <p:extLst>
      <p:ext uri="{BB962C8B-B14F-4D97-AF65-F5344CB8AC3E}">
        <p14:creationId xmlns:p14="http://schemas.microsoft.com/office/powerpoint/2010/main" val="339472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495800" y="-5080"/>
          <a:ext cx="2667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xmlns="" val="19066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3066324418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xmlns="" val="409642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Current </a:t>
                      </a:r>
                      <a:r>
                        <a:rPr lang="en-IN" sz="1800" b="1" dirty="0" err="1" smtClean="0"/>
                        <a:t>wt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level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total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6518665"/>
                  </a:ext>
                </a:extLst>
              </a:tr>
              <a:tr h="28955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0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1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73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016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505200" y="1219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endCxn id="5" idx="0"/>
          </p:cNvCxnSpPr>
          <p:nvPr/>
        </p:nvCxnSpPr>
        <p:spPr>
          <a:xfrm flipH="1">
            <a:off x="4229100" y="762000"/>
            <a:ext cx="13335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7736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895600" y="198120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endCxn id="6" idx="0"/>
          </p:cNvCxnSpPr>
          <p:nvPr/>
        </p:nvCxnSpPr>
        <p:spPr>
          <a:xfrm flipH="1">
            <a:off x="3619500" y="1615440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611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X2=1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391404" y="234766"/>
          <a:ext cx="3276597" cy="7558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7718">
                  <a:extLst>
                    <a:ext uri="{9D8B030D-6E8A-4147-A177-3AD203B41FA5}">
                      <a16:colId xmlns:a16="http://schemas.microsoft.com/office/drawing/2014/main" xmlns="" val="739798843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435421520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721839634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1427317142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36128516"/>
                    </a:ext>
                  </a:extLst>
                </a:gridCol>
                <a:gridCol w="418289">
                  <a:extLst>
                    <a:ext uri="{9D8B030D-6E8A-4147-A177-3AD203B41FA5}">
                      <a16:colId xmlns:a16="http://schemas.microsoft.com/office/drawing/2014/main" xmlns="" val="811831947"/>
                    </a:ext>
                  </a:extLst>
                </a:gridCol>
                <a:gridCol w="627434">
                  <a:extLst>
                    <a:ext uri="{9D8B030D-6E8A-4147-A177-3AD203B41FA5}">
                      <a16:colId xmlns:a16="http://schemas.microsoft.com/office/drawing/2014/main" xmlns="" val="16760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X6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Total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9442"/>
                  </a:ext>
                </a:extLst>
              </a:tr>
              <a:tr h="3748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73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169789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09800" y="2731532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2933700" y="2365772"/>
            <a:ext cx="6096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236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X3=1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3622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514600" y="3124200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2514600" y="40233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2667000" y="3767635"/>
            <a:ext cx="5334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33600" y="36914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810000" y="27279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46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3810000" y="2396035"/>
            <a:ext cx="68580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3960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X3=0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3962400" y="3379925"/>
          <a:ext cx="13716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336884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577516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stCxn id="26" idx="2"/>
          </p:cNvCxnSpPr>
          <p:nvPr/>
        </p:nvCxnSpPr>
        <p:spPr>
          <a:xfrm flipH="1">
            <a:off x="4210050" y="3124200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8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X4=1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/>
          </p:nvPr>
        </p:nvGraphicFramePr>
        <p:xfrm>
          <a:off x="4114800" y="4023360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28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/>
          <p:nvPr/>
        </p:nvCxnSpPr>
        <p:spPr>
          <a:xfrm>
            <a:off x="4267200" y="3767635"/>
            <a:ext cx="2667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95800" y="37676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X5=0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/>
          </p:nvPr>
        </p:nvGraphicFramePr>
        <p:xfrm>
          <a:off x="5562600" y="3379925"/>
          <a:ext cx="1447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15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50" name="Straight Connector 49"/>
          <p:cNvCxnSpPr/>
          <p:nvPr/>
        </p:nvCxnSpPr>
        <p:spPr>
          <a:xfrm>
            <a:off x="4800600" y="3124200"/>
            <a:ext cx="144780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96000" y="3048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X4=0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/>
          </p:nvPr>
        </p:nvGraphicFramePr>
        <p:xfrm>
          <a:off x="5791200" y="4023360"/>
          <a:ext cx="14478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7473707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xmlns="" val="37965877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14545444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algn="ctr"/>
                      <a:r>
                        <a:rPr lang="en-IN" sz="2800" b="1" dirty="0" smtClean="0">
                          <a:solidFill>
                            <a:srgbClr val="00B050"/>
                          </a:solidFill>
                        </a:rPr>
                        <a:t>30</a:t>
                      </a:r>
                      <a:endParaRPr lang="en-IN" sz="28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6246160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/>
          <p:nvPr/>
        </p:nvCxnSpPr>
        <p:spPr>
          <a:xfrm flipH="1">
            <a:off x="6038850" y="3767635"/>
            <a:ext cx="323850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562600" y="369143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X5=1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0" y="5029200"/>
            <a:ext cx="179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Sol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{X1,X2,X3,X4,X5}{ 1,  1,  0,   0,  1}</a:t>
            </a:r>
          </a:p>
        </p:txBody>
      </p:sp>
    </p:spTree>
    <p:extLst>
      <p:ext uri="{BB962C8B-B14F-4D97-AF65-F5344CB8AC3E}">
        <p14:creationId xmlns:p14="http://schemas.microsoft.com/office/powerpoint/2010/main" val="201821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contrast="-20000"/>
          </a:blip>
          <a:stretch>
            <a:fillRect/>
          </a:stretch>
        </p:blipFill>
        <p:spPr>
          <a:xfrm>
            <a:off x="1981200" y="296470"/>
            <a:ext cx="8229600" cy="6180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2895600" y="5181600"/>
            <a:ext cx="1173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{1,1,0,0,1}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3886200" y="4191000"/>
            <a:ext cx="1173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{1,0,1,1}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7924800" y="5638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{0,0,1,0,0,1}</a:t>
            </a:r>
          </a:p>
        </p:txBody>
      </p:sp>
    </p:spTree>
    <p:extLst>
      <p:ext uri="{BB962C8B-B14F-4D97-AF65-F5344CB8AC3E}">
        <p14:creationId xmlns:p14="http://schemas.microsoft.com/office/powerpoint/2010/main" val="291765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0" y="2177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N= 4</a:t>
            </a:r>
          </a:p>
          <a:p>
            <a:r>
              <a:rPr lang="en-IN" dirty="0"/>
              <a:t>W= { 1, 3, 4, 5 }</a:t>
            </a:r>
          </a:p>
          <a:p>
            <a:r>
              <a:rPr lang="en-IN" dirty="0"/>
              <a:t>M= 8</a:t>
            </a:r>
          </a:p>
        </p:txBody>
      </p:sp>
    </p:spTree>
    <p:extLst>
      <p:ext uri="{BB962C8B-B14F-4D97-AF65-F5344CB8AC3E}">
        <p14:creationId xmlns:p14="http://schemas.microsoft.com/office/powerpoint/2010/main" val="5464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070" y="162261"/>
            <a:ext cx="8229600" cy="639762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+mn-lt"/>
              </a:rPr>
              <a:t>Graph Colouring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133600"/>
            <a:ext cx="8991600" cy="4648200"/>
          </a:xfrm>
        </p:spPr>
        <p:txBody>
          <a:bodyPr>
            <a:noAutofit/>
          </a:bodyPr>
          <a:lstStyle/>
          <a:p>
            <a:pPr marL="252000" indent="-252000" algn="just">
              <a:lnSpc>
                <a:spcPct val="150000"/>
              </a:lnSpc>
              <a:spcBef>
                <a:spcPts val="0"/>
              </a:spcBef>
            </a:pPr>
            <a:r>
              <a:rPr lang="en-IN" sz="1800" dirty="0"/>
              <a:t>m-colourability problem: </a:t>
            </a:r>
            <a:r>
              <a:rPr lang="en-US" sz="1800" dirty="0"/>
              <a:t>In the </a:t>
            </a:r>
            <a:r>
              <a:rPr lang="en-US" sz="1800" b="1" dirty="0"/>
              <a:t>M-Coloring problem</a:t>
            </a:r>
            <a:r>
              <a:rPr lang="en-US" sz="1800" dirty="0"/>
              <a:t>, our task is to find if it is possible to assign nodes of a given graph with m different colors, such that no two adjacent vertices of the graph are of the same colors.</a:t>
            </a:r>
            <a:endParaRPr lang="en-IN" sz="1800" dirty="0"/>
          </a:p>
          <a:p>
            <a:pPr marL="252000" indent="-252000" algn="just">
              <a:lnSpc>
                <a:spcPct val="150000"/>
              </a:lnSpc>
              <a:spcBef>
                <a:spcPts val="0"/>
              </a:spcBef>
            </a:pPr>
            <a:r>
              <a:rPr lang="en-IN" sz="1800" dirty="0"/>
              <a:t>m-colourability decision problem</a:t>
            </a:r>
          </a:p>
          <a:p>
            <a:pPr marL="252000" indent="-252000" algn="just">
              <a:lnSpc>
                <a:spcPct val="150000"/>
              </a:lnSpc>
              <a:spcBef>
                <a:spcPts val="0"/>
              </a:spcBef>
            </a:pPr>
            <a:r>
              <a:rPr lang="en-IN" sz="1800" dirty="0"/>
              <a:t>chromatic number: </a:t>
            </a:r>
            <a:r>
              <a:rPr lang="en-US" sz="1800" dirty="0"/>
              <a:t>The </a:t>
            </a:r>
            <a:r>
              <a:rPr lang="en-US" sz="1800" b="1" u="sng" dirty="0"/>
              <a:t>chromatic number</a:t>
            </a:r>
            <a:r>
              <a:rPr lang="en-US" sz="1800" dirty="0"/>
              <a:t> of a graph </a:t>
            </a:r>
            <a:r>
              <a:rPr lang="en-US" sz="1800" b="1" dirty="0"/>
              <a:t>G</a:t>
            </a:r>
            <a:r>
              <a:rPr lang="en-US" sz="1800" dirty="0"/>
              <a:t>, denoted as </a:t>
            </a:r>
            <a:r>
              <a:rPr lang="en-US" sz="1800" b="1" dirty="0"/>
              <a:t>χ(G</a:t>
            </a:r>
            <a:r>
              <a:rPr lang="en-US" sz="1800" dirty="0"/>
              <a:t>), is the </a:t>
            </a:r>
            <a:r>
              <a:rPr lang="en-US" sz="1800" b="1" dirty="0"/>
              <a:t>minimum </a:t>
            </a:r>
            <a:r>
              <a:rPr lang="en-US" sz="1800" dirty="0"/>
              <a:t>number of </a:t>
            </a:r>
            <a:r>
              <a:rPr lang="en-US" sz="1800" b="1" dirty="0"/>
              <a:t>colors required </a:t>
            </a:r>
            <a:r>
              <a:rPr lang="en-US" sz="1800" dirty="0"/>
              <a:t>to </a:t>
            </a:r>
            <a:r>
              <a:rPr lang="en-US" sz="1800" b="1" dirty="0"/>
              <a:t>color </a:t>
            </a:r>
            <a:r>
              <a:rPr lang="en-US" sz="1800" dirty="0"/>
              <a:t>the </a:t>
            </a:r>
            <a:r>
              <a:rPr lang="en-US" sz="1800" b="1" dirty="0"/>
              <a:t>vertices </a:t>
            </a:r>
            <a:r>
              <a:rPr lang="en-US" sz="1800" dirty="0"/>
              <a:t>of a graph </a:t>
            </a:r>
            <a:r>
              <a:rPr lang="en-US" sz="1800" b="1" dirty="0"/>
              <a:t>G </a:t>
            </a:r>
            <a:r>
              <a:rPr lang="en-US" sz="1800" dirty="0"/>
              <a:t>in such a way that no two adjacent vertices share the same color. Formally, it is the smallest positive integer </a:t>
            </a:r>
            <a:r>
              <a:rPr lang="en-US" sz="1800" b="1" dirty="0"/>
              <a:t>k </a:t>
            </a:r>
            <a:r>
              <a:rPr lang="en-US" sz="1800" dirty="0"/>
              <a:t>for which there exists a proper vertex coloring with</a:t>
            </a:r>
            <a:r>
              <a:rPr lang="en-US" sz="1800" b="1" dirty="0"/>
              <a:t> k </a:t>
            </a:r>
            <a:r>
              <a:rPr lang="en-US" sz="1800" dirty="0"/>
              <a:t>colors.</a:t>
            </a:r>
            <a:endParaRPr lang="en-IN" sz="1800" dirty="0"/>
          </a:p>
          <a:p>
            <a:pPr marL="252000" indent="-252000" algn="just">
              <a:lnSpc>
                <a:spcPct val="150000"/>
              </a:lnSpc>
              <a:spcBef>
                <a:spcPts val="0"/>
              </a:spcBef>
            </a:pPr>
            <a:r>
              <a:rPr lang="en-IN" sz="1800" dirty="0"/>
              <a:t>Graph should be Planner graph: edges should not intersect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654629" y="683305"/>
            <a:ext cx="88392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Graph coloring</a:t>
            </a:r>
            <a:r>
              <a:rPr lang="en-US" dirty="0">
                <a:latin typeface="+mj-lt"/>
              </a:rPr>
              <a:t> refers to the problem of </a:t>
            </a:r>
            <a:r>
              <a:rPr lang="en-US" b="1" dirty="0">
                <a:latin typeface="+mj-lt"/>
              </a:rPr>
              <a:t>coloring vertices</a:t>
            </a:r>
            <a:r>
              <a:rPr lang="en-US" dirty="0">
                <a:latin typeface="+mj-lt"/>
              </a:rPr>
              <a:t> of a graph in such a way that </a:t>
            </a:r>
            <a:r>
              <a:rPr lang="en-US" b="1" dirty="0">
                <a:latin typeface="+mj-lt"/>
              </a:rPr>
              <a:t>no two adjacent </a:t>
            </a:r>
            <a:r>
              <a:rPr lang="en-US" dirty="0">
                <a:latin typeface="+mj-lt"/>
              </a:rPr>
              <a:t>vertices have the </a:t>
            </a:r>
            <a:r>
              <a:rPr lang="en-US" b="1" dirty="0">
                <a:latin typeface="+mj-lt"/>
              </a:rPr>
              <a:t>same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color</a:t>
            </a:r>
            <a:r>
              <a:rPr lang="en-US" dirty="0">
                <a:latin typeface="+mj-lt"/>
              </a:rPr>
              <a:t>. This is also called the </a:t>
            </a:r>
            <a:r>
              <a:rPr lang="en-US" b="1" dirty="0">
                <a:latin typeface="+mj-lt"/>
              </a:rPr>
              <a:t>vertex coloring</a:t>
            </a:r>
            <a:r>
              <a:rPr lang="en-US" dirty="0">
                <a:latin typeface="+mj-lt"/>
              </a:rPr>
              <a:t> problem. If coloring is done using at most m colors, it is called m-coloring.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887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133600" y="457201"/>
            <a:ext cx="8077200" cy="60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7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lum contrast="40000"/>
          </a:blip>
          <a:srcRect b="13142"/>
          <a:stretch/>
        </p:blipFill>
        <p:spPr>
          <a:xfrm>
            <a:off x="1981200" y="526536"/>
            <a:ext cx="8153400" cy="579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0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066800"/>
            <a:ext cx="7086600" cy="414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5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2133600" y="271604"/>
            <a:ext cx="7620000" cy="53671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95600" y="6096000"/>
            <a:ext cx="5920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State space tree for graph colouring problem of 4 node graph</a:t>
            </a:r>
          </a:p>
        </p:txBody>
      </p:sp>
    </p:spTree>
    <p:extLst>
      <p:ext uri="{BB962C8B-B14F-4D97-AF65-F5344CB8AC3E}">
        <p14:creationId xmlns:p14="http://schemas.microsoft.com/office/powerpoint/2010/main" val="421936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220" y="559398"/>
            <a:ext cx="9412940" cy="561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918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676400" y="142799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graph coloring only for your understanding:</a:t>
            </a:r>
          </a:p>
          <a:p>
            <a:r>
              <a:rPr lang="en-US" dirty="0"/>
              <a:t>(in exam you have to write algorithm and draw state space tree only.)</a:t>
            </a:r>
          </a:p>
          <a:p>
            <a:r>
              <a:rPr lang="en-US" dirty="0"/>
              <a:t>Do not use different color pens in exam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28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43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8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R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1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		    G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R					       B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		    G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21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0"/>
            <a:ext cx="8229600" cy="6400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					       </a:t>
            </a:r>
          </a:p>
          <a:p>
            <a:pPr marL="0" indent="0">
              <a:buNone/>
            </a:pPr>
            <a:r>
              <a:rPr lang="en-IN" dirty="0" smtClean="0"/>
              <a:t>						    	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	      </a:t>
            </a:r>
          </a:p>
          <a:p>
            <a:pPr marL="0" indent="0">
              <a:buNone/>
            </a:pPr>
            <a:r>
              <a:rPr lang="en-IN" dirty="0"/>
              <a:t>	 </a:t>
            </a:r>
            <a:r>
              <a:rPr lang="en-IN" dirty="0" smtClean="0"/>
              <a:t>      R					       B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		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000" dirty="0"/>
              <a:t>Fourth colour required for node ‘F’ </a:t>
            </a:r>
          </a:p>
          <a:p>
            <a:pPr marL="0" indent="0">
              <a:buNone/>
            </a:pPr>
            <a:r>
              <a:rPr lang="en-IN" sz="3000" dirty="0"/>
              <a:t>hence Backtrack!!!  to previous step </a:t>
            </a:r>
            <a:r>
              <a:rPr lang="en-IN" sz="3000" dirty="0" err="1"/>
              <a:t>i.e</a:t>
            </a:r>
            <a:r>
              <a:rPr lang="en-IN" sz="3000" dirty="0"/>
              <a:t> node ‘D’ 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41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0"/>
            <a:ext cx="82296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		    G</a:t>
            </a:r>
          </a:p>
          <a:p>
            <a:pPr marL="0" indent="0">
              <a:buNone/>
            </a:pPr>
            <a:r>
              <a:rPr lang="en-IN" dirty="0" smtClean="0"/>
              <a:t>For node ‘G’ green is already used, cant use Red </a:t>
            </a:r>
          </a:p>
          <a:p>
            <a:pPr marL="0" indent="0">
              <a:buNone/>
            </a:pPr>
            <a:r>
              <a:rPr lang="en-IN" dirty="0" smtClean="0"/>
              <a:t>Hence go for new </a:t>
            </a:r>
            <a:r>
              <a:rPr lang="en-IN" dirty="0" err="1" smtClean="0"/>
              <a:t>color</a:t>
            </a:r>
            <a:r>
              <a:rPr lang="en-IN" dirty="0" smtClean="0"/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4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		    B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7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R				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		    B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36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33" y="228601"/>
            <a:ext cx="8229600" cy="5935663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     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G					       B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       R					       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			    B</a:t>
            </a:r>
          </a:p>
        </p:txBody>
      </p:sp>
      <p:sp>
        <p:nvSpPr>
          <p:cNvPr id="4" name="Oval 3"/>
          <p:cNvSpPr/>
          <p:nvPr/>
        </p:nvSpPr>
        <p:spPr>
          <a:xfrm>
            <a:off x="5562600" y="9906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562600" y="4267200"/>
            <a:ext cx="685800" cy="609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315200" y="33528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3886200" y="33528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3886200" y="1981200"/>
            <a:ext cx="685800" cy="609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7239000" y="1981200"/>
            <a:ext cx="685800" cy="609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F</a:t>
            </a:r>
            <a:endParaRPr lang="en-IN" b="1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316170" y="1290265"/>
            <a:ext cx="1246431" cy="693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74384" y="3877096"/>
            <a:ext cx="1146439" cy="6720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229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658100" y="2590800"/>
            <a:ext cx="0" cy="76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2"/>
          </p:cNvCxnSpPr>
          <p:nvPr/>
        </p:nvCxnSpPr>
        <p:spPr>
          <a:xfrm flipH="1" flipV="1">
            <a:off x="4468104" y="3877096"/>
            <a:ext cx="1094497" cy="694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4" idx="6"/>
          </p:cNvCxnSpPr>
          <p:nvPr/>
        </p:nvCxnSpPr>
        <p:spPr>
          <a:xfrm flipH="1" flipV="1">
            <a:off x="6248400" y="1295400"/>
            <a:ext cx="1295400" cy="6885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9" idx="2"/>
          </p:cNvCxnSpPr>
          <p:nvPr/>
        </p:nvCxnSpPr>
        <p:spPr>
          <a:xfrm>
            <a:off x="4588474" y="2282872"/>
            <a:ext cx="2650526" cy="31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6" idx="2"/>
          </p:cNvCxnSpPr>
          <p:nvPr/>
        </p:nvCxnSpPr>
        <p:spPr>
          <a:xfrm flipV="1">
            <a:off x="4560766" y="3657600"/>
            <a:ext cx="2754435" cy="228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03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304800"/>
            <a:ext cx="7886700" cy="994172"/>
          </a:xfrm>
        </p:spPr>
        <p:txBody>
          <a:bodyPr/>
          <a:lstStyle/>
          <a:p>
            <a:r>
              <a:rPr lang="en-IN" b="1" dirty="0">
                <a:latin typeface="+mn-lt"/>
              </a:rPr>
              <a:t>Branch and 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298972"/>
            <a:ext cx="8759046" cy="41430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It uses BFS (breadth first search)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The B&amp;B strategy is very similar to backtracking in that a </a:t>
            </a:r>
            <a:r>
              <a:rPr lang="en-US" sz="1800" b="1" dirty="0"/>
              <a:t>state space tree </a:t>
            </a:r>
            <a:r>
              <a:rPr lang="en-US" sz="1800" dirty="0"/>
              <a:t>is used to solve </a:t>
            </a:r>
            <a:r>
              <a:rPr lang="en-IN" sz="1800" dirty="0"/>
              <a:t>a problem.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Does not limit us to any particular way of traversing the tree.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Branch and Bound is the generalization of both graph search strategies, BFS and DFS.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A BFS (queue) like state space search is called as FIFO (First in first out)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A BFS (stack) like state space search is called as LIFO (last in first out)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is </a:t>
            </a:r>
            <a:r>
              <a:rPr lang="en-US" sz="1800" b="1" dirty="0"/>
              <a:t>used only for optimization problem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B&amp;B is rather general optimization technique that applies where the greedy method &amp; </a:t>
            </a:r>
            <a:r>
              <a:rPr lang="en-IN" sz="1800" dirty="0"/>
              <a:t>dynamic programming fail.</a:t>
            </a:r>
          </a:p>
        </p:txBody>
      </p:sp>
    </p:spTree>
    <p:extLst>
      <p:ext uri="{BB962C8B-B14F-4D97-AF65-F5344CB8AC3E}">
        <p14:creationId xmlns:p14="http://schemas.microsoft.com/office/powerpoint/2010/main" val="346516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98" y="559398"/>
            <a:ext cx="5798371" cy="57876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046" y="852879"/>
            <a:ext cx="3711389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321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304801"/>
            <a:ext cx="8229600" cy="4525963"/>
          </a:xfrm>
        </p:spPr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lang="en-US" i="1" dirty="0" smtClean="0"/>
              <a:t>There are 3 </a:t>
            </a:r>
            <a:r>
              <a:rPr lang="en-US" i="1" dirty="0"/>
              <a:t>types of search strategies: </a:t>
            </a:r>
            <a:endParaRPr lang="en-US" dirty="0"/>
          </a:p>
          <a:p>
            <a:r>
              <a:rPr lang="en-US" dirty="0"/>
              <a:t>1. FIFO (First In First Out) </a:t>
            </a:r>
          </a:p>
          <a:p>
            <a:r>
              <a:rPr lang="en-US" dirty="0"/>
              <a:t>2. LIFO (Last In First Out) </a:t>
            </a:r>
          </a:p>
          <a:p>
            <a:r>
              <a:rPr lang="en-US" dirty="0"/>
              <a:t>3. LC (Least Cost) Search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67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8600"/>
            <a:ext cx="830073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752600"/>
            <a:ext cx="4951972" cy="2667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1" y="457200"/>
            <a:ext cx="8839200" cy="1143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42200" y="4572001"/>
            <a:ext cx="870760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FIFO Branch and Bound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Structure</a:t>
            </a:r>
            <a:r>
              <a:rPr lang="en-US" dirty="0"/>
              <a:t>: Queue.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Behavior</a:t>
            </a:r>
            <a:r>
              <a:rPr lang="en-US" dirty="0"/>
              <a:t>: Explores the tree level-by-level.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Pros</a:t>
            </a:r>
            <a:r>
              <a:rPr lang="en-US" dirty="0"/>
              <a:t>: Guarantees finding the shortest path first if cost is based on depth.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Cons</a:t>
            </a:r>
            <a:r>
              <a:rPr lang="en-US" dirty="0"/>
              <a:t>: Uses more memory and can be slow in large trees.</a:t>
            </a:r>
          </a:p>
        </p:txBody>
      </p:sp>
    </p:spTree>
    <p:extLst>
      <p:ext uri="{BB962C8B-B14F-4D97-AF65-F5344CB8AC3E}">
        <p14:creationId xmlns:p14="http://schemas.microsoft.com/office/powerpoint/2010/main" val="29122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57200"/>
            <a:ext cx="7949176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1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228601"/>
            <a:ext cx="8844337" cy="18260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54603"/>
            <a:ext cx="4669002" cy="2514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44767" y="4709366"/>
            <a:ext cx="870760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LIFO Branch and Bound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Structure</a:t>
            </a:r>
            <a:r>
              <a:rPr lang="en-US" dirty="0"/>
              <a:t>: Stack.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Behavior</a:t>
            </a:r>
            <a:r>
              <a:rPr lang="en-US" dirty="0"/>
              <a:t>: Dives deep into the tree before backtracking.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Pros</a:t>
            </a:r>
            <a:r>
              <a:rPr lang="en-US" dirty="0"/>
              <a:t>: Fast at finding a solution; uses less memory.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Cons</a:t>
            </a:r>
            <a:r>
              <a:rPr lang="en-US" dirty="0"/>
              <a:t>: May not find optimal solution early; more backtracking required.</a:t>
            </a:r>
          </a:p>
        </p:txBody>
      </p:sp>
    </p:spTree>
    <p:extLst>
      <p:ext uri="{BB962C8B-B14F-4D97-AF65-F5344CB8AC3E}">
        <p14:creationId xmlns:p14="http://schemas.microsoft.com/office/powerpoint/2010/main" val="182860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8846216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8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304801"/>
            <a:ext cx="8305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Least Cost (LC) Branch and Bound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Structure</a:t>
            </a:r>
            <a:r>
              <a:rPr lang="en-US" dirty="0"/>
              <a:t>: Priority Queue.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Behavior</a:t>
            </a:r>
            <a:r>
              <a:rPr lang="en-US" dirty="0"/>
              <a:t>: Selects the next node with the </a:t>
            </a:r>
            <a:r>
              <a:rPr lang="en-US" b="1" dirty="0"/>
              <a:t>lowest cost estimate</a:t>
            </a:r>
            <a:r>
              <a:rPr lang="en-US" dirty="0"/>
              <a:t> (bound).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Pros</a:t>
            </a:r>
            <a:r>
              <a:rPr lang="en-US" dirty="0"/>
              <a:t>: Efficient in finding the optimal solution faster by pruning unpromising paths.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Cons</a:t>
            </a:r>
            <a:r>
              <a:rPr lang="en-US" dirty="0"/>
              <a:t>: More complex to implement; requires good cost estimation (bounding function).</a:t>
            </a:r>
          </a:p>
        </p:txBody>
      </p:sp>
    </p:spTree>
    <p:extLst>
      <p:ext uri="{BB962C8B-B14F-4D97-AF65-F5344CB8AC3E}">
        <p14:creationId xmlns:p14="http://schemas.microsoft.com/office/powerpoint/2010/main" val="393720166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52600" y="152400"/>
          <a:ext cx="8610600" cy="6400800"/>
        </p:xfrm>
        <a:graphic>
          <a:graphicData uri="http://schemas.openxmlformats.org/drawingml/2006/table">
            <a:tbl>
              <a:tblPr/>
              <a:tblGrid>
                <a:gridCol w="1524000"/>
                <a:gridCol w="2781300"/>
                <a:gridCol w="2152650"/>
                <a:gridCol w="215265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FIFO Branch and Bound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chemeClr val="tx1"/>
                          </a:solidFill>
                        </a:rPr>
                        <a:t>LIFO Branch and Bound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Least Cost Branch and Bound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Queue Type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Queue (FIFO)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Stack (LIFO)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Priority Queue (based on cost estimate)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Node Selection Strategy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First node added is explored first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Last node added is explored first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Node with least estimated cost (bound) is explored first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Search Order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Breadth-First Search (BFS)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Depth-First Search (DFS)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Best-First Search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Space Complexity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Moderate to High (depends on queue size)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Time Efficiency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May explore many irrelevant nodes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Can reach solutions quickly but may not be optimal early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Often finds optimal solutions faster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Suitability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Good when solution is shallow in tree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Good for deeper solutions with tighter constraints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Best for optimization problems needing early pruning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Example Use Cases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Simple decision trees, constraint satisfaction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Puzzles, backtracking-based problems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TSP, Knapsack, Job scheduling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061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2784</Words>
  <Application>Microsoft Office PowerPoint</Application>
  <PresentationFormat>Widescreen</PresentationFormat>
  <Paragraphs>1530</Paragraphs>
  <Slides>91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9" baseType="lpstr">
      <vt:lpstr>Arial</vt:lpstr>
      <vt:lpstr>Arial Black</vt:lpstr>
      <vt:lpstr>Calibri</vt:lpstr>
      <vt:lpstr>Calibri Light</vt:lpstr>
      <vt:lpstr>Copperplate Gothic Bold</vt:lpstr>
      <vt:lpstr>Times New Roman</vt:lpstr>
      <vt:lpstr>Wingdings</vt:lpstr>
      <vt:lpstr>Office Theme</vt:lpstr>
      <vt:lpstr>Unit 4 Backtracking and  Branch &amp; Bound</vt:lpstr>
      <vt:lpstr>Backtracking – Introduction</vt:lpstr>
      <vt:lpstr>Key Idea of Backtracking</vt:lpstr>
      <vt:lpstr>Applications of Backtracking</vt:lpstr>
      <vt:lpstr>N-Queen Problem – Definition</vt:lpstr>
      <vt:lpstr>Example: 4-Queen Problem</vt:lpstr>
      <vt:lpstr>4-Queen One Valid Solution</vt:lpstr>
      <vt:lpstr>Steps of Backtracking in N-Queen</vt:lpstr>
      <vt:lpstr>Advantages</vt:lpstr>
      <vt:lpstr>PowerPoint Presentation</vt:lpstr>
      <vt:lpstr>PowerPoint Presentation</vt:lpstr>
      <vt:lpstr>PowerPoint Presentation</vt:lpstr>
      <vt:lpstr>PowerPoint Presentation</vt:lpstr>
      <vt:lpstr>                                We stuck!!!                                  Backtrack</vt:lpstr>
      <vt:lpstr>      </vt:lpstr>
      <vt:lpstr>      </vt:lpstr>
      <vt:lpstr>      </vt:lpstr>
      <vt:lpstr>      </vt:lpstr>
      <vt:lpstr>      </vt:lpstr>
      <vt:lpstr>      </vt:lpstr>
      <vt:lpstr>      </vt:lpstr>
      <vt:lpstr>      </vt:lpstr>
      <vt:lpstr>      </vt:lpstr>
      <vt:lpstr>      </vt:lpstr>
      <vt:lpstr>PowerPoint Presentation</vt:lpstr>
      <vt:lpstr> </vt:lpstr>
      <vt:lpstr>PowerPoint Presentation</vt:lpstr>
      <vt:lpstr>8 queens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 of Subset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 Colouring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Branch and Bound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RCPIT</cp:lastModifiedBy>
  <cp:revision>16</cp:revision>
  <dcterms:created xsi:type="dcterms:W3CDTF">2026-04-07T09:29:20Z</dcterms:created>
  <dcterms:modified xsi:type="dcterms:W3CDTF">2026-04-17T10:52:50Z</dcterms:modified>
</cp:coreProperties>
</file>